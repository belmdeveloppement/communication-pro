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d'identité du dossier : à remplir à l'exercice EX1.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Consignes d'usage.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offre réelle d'ingénieur dans le métier visé : employeur, intitulé, date, adresse. Soulignez les verbes de veille, d'écrit et d'oral et reliez-les au syllabus.</a:t>
            </a:r>
          </a:p>
          <a:p/>
          <a:p>
            <a:r>
              <a:t>L'exemple en gris est fictif : les étudiants l'effacent et écrivent le leur.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thème n'est pas une question : il faut une décision. Critères comparables, mots-clés en français et en anglais.</a:t>
            </a:r>
          </a:p>
          <a:p/>
          <a:p>
            <a:r>
              <a:t>L'exemple en gris est fictif : les étudiants l'effacent et écrivent le leur.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besoin réel n'est pas la solution demandée : QQOQCCP et pourquoi (jusqu'à 3 à 5).</a:t>
            </a:r>
          </a:p>
          <a:p/>
          <a:p>
            <a:r>
              <a:t>L'exemple en gris est fictif : les étudiants l'effacent et écrivent le leur.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recherche doit pouvoir être refaite : requêtes exactes, base, date, nombre de résultats.</a:t>
            </a:r>
          </a:p>
          <a:p/>
          <a:p>
            <a:r>
              <a:t>L'exemple en gris est fictif : les étudiants l'effacent et écrivent le leur.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documents d'organismes publics ou de normalisation : organisme, titre, date, version, adresse, type.</a:t>
            </a:r>
          </a:p>
          <a:p/>
          <a:p>
            <a:r>
              <a:t>L'exemple en gris est fictif : les étudiants l'effacent et écrivent le leur.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Grille : Qui ? Quand ? Pourquoi ? Sur quoi ? Recoupé ? Reproductible ? 0 à 2 chacune (max. 12). 9 et plus fiable ; 5 à 8 à recouper ; 4 et moins à écarter ou citer avec prudence.</a:t>
            </a:r>
          </a:p>
          <a:p/>
          <a:p>
            <a:r>
              <a:t>L'exemple en gris est fictif : les étudiants l'effacent et écrivent le leur.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Remontez au document d'origine. Sans source d'origine, ne citez pas le chiffre comme un fait.</a:t>
            </a:r>
          </a:p>
          <a:p/>
          <a:p>
            <a:r>
              <a:t>L'exemple en gris est fictif : les étudiants l'effacent et écrivent le leur.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dans l'ordre : résumé, conclusion, méthode, résultats, limites. Toujours regarder qui finance.</a:t>
            </a:r>
          </a:p>
          <a:p/>
          <a:p>
            <a:r>
              <a:t>L'exemple en gris est fictif : les étudiants l'effacent et écrivent le leur.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Aucune référence donnée par une IA n'est citée avant d'avoir été ouverte et lue à son origine.</a:t>
            </a:r>
          </a:p>
          <a:p/>
          <a:p>
            <a:r>
              <a:t>L'exemple en gris est fictif : les étudiants l'effacent et écrivent le leur.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donnée porte sa référence. La réfutation est cherchée, pas subie. Le qualificatif dit la portée.</a:t>
            </a:r>
          </a:p>
          <a:p/>
          <a:p>
            <a:r>
              <a:t>L'exemple en gris est fictif : les étudiants l'effacent et écrivent le leur.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questions sur un chiffre : base, mesure, échantillon, auteur, durée. Puis deux objections et vos réponses (fait, concession ou réserve).</a:t>
            </a:r>
          </a:p>
          <a:p/>
          <a:p>
            <a:r>
              <a:t>L'exemple en gris est fictif : les étudiants l'effacent et écrivent le leur.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solutions, 4 critères pondérés (total 100 %), scores de 1 à 5 sourcés, total pondéré, test de sensibilité (critère principal à 50 %).</a:t>
            </a:r>
          </a:p>
          <a:p/>
          <a:p>
            <a:r>
              <a:t>L'exemple en gris est fictif : les étudiants l'effacent et écrivent le leur.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 : 1 Question, 2 Méthode de recherche, 3 Panorama, 4 Comparaison, 5 Discussion et limites, 6 Conclusion. Résumé d'ouverture de trois lignes : question, méthode, conclusion.</a:t>
            </a:r>
          </a:p>
          <a:p/>
          <a:p>
            <a:r>
              <a:t>L'exemple en gris est fictif : les étudiants l'effacent et écrivent le leur.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affirmation de fait = une référence. Un paragraphe : conclusion, preuve référencée, limite, transition. Rédigez ici ou collez le texte de votre document partagé.</a:t>
            </a:r>
          </a:p>
          <a:p/>
          <a:p>
            <a:r>
              <a:t>L'exemple en gris est fictif : les étudiants l'effacent et écrivent le leur.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Situation, Comportement observé (un fait), Impact. Notez ce que vous modifiez.</a:t>
            </a:r>
          </a:p>
          <a:p/>
          <a:p>
            <a:r>
              <a:t>L'exemple en gris est fictif : les étudiants l'effacent et écrivent le leur.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Message clé : une phrase que la directrice peut répéter. Puis accroche, problème, solution, preuve, appel à décision.</a:t>
            </a:r>
          </a:p>
          <a:p/>
          <a:p>
            <a:r>
              <a:t>L'exemple en gris est fictif : les étudiants l'effacent et écrivent le leur.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page remise au tuteur : fait, preuve, impact, argument condensé, recommandation avec qualificatif et réserve, vérification.</a:t>
            </a:r>
          </a:p>
          <a:p/>
          <a:p>
            <a:r>
              <a:t>L'exemple en gris est fictif : les étudiants l'effacent et écrivent le leur.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Collez la bibliographie générée par Zotero, dans un seul style. Seules les sources lues et vérifiées y figurent.</a:t>
            </a:r>
          </a:p>
          <a:p/>
          <a:p>
            <a:r>
              <a:t>L'exemple en gris est fictif : les étudiants l'effacent et écrivent le leur.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Dites comment vous avez utilisé une IA : pour quoi, quel outil, quelle vérification, ce que vous avez rejeté. Aucune donnée confidentielle saisie.</a:t>
            </a:r>
          </a:p>
          <a:p/>
          <a:p>
            <a:r>
              <a:t>L'exemple en gris est fictif : les étudiants l'effacent et écrivent le leur.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requête, trois sources de types différents, une fréquence, une date de lecture. Notez un signal fort et un signal faible. Exportez votre liste en OPML.</a:t>
            </a:r>
          </a:p>
          <a:p/>
          <a:p>
            <a:r>
              <a:t>L'exemple en gris est fictif : les étudiants l'effacent et écrivent le leur.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sources croisées (NVD, EUVD, KEV, EPSS) avec la date de consultation de chacune, puis une décision justifiée. Elle alimente la section 16.</a:t>
            </a:r>
          </a:p>
          <a:p/>
          <a:p>
            <a:r>
              <a:t>L'exemple en gris est fictif : les étudiants l'effacent et écrivent le leur.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mesures par solution, moyenne, écart-type, conclusion prudente : un écart plus petit que la dispersion est probablement du bruit. Dites le nombre de mesures.</a:t>
            </a:r>
          </a:p>
          <a:p/>
          <a:p>
            <a:r>
              <a:t>L'exemple en gris est fictif : les étudiants l'effacent et écrivent le leur.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Barème indicatif à adapter aux modalités de l'ECUE : complétude et justesse des sections 50 %, qualité de l'état de l'art (section 13) 30 %, honnêteté sur les limites et l'usage de l'IA 20 %.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Liste de contrôle finale.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0"/>
            <a:ext cx="12191695" cy="109728"/>
          </a:xfrm>
          <a:prstGeom prst="rect">
            <a:avLst/>
          </a:prstGeom>
          <a:solidFill>
            <a:srgbClr val="E9A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4630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spcAft>
                <a:spcPts val="1539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Dossier d'état de l'art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71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39"/>
              </a:spcAft>
            </a:pPr>
            <a:r>
              <a:rPr sz="2400" b="0" i="0">
                <a:solidFill>
                  <a:srgbClr val="DCE3F5"/>
                </a:solidFill>
                <a:latin typeface="Calibri"/>
              </a:rPr>
              <a:t>Communication professionnelle de l'ingénieur : argumenter à partir de l'état de l'art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0" i="0">
                <a:solidFill>
                  <a:srgbClr val="DCE3F5"/>
                </a:solidFill>
                <a:latin typeface="Calibri"/>
              </a:rPr>
              <a:t>Modèle vierge à remplir au fil des exercices · une diapositive par section, avec un exemple en gris à effacer · un seul fichier par équipe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0" i="0">
                <a:solidFill>
                  <a:srgbClr val="B9C4E8"/>
                </a:solidFill>
                <a:latin typeface="Calibri"/>
              </a:rPr>
              <a:t>© 2026 SAS BELM DEVELOPPEMENT. Tous droits réservés. Créé avec l'aide de Claude (Anthropic), relu par l'auteur.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09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Équipe et sujet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7395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Dossier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15"/>
              </a:spcAft>
            </a:pPr>
            <a:r>
              <a:rPr sz="900" b="0" i="0">
                <a:solidFill>
                  <a:srgbClr val="5B6478"/>
                </a:solidFill>
                <a:latin typeface="Calibri"/>
              </a:rPr>
              <a:t>© 2026 SAS BELM DEVELOPPEMENT. Tous droits réservés. Créé avec l'aide de Claude (Anthropic), relu par l'auteur.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80160"/>
          <a:ext cx="11338560" cy="4206235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79520"/>
                <a:gridCol w="75590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Rubrique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À remplir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</a:tr>
              <a:tr h="768095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B1B1B"/>
                          </a:solidFill>
                          <a:latin typeface="Calibri"/>
                        </a:rPr>
                        <a:t>Équipe (prénoms)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8095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B1B1B"/>
                          </a:solidFill>
                          <a:latin typeface="Calibri"/>
                        </a:rPr>
                        <a:t>Sujet choisi (EX1)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8095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B1B1B"/>
                          </a:solidFill>
                          <a:latin typeface="Calibri"/>
                        </a:rPr>
                        <a:t>Question de décision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8095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B1B1B"/>
                          </a:solidFill>
                          <a:latin typeface="Calibri"/>
                        </a:rPr>
                        <a:t>Commanditaire : la direction de TransLor (fictive)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8095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B1B1B"/>
                          </a:solidFill>
                          <a:latin typeface="Calibri"/>
                        </a:rPr>
                        <a:t>Date et tuteur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09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Comment utiliser ce dossier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7395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Dossier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15"/>
              </a:spcAft>
            </a:pPr>
            <a:r>
              <a:rPr sz="900" b="0" i="0">
                <a:solidFill>
                  <a:srgbClr val="5B6478"/>
                </a:solidFill>
                <a:latin typeface="Calibri"/>
              </a:rPr>
              <a:t>© 2026 SAS BELM DEVELOPPEMENT. Tous droits réservés. Créé avec l'aide de Claude (Anthropic), relu par l'auteur.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1064240" cy="47548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 marL="201168" indent="-201168">
              <a:spcAft>
                <a:spcPts val="700"/>
              </a:spcAft>
              <a:buChar char="•"/>
            </a:pPr>
            <a:r>
              <a:rPr sz="2000" b="0" i="0">
                <a:solidFill>
                  <a:srgbClr val="1B1B1B"/>
                </a:solidFill>
                <a:latin typeface="Calibri"/>
              </a:rPr>
              <a:t>Ce fichier est le fil rouge du cours : une diapositive par section, une section par exercice. Chaque exercice indique « → Dossier, section X ».</a:t>
            </a:r>
          </a:p>
          <a:p>
            <a:pPr algn="l" marL="201168" indent="-201168">
              <a:spcAft>
                <a:spcPts val="700"/>
              </a:spcAft>
              <a:buChar char="•"/>
            </a:pPr>
            <a:r>
              <a:rPr sz="2000" b="0" i="0">
                <a:solidFill>
                  <a:srgbClr val="1B1B1B"/>
                </a:solidFill>
                <a:latin typeface="Calibri"/>
              </a:rPr>
              <a:t>Chaque section contient un EXEMPLE fictif en gris italique : lisez-le pour comprendre ce qu'on attend, puis effacez-le et écrivez le vôtre à la place. Ne recopiez ni ses contenus ni ses sources, fictives.</a:t>
            </a:r>
          </a:p>
          <a:p>
            <a:pPr algn="l" marL="201168" indent="-201168">
              <a:spcAft>
                <a:spcPts val="700"/>
              </a:spcAft>
              <a:buChar char="•"/>
            </a:pPr>
            <a:r>
              <a:rPr sz="2000" b="0" i="0">
                <a:solidFill>
                  <a:srgbClr val="1B1B1B"/>
                </a:solidFill>
                <a:latin typeface="Calibri"/>
              </a:rPr>
              <a:t>Remplissez la section pendant l'exercice, puis corrigez après la correction. Les sections 12 et 13 deviennent votre état de l'art de deux pages.</a:t>
            </a:r>
          </a:p>
          <a:p>
            <a:pPr algn="l" marL="201168" indent="-201168">
              <a:spcAft>
                <a:spcPts val="700"/>
              </a:spcAft>
              <a:buChar char="•"/>
            </a:pPr>
            <a:r>
              <a:rPr sz="2000" b="0" i="0">
                <a:solidFill>
                  <a:srgbClr val="1B1B1B"/>
                </a:solidFill>
                <a:latin typeface="Calibri"/>
              </a:rPr>
              <a:t>Une seule personne tient le fichier de l'équipe (ou un fichier partagé) ; enregistrez-le sous « Dossier_équipe_NOM ».</a:t>
            </a:r>
          </a:p>
          <a:p>
            <a:pPr algn="l" marL="201168" indent="-201168">
              <a:spcAft>
                <a:spcPts val="700"/>
              </a:spcAft>
              <a:buChar char="•"/>
            </a:pPr>
            <a:r>
              <a:rPr sz="2000" b="0" i="0">
                <a:solidFill>
                  <a:srgbClr val="1B1B1B"/>
                </a:solidFill>
                <a:latin typeface="Calibri"/>
              </a:rPr>
              <a:t>Aucune donnée confidentielle ou personnelle ici ni dans les outils d'IA. Si vous utilisez une IA, déclarez-le à la section 18.</a:t>
            </a:r>
          </a:p>
          <a:p>
            <a:pPr algn="l" marL="201168" indent="-201168">
              <a:spcAft>
                <a:spcPts val="700"/>
              </a:spcAft>
              <a:buChar char="•"/>
            </a:pPr>
            <a:r>
              <a:rPr sz="2000" b="0" i="0">
                <a:solidFill>
                  <a:srgbClr val="1B1B1B"/>
                </a:solidFill>
                <a:latin typeface="Calibri"/>
              </a:rPr>
              <a:t>Les chiffres et sources de TransLor sont inventés ; les sources trouvées pour votre sujet doivent être réelles, vérifiées et datées.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09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0. Mon offre cible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7395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Dossier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15"/>
              </a:spcAft>
            </a:pPr>
            <a:r>
              <a:rPr sz="900" b="0" i="0">
                <a:solidFill>
                  <a:srgbClr val="5B6478"/>
                </a:solidFill>
                <a:latin typeface="Calibri"/>
              </a:rPr>
              <a:t>© 2026 SAS BELM DEVELOPPEMENT. Tous droits réservés. Créé avec l'aide de Claude (Anthropic), relu par l'auteur.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60120"/>
            <a:ext cx="11338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 i="0">
                <a:solidFill>
                  <a:srgbClr val="1F2A5C"/>
                </a:solidFill>
                <a:latin typeface="Calibri"/>
              </a:rPr>
              <a:t>À remplir à : EX0   ·   Objectif du syllabus : P1, O3, P2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0" i="1">
                <a:solidFill>
                  <a:srgbClr val="5B6478"/>
                </a:solidFill>
                <a:latin typeface="Calibri"/>
              </a:rPr>
              <a:t>Une offre réelle d'ingénieur dans le métier visé : employeur, intitulé, date, adresse. Soulignez les verbes de veille, d'écrit et d'oral et reliez-les au syllabus.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920240"/>
            <a:ext cx="11338560" cy="457200"/>
          </a:xfrm>
          <a:prstGeom prst="roundRect">
            <a:avLst>
              <a:gd name="adj" fmla="val 6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384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Texte gris en italique = EXEMPLE FICTIF (sujet : signature électronique des bons de livraison de TransLor). Effacez-le et écrivez le vôtre ; ne recopiez ni ses contenus ni ses sources, fictives.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2468880"/>
          <a:ext cx="11338559" cy="37033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488787"/>
                <a:gridCol w="7849772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Rubrique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Votre réponse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Employeur, intitulé, date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(exemple fictif) entreprise de transport · ingénieur systèmes d'information · offre du 12/10/2026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Adresse de l'offre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(à copier de l'offre réelle)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Verbes de veille, d'écrit, d'oral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surveiller les évolutions réglementaires ; rédiger une note de synthèse ; présenter au comité de direction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Correspondance avec le syllabus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surveiller → O3 ; rédiger → P2 ; présenter → P1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L'offre demande-t-elle de la veille ?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Oui : le mot « veille » figure dans la liste des missions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Compétence à travailler en priorité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Rédiger une note courte, sourcée et datée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09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1. Question de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7395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Dossier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15"/>
              </a:spcAft>
            </a:pPr>
            <a:r>
              <a:rPr sz="900" b="0" i="0">
                <a:solidFill>
                  <a:srgbClr val="5B6478"/>
                </a:solidFill>
                <a:latin typeface="Calibri"/>
              </a:rPr>
              <a:t>© 2026 SAS BELM DEVELOPPEMENT. Tous droits réservés. Créé avec l'aide de Claude (Anthropic), relu par l'auteur.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60120"/>
            <a:ext cx="11338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 i="0">
                <a:solidFill>
                  <a:srgbClr val="1F2A5C"/>
                </a:solidFill>
                <a:latin typeface="Calibri"/>
              </a:rPr>
              <a:t>À remplir à : EX1   ·   Objectif du syllabus : O3 et P2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0" i="1">
                <a:solidFill>
                  <a:srgbClr val="5B6478"/>
                </a:solidFill>
                <a:latin typeface="Calibri"/>
              </a:rPr>
              <a:t>Un thème n'est pas une question : il faut une décision. Critères comparables, mots-clés en français et en anglais.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920240"/>
            <a:ext cx="11338560" cy="457200"/>
          </a:xfrm>
          <a:prstGeom prst="roundRect">
            <a:avLst>
              <a:gd name="adj" fmla="val 6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384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Texte gris en italique = EXEMPLE FICTIF (sujet : signature électronique des bons de livraison de TransLor). Effacez-le et écrivez le vôtre ; ne recopiez ni ses contenus ni ses sources, fictives.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2468880"/>
          <a:ext cx="11338559" cy="37033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488787"/>
                <a:gridCol w="7849772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Rubrique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Votre réponse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Sujet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Signature électronique des bons de livraison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« Faut-il adopter la signature électronique pour les bons de livraison chez TransLor, selon quels critères ? »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4 critères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Coût par an · valeur juridique · facilité pour les chauffeurs · délai de mise en place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Mots-clés (FR / EN)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signature électronique / e-signature ; bon de livraison / proof of delivery ; valeur probante / legal validity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Ce que je ne sais pas encore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Le nombre réel de livraisons contestées par an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09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2. Besoin du commanditaire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7395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Dossier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15"/>
              </a:spcAft>
            </a:pPr>
            <a:r>
              <a:rPr sz="900" b="0" i="0">
                <a:solidFill>
                  <a:srgbClr val="5B6478"/>
                </a:solidFill>
                <a:latin typeface="Calibri"/>
              </a:rPr>
              <a:t>© 2026 SAS BELM DEVELOPPEMENT. Tous droits réservés. Créé avec l'aide de Claude (Anthropic), relu par l'auteur.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60120"/>
            <a:ext cx="11338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 i="0">
                <a:solidFill>
                  <a:srgbClr val="1F2A5C"/>
                </a:solidFill>
                <a:latin typeface="Calibri"/>
              </a:rPr>
              <a:t>À remplir à : EX4   ·   Objectif du syllabus : P1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0" i="1">
                <a:solidFill>
                  <a:srgbClr val="5B6478"/>
                </a:solidFill>
                <a:latin typeface="Calibri"/>
              </a:rPr>
              <a:t>Le besoin réel n'est pas la solution demandée : QQOQCCP et pourquoi (jusqu'à 3 à 5).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920240"/>
            <a:ext cx="11338560" cy="457200"/>
          </a:xfrm>
          <a:prstGeom prst="roundRect">
            <a:avLst>
              <a:gd name="adj" fmla="val 6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384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Texte gris en italique = EXEMPLE FICTIF (sujet : signature électronique des bons de livraison de TransLor). Effacez-le et écrivez le vôtre ; ne recopiez ni ses contenus ni ses sources, fictives.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2468880"/>
          <a:ext cx="11338559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488787"/>
                <a:gridCol w="7849772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Rubrique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Votre réponse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Demande exprimée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Marc : « Je veux une tablette pour faire signer les chauffeurs. »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Pourquoi ? (1, 2, 3)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1. Éviter les papiers perdus. 2. Réduire les litiges de livraison. 3. Être payé plus vite.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Besoin réel en une phrase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Prouver chaque livraison le jour même, sans papier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Critère de réussite mesurable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95 % des livraisons prouvées le jour même (chiffre fictif)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09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3. Stratégie de recherche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7395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Dossier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15"/>
              </a:spcAft>
            </a:pPr>
            <a:r>
              <a:rPr sz="900" b="0" i="0">
                <a:solidFill>
                  <a:srgbClr val="5B6478"/>
                </a:solidFill>
                <a:latin typeface="Calibri"/>
              </a:rPr>
              <a:t>© 2026 SAS BELM DEVELOPPEMENT. Tous droits réservés. Créé avec l'aide de Claude (Anthropic), relu par l'auteur.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60120"/>
            <a:ext cx="11338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 i="0">
                <a:solidFill>
                  <a:srgbClr val="1F2A5C"/>
                </a:solidFill>
                <a:latin typeface="Calibri"/>
              </a:rPr>
              <a:t>À remplir à : EX7 et EX8   ·   Objectif du syllabus : O3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0" i="1">
                <a:solidFill>
                  <a:srgbClr val="5B6478"/>
                </a:solidFill>
                <a:latin typeface="Calibri"/>
              </a:rPr>
              <a:t>Une recherche doit pouvoir être refaite : requêtes exactes, base, date, nombre de résultats.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920240"/>
            <a:ext cx="11338560" cy="457200"/>
          </a:xfrm>
          <a:prstGeom prst="roundRect">
            <a:avLst>
              <a:gd name="adj" fmla="val 6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384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Texte gris en italique = EXEMPLE FICTIF (sujet : signature électronique des bons de livraison de TransLor). Effacez-le et écrivez le vôtre ; ne recopiez ni ses contenus ni ses sources, fictives.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2468880"/>
          <a:ext cx="11338559" cy="370331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74800"/>
                <a:gridCol w="2362200"/>
                <a:gridCol w="2362200"/>
                <a:gridCol w="3149600"/>
                <a:gridCol w="1889759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Concept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Synonymes FR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Synonymes EN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Requête finale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Base, date, nb de résultats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signature électronique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e-signature, signature numérique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electronic signature, e-signature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« electronic signature » AND « proof of delivery »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Google Scholar, 23/10/2026, environ 300 (fictif)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bon de livraison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preuve de livraison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proof of delivery, POD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« proof of delivery » OR « delivery receipt »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Google Scholar, 23/10/2026, environ 800 (fictif)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valeur juridique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valeur probante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legal validity, evidentiary value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« electronic signature » AND « legal validity »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Google Scholar, 23/10/2026, 2 filtres : 5 ans (fictif)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09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4. Sources institutionnelles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7395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Dossier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15"/>
              </a:spcAft>
            </a:pPr>
            <a:r>
              <a:rPr sz="900" b="0" i="0">
                <a:solidFill>
                  <a:srgbClr val="5B6478"/>
                </a:solidFill>
                <a:latin typeface="Calibri"/>
              </a:rPr>
              <a:t>© 2026 SAS BELM DEVELOPPEMENT. Tous droits réservés. Créé avec l'aide de Claude (Anthropic), relu par l'auteur.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60120"/>
            <a:ext cx="11338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 i="0">
                <a:solidFill>
                  <a:srgbClr val="1F2A5C"/>
                </a:solidFill>
                <a:latin typeface="Calibri"/>
              </a:rPr>
              <a:t>À remplir à : EX9   ·   Objectif du syllabus : O3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0" i="1">
                <a:solidFill>
                  <a:srgbClr val="5B6478"/>
                </a:solidFill>
                <a:latin typeface="Calibri"/>
              </a:rPr>
              <a:t>Deux documents d'organismes publics ou de normalisation : organisme, titre, date, version, adresse, type.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920240"/>
            <a:ext cx="11338560" cy="457200"/>
          </a:xfrm>
          <a:prstGeom prst="roundRect">
            <a:avLst>
              <a:gd name="adj" fmla="val 6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384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Texte gris en italique = EXEMPLE FICTIF (sujet : signature électronique des bons de livraison de TransLor). Effacez-le et écrivez le vôtre ; ne recopiez ni ses contenus ni ses sources, fictives.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2468880"/>
          <a:ext cx="11338557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43269"/>
                <a:gridCol w="2464904"/>
                <a:gridCol w="1314615"/>
                <a:gridCol w="1971923"/>
                <a:gridCol w="1314615"/>
                <a:gridCol w="2629231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Organisme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Titre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Date / version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Adresse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Ce qu'il dit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(exemple fictif) autorité européenne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Texte sur les services de confiance électroniques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Version consolidée (à noter)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(adresse à copier)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Texte de loi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Définit les niveaux de signature électronique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(exemple fictif) agence nationale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Guide sur la signature électronique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2022 (fictif)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(adresse à copier)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Recommandation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Conseille un niveau selon le risque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09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5. Sources évaluées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7395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Dossier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15"/>
              </a:spcAft>
            </a:pPr>
            <a:r>
              <a:rPr sz="900" b="0" i="0">
                <a:solidFill>
                  <a:srgbClr val="5B6478"/>
                </a:solidFill>
                <a:latin typeface="Calibri"/>
              </a:rPr>
              <a:t>© 2026 SAS BELM DEVELOPPEMENT. Tous droits réservés. Créé avec l'aide de Claude (Anthropic), relu par l'auteur.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60120"/>
            <a:ext cx="11338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 i="0">
                <a:solidFill>
                  <a:srgbClr val="1F2A5C"/>
                </a:solidFill>
                <a:latin typeface="Calibri"/>
              </a:rPr>
              <a:t>À remplir à : EX10, EX11b, EX12   ·   Objectif du syllabus : O3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0" i="1">
                <a:solidFill>
                  <a:srgbClr val="5B6478"/>
                </a:solidFill>
                <a:latin typeface="Calibri"/>
              </a:rPr>
              <a:t>Grille : Qui ? Quand ? Pourquoi ? Sur quoi ? Recoupé ? Reproductible ? 0 à 2 chacune (max. 12). 9 et plus fiable ; 5 à 8 à recouper ; 4 et moins à écarter ou citer avec prudence.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920240"/>
            <a:ext cx="11338560" cy="457200"/>
          </a:xfrm>
          <a:prstGeom prst="roundRect">
            <a:avLst>
              <a:gd name="adj" fmla="val 6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384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Texte gris en italique = EXEMPLE FICTIF (sujet : signature électronique des bons de livraison de TransLor). Effacez-le et écrivez le vôtre ; ne recopiez ni ses contenus ni ses sources, fictives.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2468880"/>
          <a:ext cx="11338557" cy="37033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515832"/>
                <a:gridCol w="703166"/>
                <a:gridCol w="791062"/>
                <a:gridCol w="791062"/>
                <a:gridCol w="791062"/>
                <a:gridCol w="878958"/>
                <a:gridCol w="791062"/>
                <a:gridCol w="791062"/>
                <a:gridCol w="2285291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Qui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Quand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Pour-quoi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Sur quoi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Recoupé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Repro.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Décision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Texte officiel européen [fictif]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Garder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Blog d'éditeur [fictif]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Écarter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Article de revue [fictif]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Garder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09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6. Origine d'un chiffre clé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7395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Dossier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15"/>
              </a:spcAft>
            </a:pPr>
            <a:r>
              <a:rPr sz="900" b="0" i="0">
                <a:solidFill>
                  <a:srgbClr val="5B6478"/>
                </a:solidFill>
                <a:latin typeface="Calibri"/>
              </a:rPr>
              <a:t>© 2026 SAS BELM DEVELOPPEMENT. Tous droits réservés. Créé avec l'aide de Claude (Anthropic), relu par l'auteur.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60120"/>
            <a:ext cx="11338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 i="0">
                <a:solidFill>
                  <a:srgbClr val="1F2A5C"/>
                </a:solidFill>
                <a:latin typeface="Calibri"/>
              </a:rPr>
              <a:t>À remplir à : EX13   ·   Objectif du syllabus : O3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0" i="1">
                <a:solidFill>
                  <a:srgbClr val="5B6478"/>
                </a:solidFill>
                <a:latin typeface="Calibri"/>
              </a:rPr>
              <a:t>Remontez au document d'origine. Sans source d'origine, ne citez pas le chiffre comme un fait.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920240"/>
            <a:ext cx="11338560" cy="457200"/>
          </a:xfrm>
          <a:prstGeom prst="roundRect">
            <a:avLst>
              <a:gd name="adj" fmla="val 6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384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Texte gris en italique = EXEMPLE FICTIF (sujet : signature électronique des bons de livraison de TransLor). Effacez-le et écrivez le vôtre ; ne recopiez ni ses contenus ni ses sources, fictives.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2468880"/>
          <a:ext cx="11338559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488787"/>
                <a:gridCol w="7849772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Rubrique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Votre réponse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Chiffre étudié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« 80 % des entreprises de transport signent déjà en électronique » [fictif]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Chemin suivi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Article de presse → blog d'un éditeur → enquête de l'éditeur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Ce que la source d'origine mesure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La part de ses 120 clients qui utilisent l'outil : pas les entreprises du secteur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Ma phrase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« Selon un éditeur (enquête auprès de ses 120 clients), 80 % de ses clients signent en électronique ; non généralisable. »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09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7. Fiche de lecture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7395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Dossier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15"/>
              </a:spcAft>
            </a:pPr>
            <a:r>
              <a:rPr sz="900" b="0" i="0">
                <a:solidFill>
                  <a:srgbClr val="5B6478"/>
                </a:solidFill>
                <a:latin typeface="Calibri"/>
              </a:rPr>
              <a:t>© 2026 SAS BELM DEVELOPPEMENT. Tous droits réservés. Créé avec l'aide de Claude (Anthropic), relu par l'auteur.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60120"/>
            <a:ext cx="11338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 i="0">
                <a:solidFill>
                  <a:srgbClr val="1F2A5C"/>
                </a:solidFill>
                <a:latin typeface="Calibri"/>
              </a:rPr>
              <a:t>À remplir à : EX14   ·   Objectif du syllabus : O2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0" i="1">
                <a:solidFill>
                  <a:srgbClr val="5B6478"/>
                </a:solidFill>
                <a:latin typeface="Calibri"/>
              </a:rPr>
              <a:t>Lire dans l'ordre : résumé, conclusion, méthode, résultats, limites. Toujours regarder qui finance.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920240"/>
            <a:ext cx="11338560" cy="457200"/>
          </a:xfrm>
          <a:prstGeom prst="roundRect">
            <a:avLst>
              <a:gd name="adj" fmla="val 6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384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Texte gris en italique = EXEMPLE FICTIF (sujet : signature électronique des bons de livraison de TransLor). Effacez-le et écrivez le vôtre ; ne recopiez ni ses contenus ni ses sources, fictives.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2468880"/>
          <a:ext cx="11338559" cy="37033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488787"/>
                <a:gridCol w="7849772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Rubrique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Votre réponse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Référence complète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Auteur A., Auteur B. (2023). Titre fictif. Revue X, 12(3), 45-60.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Question de l'article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La signature électronique réduit-elle les litiges de livraison ?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Méthode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15 entreprises, avant / après sur 6 mois, sans groupe témoin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Résultat principal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−35 % de litiges de livraison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Limites, financement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Échantillon réduit, un seul secteur ; financement public déclaré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Ma phrase honnête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« Dans une étude de 15 entreprises (fictive), les litiges ont baissé de 35 % après adoption, sans groupe témoin. »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09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8. Références vérifiées (IA)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7395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Dossier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15"/>
              </a:spcAft>
            </a:pPr>
            <a:r>
              <a:rPr sz="900" b="0" i="0">
                <a:solidFill>
                  <a:srgbClr val="5B6478"/>
                </a:solidFill>
                <a:latin typeface="Calibri"/>
              </a:rPr>
              <a:t>© 2026 SAS BELM DEVELOPPEMENT. Tous droits réservés. Créé avec l'aide de Claude (Anthropic), relu par l'auteur.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60120"/>
            <a:ext cx="11338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 i="0">
                <a:solidFill>
                  <a:srgbClr val="1F2A5C"/>
                </a:solidFill>
                <a:latin typeface="Calibri"/>
              </a:rPr>
              <a:t>À remplir à : EX15   ·   Objectif du syllabus : O2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0" i="1">
                <a:solidFill>
                  <a:srgbClr val="5B6478"/>
                </a:solidFill>
                <a:latin typeface="Calibri"/>
              </a:rPr>
              <a:t>Aucune référence donnée par une IA n'est citée avant d'avoir été ouverte et lue à son origine.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920240"/>
            <a:ext cx="11338560" cy="457200"/>
          </a:xfrm>
          <a:prstGeom prst="roundRect">
            <a:avLst>
              <a:gd name="adj" fmla="val 6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384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Texte gris en italique = EXEMPLE FICTIF (sujet : signature électronique des bons de livraison de TransLor). Effacez-le et écrivez le vôtre ; ne recopiez ni ses contenus ni ses sources, fictives.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2468880"/>
          <a:ext cx="11338557" cy="37033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360984"/>
                <a:gridCol w="1221075"/>
                <a:gridCol w="1395515"/>
                <a:gridCol w="2616590"/>
                <a:gridCol w="1744393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Référence donnée par l'IA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Existe ?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DOI valide ?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Indices d'alerte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Décision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Auteur X (2021). Titre fictif A. Revue 1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Oui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Oui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Aucun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Garder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Auteur Y (2020). Un guide absolu de tout. Revue 2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Non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Non : ne s'ouvre pas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Titre trop parfait ; DOI invalide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Écarter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Auteur Z (2019). Titre fictif C. Revue 3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Titre réel, autres auteurs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Oui, autre article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Vrais auteurs, faux titre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Écarter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09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9. Argument de Toulmin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7395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Dossier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15"/>
              </a:spcAft>
            </a:pPr>
            <a:r>
              <a:rPr sz="900" b="0" i="0">
                <a:solidFill>
                  <a:srgbClr val="5B6478"/>
                </a:solidFill>
                <a:latin typeface="Calibri"/>
              </a:rPr>
              <a:t>© 2026 SAS BELM DEVELOPPEMENT. Tous droits réservés. Créé avec l'aide de Claude (Anthropic), relu par l'auteur.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60120"/>
            <a:ext cx="11338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 i="0">
                <a:solidFill>
                  <a:srgbClr val="1F2A5C"/>
                </a:solidFill>
                <a:latin typeface="Calibri"/>
              </a:rPr>
              <a:t>À remplir à : EX16 et EX19   ·   Objectif du syllabus : O1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0" i="1">
                <a:solidFill>
                  <a:srgbClr val="5B6478"/>
                </a:solidFill>
                <a:latin typeface="Calibri"/>
              </a:rPr>
              <a:t>Chaque donnée porte sa référence. La réfutation est cherchée, pas subie. Le qualificatif dit la portée.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920240"/>
            <a:ext cx="11338560" cy="457200"/>
          </a:xfrm>
          <a:prstGeom prst="roundRect">
            <a:avLst>
              <a:gd name="adj" fmla="val 6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384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Texte gris en italique = EXEMPLE FICTIF (sujet : signature électronique des bons de livraison de TransLor). Effacez-le et écrivez le vôtre ; ne recopiez ni ses contenus ni ses sources, fictives.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2468880"/>
          <a:ext cx="11338559" cy="37033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16590"/>
                <a:gridCol w="8721969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Case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Votre contenu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Affirmation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TransLor devrait adopter la signature électronique pour les bons de livraison.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Données (avec références)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12 % des livraisons contestées (registre interne 2026, fictif) ; litige moyen : 3 jours de retard de paiement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Garantie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Une preuve datée réduit les litiges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Fondement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Les textes officiels reconnaissent la signature électronique (référence 1, fictive)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Réfutation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Sauf si la couverture mobile est insuffisante chez les clients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Qualificatif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Probablement, pour les livraisons en zone couverte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09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10. Chiffre de fournisseur et objections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7395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Dossier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15"/>
              </a:spcAft>
            </a:pPr>
            <a:r>
              <a:rPr sz="900" b="0" i="0">
                <a:solidFill>
                  <a:srgbClr val="5B6478"/>
                </a:solidFill>
                <a:latin typeface="Calibri"/>
              </a:rPr>
              <a:t>© 2026 SAS BELM DEVELOPPEMENT. Tous droits réservés. Créé avec l'aide de Claude (Anthropic), relu par l'auteur.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60120"/>
            <a:ext cx="11338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 i="0">
                <a:solidFill>
                  <a:srgbClr val="1F2A5C"/>
                </a:solidFill>
                <a:latin typeface="Calibri"/>
              </a:rPr>
              <a:t>À remplir à : EX18 et EX20   ·   Objectif du syllabus : O1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0" i="1">
                <a:solidFill>
                  <a:srgbClr val="5B6478"/>
                </a:solidFill>
                <a:latin typeface="Calibri"/>
              </a:rPr>
              <a:t>Cinq questions sur un chiffre : base, mesure, échantillon, auteur, durée. Puis deux objections et vos réponses (fait, concession ou réserve).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920240"/>
            <a:ext cx="11338560" cy="457200"/>
          </a:xfrm>
          <a:prstGeom prst="roundRect">
            <a:avLst>
              <a:gd name="adj" fmla="val 6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384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Texte gris en italique = EXEMPLE FICTIF (sujet : signature électronique des bons de livraison de TransLor). Effacez-le et écrivez le vôtre ; ne recopiez ni ses contenus ni ses sources, fictives.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2468880"/>
          <a:ext cx="11338559" cy="37033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488787"/>
                <a:gridCol w="7849772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Rubrique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Votre réponse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Affirmation chiffrée (page, date)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« −70 % de litiges avec notre solution » (site d'un fournisseur fictif, 12/10/2026)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Questions restées sans réponse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Base ? échantillon ? durée ? : 3 questions sur 5 sans réponse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Phrase d'état de l'art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« Selon un fournisseur, les litiges baisseraient de 70 % ; la méthode n'est pas publiée : position à recouper. »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Objection 1 et réponse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« Le coût s'ajoute. » Concession et fait : 1 800 € par an (devis fictif), rentable si 6 litiges par an sont évités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Objection 2 et réponse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« Les chauffeurs n'auront pas le réseau. » Réserve : test de deux semaines avant la décision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09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11. Matrice de comparaison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7395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Dossier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15"/>
              </a:spcAft>
            </a:pPr>
            <a:r>
              <a:rPr sz="900" b="0" i="0">
                <a:solidFill>
                  <a:srgbClr val="5B6478"/>
                </a:solidFill>
                <a:latin typeface="Calibri"/>
              </a:rPr>
              <a:t>© 2026 SAS BELM DEVELOPPEMENT. Tous droits réservés. Créé avec l'aide de Claude (Anthropic), relu par l'auteur.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60120"/>
            <a:ext cx="11338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 i="0">
                <a:solidFill>
                  <a:srgbClr val="1F2A5C"/>
                </a:solidFill>
                <a:latin typeface="Calibri"/>
              </a:rPr>
              <a:t>À remplir à : EX21 et EX22   ·   Objectif du syllabus : P2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0" i="1">
                <a:solidFill>
                  <a:srgbClr val="5B6478"/>
                </a:solidFill>
                <a:latin typeface="Calibri"/>
              </a:rPr>
              <a:t>3 solutions, 4 critères pondérés (total 100 %), scores de 1 à 5 sourcés, total pondéré, test de sensibilité (critère principal à 50 %).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920240"/>
            <a:ext cx="11338560" cy="457200"/>
          </a:xfrm>
          <a:prstGeom prst="roundRect">
            <a:avLst>
              <a:gd name="adj" fmla="val 6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384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Texte gris en italique = EXEMPLE FICTIF (sujet : signature électronique des bons de livraison de TransLor). Effacez-le et écrivez le vôtre ; ne recopiez ni ses contenus ni ses sources, fictives.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2468880"/>
          <a:ext cx="11338558" cy="4023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29691"/>
                <a:gridCol w="971876"/>
                <a:gridCol w="1619794"/>
                <a:gridCol w="1619794"/>
                <a:gridCol w="1619794"/>
                <a:gridCol w="3077609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Critère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Poids %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Solution A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Solution B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Solution C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Source des scores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Coût (A papier amélioré, B appli, C module intégré)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devis fictifs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Valeur juridique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texte officiel [fictif]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Facilité pour les chauffeurs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essai interne [fictif]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Délai de mise en place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devis fictifs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Total pondéré (sur 5)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3,7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3,5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3,2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B passe premier si la valeur juridique pèse 50 % (test de sensibilité)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09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12. Plan et résumé d'ouverture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7395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Dossier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15"/>
              </a:spcAft>
            </a:pPr>
            <a:r>
              <a:rPr sz="900" b="0" i="0">
                <a:solidFill>
                  <a:srgbClr val="5B6478"/>
                </a:solidFill>
                <a:latin typeface="Calibri"/>
              </a:rPr>
              <a:t>© 2026 SAS BELM DEVELOPPEMENT. Tous droits réservés. Créé avec l'aide de Claude (Anthropic), relu par l'auteur.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60120"/>
            <a:ext cx="11338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 i="0">
                <a:solidFill>
                  <a:srgbClr val="1F2A5C"/>
                </a:solidFill>
                <a:latin typeface="Calibri"/>
              </a:rPr>
              <a:t>À remplir à : EX23   ·   Objectif du syllabus : P2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0" i="1">
                <a:solidFill>
                  <a:srgbClr val="5B6478"/>
                </a:solidFill>
                <a:latin typeface="Calibri"/>
              </a:rPr>
              <a:t>Plan : 1 Question, 2 Méthode de recherche, 3 Panorama, 4 Comparaison, 5 Discussion et limites, 6 Conclusion. Résumé d'ouverture de trois lignes : question, méthode, conclusion.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920240"/>
            <a:ext cx="11338560" cy="457200"/>
          </a:xfrm>
          <a:prstGeom prst="roundRect">
            <a:avLst>
              <a:gd name="adj" fmla="val 6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384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Texte gris en italique = EXEMPLE FICTIF (sujet : signature électronique des bons de livraison de TransLor). Effacez-le et écrivez le vôtre ; ne recopiez ni ses contenus ni ses sources, fictives.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2468880"/>
          <a:ext cx="11338559" cy="37033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488787"/>
                <a:gridCol w="7849772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Rubrique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Votre réponse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Résumé d'ouverture (3 lignes)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Question : faut-il adopter la signature électronique ? Méthode : 12 sources lues, 5 retenues. Conclusion : probablement oui, via une application, sous réserve d'un test réseau.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1. Question et 2. Méthode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Contexte, 3 requêtes, 5 sources retenues (25 %)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3. Panorama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Papier amélioré, application, module intégré (25 %)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4. Comparaison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Matrice, test de sensibilité (25 %)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5. Discussion et 6. Conclusion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Réfutations, réserve, recommandation (25 %)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09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13. État de l'art (2 pages)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7395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Dossier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15"/>
              </a:spcAft>
            </a:pPr>
            <a:r>
              <a:rPr sz="900" b="0" i="0">
                <a:solidFill>
                  <a:srgbClr val="5B6478"/>
                </a:solidFill>
                <a:latin typeface="Calibri"/>
              </a:rPr>
              <a:t>© 2026 SAS BELM DEVELOPPEMENT. Tous droits réservés. Créé avec l'aide de Claude (Anthropic), relu par l'auteur.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60120"/>
            <a:ext cx="11338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 i="0">
                <a:solidFill>
                  <a:srgbClr val="1F2A5C"/>
                </a:solidFill>
                <a:latin typeface="Calibri"/>
              </a:rPr>
              <a:t>À remplir à : EX24   ·   Objectif du syllabus : P2 et O1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0" i="1">
                <a:solidFill>
                  <a:srgbClr val="5B6478"/>
                </a:solidFill>
                <a:latin typeface="Calibri"/>
              </a:rPr>
              <a:t>Une affirmation de fait = une référence. Un paragraphe : conclusion, preuve référencée, limite, transition. Rédigez ici ou collez le texte de votre document partagé.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920240"/>
            <a:ext cx="11338560" cy="457200"/>
          </a:xfrm>
          <a:prstGeom prst="roundRect">
            <a:avLst>
              <a:gd name="adj" fmla="val 6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384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Texte gris en italique = EXEMPLE FICTIF (sujet : signature électronique des bons de livraison de TransLor). Effacez-le et écrivez le vôtre ; ne recopiez ni ses contenus ni ses sources, fictives.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468880"/>
            <a:ext cx="1133856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3B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14600"/>
            <a:ext cx="11155680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40"/>
              </a:spcAft>
            </a:pPr>
            <a:r>
              <a:rPr sz="1200" b="0" i="1">
                <a:solidFill>
                  <a:srgbClr val="5B6478"/>
                </a:solidFill>
                <a:latin typeface="Calibri"/>
              </a:rPr>
              <a:t>Résumé d'ouverture. Faut-il adopter la signature électronique pour les bons de livraison ? Nous avons lu douze sources et en avons retenu cinq. Nous recommandons probablement une application de signature, sous réserve d'un test réseau.</a:t>
            </a:r>
          </a:p>
          <a:p>
            <a:pPr algn="l">
              <a:spcAft>
                <a:spcPts val="240"/>
              </a:spcAft>
            </a:pPr>
            <a:r>
              <a:rPr sz="1200" b="0" i="1">
                <a:solidFill>
                  <a:srgbClr val="5B6478"/>
                </a:solidFill>
                <a:latin typeface="Calibri"/>
              </a:rPr>
              <a:t>Comparaison. Trois solutions sont comparées sur quatre critères pondérés (matrice, section 11). L'application obtient 3,5 sur 5, derrière le papier amélioré (3,7) ; elle passe première si la valeur juridique pèse 50 % (référence 1).</a:t>
            </a:r>
          </a:p>
          <a:p>
            <a:pPr algn="l">
              <a:spcAft>
                <a:spcPts val="240"/>
              </a:spcAft>
            </a:pPr>
            <a:r>
              <a:rPr sz="1200" b="0" i="1">
                <a:solidFill>
                  <a:srgbClr val="5B6478"/>
                </a:solidFill>
                <a:latin typeface="Calibri"/>
              </a:rPr>
              <a:t>Limites. Les scores de coût viennent de devis fictifs ; une étude de 15 entreprises (référence 2) conclut à −35 % de litiges, sans groupe témoin. Réserve : la couverture mobile chez les clients n'est pas mesurée.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09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14. Retours de relecture (SBI)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7395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Dossier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15"/>
              </a:spcAft>
            </a:pPr>
            <a:r>
              <a:rPr sz="900" b="0" i="0">
                <a:solidFill>
                  <a:srgbClr val="5B6478"/>
                </a:solidFill>
                <a:latin typeface="Calibri"/>
              </a:rPr>
              <a:t>© 2026 SAS BELM DEVELOPPEMENT. Tous droits réservés. Créé avec l'aide de Claude (Anthropic), relu par l'auteur.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60120"/>
            <a:ext cx="11338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 i="0">
                <a:solidFill>
                  <a:srgbClr val="1F2A5C"/>
                </a:solidFill>
                <a:latin typeface="Calibri"/>
              </a:rPr>
              <a:t>À remplir à : EX25   ·   Objectif du syllabus : P2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0" i="1">
                <a:solidFill>
                  <a:srgbClr val="5B6478"/>
                </a:solidFill>
                <a:latin typeface="Calibri"/>
              </a:rPr>
              <a:t>Situation, Comportement observé (un fait), Impact. Notez ce que vous modifiez.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920240"/>
            <a:ext cx="11338560" cy="457200"/>
          </a:xfrm>
          <a:prstGeom prst="roundRect">
            <a:avLst>
              <a:gd name="adj" fmla="val 6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384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Texte gris en italique = EXEMPLE FICTIF (sujet : signature électronique des bons de livraison de TransLor). Effacez-le et écrivez le vôtre ; ne recopiez ni ses contenus ni ses sources, fictives.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2468880"/>
          <a:ext cx="11338558" cy="37033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38483"/>
                <a:gridCol w="3384644"/>
                <a:gridCol w="2961564"/>
                <a:gridCol w="2453867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Situation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Comportement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Je modifie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Dans la partie 2 (méthode),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les requêtes ne sont pas indiquées,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un lecteur ne peut pas refaire la recherche.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J'ajoute les requêtes et la date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Dans la conclusion,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la réserve figure dans la dernière phrase seulement,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le lecteur peut ne pas la voir.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Je la remonte dans le résumé d'ouverture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09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15. Pitch et jury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7395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Dossier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15"/>
              </a:spcAft>
            </a:pPr>
            <a:r>
              <a:rPr sz="900" b="0" i="0">
                <a:solidFill>
                  <a:srgbClr val="5B6478"/>
                </a:solidFill>
                <a:latin typeface="Calibri"/>
              </a:rPr>
              <a:t>© 2026 SAS BELM DEVELOPPEMENT. Tous droits réservés. Créé avec l'aide de Claude (Anthropic), relu par l'auteur.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60120"/>
            <a:ext cx="11338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 i="0">
                <a:solidFill>
                  <a:srgbClr val="1F2A5C"/>
                </a:solidFill>
                <a:latin typeface="Calibri"/>
              </a:rPr>
              <a:t>À remplir à : EX26 et EX27   ·   Objectif du syllabus : P2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0" i="1">
                <a:solidFill>
                  <a:srgbClr val="5B6478"/>
                </a:solidFill>
                <a:latin typeface="Calibri"/>
              </a:rPr>
              <a:t>Message clé : une phrase que la directrice peut répéter. Puis accroche, problème, solution, preuve, appel à décision.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920240"/>
            <a:ext cx="11338560" cy="457200"/>
          </a:xfrm>
          <a:prstGeom prst="roundRect">
            <a:avLst>
              <a:gd name="adj" fmla="val 6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384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Texte gris en italique = EXEMPLE FICTIF (sujet : signature électronique des bons de livraison de TransLor). Effacez-le et écrivez le vôtre ; ne recopiez ni ses contenus ni ses sources, fictives.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2468880"/>
          <a:ext cx="11338559" cy="37033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488787"/>
                <a:gridCol w="7849772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Rubrique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Votre réponse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Message clé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Une preuve de livraison signée sur téléphone supprimerait la plupart des litiges pour un coût annuel modeste.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Accroche, problème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« 12 livraisons sur 100 sont contestées. » (fictif)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Solution, preuve (chiffre, source)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Application de signature ; 1 800 € par an (devis fictif) ; −35 % de litiges (étude fictive)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Appel à décision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« Validez un test de deux semaines avant le 30. »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Questions du jury et mes réponses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« Et sans réseau ? » Réserve : mode hors ligne à tester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09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16. Fiche de vulnérabilité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7395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Dossier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15"/>
              </a:spcAft>
            </a:pPr>
            <a:r>
              <a:rPr sz="900" b="0" i="0">
                <a:solidFill>
                  <a:srgbClr val="5B6478"/>
                </a:solidFill>
                <a:latin typeface="Calibri"/>
              </a:rPr>
              <a:t>© 2026 SAS BELM DEVELOPPEMENT. Tous droits réservés. Créé avec l'aide de Claude (Anthropic), relu par l'auteur.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60120"/>
            <a:ext cx="11338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 i="0">
                <a:solidFill>
                  <a:srgbClr val="1F2A5C"/>
                </a:solidFill>
                <a:latin typeface="Calibri"/>
              </a:rPr>
              <a:t>À remplir à : EX28 (annexe H)   ·   Objectif du syllabus : Projet tutoré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0" i="1">
                <a:solidFill>
                  <a:srgbClr val="5B6478"/>
                </a:solidFill>
                <a:latin typeface="Calibri"/>
              </a:rPr>
              <a:t>Une page remise au tuteur : fait, preuve, impact, argument condensé, recommandation avec qualificatif et réserve, vérification.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920240"/>
            <a:ext cx="11338560" cy="457200"/>
          </a:xfrm>
          <a:prstGeom prst="roundRect">
            <a:avLst>
              <a:gd name="adj" fmla="val 6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384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Texte gris en italique = EXEMPLE FICTIF (sujet : signature électronique des bons de livraison de TransLor). Effacez-le et écrivez le vôtre ; ne recopiez ni ses contenus ni ses sources, fictives.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2468880"/>
          <a:ext cx="11338559" cy="37033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488787"/>
                <a:gridCol w="7849772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Rubrique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Votre réponse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Vulnérabilité (une phrase)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Un seul gestionnaire sait paramétrer les tournées : dépendance à une personne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Fait observé et preuve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3 absences de 2 jours en 2026 ; tournées retardées (historique, fictif)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Retards de livraison et clients à prévenir à la main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Argument condensé (Toulmin)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Donnée : 3 absences. Garantie : une seule personne = risque. Affirmation : former une deuxième personne.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Recommandation (qualificatif, réserve)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Probablement : former un suppléant ; réserve : charge de travail à mesurer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Comment vérifier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Un test de remplacement d'une journée, avec le tuteur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09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17. Bibliographie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7395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Dossier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15"/>
              </a:spcAft>
            </a:pPr>
            <a:r>
              <a:rPr sz="900" b="0" i="0">
                <a:solidFill>
                  <a:srgbClr val="5B6478"/>
                </a:solidFill>
                <a:latin typeface="Calibri"/>
              </a:rPr>
              <a:t>© 2026 SAS BELM DEVELOPPEMENT. Tous droits réservés. Créé avec l'aide de Claude (Anthropic), relu par l'auteur.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60120"/>
            <a:ext cx="11338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 i="0">
                <a:solidFill>
                  <a:srgbClr val="1F2A5C"/>
                </a:solidFill>
                <a:latin typeface="Calibri"/>
              </a:rPr>
              <a:t>À remplir à : EX10 (Zotero)   ·   Objectif du syllabus : P2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0" i="1">
                <a:solidFill>
                  <a:srgbClr val="5B6478"/>
                </a:solidFill>
                <a:latin typeface="Calibri"/>
              </a:rPr>
              <a:t>Collez la bibliographie générée par Zotero, dans un seul style. Seules les sources lues et vérifiées y figurent.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920240"/>
            <a:ext cx="11338560" cy="457200"/>
          </a:xfrm>
          <a:prstGeom prst="roundRect">
            <a:avLst>
              <a:gd name="adj" fmla="val 6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384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Texte gris en italique = EXEMPLE FICTIF (sujet : signature électronique des bons de livraison de TransLor). Effacez-le et écrivez le vôtre ; ne recopiez ni ses contenus ni ses sources, fictives.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468880"/>
            <a:ext cx="1133856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3B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14600"/>
            <a:ext cx="11155680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40"/>
              </a:spcAft>
            </a:pPr>
            <a:r>
              <a:rPr sz="1200" b="0" i="1">
                <a:solidFill>
                  <a:srgbClr val="5B6478"/>
                </a:solidFill>
                <a:latin typeface="Calibri"/>
              </a:rPr>
              <a:t>Auteur A., Auteur B. (2023). Titre fictif de l'étude. Revue X, 12(3), 45-60. [fictif]</a:t>
            </a:r>
          </a:p>
          <a:p>
            <a:pPr algn="l">
              <a:spcAft>
                <a:spcPts val="240"/>
              </a:spcAft>
            </a:pPr>
            <a:r>
              <a:rPr sz="1200" b="0" i="1">
                <a:solidFill>
                  <a:srgbClr val="5B6478"/>
                </a:solidFill>
                <a:latin typeface="Calibri"/>
              </a:rPr>
              <a:t>Autorité européenne (version consolidée). Texte sur les services de confiance. [fictif, adresse et date de consultation à noter]</a:t>
            </a:r>
          </a:p>
          <a:p>
            <a:pPr algn="l">
              <a:spcAft>
                <a:spcPts val="240"/>
              </a:spcAft>
            </a:pPr>
            <a:r>
              <a:rPr sz="1200" b="0" i="1">
                <a:solidFill>
                  <a:srgbClr val="5B6478"/>
                </a:solidFill>
                <a:latin typeface="Calibri"/>
              </a:rPr>
              <a:t>Agence nationale (2022). Guide sur la signature électronique. [fictif]</a:t>
            </a:r>
          </a:p>
          <a:p>
            <a:pPr algn="l">
              <a:spcAft>
                <a:spcPts val="240"/>
              </a:spcAft>
            </a:pPr>
            <a:r>
              <a:rPr sz="1200" b="0" i="1">
                <a:solidFill>
                  <a:srgbClr val="5B6478"/>
                </a:solidFill>
                <a:latin typeface="Calibri"/>
              </a:rPr>
              <a:t>Style unique (ici auteur-date) ; seules les sources lues et vérifiées figurent ici ; générée par Zotero.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09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18. Déclaration d'usage de l'IA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7395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Dossier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15"/>
              </a:spcAft>
            </a:pPr>
            <a:r>
              <a:rPr sz="900" b="0" i="0">
                <a:solidFill>
                  <a:srgbClr val="5B6478"/>
                </a:solidFill>
                <a:latin typeface="Calibri"/>
              </a:rPr>
              <a:t>© 2026 SAS BELM DEVELOPPEMENT. Tous droits réservés. Créé avec l'aide de Claude (Anthropic), relu par l'auteur.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60120"/>
            <a:ext cx="11338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 i="0">
                <a:solidFill>
                  <a:srgbClr val="1F2A5C"/>
                </a:solidFill>
                <a:latin typeface="Calibri"/>
              </a:rPr>
              <a:t>À remplir à : Tout le cours   ·   Objectif du syllabus : P2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0" i="1">
                <a:solidFill>
                  <a:srgbClr val="5B6478"/>
                </a:solidFill>
                <a:latin typeface="Calibri"/>
              </a:rPr>
              <a:t>Dites comment vous avez utilisé une IA : pour quoi, quel outil, quelle vérification, ce que vous avez rejeté. Aucune donnée confidentielle saisie.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920240"/>
            <a:ext cx="11338560" cy="457200"/>
          </a:xfrm>
          <a:prstGeom prst="roundRect">
            <a:avLst>
              <a:gd name="adj" fmla="val 6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384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Texte gris en italique = EXEMPLE FICTIF (sujet : signature électronique des bons de livraison de TransLor). Effacez-le et écrivez le vôtre ; ne recopiez ni ses contenus ni ses sources, fictives.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2468880"/>
          <a:ext cx="11338558" cy="37033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16590"/>
                <a:gridCol w="3924886"/>
                <a:gridCol w="3052689"/>
                <a:gridCol w="1744393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Outil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Usage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Vérification faite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Gardé / rejeté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(exemple) assistant d'IA généraliste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Synonymes anglais de « signature électronique »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Chaque synonyme testé dans Google Scholar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5 gardés sur 10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(exemple) assistant d'IA généraliste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Objections au sujet de l'argument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Objections jugées une par une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2 gardées sur 3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09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19. Plan de veille et journal de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7395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Dossier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15"/>
              </a:spcAft>
            </a:pPr>
            <a:r>
              <a:rPr sz="900" b="0" i="0">
                <a:solidFill>
                  <a:srgbClr val="5B6478"/>
                </a:solidFill>
                <a:latin typeface="Calibri"/>
              </a:rPr>
              <a:t>© 2026 SAS BELM DEVELOPPEMENT. Tous droits réservés. Créé avec l'aide de Claude (Anthropic), relu par l'auteur.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60120"/>
            <a:ext cx="11338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 i="0">
                <a:solidFill>
                  <a:srgbClr val="1F2A5C"/>
                </a:solidFill>
                <a:latin typeface="Calibri"/>
              </a:rPr>
              <a:t>À remplir à : V4   ·   Objectif du syllabus : O3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0" i="1">
                <a:solidFill>
                  <a:srgbClr val="5B6478"/>
                </a:solidFill>
                <a:latin typeface="Calibri"/>
              </a:rPr>
              <a:t>Une requête, trois sources de types différents, une fréquence, une date de lecture. Notez un signal fort et un signal faible. Exportez votre liste en OPML.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920240"/>
            <a:ext cx="11338560" cy="457200"/>
          </a:xfrm>
          <a:prstGeom prst="roundRect">
            <a:avLst>
              <a:gd name="adj" fmla="val 6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384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Texte gris en italique = EXEMPLE FICTIF (sujet : signature électronique des bons de livraison de TransLor). Effacez-le et écrivez le vôtre ; ne recopiez ni ses contenus ni ses sources, fictives.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2468880"/>
          <a:ext cx="11338560" cy="43891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572000"/>
                <a:gridCol w="1828800"/>
                <a:gridCol w="1645920"/>
                <a:gridCol w="1645920"/>
                <a:gridCol w="16459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Requête ou source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Fréquence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Dernière lecture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Pertinence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Alerte « electronic signature » AND « proof of delivery »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Alerte e-mail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Chaque lundi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19/10/2026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Flux d'une agence nationale [fictif]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Institutionnelle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Chaque lundi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19/10/2026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Flux d'un dépôt d'articles [fictif]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Scientifique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Chaque mois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01/10/2026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Blog d'un éditeur [fictif]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Commerciale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Occasionnelle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12/10/2026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À pondérer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Signal faible : un billet isolé évoque un litige sur la valeur probante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À recouper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15/10/2026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À vérifier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09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20. Fiche de veille d'une vulnérabilité (CVE)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7395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Dossier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15"/>
              </a:spcAft>
            </a:pPr>
            <a:r>
              <a:rPr sz="900" b="0" i="0">
                <a:solidFill>
                  <a:srgbClr val="5B6478"/>
                </a:solidFill>
                <a:latin typeface="Calibri"/>
              </a:rPr>
              <a:t>© 2026 SAS BELM DEVELOPPEMENT. Tous droits réservés. Créé avec l'aide de Claude (Anthropic), relu par l'auteur.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60120"/>
            <a:ext cx="11338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 i="0">
                <a:solidFill>
                  <a:srgbClr val="1F2A5C"/>
                </a:solidFill>
                <a:latin typeface="Calibri"/>
              </a:rPr>
              <a:t>À remplir à : V5 (annexe H)   ·   Objectif du syllabus : Projet tutoré et O3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0" i="1">
                <a:solidFill>
                  <a:srgbClr val="5B6478"/>
                </a:solidFill>
                <a:latin typeface="Calibri"/>
              </a:rPr>
              <a:t>Quatre sources croisées (NVD, EUVD, KEV, EPSS) avec la date de consultation de chacune, puis une décision justifiée. Elle alimente la section 16.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920240"/>
            <a:ext cx="11338560" cy="457200"/>
          </a:xfrm>
          <a:prstGeom prst="roundRect">
            <a:avLst>
              <a:gd name="adj" fmla="val 6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384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Texte gris en italique = EXEMPLE FICTIF (sujet : signature électronique des bons de livraison de TransLor). Effacez-le et écrivez le vôtre ; ne recopiez ni ses contenus ni ses sources, fictives.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2468880"/>
          <a:ext cx="11338559" cy="370331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488787"/>
                <a:gridCol w="7849772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Rubrique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Votre réponse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CVE choisie, produit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CVE-AAAA-NNNNN (exemple fictif) · produit X, version 2.1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KEV (CISA)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Ajoutée le jj/mm (fictif) : exploitation constatée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NVD : score CVSS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9,8 (consulté le jj/mm)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EUVD : présente ?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Oui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EPSS : probabilité à 30 jours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74 % (consulté le jj/mm)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Décision et justification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Cette semaine : exploitation constatée (KEV) et probabilité élevée (EPSS), produit exposé sur Internet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Réserve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Confirmer que la version installée est concernée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09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21. Benchmark : mesures et écarts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7395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Dossier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15"/>
              </a:spcAft>
            </a:pPr>
            <a:r>
              <a:rPr sz="900" b="0" i="0">
                <a:solidFill>
                  <a:srgbClr val="5B6478"/>
                </a:solidFill>
                <a:latin typeface="Calibri"/>
              </a:rPr>
              <a:t>© 2026 SAS BELM DEVELOPPEMENT. Tous droits réservés. Créé avec l'aide de Claude (Anthropic), relu par l'auteur.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60120"/>
            <a:ext cx="11338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 i="0">
                <a:solidFill>
                  <a:srgbClr val="1F2A5C"/>
                </a:solidFill>
                <a:latin typeface="Calibri"/>
              </a:rPr>
              <a:t>À remplir à : V8 (et EX22)   ·   Objectif du syllabus : O3 et P2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0" i="1">
                <a:solidFill>
                  <a:srgbClr val="5B6478"/>
                </a:solidFill>
                <a:latin typeface="Calibri"/>
              </a:rPr>
              <a:t>Cinq mesures par solution, moyenne, écart-type, conclusion prudente : un écart plus petit que la dispersion est probablement du bruit. Dites le nombre de mesures.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920240"/>
            <a:ext cx="11338560" cy="457200"/>
          </a:xfrm>
          <a:prstGeom prst="roundRect">
            <a:avLst>
              <a:gd name="adj" fmla="val 6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384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Texte gris en italique = EXEMPLE FICTIF (sujet : signature électronique des bons de livraison de TransLor). Effacez-le et écrivez le vôtre ; ne recopiez ni ses contenus ni ses sources, fictives.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2468880"/>
          <a:ext cx="11338557" cy="37033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29691"/>
                <a:gridCol w="1619794"/>
                <a:gridCol w="1619794"/>
                <a:gridCol w="1457814"/>
                <a:gridCol w="1295835"/>
                <a:gridCol w="2915629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Mesure (5 essais)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Solution 1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Solution 2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Écart des moyennes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Dispersion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Conclusion prudente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Temps de signature (secondes)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moyenne 40,0 (écart-type 3,4)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moyenne 39,6 (écart-type 3,9)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0,4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3,4 à 3,9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Aucune différence établie : écart inférieur à la dispersion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>Temps de chargement (secondes)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moyenne 52,0 (écart-type 1,6)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moyenne 42,0 (écart-type 1,6)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10,0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1,6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>La solution 2 est plus rapide sur ces 5 essais ; à confirmer avec plus de mesures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1B1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1">
                          <a:solidFill>
                            <a:srgbClr val="5B64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09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Correspondance avec le syllabus ECUE-S7-1-2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7395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Dossier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15"/>
              </a:spcAft>
            </a:pPr>
            <a:r>
              <a:rPr sz="900" b="0" i="0">
                <a:solidFill>
                  <a:srgbClr val="5B6478"/>
                </a:solidFill>
                <a:latin typeface="Calibri"/>
              </a:rPr>
              <a:t>© 2026 SAS BELM DEVELOPPEMENT. Tous droits réservés. Créé avec l'aide de Claude (Anthropic), relu par l'auteur.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80160"/>
          <a:ext cx="11338559" cy="420623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8229600"/>
                <a:gridCol w="3108959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Objectif du syllabus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Sections du dossier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</a:tr>
              <a:tr h="640079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B1B1B"/>
                          </a:solidFill>
                          <a:latin typeface="Calibri"/>
                        </a:rPr>
                        <a:t>O1 · Argumenter une innovation ou une solution à partir des états des techniques et de l'art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9, 10, 11, 13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B1B1B"/>
                          </a:solidFill>
                          <a:latin typeface="Calibri"/>
                        </a:rPr>
                        <a:t>O2 · Maîtriser l'information spécialisée dans un domaine scientifique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7, 8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B1B1B"/>
                          </a:solidFill>
                          <a:latin typeface="Calibri"/>
                        </a:rPr>
                        <a:t>O3 · Chercher l'information, l'évaluer, la valider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1, 3, 4, 5, 6, 19, 20, 21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B1B1B"/>
                          </a:solidFill>
                          <a:latin typeface="Calibri"/>
                        </a:rPr>
                        <a:t>P1 · Manipuler l'information et la communication en posture d'ingénieur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0, 2, 14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B1B1B"/>
                          </a:solidFill>
                          <a:latin typeface="Calibri"/>
                        </a:rPr>
                        <a:t>P2 · Se documenter, restituer un état de l'art par écrit et à l'oral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12, 13, 15, 17, 18, 21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B1B1B"/>
                          </a:solidFill>
                          <a:latin typeface="Calibri"/>
                        </a:rPr>
                        <a:t>Projet tutoré · Vulnérabilités clés de l'organisation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1B1B"/>
                          </a:solidFill>
                          <a:latin typeface="Calibri"/>
                        </a:rPr>
                        <a:t>16, 20</a:t>
                      </a:r>
                    </a:p>
                  </a:txBody>
                  <a:tcPr marL="73152" marR="73152" marT="36576" marB="36576">
                    <a:lnL w="12700" cap="flat" cmpd="sng" algn="ctr">
                      <a:solidFill>
                        <a:srgbClr val="8FA0D0"/>
                      </a:solidFill>
                      <a:prstDash val="solid"/>
                    </a:lnL>
                    <a:lnR w="12700" cap="flat" cmpd="sng" algn="ctr">
                      <a:solidFill>
                        <a:srgbClr val="8FA0D0"/>
                      </a:solidFill>
                      <a:prstDash val="solid"/>
                    </a:lnR>
                    <a:lnT w="12700" cap="flat" cmpd="sng" algn="ctr">
                      <a:solidFill>
                        <a:srgbClr val="8FA0D0"/>
                      </a:solidFill>
                      <a:prstDash val="solid"/>
                    </a:lnT>
                    <a:lnB w="12700" cap="flat" cmpd="sng" algn="ctr">
                      <a:solidFill>
                        <a:srgbClr val="8FA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09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Avant de rendre le dossier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7395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Dossier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15"/>
              </a:spcAft>
            </a:pPr>
            <a:r>
              <a:rPr sz="900" b="0" i="0">
                <a:solidFill>
                  <a:srgbClr val="5B6478"/>
                </a:solidFill>
                <a:latin typeface="Calibri"/>
              </a:rPr>
              <a:t>© 2026 SAS BELM DEVELOPPEMENT. Tous droits réservés. Créé avec l'aide de Claude (Anthropic), relu par l'auteur.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 i="0">
                <a:solidFill>
                  <a:srgbClr val="5B6478"/>
                </a:solidFill>
                <a:latin typeface="Calibri"/>
              </a:rP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1064240" cy="47548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 marL="274320" indent="-274320">
              <a:spcAft>
                <a:spcPts val="769"/>
              </a:spcAft>
              <a:buAutoNum type="arabicPeriod"/>
            </a:pPr>
            <a:r>
              <a:rPr sz="2200" b="0" i="0">
                <a:solidFill>
                  <a:srgbClr val="1B1B1B"/>
                </a:solidFill>
                <a:latin typeface="Calibri"/>
              </a:rPr>
              <a:t>Vérifier qu'il ne reste aucun texte gris d'exemple et aucun bandeau rouge.</a:t>
            </a:r>
          </a:p>
          <a:p>
            <a:pPr algn="l" marL="274320" indent="-274320">
              <a:spcAft>
                <a:spcPts val="769"/>
              </a:spcAft>
              <a:buAutoNum type="arabicPeriod"/>
            </a:pPr>
            <a:r>
              <a:rPr sz="2200" b="0" i="0">
                <a:solidFill>
                  <a:srgbClr val="1B1B1B"/>
                </a:solidFill>
                <a:latin typeface="Calibri"/>
              </a:rPr>
              <a:t>Vérifier que chaque affirmation de fait a sa référence, avec date et adresse (sections 3 à 13).</a:t>
            </a:r>
          </a:p>
          <a:p>
            <a:pPr algn="l" marL="274320" indent="-274320">
              <a:spcAft>
                <a:spcPts val="769"/>
              </a:spcAft>
              <a:buAutoNum type="arabicPeriod"/>
            </a:pPr>
            <a:r>
              <a:rPr sz="2200" b="0" i="0">
                <a:solidFill>
                  <a:srgbClr val="1B1B1B"/>
                </a:solidFill>
                <a:latin typeface="Calibri"/>
              </a:rPr>
              <a:t>Vérifier la bibliographie (section 17) : seules les sources lues et vérifiées.</a:t>
            </a:r>
          </a:p>
          <a:p>
            <a:pPr algn="l" marL="274320" indent="-274320">
              <a:spcAft>
                <a:spcPts val="769"/>
              </a:spcAft>
              <a:buAutoNum type="arabicPeriod"/>
            </a:pPr>
            <a:r>
              <a:rPr sz="2200" b="0" i="0">
                <a:solidFill>
                  <a:srgbClr val="1B1B1B"/>
                </a:solidFill>
                <a:latin typeface="Calibri"/>
              </a:rPr>
              <a:t>Déclarer l'usage de l'IA (section 18) et vérifier qu'aucune donnée confidentielle n'a été saisie.</a:t>
            </a:r>
          </a:p>
          <a:p>
            <a:pPr algn="l" marL="274320" indent="-274320">
              <a:spcAft>
                <a:spcPts val="769"/>
              </a:spcAft>
              <a:buAutoNum type="arabicPeriod"/>
            </a:pPr>
            <a:r>
              <a:rPr sz="2200" b="0" i="0">
                <a:solidFill>
                  <a:srgbClr val="1B1B1B"/>
                </a:solidFill>
                <a:latin typeface="Calibri"/>
              </a:rPr>
              <a:t>Relire la section 13 avec la liste : question, méthode, sources, comparaison, réserve.</a:t>
            </a:r>
          </a:p>
          <a:p>
            <a:pPr algn="l" marL="274320" indent="-274320">
              <a:spcAft>
                <a:spcPts val="769"/>
              </a:spcAft>
              <a:buAutoNum type="arabicPeriod"/>
            </a:pPr>
            <a:r>
              <a:rPr sz="2200" b="0" i="0">
                <a:solidFill>
                  <a:srgbClr val="1B1B1B"/>
                </a:solidFill>
                <a:latin typeface="Calibri"/>
              </a:rPr>
              <a:t>Enregistrer le fichier sous « Dossier_équipe_NOM 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