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d'identité du dossier : à remplir à l'exercice EX1.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Consignes d'usage.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thème n'est pas une question : il faut une décision. Critères comparables, mots-clés en français et en anglais.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besoin réel n'est pas la solution demandée : QQOQCCP et pourquoi (jusqu'à 3 à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recherche doit pouvoir être refaite : requêtes exactes, base, date, nombre de résultats.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documents d'organismes publics ou de normalisation : organisme, titre, date, version, adresse,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Grille : Qui ? Quand ? Pourquoi ? Sur quoi ? Recoupé ? Reproductible ? 0 à 2 chacune (max. 12). 9 et plus fiable ; 5 à 8 à recouper ; 4 et moins à écarter ou citer avec prudence.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Remontez au document d'origine. Sans source d'origine, ne citez pas le chiffre comme un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dans l'ordre : résumé, conclusion, méthode, résultats, limites. Toujours regarder qui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Aucune référence donnée par une IA n'est citée avant d'avoir été ouverte et lue à son origine.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donnée porte sa référence. La réfutation est cherchée, pas subie. Le qualificatif dit la portée.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questions sur un chiffre : base, mesure, échantillon, auteur, durée. Puis deux objections et vos réponses (fait, concession ou réserve).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solutions, 4 critères pondérés (total 100 %), scores de 1 à 5 sourcés, total pondéré, test de sensibilité (critère principal à 50 %).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: 1 Question, 2 Méthode de recherche, 3 Panorama, 4 Comparaison, 5 Discussion et limites, 6 Conclusion. Chapô de trois lignes : question, méthode,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affirmation de fait = une référence. Un paragraphe : conclusion, preuve référencée, limite, transition. Rédigez ici ou collez le texte de votre document partagé.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Situation, Comportement observé (un fait), Impact. Notez ce que vous modifiez.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Message clé : une phrase que la directrice peut répéter. Puis accroche, problème, solution, preuve, appel à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page remise au tuteur : fait, preuve, impact, argument condensé, recommandation avec qualificatif et réserve, vérification.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Collez la bibliographie générée par Zotero, dans un seul style. Seules les sources lues et vérifiées y figurent.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Dites comment vous avez utilisé une IA : pour quoi, quel outil, quelle vérification, ce que vous avez rejeté. Aucune donnée confidentielle saisie.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Barème indicatif à adapter aux modalités de l'ECUE : complétude et justesse des sections 50 %, qualité de l'état de l'art (section 13) 30 %, honnêteté sur les limites et l'usage de l'IA 20 %.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0"/>
            <a:ext cx="12191695" cy="109728"/>
          </a:xfrm>
          <a:prstGeom prst="rect">
            <a:avLst/>
          </a:prstGeom>
          <a:solidFill>
            <a:srgbClr val="E9A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14630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1539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Dossier d'état de l'art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39"/>
              </a:spcAft>
            </a:pPr>
            <a:r>
              <a:rPr sz="2400" b="0" i="0">
                <a:solidFill>
                  <a:srgbClr val="DCE3F5"/>
                </a:solidFill>
                <a:latin typeface="Calibri"/>
              </a:rPr>
              <a:t>Communication professionnelle de l'ingénieur : argumenter à partir de l'état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0" i="0">
                <a:solidFill>
                  <a:srgbClr val="DCE3F5"/>
                </a:solidFill>
                <a:latin typeface="Calibri"/>
              </a:rPr>
              <a:t>Modèle vierge à remplir au fil des exercices · une diapositive par section · un seul fichier par 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B9C4E8"/>
                </a:solidFill>
                <a:latin typeface="Calibri"/>
              </a:rPr>
              <a:t>© 2026 SAS BELM DEVELOPPEMENT. Tous droits réservés.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Équipe et sujet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38560" cy="420623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79520"/>
                <a:gridCol w="75590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À remplir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Équipe (prénoms)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Sujet choisi (EX1)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Question de 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Commanditaire : la direction de TransLor (fictive)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Date et tuteur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Comment utiliser ce dossier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1064240" cy="47548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 marL="201168" indent="-201168">
              <a:spcAft>
                <a:spcPts val="769"/>
              </a:spcAft>
              <a:buChar char="•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Ce fichier est le fil rouge du cours : une diapositive par section, une section par exercice. Chaque exercice indique « → Dossier, section X ».</a:t>
            </a:r>
          </a:p>
          <a:p>
            <a:pPr algn="l" marL="201168" indent="-201168">
              <a:spcAft>
                <a:spcPts val="769"/>
              </a:spcAft>
              <a:buChar char="•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Remplissez la section pendant l'exercice, puis corrigez après la correction. Les sections 12 et 13 deviennent votre état de l'art de deux pages.</a:t>
            </a:r>
          </a:p>
          <a:p>
            <a:pPr algn="l" marL="201168" indent="-201168">
              <a:spcAft>
                <a:spcPts val="769"/>
              </a:spcAft>
              <a:buChar char="•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Une seule personne tient le fichier de l'équipe (ou un fichier partagé) ; enregistrez-le sous « Dossier_équipe_NOM ».</a:t>
            </a:r>
          </a:p>
          <a:p>
            <a:pPr algn="l" marL="201168" indent="-201168">
              <a:spcAft>
                <a:spcPts val="769"/>
              </a:spcAft>
              <a:buChar char="•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Aucune donnée confidentielle ou personnelle ici ni dans les outils d'IA. Si vous utilisez une IA, déclarez-le à la section 18.</a:t>
            </a:r>
          </a:p>
          <a:p>
            <a:pPr algn="l" marL="201168" indent="-201168">
              <a:spcAft>
                <a:spcPts val="769"/>
              </a:spcAft>
              <a:buChar char="•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Les chiffres et sources de TransLor sont inventés ; les sources trouvées pour votre sujet doivent être réelles, vérifiées et datées.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1. Question de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   ·   Objectif du syllabus : O3 et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 thème n'est pas une question : il faut une décision. Critères comparables, mots-clés en français et en anglais.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Sujet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Question : « Faut-il … chez TransLor, selon quels critères ?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4 critères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Mots-clés (FR / EN)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Ce que je ne sais pas encore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2. Besoin du commanditaire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EX4   ·   Objectif du syllabus : 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Le besoin réel n'est pas la solution demandée : QQOQCCP et pourquoi (jusqu'à 3 à 5).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Demande exprimée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Pourquoi ? (1, 2, 3)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Besoin réel en une phrase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Critère de réussite mesurable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3. Stratégie de 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EX7 et EX8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recherche doit pouvoir être refaite : requêtes exactes, base, date, nombre de résultats.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74800"/>
                <a:gridCol w="2362200"/>
                <a:gridCol w="2362200"/>
                <a:gridCol w="3149600"/>
                <a:gridCol w="188975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Synonymes FR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Synonymes EN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Requête finale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Base, date, nb de résultats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4. Sources institutionnelles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EX9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Deux documents d'organismes publics ou de normalisation : organisme, titre, date, version, adresse, type.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7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3269"/>
                <a:gridCol w="2464904"/>
                <a:gridCol w="1314615"/>
                <a:gridCol w="1971923"/>
                <a:gridCol w="1314615"/>
                <a:gridCol w="262923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Organisme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Titre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Date / version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Adresse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Ce qu'il dit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5. Sources évaluées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EX10, EX11b, EX12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Grille : Qui ? Quand ? Pourquoi ? Sur quoi ? Recoupé ? Reproductible ? 0 à 2 chacune (max. 12). 9 et plus fiable ; 5 à 8 à recouper ; 4 et moins à écarter ou citer avec prudence.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7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515832"/>
                <a:gridCol w="703166"/>
                <a:gridCol w="791062"/>
                <a:gridCol w="791062"/>
                <a:gridCol w="791062"/>
                <a:gridCol w="878958"/>
                <a:gridCol w="791062"/>
                <a:gridCol w="791062"/>
                <a:gridCol w="228529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Quand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Pour-quoi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Sur quoi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Recoupé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Repro.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6. Origine d'un chiffre clé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EX13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Remontez au document d'origine. Sans source d'origine, ne citez pas le chiffre comme un fait.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Chiffre étudié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Chemin suivi (article, article, origine)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Ce que la source d'origine mesure vraiment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Ma phrase (citer, nuancer ou écarter)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7. Fiche de lecture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EX14   ·   Objectif du syllabus : 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Lire dans l'ordre : résumé, conclusion, méthode, résultats, limites. Toujours regarder qui finance.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Référence complète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Question de l'article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Méthode (échantillon, durée, groupe témoin)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Résultat principal et son chiffre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Limites, financement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Ma phrase honnête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8. Références vérifiées (IA)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EX15   ·   Objectif du syllabus : 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Aucune référence donnée par une IA n'est citée avant d'avoir été ouverte et lue à son origine.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7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360984"/>
                <a:gridCol w="1221075"/>
                <a:gridCol w="1395515"/>
                <a:gridCol w="2616590"/>
                <a:gridCol w="174439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Référence donnée par l'IA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Existe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DOI valide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Indices d'alerte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9. Argument de Toulmin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EX16 et EX19   ·   Objectif du syllabus : 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Chaque donnée porte sa référence. La réfutation est cherchée, pas subie. Le qualificatif dit la portée.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16590"/>
                <a:gridCol w="872196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contenu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Affirmation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Données (avec références)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Garantie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Fondement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Réfutation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Qualificatif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10. Chiffre de fournisseur et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EX18 et EX20   ·   Objectif du syllabus : 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Cinq questions sur un chiffre : base, mesure, échantillon, auteur, durée. Puis deux objections et vos réponses (fait, concession ou réserve).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Affirmation chiffrée (page, date)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Questions restées sans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Phrase d'état de l'art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Objection 1 et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Objection 2 et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11. Matrice de comparaison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EX21 et EX22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3 solutions, 4 critères pondérés (total 100 %), scores de 1 à 5 sourcés, total pondéré, test de sensibilité (critère principal à 50 %).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8" cy="41605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29691"/>
                <a:gridCol w="971876"/>
                <a:gridCol w="1619794"/>
                <a:gridCol w="1619794"/>
                <a:gridCol w="1619794"/>
                <a:gridCol w="307760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Critère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Poids %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 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 B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 C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 des scores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Total pondéré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12. Plan et chapô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EX23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Plan : 1 Question, 2 Méthode de recherche, 3 Panorama, 4 Comparaison, 5 Discussion et limites, 6 Conclusion. Chapô de trois lignes : question, méthode, conclusion.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Chapô (3 lignes)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1. Question et 2. Méthode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3. Panorama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4. Comparaison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5. Discussion et 6. Conclusion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13. État de l'art (2 pages)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EX24   ·   Objectif du syllabus : P2 et 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affirmation de fait = une référence. Un paragraphe : conclusion, preuve référencée, limite, transition. Rédigez ici ou collez le texte de votre document partagé.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057400"/>
            <a:ext cx="113385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3B6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Écrivez ici (cliquez et tapez).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14. Retours de relecture (SBI)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EX25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Situation, Comportement observé (un fait), Impact. Notez ce que vous modifiez.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8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38483"/>
                <a:gridCol w="3384644"/>
                <a:gridCol w="2961564"/>
                <a:gridCol w="245386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Comportement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Je modifie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15. Pitch et jury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EX26 et EX27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Message clé : une phrase que la directrice peut répéter. Puis accroche, problème, solution, preuve, appel à décision.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Message clé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Accroche, problème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Solution, preuve (chiffre, source)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Appel à 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Questions du jury et mes réponses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16. Fiche de vulnérabilité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EX28   ·   Objectif du syllabus : Projet tutoré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page remise au tuteur : fait, preuve, impact, argument condensé, recommandation avec qualificatif et réserve, vérification.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Vulnérabilité (une phrase)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Fait observé et preuve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Argument condensé (Toulmin)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Recommandation (qualificatif, réserve)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Comment vérifier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17. Bibliographie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EX10 (Zotero)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Collez la bibliographie générée par Zotero, dans un seul style. Seules les sources lues et vérifiées y figurent.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057400"/>
            <a:ext cx="113385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3B6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Écrivez ici (cliquez et tapez).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18. Déclaration d'usage de l'IA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Tout le cours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Dites comment vous avez utilisé une IA : pour quoi, quel outil, quelle vérification, ce que vous avez rejeté. Aucune donnée confidentielle saisie.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8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16590"/>
                <a:gridCol w="3924886"/>
                <a:gridCol w="3052689"/>
                <a:gridCol w="174439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Outil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Usage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Vérification faite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Gardé / rejeté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Correspondance avec le syllabus ECUE-S7-1-2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38559" cy="420623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229600"/>
                <a:gridCol w="310895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Objectif du syllabus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Sections du dossier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O1 · Argumenter une innovation ou une solution à partir des états des techniques et de l'art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9, 10, 11, 13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O2 · Maîtriser l'information spécialisée dans un domaine scientifique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7, 8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O3 · Chercher l'information, l'évaluer, la valider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1, 3, 4, 5, 6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P1 · Manipuler l'information et la communication en posture d'ingénieur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2, 14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P2 · Se documenter, restituer un état de l'art par écrit et à l'oral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12, 13, 15, 17, 18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Projet tutoré · Vulnérabilités clés de l'organisation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