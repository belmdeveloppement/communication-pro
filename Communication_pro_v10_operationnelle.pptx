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Afficher seule, sans commenter</a:t>
            </a:r>
          </a:p>
          <a:p>
            <a:r>
              <a:t>- Laisser réagir 20 secondes</a:t>
            </a:r>
          </a:p>
          <a:p>
            <a:r>
              <a:t>- Ne rien trancher : on ne juge pas le fond</a:t>
            </a:r>
          </a:p>
          <a:p>
            <a:r>
              <a:t>- Noter les mots utilisés (« tout le monde sait »)</a:t>
            </a:r>
          </a:p>
          <a:p/>
          <a:p>
            <a:r>
              <a:t>Afficher la phrase seule, sans commentaire. Laisser les étudiants réagir spontanément. Ne rien dire sur le fond : strictement neutre. Objectif du cours : montrer qu'il faut sourcer l'information, pas trancher un débat politique.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Même consigne : phrase seule</a:t>
            </a:r>
          </a:p>
          <a:p>
            <a:r>
              <a:t>- Deux phrases entendues, courtes, frappantes</a:t>
            </a:r>
          </a:p>
          <a:p>
            <a:r>
              <a:t>- Relever les avis et surtout les sources invoquées</a:t>
            </a:r>
          </a:p>
          <a:p>
            <a:r>
              <a:t>- Rester neutre, sujet politique sensible</a:t>
            </a:r>
          </a:p>
          <a:p/>
          <a:p>
            <a:r>
              <a:t>Même consigne : phrase seule. Deux phrases entendues dans la vie courante, volontairement courtes et frappantes. Ne pas corriger les avis pendant le débat.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- 5 minutes chronométrées</a:t>
            </a:r>
          </a:p>
          <a:p>
            <a:r>
              <a:t>- Une seule question : vrai ou faux, sur quoi vous appuyez-vous ?</a:t>
            </a:r>
          </a:p>
          <a:p>
            <a:r>
              <a:t>- Écrire au tableau les sources citées (« j'ai entendu »)</a:t>
            </a:r>
          </a:p>
          <a:p>
            <a:r>
              <a:t>- Ne pas corriger : la vérification vient après</a:t>
            </a:r>
          </a:p>
          <a:p/>
          <a:p>
            <a:r>
              <a:t>Débat libre, 5 minutes. Poser une seule question : « Vrai ou faux, et sur quoi vous appuyez-vous ? ». Noter au tableau les arguments et, surtout, les sources invoquées (« j'ai entendu », « tout le monde sait »). Ne trancher ni sur le fond ni sur les sources : la diapositive suivante annonce la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Passer du débat à la vérification</a:t>
            </a:r>
          </a:p>
          <a:p>
            <a:r>
              <a:t>- Message du cours : toute information se source</a:t>
            </a:r>
          </a:p>
          <a:p>
            <a:r>
              <a:t>- Binômes, ordinateur, 12 minutes</a:t>
            </a:r>
          </a:p>
          <a:p>
            <a:r>
              <a:t>- Lancer F0 et le minuteur</a:t>
            </a:r>
          </a:p>
          <a:p/>
          <a:p>
            <a:r>
              <a:t>Annoncer : « vous avez débattu ; maintenant vous vérifiez ». Introduction du cours : on ne débat pas sur une phrase tant qu'on n'a pas défini ses mots et trouvé sa source. Lancer l'exercice F0 (minuteur dans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Constater qu'une phrase entendue se vérifie : on définit d'abord les mots, puis on cherche un texte officiel. À la fin, vous savez dire « exacte, inexacte ou à nuancer » en citant une source.</a:t>
            </a:r>
          </a:p>
          <a:p>
            <a:r>
              <a:t>- Mode : Binômes, ordinateur ; durée 12 min ; lancer le minuteur</a:t>
            </a:r>
          </a:p>
          <a:p>
            <a:r>
              <a:t>- Consigne clé : Phrase 1 (retraite à vie des ministres) : d'après la meilleure source trouvée, la phrase est-elle exacte ?</a:t>
            </a:r>
          </a:p>
          <a:p>
            <a:r>
              <a:t>- Étape IA : Avec ChatGPT ou une autre IA (notez laquelle) : posez-lui la phrase 1 telle quelle. Cite-t-elle un texte officiel que vous pouvez ouvrir ?</a:t>
            </a:r>
          </a:p>
          <a:p>
            <a:r>
              <a:t>- Circuler entre les équipes ; ne pas projeter la correction avant la restitution</a:t>
            </a:r>
          </a:p>
          <a:p/>
          <a:p>
            <a:r>
              <a:t>Durée prévue : 12 min (Binômes, ordinateur). Lancer le minuteur depuis l'application (QR). Projeter la correction seulement après la restitution.</a:t>
            </a:r>
          </a:p>
          <a:p/>
          <a:p>
            <a:r>
              <a:t>Animation. Déroulé : 1) deux pages avec une phrase chacune, sans commentaire ; 2) débat libre de 5 minutes : laisser les avis s'exprimer, ne pas corriger ; 3) « Maintenant, vérifiez » : binômes sur ordinateur, 12 minutes ; 4) mise en commun puis correction. Posture : strictement neutre. Le but n'est pas de trancher le débat politique mais de montrer qu'on source : les étudiants découvrent que les mots sont flous (« ministres » : membres du gouvernement ? ministres du culte ? « systématique », « fonctionnaires ») et que la première page trouvée n'est pas la bonne source. La correction s'appuie sur des textes officiels lus à la construction (réponses ministérielles de l'Assemblée nationale n° 16295 et n° 28642) et des sites secondaires ; ces textes évoluent : rechercher Légifrance et service-public.fr le jour J et adapter la correction si besoin. Si un étudiant trouve une source plus récente qui contredit la correction, c'est une bonne nouvelle : la discuter.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Définir d'abord les mots flous (« ministres », « à vie », « systématique », « fonctionnaires »).</a:t>
            </a:r>
          </a:p>
          <a:p>
            <a:r>
              <a:t>- Méthode : Chercher un texte officiel : loi, décret, réponse ministérielle, site public.</a:t>
            </a:r>
          </a:p>
          <a:p>
            <a:r>
              <a:t>- Méthode : Comparer avec des sites secondaires : date, auteur, intérêt commercial.</a:t>
            </a:r>
          </a:p>
          <a:p>
            <a:r>
              <a:t>- Méthode : Écrire ce que la source dit, pas ce que l'on pensait.</a:t>
            </a:r>
          </a:p>
          <a:p>
            <a:r>
              <a:t>- À retenir : Une phrase courte et frappante est presque toujours floue : on précise les mots, on cherche la source officielle, on cite, on indique la réserve.</a:t>
            </a:r>
          </a:p>
          <a:p/>
          <a:p>
            <a:r>
              <a:t>Exemple de réponse rédigée, avec source et réserve : Phrase 1 : à nuancer. Selon la réponse du Premier ministre à la question écrite n° 16295 (Assemblée nationale, JO du 10/09/2019), les membres du Gouvernement cotisent à la CNAV et à l'IRCANTEC comme les autres salariés ; je n'ai pas trouvé de régime spécial dans ce texte. Réserve : texte de 2019. Phrase 2 : inexacte pour l'État. Selon la réponse ministérielle du 25/05/2004 (question n° 28642), une absence pour fait de grève entraîne une retenue d'un trentième du traitement. Réserve : la règle du trentième indivisible vaut pour l'État ; elle ne s'applique pas de la même façon à la territoriale ni à l'hospitalière (Maire-info, 2023). Erreurs fréquentes : débattre de ses opinions avant de définir les mots ; s'arrêter au premier site trouvé ; confondre le texte officiel et le site qui le commente ; conclure « vrai » ou « faux » sans préciser le périmètre. À retenir : Une phrase courte et frappante est presque toujours floue : on précise les mots, on cherche la source officielle, on cite, on indique la réserve.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 contrat : peu de théorie, beaucoup de pratique. Chaque module se termine par un livrable réutilisable en entreprise.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Lire le fil des 3 jours</a:t>
            </a:r>
          </a:p>
          <a:p>
            <a:r>
              <a:t>- Chaque jour : théorie courte, exercices, un jeu</a:t>
            </a:r>
          </a:p>
          <a:p>
            <a:r>
              <a:t>- Durées indicatives, ajustables</a:t>
            </a:r>
          </a:p>
          <a:p>
            <a:r>
              <a:t>- Les pauses sont comptées, le déjeuner non</a:t>
            </a:r>
          </a:p>
          <a:p/>
          <a:p>
            <a:r>
              <a:t>Le déjeuner n'est pas compté. Les exercices flash (F) et exit tickets se sautent en cas de retard. Durées calculées à partir des exercices et de la théorie ; à ajuster.</a:t>
            </a:r>
          </a:p>
          <a:p/>
          <a:p>
            <a:r>
              <a:t>Les durées sont calculées par le générateur à partir des durées d'exercices et de la théorie (2 min par diapositive). Hypothèse : 7 h par jour ; à ajuster à votre emploi du temps réel. Le déjeuner n'est pas compté. Prévoir 10 minutes de marge par demi-journée.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Savoir ce qu'on attend vraiment d'un ingénieur dans le métier que vous visez : lire une offre d'emploi, repérer les verbes de communication et les relier aux objectifs du cours.</a:t>
            </a:r>
          </a:p>
          <a:p>
            <a:r>
              <a:t>- Mode : Individuel, ordinateur ; durée 10 min ; lancer le minuteur</a:t>
            </a:r>
          </a:p>
          <a:p>
            <a:r>
              <a:t>- Consigne clé : Notez l'employeur, l'intitulé, la date et l'adresse de votre offre.</a:t>
            </a:r>
          </a:p>
          <a:p>
            <a:r>
              <a:t>- Étape IA : Avec ChatGPT ou une autre IA (notez laquelle) : collez l'offre et demandez « quelles compétences de communication attend-on ? ». Combien de compétences l'IA ajoute-t-elle que vous n'aviez pas relevées ?</a:t>
            </a:r>
          </a:p>
          <a:p>
            <a:r>
              <a:t>- Livrable : Votre offre cible et la correspondance avec les objectifs → Dossier, section 0.</a:t>
            </a:r>
          </a:p>
          <a:p>
            <a:r>
              <a:t>- Circuler entre les équipes ; ne pas projeter la correction avant la restitution</a:t>
            </a:r>
          </a:p>
          <a:p/>
          <a:p>
            <a:r>
              <a:t>Durée prévue : 10 min (Individuel, ordinateur). Lancer le minuteur depuis l'application (QR). Projeter la correction seulement après la restitution.</a:t>
            </a:r>
          </a:p>
          <a:p/>
          <a:p>
            <a:r>
              <a:t>Animation. Chacun cherche une vraie offre d'ingénieur dans son métier visé (France Travail, APEC, site d'entreprise, talents.ssi.gouv.fr) : 5 minutes. Insister sur la date et l'adresse : une offre disparaît. Mise en commun : les verbes de communication reviennent presque toujours. Limite à dire : une offre n'est pas un échantillon du marché. Les deux extraits projetés ont été relevés le 23/10/2026 sur choisirleservicepublic.gouv.fr (ANSSI, réf. 2026-2261375) et sur France Travail (Bouygues Telecom, publiée le 6 mars 2025) . Le référentiel CTI et le rapport du Forum économique mondial sont cités à la diapositive précédente.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Repérer les verbes d'action : veiller, rédiger, vulgariser, présenter.</a:t>
            </a:r>
          </a:p>
          <a:p>
            <a:r>
              <a:t>- Méthode : Relier chaque verbe à un objectif du syllabus.</a:t>
            </a:r>
          </a:p>
          <a:p>
            <a:r>
              <a:t>- Méthode : Garder la date et l'adresse : une offre disparaît, la trace reste.</a:t>
            </a:r>
          </a:p>
          <a:p>
            <a:r>
              <a:t>- Erreur fréquente : Lister les compétences techniques et oublier les verbes de communication.</a:t>
            </a:r>
          </a:p>
          <a:p>
            <a:r>
              <a:t>- Erreur fréquente : Citer une offre sans date ni adresse.</a:t>
            </a:r>
          </a:p>
          <a:p>
            <a:r>
              <a:t>- À retenir : Une offre d'ingénieur demande de chercher, de rédiger et de convaincre autant que de maîtriser la technique.</a:t>
            </a:r>
          </a:p>
          <a:p/>
          <a:p>
            <a:r>
              <a:t>Exemple de réponse (offre fictive) : Employeur : (exemple) un hébergeur ; intitulé : ingénieur sécurité ; offre du 12/10/2026. Verbes : surveiller les alertes (O3), rédiger une note de risque pour la direction (P2), présenter au comité de sécurité (P1) : trois verbes de communication. Veille demandée : oui. Priorité pour moi : rédiger une note courte et sourcée. À retenir : Une offre d'ingénieur demande de chercher, de rédiger et de convaincre autant que de maîtriser la technique.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page sert de mémo : les mêmes prompts reviennent dans les encadrés « Conseil IA » du cours.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C'est l'attente globale des 2,5 jours : jour 1 question, recherche, évaluation ; jour 2 argumenter, synthétiser ; jour 3 défendre</a:t>
            </a:r>
          </a:p>
          <a:p>
            <a:r>
              <a:t>- Six étapes : question, chercher, évaluer, argumenter, synthétiser, défendre</a:t>
            </a:r>
          </a:p>
          <a:p>
            <a:r>
              <a:t>- Même méthode qu'en entreprise</a:t>
            </a:r>
          </a:p>
          <a:p>
            <a:r>
              <a:t>- Livrable : 2 pages avec bibliographie</a:t>
            </a:r>
          </a:p>
          <a:p>
            <a:r>
              <a:t>- Jury : directrice non technique et collaborateurs</a:t>
            </a:r>
          </a:p>
          <a:p/>
          <a:p>
            <a:r>
              <a:t>Cette page présente l'attente globale sur les 2,5 jours : les six étapes se suivent dans l'ordre du cours. Jour 1 : question, recherche, évaluation des sources. Jour 2 : argumentation, matrice, rédaction. Jour 3 : pitch et jury, puis projet tutoré et examen.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- 19 sujets, un par personne</a:t>
            </a:r>
          </a:p>
          <a:p>
            <a:r>
              <a:t>- Premier qui choisit, premier servi : l'application arbitre</a:t>
            </a:r>
          </a:p>
          <a:p>
            <a:r>
              <a:t>- Un sujet pris n'est plus disponible</a:t>
            </a:r>
          </a:p>
          <a:p>
            <a:r>
              <a:t>- Vérifier qu'il existe au moins 5 sources sérieuses</a:t>
            </a:r>
          </a:p>
          <a:p/>
          <a:p>
            <a:r>
              <a:t>Sujets accessibles à des ingénieurs non spécialistes ; à valider par l'enseignant (littérature disponible).</a:t>
            </a:r>
          </a:p>
          <a:p/>
          <a:p>
            <a:r>
              <a:t>Les sujets sont accessibles à des ingénieurs non spécialistes et disposent normalement d'une littérature publique. Vérifiez la disponibilité de sources avant le cours (deux minutes de recherche suffisent). Si une équipe hésite, orienter vers un sujet où l'on trouve au moins cinq sources sérieuses. Les chiffres de TransLor sont inventés ; les sources que les étudiants trouvent pour leur sujet doivent être réelles.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Transformer un sujet en question de décision : un choix à éclairer, des critères que l'on peut comparer, des mots-clés. C'est la base de tout votre dossier.</a:t>
            </a:r>
          </a:p>
          <a:p>
            <a:r>
              <a:t>- Mode : Équipes ; durée 15 min ; lancer le minuteur</a:t>
            </a:r>
          </a:p>
          <a:p>
            <a:r>
              <a:t>- Consigne clé : Choisissez un sujet et reformulez-le : « Faut-il … chez TransLor, selon quels critères ? »</a:t>
            </a:r>
          </a:p>
          <a:p>
            <a:r>
              <a:t>- Étape IA : Avec Claude ou une autre IA (notez laquelle) : demandez 5 formulations de question de décision pour votre sujet. Gardez-en une ou écrivez la vôtre, et dites pourquoi en une phrase.</a:t>
            </a:r>
          </a:p>
          <a:p>
            <a:r>
              <a:t>- Livrable : Votre question de décision, 4 critères et 3 mots-clés → Dossier, section 1.</a:t>
            </a:r>
          </a:p>
          <a:p>
            <a:r>
              <a:t>- Circuler entre les équipes ; ne pas projeter la correction avant la restitution</a:t>
            </a:r>
          </a:p>
          <a:p/>
          <a:p>
            <a:r>
              <a:t>Durée prévue : 15 min (Équipes). Lancer le minuteur depuis l'application (QR). Projeter la correction seulement après la restitution.</a:t>
            </a:r>
          </a:p>
          <a:p/>
          <a:p>
            <a:r>
              <a:t>Animation. Éviter les sujets trop larges. Contrôle rapide : chaque équipe tape ses mots-clés dans Google Scholar et lit le nombre de résultats : moins de quelques dizaines (trop étroit) ou plusieurs centaines de milliers (trop large) obligent à reformuler. Le choix du sujet engage toute la suite : le dossier, la matrice, le pitch.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un vrai mail de la vie de l'étudiant (stage). Source du modèle : pratique courante de rédaction professionnelle, synthèse pédagogique.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Phrases d'usage courant, reformulées pour le cours.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Corriger des e-mails pour que le lecteur sache quoi faire, pour quand.</a:t>
            </a:r>
          </a:p>
          <a:p>
            <a:r>
              <a:t>- Mode : Binôme ; durée 15 min ; lancer le minuteur</a:t>
            </a:r>
          </a:p>
          <a:p>
            <a:r>
              <a:t>- Consigne clé : Pour E1, E2 et E3, trouvez les défauts (un par e-mail pour commencer).</a:t>
            </a:r>
          </a:p>
          <a:p>
            <a:r>
              <a:t>- Livrable : Trois e-mails corrigés.</a:t>
            </a:r>
          </a:p>
          <a:p>
            <a:r>
              <a:t>- Circuler entre les équipes ; ne pas projeter la correction avant la restitution</a:t>
            </a:r>
          </a:p>
          <a:p/>
          <a:p>
            <a:r>
              <a:t>Durée prévue : 15 min (Binôme). Lancer le minuteur depuis l'application (QR). Projeter la correction seulement après la restitution.</a:t>
            </a:r>
          </a:p>
          <a:p/>
          <a:p>
            <a:r>
              <a:t>Animation. Après la réécriture, le test avec une IA est un test de lisibilité : si elle ne trouve pas l'action attendue et l'échéance, le lecteur humain non plus. Utiliser des e-mails fictifs seulement.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Synthétiser une information technique en six lignes pour décider.</a:t>
            </a:r>
          </a:p>
          <a:p>
            <a:r>
              <a:t>- Mode : Individuel ; durée 20 min ; lancer le minuteur</a:t>
            </a:r>
          </a:p>
          <a:p>
            <a:r>
              <a:t>- Consigne clé : Écrivez la conclusion en une phrase.</a:t>
            </a:r>
          </a:p>
          <a:p>
            <a:r>
              <a:t>- Livrable : Une note de synthèse de 6 lignes maximum.</a:t>
            </a:r>
          </a:p>
          <a:p>
            <a:r>
              <a:t>- Circuler entre les équipes ; ne pas projeter la correction avant la restitution</a:t>
            </a:r>
          </a:p>
          <a:p/>
          <a:p>
            <a:r>
              <a:t>Durée prévue : 20 min (Individuel). Lancer le minuteur depuis l'application (QR). Projeter la correction seulement après la restitution.</a:t>
            </a:r>
          </a:p>
          <a:p/>
          <a:p>
            <a:r>
              <a:t>Animation. Chronométrer strictement : six lignes maximum. Comparer les conclusions de deux étudiants : la meilleure est celle qu'on peut agir sans question.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Conclusion d'abord.</a:t>
            </a:r>
          </a:p>
          <a:p>
            <a:r>
              <a:t>- Méthode : Trois arguments, chacun avec un chiffre.</a:t>
            </a:r>
          </a:p>
          <a:p>
            <a:r>
              <a:t>- Méthode : Une réserve honnête.</a:t>
            </a:r>
          </a:p>
          <a:p>
            <a:r>
              <a:t>- Méthode : Une décision demandée et une date.</a:t>
            </a:r>
          </a:p>
          <a:p>
            <a:r>
              <a:t>- Erreur fréquente : Raconter l'historique au lieu de conclure.</a:t>
            </a:r>
          </a:p>
          <a:p>
            <a:r>
              <a:t>- Erreur fréquente : Écrire « coûteux » ou « rapide » sans chiffre.</a:t>
            </a:r>
          </a:p>
          <a:p>
            <a:r>
              <a:t>- À retenir : Une note de synthèse se lit en une minute : conclusion, trois arguments chiffrés, réserve, décision demandée.</a:t>
            </a:r>
          </a:p>
          <a:p/>
          <a:p>
            <a:r>
              <a:t>Exemple modèle : Objet : Décision avant fin du mois : copie hors site des sauvegardes Je recommande d'ajouter une copie hors site (1 800 € par an). Le disque unique a trois ans, avec une panne estimée à 10 % par an ; la restauration prendrait 9 h, contre 3 h avec la copie. Une journée d'arrêt coûterait environ 40 000 € (hypothèse), soit une perte attendue de 4 000 € par an. Réserve : la probabilité est une estimation à confirmer par un test. Décision demandée : valider avant le 30. À retenir : Une note de synthèse se lit en une minute : conclusion, trois arguments chiffrés, réserve, décision demandée.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Mener un entretien pour trouver le besoin réel derrière une demande (« un export Excel »), puis chiffrer le coût du problème pour convaincre.</a:t>
            </a:r>
          </a:p>
          <a:p>
            <a:r>
              <a:t>- Mode : Binôme (enquêteur / Marc) ; durée 20 min ; lancer le minuteur</a:t>
            </a:r>
          </a:p>
          <a:p>
            <a:r>
              <a:t>- Consigne clé : Préparez 6 questions avec QQOQCCP, en entonnoir (large, précis, confirmation).</a:t>
            </a:r>
          </a:p>
          <a:p>
            <a:r>
              <a:t>- Étape IA : Après l'entretien, demandez à une IA 6 questions QQOQCCP pour la demande de Marc. Combien de ses questions auraient apporté une information que vous n'avez pas obtenue ? Notez le nom de l'IA utilisée.</a:t>
            </a:r>
          </a:p>
          <a:p>
            <a:r>
              <a:t>- Livrable : Besoin reformulé, coût annuel, critère de réussite. → Dossier, section 2.</a:t>
            </a:r>
          </a:p>
          <a:p>
            <a:r>
              <a:t>- Circuler entre les équipes ; ne pas projeter la correction avant la restitution</a:t>
            </a:r>
          </a:p>
          <a:p/>
          <a:p>
            <a:r>
              <a:t>Durée prévue : 20 min (Binôme (enquêteur / Marc)). Lancer le minuteur depuis l'application (QR). Projeter la correction seulement après la restitution.</a:t>
            </a:r>
          </a:p>
          <a:p/>
          <a:p>
            <a:r>
              <a:t>Animation. Jeu de rôle en binôme (enquêteur et Marc) : la fiche de rôle de Marc est dans l'application. Inciter à utiliser QQOQCCP comme liste de contrôle, et les 5 pourquoi si la réponse reste une solution. Le calcul du coût (81 000 € par an) est un nombre à saisir sur le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Passer d'une question en phrase à des mots-clés utilisables dans un moteur ou donnés à une IA, en français et en anglais, puis à une requête que l'on peut refaire.</a:t>
            </a:r>
          </a:p>
          <a:p>
            <a:r>
              <a:t>- Mode : Binôme ; durée 15 min ; lancer le minuteur</a:t>
            </a:r>
          </a:p>
          <a:p>
            <a:r>
              <a:t>- Consigne clé : Soulignez les 3 concepts clés de la question.</a:t>
            </a:r>
          </a:p>
          <a:p>
            <a:r>
              <a:t>- Livrable : Un tableau : concepts, synonymes français et anglais, requête. → Dossier, section 3.</a:t>
            </a:r>
          </a:p>
          <a:p>
            <a:r>
              <a:t>- Circuler entre les équipes ; ne pas projeter la correction avant la restitution</a:t>
            </a:r>
          </a:p>
          <a:p/>
          <a:p>
            <a:r>
              <a:t>Durée prévue : 15 min (Binôme). Lancer le minuteur depuis l'application (QR). Projeter la correction seulement après la restitution.</a:t>
            </a:r>
          </a:p>
          <a:p/>
          <a:p>
            <a:r>
              <a:t>Animation. Binômes. Exiger les synonymes anglais : c'est là que se gagne la recherche. Un tableur (concept, synonymes FR, synonymes EN) suffit ; la section 3 du dossier l'accueille.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Opérateurs de recherche Google couramment documentés ; leur comportement peut évoluer, d'où le test systématique.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retrouver un document officiel en moins de 3 minutes avec les bons opérateurs</a:t>
            </a:r>
          </a:p>
          <a:p>
            <a:r>
              <a:t>- Mode : Binômes, ordinateur ; durée 15 min ; lancer le minuteur</a:t>
            </a:r>
          </a:p>
          <a:p>
            <a:r>
              <a:t>- Consigne clé : Document ① : écrivez la requête gagnante et le nom de domaine du site trouvé.</a:t>
            </a:r>
          </a:p>
          <a:p>
            <a:r>
              <a:t>- Étape IA : Avec ChatGPT ou une autre IA (notez laquelle) : demandez-lui l'adresse du document ③. L'adresse proposée s'ouvre-t-elle et mène-t-elle au bon texte ?</a:t>
            </a:r>
          </a:p>
          <a:p>
            <a:r>
              <a:t>- Livrable : Trois requêtes gagnantes à copier dans votre carnet → Dossier, section 4.</a:t>
            </a:r>
          </a:p>
          <a:p>
            <a:r>
              <a:t>- Circuler entre les équipes ; ne pas projeter la correction avant la restitution</a:t>
            </a:r>
          </a:p>
          <a:p/>
          <a:p>
            <a:r>
              <a:t>Durée prévue : 15 min (Binômes, ordinateur). Lancer le minuteur depuis l'application (QR). Projeter la correction seulement après la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Fonctions décrites dans l'aide en ligne de Google Scholar ; leur libellé exact peut varier selon la langue et la version.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Maîtriser les opérateurs de recherche dans Google Scholar et comparer avec ce que propose un assistant IA : trouver moins de résultats, mais de meilleurs, et garder la trace de la requête.</a:t>
            </a:r>
          </a:p>
          <a:p>
            <a:r>
              <a:t>- Mode : Individuel, ordinateur ; durée 20 min ; lancer le minuteur</a:t>
            </a:r>
          </a:p>
          <a:p>
            <a:r>
              <a:t>- Consigne clé : Lancez une requête simple dans Google Scholar : combien de résultats ?</a:t>
            </a:r>
          </a:p>
          <a:p>
            <a:r>
              <a:t>- Livrable : La requête finale, la date, et 5 résultats notés. → Dossier, section 3.</a:t>
            </a:r>
          </a:p>
          <a:p>
            <a:r>
              <a:t>- Circuler entre les équipes ; ne pas projeter la correction avant la restitution</a:t>
            </a:r>
          </a:p>
          <a:p/>
          <a:p>
            <a:r>
              <a:t>Durée prévue : 20 min (Individuel, ordinateur). Lancer le minuteur depuis l'application (QR). Projeter la correction seulement après la restitution.</a:t>
            </a:r>
          </a:p>
          <a:p/>
          <a:p>
            <a:r>
              <a:t>Animation. Chacun sur son ordinateur. Faire saisir les nombres de résultats sur le téléphone (avant et après précision) : on voit la distribution dans le tableau de bord. La requête proposée par une IA sert de comparaison : elle n'est pas meilleure par principe.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Sites officiels usuels ; à consulter à la date du cours, les adresses évoluent (ex. ANSSI : ssi.gouv.fr devenu cyber.gouv.fr).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d'outils publics usuels, relevés pour le cours ; vérifier la disponibilité avant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Trouver des sources solides pour établir un fait : institutions, normes, et experts reconnus du domaine, et savoir dire ce que chacune vaut (recommandation, norme, loi, avis).</a:t>
            </a:r>
          </a:p>
          <a:p>
            <a:r>
              <a:t>- Mode : Équipes ; durée 15 min ; lancer le minuteur</a:t>
            </a:r>
          </a:p>
          <a:p>
            <a:r>
              <a:t>- Consigne clé : Trouvez deux documents utiles à votre question (au moins un d'un organisme public).</a:t>
            </a:r>
          </a:p>
          <a:p>
            <a:r>
              <a:t>- Étape IA : Avec Le Chat (Mistral) ou une autre IA (notez laquelle) : demandez les organismes et experts qui ont publié sur votre sujet. Combien de ses noms existent vraiment et ont publié sur le sujet (vérifiez sur leur site) ?</a:t>
            </a:r>
          </a:p>
          <a:p>
            <a:r>
              <a:t>- Livrable : Deux références complètes avec une phrase de synthèse chacune. → Dossier, section 4.</a:t>
            </a:r>
          </a:p>
          <a:p>
            <a:r>
              <a:t>- Circuler entre les équipes ; ne pas projeter la correction avant la restitution</a:t>
            </a:r>
          </a:p>
          <a:p/>
          <a:p>
            <a:r>
              <a:t>Durée prévue : 15 min (Équipes). Lancer le minuteur depuis l'application (QR). Projeter la correction seulement après la restitution.</a:t>
            </a:r>
          </a:p>
          <a:p/>
          <a:p>
            <a:r>
              <a:t>Animation. Orienter vers les sites réels : ANSSI, CNIL, ENISA, NIST. Exiger date, version et adresse : un lien sans date est inutilisable. Demander de classer chaque document : recommandation, norme, obligation légale, rapport.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trouver la version gratuite et légale d'un article</a:t>
            </a:r>
          </a:p>
          <a:p>
            <a:r>
              <a:t>- Mode : Binômes, ordinateur ; durée 15 min ; lancer le minuteur</a:t>
            </a:r>
          </a:p>
          <a:p>
            <a:r>
              <a:t>- Consigne clé : Article 1 : cherchez son titre exact entre guillemets dans Google Scholar. Combien de versions propose le lien « Toutes les versions » ?</a:t>
            </a:r>
          </a:p>
          <a:p>
            <a:r>
              <a:t>- Étape IA : Avec Gemini ou une autre IA (notez laquelle) : demandez le lien gratuit de l'article 2. Le lien proposé est-il réel ?</a:t>
            </a:r>
          </a:p>
          <a:p>
            <a:r>
              <a:t>- Livrable : Une référence avec son lien d'accès libre, enregistrée dans Zotero → Dossier, section 17.</a:t>
            </a:r>
          </a:p>
          <a:p>
            <a:r>
              <a:t>- Circuler entre les équipes ; ne pas projeter la correction avant la restitution</a:t>
            </a:r>
          </a:p>
          <a:p/>
          <a:p>
            <a:r>
              <a:t>Durée prévue : 15 min (Binômes, ordinateur). Lancer le minuteur depuis l'application (QR). Projeter la correction seulement après la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Enregistrer vos sources une fois pour toutes dans Zotero et générer une bibliographie sans erreur, au lieu de la saisir à la main.</a:t>
            </a:r>
          </a:p>
          <a:p>
            <a:r>
              <a:t>- Mode : Individuel, ordinateur ; durée 20 min ; lancer le minuteur</a:t>
            </a:r>
          </a:p>
          <a:p>
            <a:r>
              <a:t>- Consigne clé : Installez Zotero et son extension (ou ouvrez la version web).</a:t>
            </a:r>
          </a:p>
          <a:p>
            <a:r>
              <a:t>- Étape IA : Avec Perplexity ou une autre IA (notez laquelle) : demandez-lui de mettre vos 2 premières références au format APA. Comparez avec la bibliographie de Zotero : combien de différences ?</a:t>
            </a:r>
          </a:p>
          <a:p>
            <a:r>
              <a:t>- Livrable : Votre bibliographie de 5 références générée par Zotero. → Dossier, section 17.</a:t>
            </a:r>
          </a:p>
          <a:p>
            <a:r>
              <a:t>- Circuler entre les équipes ; ne pas projeter la correction avant la restitution</a:t>
            </a:r>
          </a:p>
          <a:p/>
          <a:p>
            <a:r>
              <a:t>Durée prévue : 20 min (Individuel, ordinateur). Lancer le minuteur depuis l'application (QR). Projeter la correction seulement après la restitution.</a:t>
            </a:r>
          </a:p>
          <a:p/>
          <a:p>
            <a:r>
              <a:t>Animation. Prévoir du temps d'installation. Si les postes sont verrouillés : version web de Zotero ou tableur. Faire vérifier un champ importé de travers : cela arrive presque toujours.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Google Alerts, Inoreader, flux RSS du CERT-FR, Zotero</a:t>
            </a:r>
          </a:p>
          <a:p>
            <a:r>
              <a:t>- Pages consultées le 23/10/2026</a:t>
            </a:r>
          </a:p>
          <a:p>
            <a:r>
              <a:t>- Préférer un format ouvert (RSS, OPML) à un outil</a:t>
            </a:r>
          </a:p>
          <a:p>
            <a:r>
              <a:t>- Un outil peut fermer (Pocket 2025, Netvibes 2025)</a:t>
            </a:r>
          </a:p>
          <a:p>
            <a:r>
              <a:t>- Plan B si les comptes sont bloqués : démonstration</a:t>
            </a:r>
          </a:p>
          <a:p/>
          <a:p>
            <a:r>
              <a:t>Outils retenus parce que leur page officielle a été consultée le 23/10/2026 (tarifs d'Inoreader, flux RSS du CERT-FR) ou décrits par un guide pratique (option « flux RSS » de Google Alerts). Avant le cours, créez vous-même une alerte et un compte de lecteur de flux pour dépanner les étudiants. Le support « Veille et benchmark » (jour 1) cite Pocket et Netvibes : Pocket a fermé le 8 juillet 2025 et Netvibes (service grand public) le 2 juin 2025 ; un outil peut disparaître, pas le format RSS.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Mettre en place une veille minimale (une alerte, trois flux, un export) pour que votre question reste à jour pendant le projet, et distinguer signal fort et signal faible.</a:t>
            </a:r>
          </a:p>
          <a:p>
            <a:r>
              <a:t>- Mode : Individuel, ordinateur ; durée 15 min ; lancer le minuteur</a:t>
            </a:r>
          </a:p>
          <a:p>
            <a:r>
              <a:t>- Consigne clé : Écrivez la requête de votre alerte (guillemets, OR) et créez l'alerte : est-elle créée ?</a:t>
            </a:r>
          </a:p>
          <a:p>
            <a:r>
              <a:t>- Étape IA : Avec Claude ou une autre IA (notez laquelle) : demandez-lui 5 sources à suivre sur votre question. Combien existent, publient encore et sont utiles ?</a:t>
            </a:r>
          </a:p>
          <a:p>
            <a:r>
              <a:t>- Livrable : Votre plan de veille (requête, trois sources, fréquence) et votre journal de sources → Dossier, section 19.</a:t>
            </a:r>
          </a:p>
          <a:p>
            <a:r>
              <a:t>- Circuler entre les équipes ; ne pas projeter la correction avant la restitution</a:t>
            </a:r>
          </a:p>
          <a:p/>
          <a:p>
            <a:r>
              <a:t>Durée prévue : 15 min (Individuel, ordinateur). Lancer le minuteur depuis l'application (QR). Projeter la correction seulement après la restitution.</a:t>
            </a:r>
          </a:p>
          <a:p/>
          <a:p>
            <a:r>
              <a:t>Animation. Prévoir un plan B si les comptes sont bloqués par le réseau de l'école : démonstration par l'enseignant, puis les étudiants rédigent seulement leur plan de veille. Google Alerts exige un compte Google ; Inoreader un compte gratuit. Pages lues le 23/10/2026 : Inoreader (gratuit : 150 abonnements, 30 règles, 50 filtres), flux RSS du CERT-FR (https://cert.cyber.gouv.fr/flux-rss/ ; la page ne précise pas les types de publications du flux), option « RSS Feed » de Google Alerts (décrite par How-To Geek). Créez vous-même l'alerte et le compte avant le cours pour pouvoir dépanner. Insister sur l'export OPML : le support « Veille et benchmark » cite Pocket et Netvibes, tous deux arrêtés en 2025.</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Écrire une requête précise (opérateurs vus en EX8).</a:t>
            </a:r>
          </a:p>
          <a:p>
            <a:r>
              <a:t>- Méthode : Créer l'alerte Google Alerts.</a:t>
            </a:r>
          </a:p>
          <a:p>
            <a:r>
              <a:t>- Méthode : Abonner un lecteur de flux à trois sources de types différents.</a:t>
            </a:r>
          </a:p>
          <a:p>
            <a:r>
              <a:t>- Méthode : Exporter en OPML pour ne pas dépendre d'un outil.</a:t>
            </a:r>
          </a:p>
          <a:p>
            <a:r>
              <a:t>- Méthode : Trier : signal fort ou faible, puis noter date et action.</a:t>
            </a:r>
          </a:p>
          <a:p>
            <a:r>
              <a:t>- Erreur fréquente : S'abonner à trente sources et ne rien lire.</a:t>
            </a:r>
          </a:p>
          <a:p>
            <a:r>
              <a:t>- Erreur fréquente : Une seule source, ou trois sources du même éditeur.</a:t>
            </a:r>
          </a:p>
          <a:p>
            <a:r>
              <a:t>- À retenir : Une veille se réduit à : une requête, trois sources, une fréquence, une date. L'export OPML la rend portable.</a:t>
            </a:r>
          </a:p>
          <a:p/>
          <a:p>
            <a:r>
              <a:t>Exemple de plan de veille (fictif) : Question : « Faut-il des passkeys chez TransLor ? » Requête : passkeys OR « passwordless authentication ». Sources : flux du CERT-FR (institutionnelle), flux d'un dépôt d'articles en sécurité (scientifique), blog d'un éditeur (commerciale, à pondérer). Fréquence : 10 minutes le lundi. Signal faible : un billet isolé signale un contournement des passkeys, à recouper avant d'en tenir compte. À retenir : Une veille se réduit à : une requête, trois sources, une fréquence, une date. L'export OPML la rend portable.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Une seule phrase fil rouge : « MFA bloque 99,9 % des attaques »</a:t>
            </a:r>
          </a:p>
          <a:p>
            <a:r>
              <a:t>- Appliquer les six questions à cette phrase</a:t>
            </a:r>
          </a:p>
          <a:p>
            <a:r>
              <a:t>- Seuils 9 et plus, 5 à 8, 4 et moins : pédagogiques</a:t>
            </a:r>
          </a:p>
          <a:p>
            <a:r>
              <a:t>- Une IA ne sait pas qui finance ni si c'est recoupé</a:t>
            </a:r>
          </a:p>
          <a:p/>
          <a:p>
            <a:r>
              <a:t>La phrase est le document D4 de l'exercice EX11b (Slaw.ca, 27 septembre 2019). Elle sert de fil conducteur : chaque ligne de la grille est appliquée à cette même phrase.</a:t>
            </a:r>
          </a:p>
          <a:p/>
          <a:p>
            <a:r>
              <a:t>Grille inspirée du test CRAAP (Currency, Relevance, Authority, Accuracy, Purpose ; S. Blakeslee, Meriam Library, California State University, Chico, 2004). Les six questions et les seuils (9, 5 à 8, 4 et moins) sont une synthèse pédagogique : elles n'ont pas de validation scientifique. L'utiliser comme aide à la discussion, pas comme mesure.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Évaluer de vrais documents avec la grille en six questions, et distinguer la source d'origine du relais qui la commente : c'est l'origine que l'on cite.</a:t>
            </a:r>
          </a:p>
          <a:p>
            <a:r>
              <a:t>- Mode : Binôme, ordinateur ; durée 15 min ; lancer le minuteur</a:t>
            </a:r>
          </a:p>
          <a:p>
            <a:r>
              <a:t>- Consigne clé : Appliquez la grille de six questions à chaque document (brouillon ou dossier, section 5). D1 : quel verdict ?</a:t>
            </a:r>
          </a:p>
          <a:p>
            <a:r>
              <a:t>- Étape IA : Avec Perplexity ou une autre IA (notez laquelle) : demandez-lui de noter D4 avec la grille. Est-elle d'accord avec vous ?</a:t>
            </a:r>
          </a:p>
          <a:p>
            <a:r>
              <a:t>- Livrable : Le tableau de notation de 5 documents réels → Dossier, section 5.</a:t>
            </a:r>
          </a:p>
          <a:p>
            <a:r>
              <a:t>- Circuler entre les équipes ; ne pas projeter la correction avant la restitution</a:t>
            </a:r>
          </a:p>
          <a:p/>
          <a:p>
            <a:r>
              <a:t>Durée prévue : 15 min (Binôme, ordinateur). Lancer le minuteur depuis l'application (QR). Projeter la correction seulement après la restitution.</a:t>
            </a:r>
          </a:p>
          <a:p/>
          <a:p>
            <a:r>
              <a:t>Animation. Cinq vrais documents repérés par recherche en octobre 2026 (NIST SP 800-63B-4 ; guide ANSSI 2021 ; IT-Connect 2021 ; Slaw.ca 2019 ; ENISA Threat Landscape 2025). Vérifier les liens avant le cours : ils peuvent changer, et plusieurs versions de ENISA existent (v1.2 de janvier 2026, v1.3 de septembre 2026 repérées dans les résultats de recherche). Les notes de la correction sont indicatives et discutables. Remplaçable par des documents de votre domaine si vous préférez : garder la structure (une source d'origine, un relais, un chiffre non sourcé).</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Appliquer la grille à vos propres sources et décider ce que vous gardez, citez avec prudence ou écartez : vos choix seront défendus devant le jury.</a:t>
            </a:r>
          </a:p>
          <a:p>
            <a:r>
              <a:t>- Mode : Individuel, ordinateur ; durée 30 min ; lancer le minuteur</a:t>
            </a:r>
          </a:p>
          <a:p>
            <a:r>
              <a:t>- Consigne clé : Choisissez 5 sources de votre question et notez-les avec la grille.</a:t>
            </a:r>
          </a:p>
          <a:p>
            <a:r>
              <a:t>- Étape IA : Avec ChatGPT ou une autre IA (notez laquelle) : donnez-lui une de vos sources et la grille, demandez une note sur 12. Quel écart avec votre note, en points ?</a:t>
            </a:r>
          </a:p>
          <a:p>
            <a:r>
              <a:t>- Livrable : La grille de 5 sources remplie et 3 sources retenues dans Zotero. → Dossier, section 5.</a:t>
            </a:r>
          </a:p>
          <a:p>
            <a:r>
              <a:t>- Circuler entre les équipes ; ne pas projeter la correction avant la restitution</a:t>
            </a:r>
          </a:p>
          <a:p/>
          <a:p>
            <a:r>
              <a:t>Durée prévue : 30 min (Individuel, ordinateur). Lancer le minuteur depuis l'application (QR). Projeter la correction seulement après la restitution.</a:t>
            </a:r>
          </a:p>
          <a:p/>
          <a:p>
            <a:r>
              <a:t>Animation. Chaque étudiant évalue 5 sources de sa question et en garde au moins 3. Passer dans les rangs : on voit vite qui n'a pas cherché d'autre source indépendante pour la case « Recoupé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Remonter à l'origine d'un chiffre répété partout : s'il n'a pas d'origine retrouvable, il ne se cite pas comme un fait.</a:t>
            </a:r>
          </a:p>
          <a:p>
            <a:r>
              <a:t>- Mode : Binôme, ordinateur ; durée 20 min ; lancer le minuteur</a:t>
            </a:r>
          </a:p>
          <a:p>
            <a:r>
              <a:t>- Consigne clé : Cherchez l'origine du chiffre et notez le chemin : article, article, origine.</a:t>
            </a:r>
          </a:p>
          <a:p>
            <a:r>
              <a:t>- Étape IA : Avec Claude ou une autre IA (notez laquelle) : demandez l'origine du chiffre « 60 % ». Donne-t-elle une source que vous retrouvez ?</a:t>
            </a:r>
          </a:p>
          <a:p>
            <a:r>
              <a:t>- Livrable : Le chemin de vos recherches et votre phrase de réponse. → Dossier, section 6.</a:t>
            </a:r>
          </a:p>
          <a:p>
            <a:r>
              <a:t>- Circuler entre les équipes ; ne pas projeter la correction avant la restitution</a:t>
            </a:r>
          </a:p>
          <a:p/>
          <a:p>
            <a:r>
              <a:t>Durée prévue : 20 min (Binôme, ordinateur). Lancer le minuteur depuis l'application (QR). Projeter la correction seulement après la restitution.</a:t>
            </a:r>
          </a:p>
          <a:p/>
          <a:p>
            <a:r>
              <a:t>Animation. Le chiffre « 60 % des PME disparaissent dans les six mois après une cyberattaque » est très répété ; la recherche de son origine est longue. Fixer un temps limite et accepter « origine introuvable » comme résultat valide. Alternative réelle : le chiffre « 99,9 % » de Microsoft (voir EX11b et EX18).</a:t>
            </a:r>
          </a:p>
          <a:p/>
          <a:p>
            <a:r>
              <a:t>Cas réel pour EX11b et EX18 : l'affirmation « l'authentification multifacteur bloque 99,9 % des attaques » est attribuée à Microsoft (Alex Weinert, 2019). L'article de Slaw.ca (27 septembre 2019, lu) ne nomme aucune étude précise, indique que le chiffre vise surtout les attaques automatisées, mais son titre parle de prises de contrôle de compte en général. Exemple parfait de chiffre à citer comme position d'un acteur.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voir comment une page a changé et citer avec une date</a:t>
            </a:r>
          </a:p>
          <a:p>
            <a:r>
              <a:t>- Mode : Binômes, ordinateur ; durée 10 min ; lancer le minuteur</a:t>
            </a:r>
          </a:p>
          <a:p>
            <a:r>
              <a:t>- Consigne clé : Collez l'adresse dans web.archive.org. Combien de copies datées existent ? (ordre de grandeur : aucune, quelques-unes, des centaines)</a:t>
            </a:r>
          </a:p>
          <a:p>
            <a:r>
              <a:t>- Livrable : La référence complète d'une page, avec date de consultation → Dossier, section 6.</a:t>
            </a:r>
          </a:p>
          <a:p>
            <a:r>
              <a:t>- Circuler entre les équipes ; ne pas projeter la correction avant la restitution</a:t>
            </a:r>
          </a:p>
          <a:p/>
          <a:p>
            <a:r>
              <a:t>Durée prévue : 10 min (Binômes, ordinateur). Lancer le minuteur depuis l'application (QR). Projeter la correction seulement après la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Lire un vrai article scientifique en 10 minutes, dans le bon ordre, et rédiger la phrase honnête qui cite son résultat avec ses limites.</a:t>
            </a:r>
          </a:p>
          <a:p>
            <a:r>
              <a:t>- Mode : Individuel, ordinateur ; durée 20 min ; lancer le minuteur</a:t>
            </a:r>
          </a:p>
          <a:p>
            <a:r>
              <a:t>- Consigne clé : Écrivez la référence complète et la question de l'article en une phrase.</a:t>
            </a:r>
          </a:p>
          <a:p>
            <a:r>
              <a:t>- Étape IA : Avec Gemini ou une autre IA (document public seulement ; notez laquelle) : demandez un résumé de l'article. Le résumé contient-il une erreur ou oublie-t-il une limite ?</a:t>
            </a:r>
          </a:p>
          <a:p>
            <a:r>
              <a:t>- Livrable : Une fiche de lecture de 7 lignes → Dossier, section 7.</a:t>
            </a:r>
          </a:p>
          <a:p>
            <a:r>
              <a:t>- Circuler entre les équipes ; ne pas projeter la correction avant la restitution</a:t>
            </a:r>
          </a:p>
          <a:p/>
          <a:p>
            <a:r>
              <a:t>Durée prévue : 20 min (Individuel, ordinateur). Lancer le minuteur depuis l'application (QR). Projeter la correction seulement après la restitution.</a:t>
            </a:r>
          </a:p>
          <a:p/>
          <a:p>
            <a:r>
              <a:t>Animation. Demander à chaque étudiant de choisir un article en accès libre dans ses sources (HAL, arXiv, PDF d'une revue en accès ouvert). Plan B : l'extrait fictif. Le nombre de limites reconnues et la présence d'une déclaration de financement sont des réponses à saisir sur le téléphone : on voit vite qui a lu la méthode.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Reconnaître en quelques secondes quatre biais qui faussent les sources (confirmation, survivant, publication, financement).</a:t>
            </a:r>
          </a:p>
          <a:p>
            <a:r>
              <a:t>- Mode : Individuel, téléphone ; durée 5 min ; lancer le minuteur</a:t>
            </a:r>
          </a:p>
          <a:p>
            <a:r>
              <a:t>- Consigne clé : Situation 1 : quel biais ?</a:t>
            </a:r>
          </a:p>
          <a:p>
            <a:r>
              <a:t>- Circuler entre les équipes ; ne pas projeter la correction avant la restitution</a:t>
            </a:r>
          </a:p>
          <a:p/>
          <a:p>
            <a:r>
              <a:t>Durée prévue : 5 min (Individuel, téléphone). Lancer le minuteur depuis l'application (QR). Projeter la correction seulement après la restitution.</a:t>
            </a:r>
          </a:p>
          <a:p/>
          <a:p>
            <a:r>
              <a:t>Animation. Quatre situations, quatre boutons (confirmation, survivant, publication, financement), puis une parade à écrire. Afficher la répartition des réponses avant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Constater qu'une IA peut inventer des références crédibles, et adopter la règle : on ouvre et on lit toute source avant de la citer.</a:t>
            </a:r>
          </a:p>
          <a:p>
            <a:r>
              <a:t>- Mode : Binôme, ordinateur ; durée 15 min ; lancer le minuteur</a:t>
            </a:r>
          </a:p>
          <a:p>
            <a:r>
              <a:t>- Consigne clé : Demandez à l'IA 5 références sur votre question (consigne ci-dessus) et recopiez-les. Notez le nom de l'IA utilisée.</a:t>
            </a:r>
          </a:p>
          <a:p>
            <a:r>
              <a:t>- Livrable : La liste des 5 références vérifiées et la règle → Dossier, section 8.</a:t>
            </a:r>
          </a:p>
          <a:p>
            <a:r>
              <a:t>- Circuler entre les équipes ; ne pas projeter la correction avant la restitution</a:t>
            </a:r>
          </a:p>
          <a:p/>
          <a:p>
            <a:r>
              <a:t>Durée prévue : 15 min (Binôme, ordinateur). Lancer le minuteur depuis l'application (QR). Projeter la correction seulement après la restitution.</a:t>
            </a:r>
          </a:p>
          <a:p/>
          <a:p>
            <a:r>
              <a:t>Animation. Les étudiants testent une IA de leur choix avec une consigne identique, sur leur question (sans donnée confidentielle). Les résultats varient beaucoup selon l'outil, la version et la question : ne pas promettre qu'il y aura des références inventées. Le but est d'installer le réflexe de vérification (titre exact sur Google Scholar, DOI sur doi.org). Comparer les nombres saisis entre binômes.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Stephen Toulmin (1922-2009), The Uses of Argument, 1958</a:t>
            </a:r>
          </a:p>
          <a:p>
            <a:r>
              <a:t>- Contre la logique formelle : le syllogisme ne dit que vrai ou faux</a:t>
            </a:r>
          </a:p>
          <a:p>
            <a:r>
              <a:t>- Six éléments pour justifier un raisonnement pratique</a:t>
            </a:r>
          </a:p>
          <a:p>
            <a:r>
              <a:t>- Lien avec leur état de l'art : un argument pour décider</a:t>
            </a:r>
          </a:p>
          <a:p/>
          <a:p>
            <a:r>
              <a:t>Toulmin a écrit en réaction à la logique formelle : un raisonnement pratique (médical, juridique, technique) n'est pas démontré comme un théorème, il est justifié et peut être contesté. La page suivante donne les six éléments avec un exemple TransLor.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Décomposer un propos en six éléments (Toulmin) pour voir ce qui est solide, ce qui manque et ce qui n'est pas un argument.</a:t>
            </a:r>
          </a:p>
          <a:p>
            <a:r>
              <a:t>- Mode : Équipes ; durée 20 min ; lancer le minuteur</a:t>
            </a:r>
          </a:p>
          <a:p>
            <a:r>
              <a:t>- Consigne clé : Placez chaque élément du propos dans les 6 cases du modèle de Toulmin (écrivez « manquant » si la case n'a pas de contenu).</a:t>
            </a:r>
          </a:p>
          <a:p>
            <a:r>
              <a:t>- Étape IA : Avec Le Chat (Mistral) ou une autre IA (notez laquelle) : demandez-lui de cartographier le même propos avec Toulmin. Combien de cases diffèrent de la vôtre ?</a:t>
            </a:r>
          </a:p>
          <a:p>
            <a:r>
              <a:t>- Livrable : Une carte de Toulmin complétée. → Dossier, section 9.</a:t>
            </a:r>
          </a:p>
          <a:p>
            <a:r>
              <a:t>- Circuler entre les équipes ; ne pas projeter la correction avant la restitution</a:t>
            </a:r>
          </a:p>
          <a:p/>
          <a:p>
            <a:r>
              <a:t>Durée prévue : 20 min (Équipes). Lancer le minuteur depuis l'application (QR). Projeter la correction seulement après la restitution.</a:t>
            </a:r>
          </a:p>
          <a:p/>
          <a:p>
            <a:r>
              <a:t>Animation. Équipes. Utiliser le modèle de Toulmin de l'application. Le collègue de l'énoncé cumule : un chiffre non sourcé, un appel à la popularité et aucune réfutation.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Affirmation : ce que je veux faire admettre.</a:t>
            </a:r>
          </a:p>
          <a:p>
            <a:r>
              <a:t>- Méthode : Données : les faits sourcés.</a:t>
            </a:r>
          </a:p>
          <a:p>
            <a:r>
              <a:t>- Méthode : Garantie : le lien entre données et affirmation.</a:t>
            </a:r>
          </a:p>
          <a:p>
            <a:r>
              <a:t>- Méthode : Fondement, réfutation, qualificatif : ce qui rend l'argument solide et honnête.</a:t>
            </a:r>
          </a:p>
          <a:p>
            <a:r>
              <a:t>- Erreur fréquente : Prendre un chiffre non sourcé pour une donnée.</a:t>
            </a:r>
          </a:p>
          <a:p>
            <a:r>
              <a:t>- Erreur fréquente : Oublier la réfutation : l'argument paraît trop sûr de lui.</a:t>
            </a:r>
          </a:p>
          <a:p>
            <a:r>
              <a:t>- À retenir : Un argument complet : affirmation, données sourcées, garantie, réfutation honnête, qualificatif.</a:t>
            </a:r>
          </a:p>
          <a:p/>
          <a:p>
            <a:r>
              <a:t>Exemple modèle : Affirmation : Activer la double authentification, d'abord pour les comptes à privilèges. Données : [chiffre sourcé à trouver] sur la part des compromissions liées à des mots de passe volés. Garantie : un second facteur bloque l'usage d'un mot de passe volé. Réfutation : vol du second facteur (SMS détourné, fatigue d'authentification) ; coût d'assistance. Qualificatif : probablement efficace, sous réserve de choisir un second facteur résistant. À retenir : Un argument complet : affirmation, données sourcées, garantie, réfutation honnête, qualificatif.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Repérer les raisonnements qui ont l'air valables mais ne le sont pas (sophismes) et poser la question qui comble le saut entre raison et conclusion.</a:t>
            </a:r>
          </a:p>
          <a:p>
            <a:r>
              <a:t>- Mode : Individuel, téléphone ; durée 8 min ; lancer le minuteur</a:t>
            </a:r>
          </a:p>
          <a:p>
            <a:r>
              <a:t>- Consigne clé : Phrase 1 : quel sophisme ?</a:t>
            </a:r>
          </a:p>
          <a:p>
            <a:r>
              <a:t>- Circuler entre les équipes ; ne pas projeter la correction avant la restitution</a:t>
            </a:r>
          </a:p>
          <a:p/>
          <a:p>
            <a:r>
              <a:t>Durée prévue : 8 min (Individuel, téléphone). Lancer le minuteur depuis l'application (QR). Projeter la correction seulement après la restitution.</a:t>
            </a:r>
          </a:p>
          <a:p/>
          <a:p>
            <a:r>
              <a:t>Animation. Six phrases, six boutons de sophismes. Afficher la répartition des réponses, puis corriger. Les noms des sophismes varient selon les auteurs : accepter une réponse équivalente justifiée.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Interroger une affirmation chiffrée de fournisseur avec cinq questions (base, mesure, échantillon, auteur, durée) avant de la citer.</a:t>
            </a:r>
          </a:p>
          <a:p>
            <a:r>
              <a:t>- Mode : Individuel, ordinateur (une phrase par étudiant) ; durée 20 min ; lancer le minuteur</a:t>
            </a:r>
          </a:p>
          <a:p>
            <a:r>
              <a:t>- Consigne clé : Choisissez votre phrase (A, B, C ou D), différente de celle de votre voisin de gauche.</a:t>
            </a:r>
          </a:p>
          <a:p>
            <a:r>
              <a:t>- Étape IA : Avec Perplexity ou une autre IA (notez laquelle) : demandez-lui les questions à poser à votre phrase. En oublie-t-elle une des cinq (base, mesure, échantillon, auteur, durée) ?</a:t>
            </a:r>
          </a:p>
          <a:p>
            <a:r>
              <a:t>- Livrable : L'affirmation, les cinq questions et la phrase d'état de l'art → Dossier, section 10.</a:t>
            </a:r>
          </a:p>
          <a:p>
            <a:r>
              <a:t>- Circuler entre les équipes ; ne pas projeter la correction avant la restitution</a:t>
            </a:r>
          </a:p>
          <a:p/>
          <a:p>
            <a:r>
              <a:t>Durée prévue : 20 min (Individuel, ordinateur (une phrase par étudiant)). Lancer le minuteur depuis l'application (QR). Projeter la correction seulement après la restitution.</a:t>
            </a:r>
          </a:p>
          <a:p/>
          <a:p>
            <a:r>
              <a:t>Animation. Les étudiants cherchent une affirmation chiffrée réelle sur le site d'un fournisseur de leur domaine. Cas d'entraînement : le « 99,9 % » de Microsoft (2019). Nombre de questions restées sans réponse et présence d'une méthode : à saisir sur le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Construire votre premier argument complet avec Toulmin, appuyé par deux données sourcées : c'est le cœur de votre état de l'art.</a:t>
            </a:r>
          </a:p>
          <a:p>
            <a:r>
              <a:t>- Mode : Équipes ; durée 25 min ; lancer le minuteur</a:t>
            </a:r>
          </a:p>
          <a:p>
            <a:r>
              <a:t>- Consigne clé : Écrivez l'affirmation provisoire (votre recommandation).</a:t>
            </a:r>
          </a:p>
          <a:p>
            <a:r>
              <a:t>- Étape IA : Avec ChatGPT ou une autre IA (notez laquelle) : demandez-lui 2 données possibles pour votre argument. Combien sont retrouvables dans une source réelle ?</a:t>
            </a:r>
          </a:p>
          <a:p>
            <a:r>
              <a:t>- Livrable : Votre fiche de Toulmin dans le carnet. → Dossier, section 9.</a:t>
            </a:r>
          </a:p>
          <a:p>
            <a:r>
              <a:t>- Circuler entre les équipes ; ne pas projeter la correction avant la restitution</a:t>
            </a:r>
          </a:p>
          <a:p/>
          <a:p>
            <a:r>
              <a:t>Durée prévue : 25 min (Équipes). Lancer le minuteur depuis l'application (QR). Projeter la correction seulement après la restitution.</a:t>
            </a:r>
          </a:p>
          <a:p/>
          <a:p>
            <a:r>
              <a:t>Animation. Première version de l'argument de l'équipe, à reporter à la section 9 du dossier. Exiger une référence pour chaque donnée.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Tester votre argument face aux objections d'une IA, puis d'une autre équipe, et préparer des réponses honnêtes (fait, concession, réserve).</a:t>
            </a:r>
          </a:p>
          <a:p>
            <a:r>
              <a:t>- Mode : Équipes ; durée 20 min ; lancer le minuteur</a:t>
            </a:r>
          </a:p>
          <a:p>
            <a:r>
              <a:t>- Consigne clé : Collez votre argument dans une IA (sans donnée confidentielle) et recopiez ses 3 objections. Notez le nom de l'IA utilisée.</a:t>
            </a:r>
          </a:p>
          <a:p>
            <a:r>
              <a:t>- Livrable : Deux objections et les réponses retenues → Dossier, section 10.</a:t>
            </a:r>
          </a:p>
          <a:p>
            <a:r>
              <a:t>- Circuler entre les équipes ; ne pas projeter la correction avant la restitution</a:t>
            </a:r>
          </a:p>
          <a:p/>
          <a:p>
            <a:r>
              <a:t>Durée prévue : 20 min (Équipes). Lancer le minuteur depuis l'application (QR). Projeter la correction seulement après la restitution.</a:t>
            </a:r>
          </a:p>
          <a:p/>
          <a:p>
            <a:r>
              <a:t>Animation. Deux regards sur l'argument : une IA (sans donnée confidentielle), puis une équipe voisine. L'IA propose des objections plausibles : c'est aux étudiants de juger leur pertinence et de refuser les chiffres inventés.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Périmètre, référents, collecte documentée, écarts, actions</a:t>
            </a:r>
          </a:p>
          <a:p>
            <a:r>
              <a:t>- 3 à 7 référents : un repère, pas une règle</a:t>
            </a:r>
          </a:p>
          <a:p>
            <a:r>
              <a:t>- Le benchmark alimente la matrice (EX21, EX22)</a:t>
            </a:r>
          </a:p>
          <a:p>
            <a:r>
              <a:t>- Limites : données non comparables</a:t>
            </a:r>
          </a:p>
          <a:p/>
          <a:p>
            <a:r>
              <a:t>Processus en cinq étapes inspiré du support « Veille et benchmark » (jour 2). Le benchmarking est attribué à Xerox (Robert Camp, fin des années 1970 ; livre de Camp, 1989, Benchmarking: The Search for Industry Best Practices that Lead to Superior Performance). Les chiffres de parts de marché du support ne sont pas repris ici.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KPI = indicateur clé de performance</a:t>
            </a:r>
          </a:p>
          <a:p>
            <a:r>
              <a:t>- Mesurable : un nombre et une unité</a:t>
            </a:r>
          </a:p>
          <a:p>
            <a:r>
              <a:t>- Comparable : même méthode pour chacun</a:t>
            </a:r>
          </a:p>
          <a:p>
            <a:r>
              <a:t>- Daté et sourcé</a:t>
            </a:r>
          </a:p>
          <a:p>
            <a:r>
              <a:t>- Annonce de la page SMART</a:t>
            </a:r>
          </a:p>
          <a:p/>
          <a:p>
            <a:r>
              <a:t>Attention : KPI signifie key performance indicator (et non « key product indicator »). Chaque critère de la matrice du dossier (section 11) doit être un indicateur de ce type.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Critiquer un classement ou un comparateur : qui le finance, comment il est construit, combien de critères sont réellement mesurables.</a:t>
            </a:r>
          </a:p>
          <a:p>
            <a:r>
              <a:t>- Mode : Binôme, ordinateur ; durée 15 min ; lancer le minuteur</a:t>
            </a:r>
          </a:p>
          <a:p>
            <a:r>
              <a:t>- Consigne clé : Notez l'adresse, la date et l'auteur de la page.</a:t>
            </a:r>
          </a:p>
          <a:p>
            <a:r>
              <a:t>- Étape IA : Avec Le Chat (Mistral) ou une autre IA (notez laquelle) : demandez « Quel est le meilleur … ? » pour votre domaine. Indique-t-elle qui finance ses sources ?</a:t>
            </a:r>
          </a:p>
          <a:p>
            <a:r>
              <a:t>- Circuler entre les équipes ; ne pas projeter la correction avant la restitution</a:t>
            </a:r>
          </a:p>
          <a:p/>
          <a:p>
            <a:r>
              <a:t>Durée prévue : 15 min (Binôme, ordinateur). Lancer le minuteur depuis l'application (QR). Projeter la correction seulement après la restitution.</a:t>
            </a:r>
          </a:p>
          <a:p/>
          <a:p>
            <a:r>
              <a:t>Animation. Chaque binôme choisit une page différente. Rappeler la grille en six questions (EX11b). Exemple fourni : le témoignage client de Colas publié par Sindup (fr.sindup.com) : 54 600 collaborateurs et 12,3 milliards d'euros de chiffre d'affaires pour Colas, aucun chiffre de retour sur investissement, page non datée (dernière modification du 20 juin 2025). Point à regarder sur la page choisie : le mode de financement d'un classement d'analystes.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Identifier l'auteur et celui qui finance.</a:t>
            </a:r>
          </a:p>
          <a:p>
            <a:r>
              <a:t>- Méthode : Chercher la méthode : critères, données, nombre d'avis.</a:t>
            </a:r>
          </a:p>
          <a:p>
            <a:r>
              <a:t>- Méthode : Classer : fait, position, publicité.</a:t>
            </a:r>
          </a:p>
          <a:p>
            <a:r>
              <a:t>- Méthode : Citer avec sa nature.</a:t>
            </a:r>
          </a:p>
          <a:p>
            <a:r>
              <a:t>- Erreur fréquente : Prendre un classement pour une mesure.</a:t>
            </a:r>
          </a:p>
          <a:p>
            <a:r>
              <a:t>- Erreur fréquente : Ignorer le financement.</a:t>
            </a:r>
          </a:p>
          <a:p>
            <a:r>
              <a:t>- À retenir : Un classement est une source comme une autre : on cherche qui l'a écrit, qui le finance et comment il est construit.</a:t>
            </a:r>
          </a:p>
          <a:p/>
          <a:p>
            <a:r>
              <a:t>Exemple de citation prudente : « Le comparatif de &lt;site&gt; (consulté le jj/mm) classe l'outil A premier selon 5 critères, dont 2 seulement mesurables ; le site perçoit une commission d'affiliation. Je le cite comme position, après recoupement avec la documentation de l'éditeur et un rapport indépendant. » À retenir : Un classement est une source comme une autre : on cherche qui l'a écrit, qui le finance et comment il est construit.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Dérouler le calcul de l'écart-type sur l'outil A : moyenne 40, écarts, carrés (somme 46), ÷ 4 = 11,5, racine = 3,4</a:t>
            </a:r>
          </a:p>
          <a:p>
            <a:r>
              <a:t>- Rapport = écart des moyennes ÷ écart-type ; seuils 1 et 2 (règle indicative)</a:t>
            </a:r>
          </a:p>
          <a:p>
            <a:r>
              <a:t>- Bruit = variation due au hasard</a:t>
            </a:r>
          </a:p>
          <a:p>
            <a:r>
              <a:t>- Écart réel = plus grand que le bruit</a:t>
            </a:r>
          </a:p>
          <a:p>
            <a:r>
              <a:t>- Moyenne et écart-type donnent le bruit</a:t>
            </a:r>
          </a:p>
          <a:p>
            <a:r>
              <a:t>- Règle : plus petit que l'écart-type = bruit ; plus de 2 écarts-types = probablement réel</a:t>
            </a:r>
          </a:p>
          <a:p>
            <a:r>
              <a:t>- t-test, ANOVA : à connaître de nom</a:t>
            </a:r>
          </a:p>
          <a:p/>
          <a:p>
            <a:r>
              <a:t>Le bruit : les mesures d'un même outil varient par hasard. L'écart-type mesure ce bruit. Calcul pas à pas sur l'outil A (41, 38, 45, 40, 36) : moyenne 40 ; écarts +1, −2, +5, 0, −4 ; carrés 1, 4, 25, 0, 16 ; somme 46 ; divisé par 4 = 11,5 ; racine = 3,4. Dans un tableur : =ECARTYPE(plage). Rapport = écart des moyennes ÷ écart-type : règle pratique, indicative. Le t-test et l'ANOVA répondent précisément à la question ; à connaître de nom.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Savoir si une différence mesurée entre deux solutions est réelle ou du bruit, en comparant l'écart des moyennes à la dispersion des mesures.</a:t>
            </a:r>
          </a:p>
          <a:p>
            <a:r>
              <a:t>- Mode : Individuel, tableur ; durée 15 min ; lancer le minuteur</a:t>
            </a:r>
          </a:p>
          <a:p>
            <a:r>
              <a:t>- Consigne clé : A et B : écart entre les moyennes, en minutes.</a:t>
            </a:r>
          </a:p>
          <a:p>
            <a:r>
              <a:t>- Étape IA : Avec Perplexity ou une autre IA (notez laquelle) : demandez-lui si « B est meilleur que A ». Donne-t-elle ses calculs, et sont-ils exacts (refaites-les) ?</a:t>
            </a:r>
          </a:p>
          <a:p>
            <a:r>
              <a:t>- Livrable : Un tableau de mesures avec moyennes et dispersion, et votre phrase de conclusion → Dossier, section 21.</a:t>
            </a:r>
          </a:p>
          <a:p>
            <a:r>
              <a:t>- Circuler entre les équipes ; ne pas projeter la correction avant la restitution</a:t>
            </a:r>
          </a:p>
          <a:p/>
          <a:p>
            <a:r>
              <a:t>Durée prévue : 15 min (Individuel, tableur). Lancer le minuteur depuis l'application (QR). Projeter la correction seulement après la restitution.</a:t>
            </a:r>
          </a:p>
          <a:p/>
          <a:p>
            <a:r>
              <a:t>Animation. Données fictives. Calculs de la construction : A 40,0 (écart-type 3,39), B 39,6 (3,85), C 52,0 (1,58), D 42,0 (1,58). Test de Student pour des variances inégales : p ≈ 0,87 pour A–B ; p ≈ 0,00001 pour C–D. Fonctions de tableur : MOYENNE, ECARTYPE (ou ECARTYPE.STANDARD selon la version) ; un test de Student existe sous forme de fonction dans les tableurs. Ne pas entrer dans la théorie des tests : l'objectif est de ne pas conclure sur un écart plus petit que la dispersion.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Comparer des solutions avec une matrice pondérée et vérifier si le classement résiste quand les priorités changent (test de sensibilité).</a:t>
            </a:r>
          </a:p>
          <a:p>
            <a:r>
              <a:t>- Mode : Binômes, calculatrice ou tableur ; durée 30 min ; lancer le minuteur</a:t>
            </a:r>
          </a:p>
          <a:p>
            <a:r>
              <a:t>- Consigne clé : Calculez le total du Cloud seul avec les poids de départ (3×0,30 + 4×0,30 + 4×0,25 + 4×0,15).</a:t>
            </a:r>
          </a:p>
          <a:p>
            <a:r>
              <a:t>- Étape IA : Avec Gemini ou une autre IA (notez laquelle) : demandez-lui de calculer les trois totaux sans tableur. Trouve-t-elle exactement 3,35, 3,70 et 3,80 ?</a:t>
            </a:r>
          </a:p>
          <a:p>
            <a:r>
              <a:t>- Livrable : Votre tableur et la conclusion. → Dossier, section 11.</a:t>
            </a:r>
          </a:p>
          <a:p>
            <a:r>
              <a:t>- Circuler entre les équipes ; ne pas projeter la correction avant la restitution</a:t>
            </a:r>
          </a:p>
          <a:p/>
          <a:p>
            <a:r>
              <a:t>Durée prévue : 30 min (Binômes, calculatrice ou tableur). Lancer le minuteur depuis l'application (QR). Projeter la correction seulement après la restitution.</a:t>
            </a:r>
          </a:p>
          <a:p/>
          <a:p>
            <a:r>
              <a:t>Animation. Matrice pondérée sur tableur (SOMMEPROD) : si l'outil manque, calculer à la main. Faire changer un poids pour constater que le classement peut s'inverser.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Note = somme (score × poids).</a:t>
            </a:r>
          </a:p>
          <a:p>
            <a:r>
              <a:t>- Méthode : Refaire avec d'autres poids pour voir si le classement tient.</a:t>
            </a:r>
          </a:p>
          <a:p>
            <a:r>
              <a:t>- Méthode : Conclure avec une réserve : les scores sont à sourcer.</a:t>
            </a:r>
          </a:p>
          <a:p>
            <a:r>
              <a:t>- Erreur fréquente : Présenter un classement sans test de sensibilité : il peut s'inverser.</a:t>
            </a:r>
          </a:p>
          <a:p>
            <a:r>
              <a:t>- Erreur fréquente : Oublier que les scores sont des données à sourcer.</a:t>
            </a:r>
          </a:p>
          <a:p>
            <a:r>
              <a:t>- À retenir : Un état de l'art honnête : critères explicites, test de sensibilité, réserve, sources à citer.</a:t>
            </a:r>
          </a:p>
          <a:p/>
          <a:p>
            <a:r>
              <a:t>Exemple modèle : « Avec les pondérations de départ, la solution hybride paraît la plus adaptée (3,80 contre 3,70 et 3,35), mais l'écart avec le cloud est faible. Si le coût devient prioritaire (50 %), le classement s'inverse : disque local 3,80, cloud 3,50, hybride 3,30. Avant de décider, il faut sourcer les scores (coûts réels, tests de restauration) ; ces notes sont fictives. » À retenir : Un état de l'art honnête : critères explicites, test de sensibilité, réserve, sources à citer.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Construire la matrice de votre équipe avec des scores sourcés, et dire honnêtement ce qui la rend fragile.</a:t>
            </a:r>
          </a:p>
          <a:p>
            <a:r>
              <a:t>- Mode : Équipes, tableur ; durée 40 min ; lancer le minuteur</a:t>
            </a:r>
          </a:p>
          <a:p>
            <a:r>
              <a:t>- Consigne clé : Choisissez 3 solutions et 4 critères pondérés (total 100 %), selon les priorités de la directrice.</a:t>
            </a:r>
          </a:p>
          <a:p>
            <a:r>
              <a:t>- Étape IA : Avec Copilot ou une autre IA (notez laquelle) : demandez-lui 3 critères qui manquent à votre matrice. En gardez-vous un, et pourquoi ?</a:t>
            </a:r>
          </a:p>
          <a:p>
            <a:r>
              <a:t>- Livrable : Votre matrice avec sources, le test de sensibilité et la conclusion. → Dossier, section 11.</a:t>
            </a:r>
          </a:p>
          <a:p>
            <a:r>
              <a:t>- Circuler entre les équipes ; ne pas projeter la correction avant la restitution</a:t>
            </a:r>
          </a:p>
          <a:p/>
          <a:p>
            <a:r>
              <a:t>Durée prévue : 40 min (Équipes, tableur). Lancer le minuteur depuis l'application (QR). Projeter la correction seulement après la restitution.</a:t>
            </a:r>
          </a:p>
          <a:p/>
          <a:p>
            <a:r>
              <a:t>Animation. Construction de la matrice de l'équipe avec des scores sourcés. Un score sans source est une hypothèse : l'écrire. Section 11 du dossier.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Bâtir le plan et le résumé d'ouverture de votre état de l'art pour que le lecteur ait la réponse tout de suite.</a:t>
            </a:r>
          </a:p>
          <a:p>
            <a:r>
              <a:t>- Mode : Équipes ; durée 20 min ; lancer le minuteur</a:t>
            </a:r>
          </a:p>
          <a:p>
            <a:r>
              <a:t>- Consigne clé : Écrivez le plan : chaque partie en une ligne, avec sa longueur (en %).</a:t>
            </a:r>
          </a:p>
          <a:p>
            <a:r>
              <a:t>- Étape IA : Avec Le Chat (Mistral) ou une autre IA (notez laquelle) : demandez-lui quelle décision elle comprend de votre résumé. Correspond-elle à votre conclusion ?</a:t>
            </a:r>
          </a:p>
          <a:p>
            <a:r>
              <a:t>- Livrable : Le plan et le résumé d'ouverture de votre état de l'art. → Dossier, section 12.</a:t>
            </a:r>
          </a:p>
          <a:p>
            <a:r>
              <a:t>- Circuler entre les équipes ; ne pas projeter la correction avant la restitution</a:t>
            </a:r>
          </a:p>
          <a:p/>
          <a:p>
            <a:r>
              <a:t>Durée prévue : 20 min (Équipes). Lancer le minuteur depuis l'application (QR). Projeter la correction seulement après la restitution.</a:t>
            </a:r>
          </a:p>
          <a:p/>
          <a:p>
            <a:r>
              <a:t>Animation. Plan et résumé d'ouverture de trois lignes ; section 12 du dossier.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Le plan suit la démarche.</a:t>
            </a:r>
          </a:p>
          <a:p>
            <a:r>
              <a:t>- Méthode : Le résumé d'ouverture donne la conclusion d'abord.</a:t>
            </a:r>
          </a:p>
          <a:p>
            <a:r>
              <a:t>- Erreur fréquente : Un panorama sans comparaison : on liste sans conclure.</a:t>
            </a:r>
          </a:p>
          <a:p>
            <a:r>
              <a:t>- Erreur fréquente : Une méthode absente : le lecteur ne peut pas refaire la recherche.</a:t>
            </a:r>
          </a:p>
          <a:p>
            <a:r>
              <a:t>- À retenir : Un résumé d'ouverture donne la réponse : question, méthode, conclusion et réserve.</a:t>
            </a:r>
          </a:p>
          <a:p/>
          <a:p>
            <a:r>
              <a:t>Résumé d'ouverture (modèle) : Résumé d'ouverture (fictif) : « Pour décider si TransLor doit ajouter une copie hors site à ses sauvegardes, nous avons comparé trois solutions à partir de neuf sources évaluées. L'option hybride est la plus adaptée sous les pondérations de départ, mais le classement s'inverse si le coût devient prioritaire. Recommandation : tester la restauration depuis le cloud avant de décider. » À retenir : Un résumé d'ouverture donne la réponse : question, méthode, conclusion et réserve.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Modèles de formulation reformulés pour le cours.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écrire des phrases d'état de l'art qui citent la source, le chiffre et la limite</a:t>
            </a:r>
          </a:p>
          <a:p>
            <a:r>
              <a:t>- Mode : Équipes ; durée 20 min ; lancer le minuteur</a:t>
            </a:r>
          </a:p>
          <a:p>
            <a:r>
              <a:t>- Consigne clé : Écrivez la phrase d'état de l'art pour le fait ①.</a:t>
            </a:r>
          </a:p>
          <a:p>
            <a:r>
              <a:t>- Étape IA : Avec Copilot ou une autre IA (notez laquelle) : demandez-lui de rendre vos phrases « plus percutantes ». Garde-t-elle la limite et le verbe prudent ?</a:t>
            </a:r>
          </a:p>
          <a:p>
            <a:r>
              <a:t>- Livrable : Quatre phrases sourcées, à placer dans votre état de l'art → Dossier, section 13.</a:t>
            </a:r>
          </a:p>
          <a:p>
            <a:r>
              <a:t>- Circuler entre les équipes ; ne pas projeter la correction avant la restitution</a:t>
            </a:r>
          </a:p>
          <a:p/>
          <a:p>
            <a:r>
              <a:t>Durée prévue : 20 min (Équipes). Lancer le minuteur depuis l'application (QR). Projeter la correction seulement après la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Rédiger deux pages sourcées, en commençant par la conclusion, avec une bibliographie générée par Zotero et l'usage de l'IA déclaré.</a:t>
            </a:r>
          </a:p>
          <a:p>
            <a:r>
              <a:t>- Mode : Équipes, document partagé ; durée 70 min ; lancer le minuteur</a:t>
            </a:r>
          </a:p>
          <a:p>
            <a:r>
              <a:t>- Consigne clé : Répartissez les parties dans l'équipe.</a:t>
            </a:r>
          </a:p>
          <a:p>
            <a:r>
              <a:t>- Étape IA : Si vous avez utilisé une IA (laquelle ? notez-la) (relecture, reformulation), écrivez la phrase de déclaration à ajouter en fin de document : outil, usage, vérification.</a:t>
            </a:r>
          </a:p>
          <a:p>
            <a:r>
              <a:t>- Livrable : L'état de l'art de 2 pages dans un document partagé (lien) avec sa bibliographie. → Dossier, section 13.</a:t>
            </a:r>
          </a:p>
          <a:p>
            <a:r>
              <a:t>- Circuler entre les équipes ; ne pas projeter la correction avant la restitution</a:t>
            </a:r>
          </a:p>
          <a:p/>
          <a:p>
            <a:r>
              <a:t>Durée prévue : 70 min (Équipes, document partagé). Lancer le minuteur depuis l'application (QR). Projeter la correction seulement après la restitution.</a:t>
            </a:r>
          </a:p>
          <a:p/>
          <a:p>
            <a:r>
              <a:t>Animation. Rédaction à deux pages, avec références Zotero. Dire que l'IA peut relire mais pas écrire à la place des étudiants, et que son usage se déclare (section 18).</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Plan d'abord, puis rédaction par partie.</a:t>
            </a:r>
          </a:p>
          <a:p>
            <a:r>
              <a:t>- Méthode : Une affirmation de fait = une référence.</a:t>
            </a:r>
          </a:p>
          <a:p>
            <a:r>
              <a:t>- Méthode : Relire avec la grille de notation.</a:t>
            </a:r>
          </a:p>
          <a:p>
            <a:r>
              <a:t>- Erreur fréquente : Lister des sources sans comparer.</a:t>
            </a:r>
          </a:p>
          <a:p>
            <a:r>
              <a:t>- Erreur fréquente : Citer sans référence précise.</a:t>
            </a:r>
          </a:p>
          <a:p>
            <a:r>
              <a:t>- À retenir : Une méthode de recherche qu'un lecteur peut refaire vaut des points : requêtes, bases, dates, critères.</a:t>
            </a:r>
          </a:p>
          <a:p/>
          <a:p>
            <a:r>
              <a:t>Exemple d'extrait (fictif) : méthode de recherche : « Nous avons interrogé Google Scholar (requête : « sauvegarde hors site » OR « off-site backup », période 2021-2026) et les publications de deux organismes publics. Sur 60 résultats lus, 9 ont été retenus après évaluation avec une grille en six questions (note de 9 ou plus sur 12). Les brochures commerciales sont citées comme positions d'éditeurs. » À retenir : Une méthode de recherche qu'un lecteur peut refaire vaut des points : requêtes, bases, dates, critères.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Situation, comportement, impact</a:t>
            </a:r>
          </a:p>
          <a:p>
            <a:r>
              <a:t>- Un fait se filme, un jugement qualifie la personne</a:t>
            </a:r>
          </a:p>
          <a:p>
            <a:r>
              <a:t>- Phrase complète en exemple</a:t>
            </a:r>
          </a:p>
          <a:p>
            <a:r>
              <a:t>- Terminer par une question : comment voyez-vous les choses ?</a:t>
            </a:r>
          </a:p>
          <a:p>
            <a:r>
              <a:t>- Recevoir : écouter, reformuler, décider</a:t>
            </a:r>
          </a:p>
          <a:p/>
          <a:p>
            <a:r>
              <a:t>SBI : Situation, Behavior, Impact, modèle du Center for Creative Leadership.</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Relire le travail d'une autre équipe avec la grille et donner un feedback en SBI : un fait, un impact, sans juger la personne.</a:t>
            </a:r>
          </a:p>
          <a:p>
            <a:r>
              <a:t>- Mode : Équipes croisées ; durée 20 min ; lancer le minuteur</a:t>
            </a:r>
          </a:p>
          <a:p>
            <a:r>
              <a:t>- Consigne clé : Relisez le document de l'autre équipe avec la grille : deux points forts, deux améliorations, chacun avec un fait.</a:t>
            </a:r>
          </a:p>
          <a:p>
            <a:r>
              <a:t>- Étape IA : Avec ChatGPT ou une autre IA (notez laquelle ; document de l'autre équipe, si elle l'accepte) : demandez-lui une relecture avec la grille. Combien de ses remarques utiles n'aviez-vous pas relevées ?</a:t>
            </a:r>
          </a:p>
          <a:p>
            <a:r>
              <a:t>- Livrable : Deux points forts, deux améliorations, deux corrections décidées. → Dossier, section 14.</a:t>
            </a:r>
          </a:p>
          <a:p>
            <a:r>
              <a:t>- Circuler entre les équipes ; ne pas projeter la correction avant la restitution</a:t>
            </a:r>
          </a:p>
          <a:p/>
          <a:p>
            <a:r>
              <a:t>Durée prévue : 20 min (Équipes croisées). Lancer le minuteur depuis l'application (QR). Projeter la correction seulement après la restitution.</a:t>
            </a:r>
          </a:p>
          <a:p/>
          <a:p>
            <a:r>
              <a:t>Animation. Relecture croisée avec grille et feedback SBI ; sections 13 et 14 du dossier.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Préparer un pitch de 5 minutes pour un public non technique : un message clé, un plan, des réponses aux objections probables.</a:t>
            </a:r>
          </a:p>
          <a:p>
            <a:r>
              <a:t>- Mode : Équipes ; durée 20 min ; lancer le minuteur</a:t>
            </a:r>
          </a:p>
          <a:p>
            <a:r>
              <a:t>- Consigne clé : Écrivez le message clé en une phrase.</a:t>
            </a:r>
          </a:p>
          <a:p>
            <a:r>
              <a:t>- Étape IA : Avec Claude ou une autre IA (notez laquelle) : demandez-lui de jouer la directrice non technique et de poser 3 questions sur votre pitch. Notez celle qui vous met le plus en difficulté.</a:t>
            </a:r>
          </a:p>
          <a:p>
            <a:r>
              <a:t>- Livrable : Votre message clé, votre plan et les trois objections préparées. → Dossier, section 15.</a:t>
            </a:r>
          </a:p>
          <a:p>
            <a:r>
              <a:t>- Circuler entre les équipes ; ne pas projeter la correction avant la restitution</a:t>
            </a:r>
          </a:p>
          <a:p/>
          <a:p>
            <a:r>
              <a:t>Durée prévue : 20 min (Équipes). Lancer le minuteur depuis l'application (QR). Projeter la correction seulement après la restitution.</a:t>
            </a:r>
          </a:p>
          <a:p/>
          <a:p>
            <a:r>
              <a:t>Animation. Préparation du pitch de 5 minutes. Chronomètre ou mémo vocal du téléphone pour s'entendre.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Défendre votre état de l'art devant un jury : présenter, répondre en reformulant puis en donnant un fait, une concession ou une réserve.</a:t>
            </a:r>
          </a:p>
          <a:p>
            <a:r>
              <a:t>- Mode : Équipes, jury ; durée 65 min ; lancer le minuteur</a:t>
            </a:r>
          </a:p>
          <a:p>
            <a:r>
              <a:t>- Consigne clé : Présentez votre état de l'art (5 minutes chronométrées).</a:t>
            </a:r>
          </a:p>
          <a:p>
            <a:r>
              <a:t>- Livrable : La grille de notation de chaque équipe et un feedback SBI. → Dossier, section 15.</a:t>
            </a:r>
          </a:p>
          <a:p>
            <a:r>
              <a:t>- Circuler entre les équipes ; ne pas projeter la correction avant la restitution</a:t>
            </a:r>
          </a:p>
          <a:p/>
          <a:p>
            <a:r>
              <a:t>Durée prévue : 65 min (Équipes, jury). Lancer le minuteur depuis l'application (QR). Projeter la correction seulement après la restitution.</a:t>
            </a:r>
          </a:p>
          <a:p/>
          <a:p>
            <a:r>
              <a:t>Animation. Pitchs et jury : 5 minutes + 4 minutes de questions + 1 minute de feedback par équipe. Grille de notation dans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Jury : un barème, des questions préparées, un feedback SBI.</a:t>
            </a:r>
          </a:p>
          <a:p>
            <a:r>
              <a:t>- Méthode : Équipe : message clé, preuve, réserve.</a:t>
            </a:r>
          </a:p>
          <a:p>
            <a:r>
              <a:t>- Erreur fréquente : Dépasser le temps.</a:t>
            </a:r>
          </a:p>
          <a:p>
            <a:r>
              <a:t>- Erreur fréquente : Répondre sans reformuler la question.</a:t>
            </a:r>
          </a:p>
          <a:p>
            <a:r>
              <a:t>- À retenir : Défendre, c'est dire ce que l'on sait, ce que l'on ne sait pas, et comment on le vérifiera.</a:t>
            </a:r>
          </a:p>
          <a:p/>
          <a:p>
            <a:r>
              <a:t>Questions types du jury : Pourquoi avoir retenu ces trois solutions et pas d'autres ? Comment avez-vous choisi les poids de vos critères ? Que se passe-t-il si votre chiffre principal est faux ? Quelle source est la plus fragile de votre état de l'art ? Quelle est votre réserve principale ? Que feriez-vous avec un mois de plus ? À retenir : Défendre, c'est dire ce que l'on sait, ce que l'on ne sait pas, et comment on le vérifiera.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Vous entraîner à répondre aux questions courtes de l'examen écrit avec les méthodes du cours.</a:t>
            </a:r>
          </a:p>
          <a:p>
            <a:r>
              <a:t>- Mode : Individuel ; durée 15 min ; lancer le minuteur</a:t>
            </a:r>
          </a:p>
          <a:p>
            <a:r>
              <a:t>- Consigne clé : Q1. Complétez la carte de Toulmin de : « Il faut passer au cloud : tous nos concurrents l'ont fait. »</a:t>
            </a:r>
          </a:p>
          <a:p>
            <a:r>
              <a:t>- Livrable : Vos réponses, comparées à la correction.</a:t>
            </a:r>
          </a:p>
          <a:p>
            <a:r>
              <a:t>- Circuler entre les équipes ; ne pas projeter la correction avant la restitution</a:t>
            </a:r>
          </a:p>
          <a:p/>
          <a:p>
            <a:r>
              <a:t>Durée prévue : 15 min (Individuel). Lancer le minuteur depuis l'application (QR). Projeter la correction seulement après la restitution.</a:t>
            </a:r>
          </a:p>
          <a:p/>
          <a:p>
            <a:r>
              <a:t>Animation. Entraînement à l'examen écrit : format inventé, à remplacer par le format officiel dès qu'il est connu.</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L'ÉNONCÉ (points clés) :</a:t>
            </a:r>
          </a:p>
          <a:p>
            <a:r>
              <a:t>- But : Faire le bilan : ce qui vous a été utile, ce que vous ferez différemment, ce qui manquait.</a:t>
            </a:r>
          </a:p>
          <a:p>
            <a:r>
              <a:t>- Mode : Individuel ; durée 5 min ; lancer le minuteur</a:t>
            </a:r>
          </a:p>
          <a:p>
            <a:r>
              <a:t>- Consigne clé : Ce que j'ai appris de plus utile.</a:t>
            </a:r>
          </a:p>
          <a:p>
            <a:r>
              <a:t>- Circuler entre les équipes ; ne pas projeter la correction avant la restitution</a:t>
            </a:r>
          </a:p>
          <a:p/>
          <a:p>
            <a:r>
              <a:t>Durée prévue : 5 min (Individuel). Lancer le minuteur depuis l'application (QR). Projeter la correction seulement après la restitution.</a:t>
            </a:r>
          </a:p>
          <a:p/>
          <a:p>
            <a:r>
              <a:t>Animation. Exit ticket du cours : recueillir la note d'utilité pour améliorer le cours.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à photographier : c'est le mémo du cours.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à photographier.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Rappeler les livrables</a:t>
            </a:r>
          </a:p>
          <a:p>
            <a:r>
              <a:t>- Références pour approfondir</a:t>
            </a:r>
          </a:p>
          <a:p>
            <a:r>
              <a:t>- Annexes disponibles</a:t>
            </a:r>
          </a:p>
          <a:p/>
          <a:p>
            <a:r>
              <a:t>Fin du cours. Les annexes suivent.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joint = ECUE-S7-1-2 (15 h) ; cours de 17 h 30 pauses comprises.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Le cours commence par deux phrases, sans présentation : voir les diapositives suivantes. Cadre : 2,5 jours, ingénieurs de 2e année ; le syllabus d'origine (ECUE-S7-1-2, 15 h) vise à argumenter à partir de l'état de l'art, maîtriser l'information spécialisée et la chercher, l'évaluer, la valider. Le support contient plus de matière que le temps disponible : les flashs (F) et les exit tickets se sautent en cas de retard.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 fil rouge : un état de l'art pour TransLor (fictive)</a:t>
            </a:r>
          </a:p>
          <a:p>
            <a:r>
              <a:t>- Jamais plus de 5 diapositives sans exercice</a:t>
            </a:r>
          </a:p>
          <a:p>
            <a:r>
              <a:t>- Téléphone : énoncé, minuteur, réponses envoyées à l'enseignant</a:t>
            </a:r>
          </a:p>
          <a:p>
            <a:r>
              <a:t>- Corrections en bleu clair, ouvertes à la restitution</a:t>
            </a:r>
          </a:p>
          <a:p>
            <a:r>
              <a:t>- Livrables : 2 pages, pitch de 5 minutes, fiche de vulnérabilité</a:t>
            </a:r>
          </a:p>
          <a:p/>
          <a:p>
            <a:r>
              <a:t>Expliquer le rythme : théorie courte (jamais plus de 5 diapositives de suite sans interaction), exercice avec minuteur sur le téléphone, correction détaillée sur diapositives à fond bleu clair. Les réponses des étudiants arrivent en direct sur le tableau de bord enseignant (#/prof). Les étudiants travaillent sur ordinateur portable et sur téléphone : le téléphone sert aux QR codes, aux boutons VRAI/FAUX, aux nombres et au quiz ; l'ordinateur aux outils réels (Google Scholar, Zotero, dossier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Autorisée comme assistant, pas comme source</a:t>
            </a:r>
          </a:p>
          <a:p>
            <a:r>
              <a:t>- On ouvre et on lit chaque source avant de la citer</a:t>
            </a:r>
          </a:p>
          <a:p>
            <a:r>
              <a:t>- À déclarer dans le dossier (section 18)</a:t>
            </a:r>
          </a:p>
          <a:p>
            <a:r>
              <a:t>- Aucune donnée confidentielle</a:t>
            </a:r>
          </a:p>
          <a:p>
            <a:r>
              <a:t>- Dire la charte de l'école</a:t>
            </a:r>
          </a:p>
          <a:p/>
          <a:p>
            <a:r>
              <a:t>Posez les règles dès le début, avant la première utilisation. Consultez la charte d'usage de l'IA de votre établissement (charte d'usage de l'IA, règlement des examens). Idée centrale : l'IA est un assistant de recherche et de relecture, jamais une source. Confidentialité : ne rien saisir de confidentiel ni de personnel dans un outil en ligne (les conditions d'usage des données varient selon les outils et les versions gratuite ou licenciée). Les exercices qui utilisent une IA n'emploient que des textes fictifs ou publics. DOI (Digital Object Identifier) : identifiant unique et durable attribué à un article, un rapport ou un jeu de données, de la forme 10.xxxx/suffixe. Il s'ouvre sur doi.org et mène à la page officielle du document. Une IA peut inventer un DOI plausible qui ne mène nulle part ou mène à un autre article : d'où la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 PowerPoint, une section par exercice</a:t>
            </a:r>
          </a:p>
          <a:p>
            <a:r>
              <a:t>- Chaque section précédée d'un exemple à effacer</a:t>
            </a:r>
          </a:p>
          <a:p>
            <a:r>
              <a:t>- Chaque exercice dit « → Dossier, section X »</a:t>
            </a:r>
          </a:p>
          <a:p>
            <a:r>
              <a:t>- Télécharger le modèle avec le QR</a:t>
            </a:r>
          </a:p>
          <a:p/>
          <a:p>
            <a:r>
              <a:t>Distribuer le modèle PowerPoint (QR ou page « Dossier » de l'application). Chaque équipe choisit son sujet à EX1, puis remplit une section par exercice. Les sections 13 (état de l'art de 2 pages) et 17 (bibliographie Zotero) sont le livrable principal. La page de correspondance à la fin du dossier relie chaque section aux objectifs du syllabus : utile pour montrer à l'établissement que le cours couvre les attendus.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Conclusion, trois arguments chiffrés, réserve, décision demandée</a:t>
            </a:r>
          </a:p>
          <a:p>
            <a:r>
              <a:t>- Pyramide inversée : l'essentiel d'abord</a:t>
            </a:r>
          </a:p>
          <a:p>
            <a:r>
              <a:t>- À ne pas confondre avec la pyramide de Minto</a:t>
            </a:r>
          </a:p>
          <a:p>
            <a:r>
              <a:t>- Même ordre pour un e-mail</a:t>
            </a:r>
          </a:p>
          <a:p>
            <a:r>
              <a:t>- Test IA : trouve-t-elle la décision attendue ?</a:t>
            </a:r>
          </a:p>
          <a:p/>
          <a:p>
            <a:r>
              <a:t>C'est l'état de l'art en miniature : conclusion, trois arguments chiffrés, réserve, décision demandée. Un lecteur pressé doit pouvoir décider sans poser de question. Les étudiants confondent souvent résumé (ce qui a été dit) et synthèse (ce qu'il faut décider).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Sept questions pour sortir du flou</a:t>
            </a:r>
          </a:p>
          <a:p>
            <a:r>
              <a:t>- Exemple : « Je voudrais un export Excel »</a:t>
            </a:r>
          </a:p>
          <a:p>
            <a:r>
              <a:t>- C'est une solution, pas un besoin</a:t>
            </a:r>
          </a:p>
          <a:p>
            <a:r>
              <a:t>- Poser les questions en entonnoir : large, précis, confirmation</a:t>
            </a:r>
          </a:p>
          <a:p>
            <a:r>
              <a:t>- Origine : circonstances de la rhétorique antique</a:t>
            </a:r>
          </a:p>
          <a:p/>
          <a:p>
            <a:r>
              <a:t>Qui, Quoi, Où, Quand, Comment, Combien, Pourquoi : liste de questions classique des méthodes qualité et de la résolution de problèmes, qui remonterait à la rhétorique antique (les « circonstances » de la rhétorique antique, citées par Quintilien). Remplace l'ancienne trame « contexte, problème, impact, besoin, critère, contraintes », qui était une synthèse pédagogique sans source : on lui préfère des méthodes connues. En entretien, on ne lit pas la liste : elle sert de contrôle (« ai-je le combien ? »).</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Demander pourquoi jusqu'à tomber sur le besoin</a:t>
            </a:r>
          </a:p>
          <a:p>
            <a:r>
              <a:t>- Exemple Marc : 3 pourquoi suffisent</a:t>
            </a:r>
          </a:p>
          <a:p>
            <a:r>
              <a:t>- On s'arrête quand la réponse ne dépend plus d'une solution</a:t>
            </a:r>
          </a:p>
          <a:p>
            <a:r>
              <a:t>- Origine : Toyota (Sakichi Toyoda, popularisé par Taiichi Ohno)</a:t>
            </a:r>
          </a:p>
          <a:p/>
          <a:p>
            <a:r>
              <a:t>Méthode attribuée à Sakichi Toyoda et popularisée par Taiichi Ohno dans le système de production Toyota (Ohno, Toyota Production System, 1978 en japonais). Usage ici : passer de la solution demandée au besoin réel. Cinq est un repère, pas une règle : on s'arrête quand la réponse ne dépend plus d'une solution technique. Limite : la méthode suppose une chaîne causale simple ; pour des causes multiples, la compléter.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Installer, enregistrer, annoter, classer, citer</a:t>
            </a:r>
          </a:p>
          <a:p>
            <a:r>
              <a:t>- Google Scholar peut bloquer l'extension (CAPTCHA) : utiliser HAL, Semantic Scholar ou arXiv, ou l'ajout par DOI</a:t>
            </a:r>
          </a:p>
          <a:p>
            <a:r>
              <a:t>- Finir les recherches Scholar avant, ou enregistrer par DOI</a:t>
            </a:r>
          </a:p>
          <a:p>
            <a:r>
              <a:t>- Plan B : un tableur</a:t>
            </a:r>
          </a:p>
          <a:p/>
          <a:p>
            <a:r>
              <a:t>Zotero est un logiciel libre de gestion de références (zotero.org) ; version de bureau et extension de navigateur (Zotero Connector). Prévoir un plan B pour les postes verrouillés : un tableur. Montrer en direct l'enregistrement d'un article depuis Google Scholar et la génération d'une bibliographie.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Cinq temps : chiffre, citation, origine, ce qu'il mesure, ma phrase</a:t>
            </a:r>
          </a:p>
          <a:p>
            <a:r>
              <a:t>- Pas d'origine retrouvable : pas un fait</a:t>
            </a:r>
          </a:p>
          <a:p>
            <a:r>
              <a:t>- Cas réel étudié en EX11b et EX18</a:t>
            </a:r>
          </a:p>
          <a:p/>
          <a:p>
            <a:r>
              <a:t>Cas réel pour EX11b et EX18 : l'affirmation « l'authentification multifacteur bloque 99,9 % des attaques » est attribuée à Microsoft (Alex Weinert, 2019). L'article de Slaw.ca (27 septembre 2019, lu) ne nomme aucune étude précise, indique que le chiffre vise surtout les attaques automatisées, mais son titre parle de prises de contrôle de compte en général. Exemple parfait de chiffre à citer comme position d'un acteur.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Résumé, conclusion, méthode, résultats, limites</a:t>
            </a:r>
          </a:p>
          <a:p>
            <a:r>
              <a:t>- 10 minutes suffisent pour une première lecture</a:t>
            </a:r>
          </a:p>
          <a:p>
            <a:r>
              <a:t>- Séparer mesuré et interprété</a:t>
            </a:r>
          </a:p>
          <a:p>
            <a:r>
              <a:t>- Toujours regarder qui finance</a:t>
            </a:r>
          </a:p>
          <a:p/>
          <a:p>
            <a:r>
              <a:t>Méthode proche de S. Keshav, « How to Read a Paper » (ACM SIGCOMM Computer Communication Review, 37(3), 2007 ; méthode en trois passes). L'ordre proposé ici est une adaptation. Toujours regarder qui finance et si un groupe témoin existe. Un résultat mesuré n'est pas une interprétation.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Confirmation, survivant, publication, financement</a:t>
            </a:r>
          </a:p>
          <a:p>
            <a:r>
              <a:t>- Un exemple par biais</a:t>
            </a:r>
          </a:p>
          <a:p>
            <a:r>
              <a:t>- Parade : chercher ce qui contredit, regarder qui finance</a:t>
            </a:r>
          </a:p>
          <a:p>
            <a:r>
              <a:t>- Annonce du flash F6</a:t>
            </a:r>
          </a:p>
          <a:p/>
          <a:p>
            <a:r>
              <a:t>Confirmation (Wason, 1960 ; Nickerson, 1998), survivant (A. Wald et les avions de la seconde guerre mondiale), publication (Rosenthal, 1979, « problème du tiroir »), financement (Lundh et al., revue Cochrane, 2017). Insister sur la parade : chercher activement ce qui contredit.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Utile pour reformuler et proposer</a:t>
            </a:r>
          </a:p>
          <a:p>
            <a:r>
              <a:t>- Dangereux pour citer : références inventées</a:t>
            </a:r>
          </a:p>
          <a:p>
            <a:r>
              <a:t>- Règle : ouvrir et lire la source</a:t>
            </a:r>
          </a:p>
          <a:p>
            <a:r>
              <a:t>- Déclarer l'usage</a:t>
            </a:r>
          </a:p>
          <a:p>
            <a:r>
              <a:t>- Annonce de EX15</a:t>
            </a:r>
          </a:p>
          <a:p/>
          <a:p>
            <a:r>
              <a:t>Les modèles de langage peuvent produire des références plausibles mais inexistantes (« hallucinations » ; Ji et al., ACM Computing Surveys, 2023). Règle du cours : on ouvre et on lit chaque source avant de la citer. Déclarer l'usage dans le dossier (section 18).</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Six cases : affirmation, données, garantie, fondement, réfutation, qualificatif</a:t>
            </a:r>
          </a:p>
          <a:p>
            <a:r>
              <a:t>- Un exemple complet TransLor</a:t>
            </a:r>
          </a:p>
          <a:p>
            <a:r>
              <a:t>- La garantie relie données et affirmation</a:t>
            </a:r>
          </a:p>
          <a:p>
            <a:r>
              <a:t>- Le qualificatif et la réfutation rendent l'argument honnête</a:t>
            </a:r>
          </a:p>
          <a:p>
            <a:r>
              <a:t>- Annonce de EX16 (six cases sur téléphone)</a:t>
            </a:r>
          </a:p>
          <a:p/>
          <a:p>
            <a:r>
              <a:t>Stephen Toulmin, The Uses of Argument, 1958 (Cambridge University Press). Six éléments : affirmation (claim), données (grounds), garantie (warrant), fondement (backing), réfutation (rebuttal), qualificatif (qualifier). Les noms français varient selon les traductions. La garantie est la case la plus souvent oubliée : c'est le raisonnement qui relie les données à l'affirmation.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 sophisme a l'air valable mais ne l'est pas</a:t>
            </a:r>
          </a:p>
          <a:p>
            <a:r>
              <a:t>- Un exemple par sophisme</a:t>
            </a:r>
          </a:p>
          <a:p>
            <a:r>
              <a:t>- Répondre par une contre-question ouverte</a:t>
            </a:r>
          </a:p>
          <a:p>
            <a:r>
              <a:t>- Annonce de EX17, avec phrases dans le désordre</a:t>
            </a:r>
          </a:p>
          <a:p/>
          <a:p>
            <a:r>
              <a:t>Un sophisme est un raisonnement qui paraît valide mais ne l'est pas. Les noms viennent de la tradition (Aristote, Réfutations sophistiques ; Hamblin, Fallacies, 1970 ; Walton, 1989) ; les listes et les noms varient selon les auteurs. Utiliser des contre-questions ouvertes plutôt que l'étiquette : nommer un sophisme à voix haute en réunion passe pour une attaque. Types d'arguments (diapositive retirée) : fait mesuré (vérifiable, à sourcer), exemple (concret mais cas unique), analogie (parlante, jamais une preuve), autorité (crédible si indépendante), valeur (mobilisatrice mais subjective).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Pourcentage sans base, relatif ou absolu, moyenne, corrélation</a:t>
            </a:r>
          </a:p>
          <a:p>
            <a:r>
              <a:t>- Trois questions : par rapport à quoi, mesuré comment, sur quel échantillon ?</a:t>
            </a:r>
          </a:p>
          <a:p>
            <a:r>
              <a:t>- Annonce de EX18 sur un vrai chiffre</a:t>
            </a:r>
          </a:p>
          <a:p/>
          <a:p>
            <a:r>
              <a:t>Pourcentage sans base, risque relatif contre absolu (Gigerenzer, Calculated Risks, 2002), moyenne trompeuse, corrélation et cause (Huff, How to Lie with Statistics, 1954). Les exemples sont fictifs. Une question de contrôle : par rapport à quoi, mesuré comment, sur quel échantillon ?</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Écouter, reformuler, répondre, vérifier</a:t>
            </a:r>
          </a:p>
          <a:p>
            <a:r>
              <a:t>- Fait, concession ou réserve</a:t>
            </a:r>
          </a:p>
          <a:p>
            <a:r>
              <a:t>- Si on ne sait pas : dire quand on reviendra avec la source</a:t>
            </a:r>
          </a:p>
          <a:p/>
          <a:p>
            <a:r>
              <a:t>Quatre temps : écouter, reformuler, répondre (fait, concession ou réserve), vérifier. Reconnaître un point faible n'affaiblit pas l'argument : cela montre que l'on maîtrise le sujet. « Je ne sais pas, je reviens avec la source » est une réponse professionnelle.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Six parties avec leur poids en %</a:t>
            </a:r>
          </a:p>
          <a:p>
            <a:r>
              <a:t>- Références hors pages</a:t>
            </a:r>
          </a:p>
          <a:p>
            <a:r>
              <a:t>- Résumé d'ouverture de trois lignes en tête</a:t>
            </a:r>
          </a:p>
          <a:p>
            <a:r>
              <a:t>- Le plan suit la démarche du cours</a:t>
            </a:r>
          </a:p>
          <a:p/>
          <a:p>
            <a:r>
              <a:t>Plan propre au cours (synthèse pédagogique), inspiré de l'organisation des revues de littérature. Les pourcentages indiquent la place relative de chaque partie. Résumé d'ouverture de trois lignes en tête : le lecteur pressé lit uniquement cela.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Une affirmation de fait = une référence</a:t>
            </a:r>
          </a:p>
          <a:p>
            <a:r>
              <a:t>- Bibliographie générée par Zotero, un seul style</a:t>
            </a:r>
          </a:p>
          <a:p>
            <a:r>
              <a:t>- Citer ou paraphraser, jamais copier sans guillemets</a:t>
            </a:r>
          </a:p>
          <a:p>
            <a:r>
              <a:t>- Plagiat, y compris texte d'IA non déclaré</a:t>
            </a:r>
          </a:p>
          <a:p/>
          <a:p>
            <a:r>
              <a:t>En France, la courte citation est permise sous conditions (Code de la propriété intellectuelle, art. L122-5) : guillemets, source, finalité. Au-delà, c'est du plagiat. L'usage d'une IA doit être déclaré, selon le règlement de l'école. Un seul style de citation dans tout le document. Recette d'un paragraphe d'état de l'art (diapositive retirée) : 1) une phrase de conclusion ; 2) une ou deux preuves, chacune avec sa référence ; 3) la limite ou la réserve ; 4) une transition vers la partie suivante. Exemple fictif : « La copie hors site réduit le temps de restauration (1). Elle a réduit de 9 h à 3 h le test de juin (2). Réserve : mesure unique (3). Reste à comparer le coût (4). »</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Même salle, mêmes équipes</a:t>
            </a:r>
          </a:p>
          <a:p>
            <a:r>
              <a:t>- Lire chaque question en entier</a:t>
            </a:r>
          </a:p>
          <a:p>
            <a:r>
              <a:t>- Afficher le classement final</a:t>
            </a:r>
          </a:p>
          <a:p/>
          <a:p>
            <a:r>
              <a:t>Débrief de 5 minutes à l'oral après la manche : quelle famille de questions a posé le plus de difficultés (chercher, évaluer ou argumenter) ? Quelle bonne réponse vous a surpris ? Quelle règle appliquez-vous déjà à votre état de l'art ?</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Accroche, problème, solution, preuve, appel</a:t>
            </a:r>
          </a:p>
          <a:p>
            <a:r>
              <a:t>- Un message clé que la directrice peut répéter</a:t>
            </a:r>
          </a:p>
          <a:p>
            <a:r>
              <a:t>- 5 minutes : une idée par minute environ</a:t>
            </a:r>
          </a:p>
          <a:p/>
          <a:p>
            <a:r>
              <a:t>Structure courante de pitch : accroche, problème, solution, preuve, appel à l'action. Un message clé que l'auditoire peut répéter. 5 minutes, c'est court : un seul message.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Partir de l'enjeu, une analogie, un chiffre parlant</a:t>
            </a:r>
          </a:p>
          <a:p>
            <a:r>
              <a:t>- Test : mon voisin répète l'idée en une phrase</a:t>
            </a:r>
          </a:p>
          <a:p>
            <a:r>
              <a:t>- Remplacer un sigle par un autre n'est pas vulgariser</a:t>
            </a:r>
          </a:p>
          <a:p/>
          <a:p>
            <a:r>
              <a:t>Vulgariser n'est pas simplifier à l'excès : l'enjeu d'abord, puis une analogie, puis un chiffre parlant. Test : le voisin peut-il répéter l'idée ? Un sigle remplacé par un autre sigle n'est pas une vulgarisation.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Écouter, reformuler, répondre, vérifier</a:t>
            </a:r>
          </a:p>
          <a:p>
            <a:r>
              <a:t>- Réserve annoncée mieux que doute découvert</a:t>
            </a:r>
          </a:p>
          <a:p>
            <a:r>
              <a:t>- Entraînement possible avec une IA jury sceptique</a:t>
            </a:r>
          </a:p>
          <a:p/>
          <a:p>
            <a:r>
              <a:t>Quatre gestes : écouter la question en entier, reformuler, répondre, vérifier. Une réserve annoncée vaut mieux qu'un doute découvert par le jury. Entraînement possible avec une IA jouant le jury sceptique (sans donnée confidentielle). Voix, corps, trac, support (diapositive retirée) : voix calme avec une pause de deux secondes après le chiffre clé ; posture stable, regard réparti, mains visibles ; trac : connaître son début par cœur, respirer (inspirer 4 s, souffler 6 s) ; support : une idée par diapositive, un titre qui porte la conclusion. Conseils de pratique, non sourcés.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- 5 minutes + 4 minutes de questions</a:t>
            </a:r>
          </a:p>
          <a:p>
            <a:r>
              <a:t>- Observateurs : grille sur 20 dans l'application</a:t>
            </a:r>
          </a:p>
          <a:p>
            <a:r>
              <a:t>- Une minute de feedback SBI après chaque équipe</a:t>
            </a:r>
          </a:p>
          <a:p/>
          <a:p>
            <a:r>
              <a:t>Gérer le temps strictement : 5 minutes de pitch, 4 minutes de questions, une minute de feedback. Les observateurs notent avec la grille sur 20 (application). La directrice et ses collaborateurs sont joués par vous ou par des intervenants.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Lire la consigne : nommer ≠ expliquer</a:t>
            </a:r>
          </a:p>
          <a:p>
            <a:r>
              <a:t>- Utiliser la méthode du cours</a:t>
            </a:r>
          </a:p>
          <a:p>
            <a:r>
              <a:t>- Citer un terme précis</a:t>
            </a:r>
          </a:p>
          <a:p>
            <a:r>
              <a:t>- Conclure honnêtement</a:t>
            </a:r>
          </a:p>
          <a:p>
            <a:r>
              <a:t>- Le format réel dépend de l'école</a:t>
            </a:r>
          </a:p>
          <a:p/>
          <a:p>
            <a:r>
              <a:t>Conseils généraux de méthode. Demander aux étudiants quelles consignes ils confondent (« nommer » ≠ « expliquer » ≠ « justifier »).</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Un thème n'est pas une question : il faut une décision.</a:t>
            </a:r>
          </a:p>
          <a:p>
            <a:r>
              <a:t>- Méthode : Les critères sont des mots que l'on peut comparer.</a:t>
            </a:r>
          </a:p>
          <a:p>
            <a:r>
              <a:t>- Méthode : Les mots-clés viennent de la question, pas du hasard.</a:t>
            </a:r>
          </a:p>
          <a:p>
            <a:r>
              <a:t>- Erreur fréquente : Un sujet trop large : on ne finira pas.</a:t>
            </a:r>
          </a:p>
          <a:p>
            <a:r>
              <a:t>- Erreur fréquente : Un sujet sans littérature : vérifiez en deux minutes que vous trouvez au moins cinq résultats sérieux.</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Objet = sujet + action attendue.</a:t>
            </a:r>
          </a:p>
          <a:p>
            <a:r>
              <a:t>- Méthode : Un e-mail = un sujet.</a:t>
            </a:r>
          </a:p>
          <a:p>
            <a:r>
              <a:t>- Méthode : Conclusion d'abord, détails ensuite.</a:t>
            </a:r>
          </a:p>
          <a:p>
            <a:r>
              <a:t>- Méthode : Répondre à tous seulement si tous doivent le savoir.</a:t>
            </a:r>
          </a:p>
          <a:p>
            <a:r>
              <a:t>- Erreur fréquente : Laisser un fil « Re: Re: Fwd » qui ne reflète plus le sujet.</a:t>
            </a:r>
          </a:p>
          <a:p>
            <a:r>
              <a:t>- Erreur fréquente : Mettre la demande à la fin d'un long paragraphe.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Questions larges (« Racontez-moi une matinée type »), puis précises (fréquence, durée, impact), puis une question de confirmation : voir les 6 questions attendues.</a:t>
            </a:r>
          </a:p>
          <a:p>
            <a:r>
              <a:t>- Méthode : Demander à quoi servira l'export (le besoin derrière la solution).</a:t>
            </a:r>
          </a:p>
          <a:p>
            <a:r>
              <a:t>- Méthode : Reformuler en une phrase besoin + critère.</a:t>
            </a:r>
          </a:p>
          <a:p>
            <a:r>
              <a:t>- Méthode : Chiffrer l'impact avant de proposer.</a:t>
            </a:r>
          </a:p>
          <a:p>
            <a:r>
              <a:t>- Erreur fréquente : Proposer « on vous fait un export » dès la première minute : la solution précède le besoin.</a:t>
            </a:r>
          </a:p>
          <a:p>
            <a:r>
              <a:t>- Erreur fréquente : Enchaîner des questions fermées : on obtient oui ou non, pas le contexte.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Un moteur cherche des mots, une IA comprend une consigne</a:t>
            </a:r>
          </a:p>
          <a:p>
            <a:r>
              <a:t>- Concepts, synonymes, anglais, sigles</a:t>
            </a:r>
          </a:p>
          <a:p>
            <a:r>
              <a:t>- Dans les deux cas : noter la requête ou la consigne</a:t>
            </a:r>
          </a:p>
          <a:p>
            <a:r>
              <a:t>- L'IA propose, vous triez et testez</a:t>
            </a:r>
          </a:p>
          <a:p>
            <a:r>
              <a:t>- Montrer un exemple de consigne bien posée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Un concept = un mot ou une expression.</a:t>
            </a:r>
          </a:p>
          <a:p>
            <a:r>
              <a:t>- Méthode : Un synonyme par ligne, en français et en anglais.</a:t>
            </a:r>
          </a:p>
          <a:p>
            <a:r>
              <a:t>- Méthode : Guillemets pour les expressions, OR entre synonymes.</a:t>
            </a:r>
          </a:p>
          <a:p>
            <a:r>
              <a:t>- Méthode : Donner à l'IA le contexte, la langue et le format attendu, puis trier ses propositions.</a:t>
            </a:r>
          </a:p>
          <a:p>
            <a:r>
              <a:t>- Erreur fréquente : Taper la question entière : le moteur en tire des résultats flous.</a:t>
            </a:r>
          </a:p>
          <a:p>
            <a:r>
              <a:t>- Erreur fréquente : Oublier l'anglais : on perd une grande part de la littérature technique.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Écrire le titre exact entre guillemets (ou le numéro du texte).</a:t>
            </a:r>
          </a:p>
          <a:p>
            <a:r>
              <a:t>- Méthode : Limiter au bon site avec site: (cyber.gouv.fr, nist.gov, eur-lex.europa.eu).</a:t>
            </a:r>
          </a:p>
          <a:p>
            <a:r>
              <a:t>- Méthode : Ajouter filetype:pdf si vous voulez le document, puis l'ouvrir : titre, date, version.</a:t>
            </a:r>
          </a:p>
          <a:p>
            <a:r>
              <a:t>- Erreur fréquente : Se contenter du premier résultat, un blog qui cite le guide : remontez au site de l'organisme.</a:t>
            </a:r>
          </a:p>
          <a:p>
            <a:r>
              <a:t>- Erreur fréquente : Oublier la version et la date du document.</a:t>
            </a:r>
          </a:p>
          <a:p>
            <a:r>
              <a:t>- À retenir : Titre exact entre guillemets + site: = le document officiel en moins de 3 minutes.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Partir large, puis préciser.</a:t>
            </a:r>
          </a:p>
          <a:p>
            <a:r>
              <a:t>- Méthode : Comparer avant et après : une bonne requête réduit le nombre de résultats sans perdre l'essentiel.</a:t>
            </a:r>
          </a:p>
          <a:p>
            <a:r>
              <a:t>- Méthode : Noter la trace de la recherche.</a:t>
            </a:r>
          </a:p>
          <a:p>
            <a:r>
              <a:t>- Erreur fréquente : Ne lire que le premier résultat.</a:t>
            </a:r>
          </a:p>
          <a:p>
            <a:r>
              <a:t>- Erreur fréquente : Ne pas noter la requête : impossible de la justifier ou de la refaire.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Chercher d'abord sur le site de l'organisme.</a:t>
            </a:r>
          </a:p>
          <a:p>
            <a:r>
              <a:t>- Méthode : Noter date et version.</a:t>
            </a:r>
          </a:p>
          <a:p>
            <a:r>
              <a:t>- Méthode : Distinguer recommandation, norme et loi.</a:t>
            </a:r>
          </a:p>
          <a:p>
            <a:r>
              <a:t>- Erreur fréquente : Prendre une recommandation pour une obligation.</a:t>
            </a:r>
          </a:p>
          <a:p>
            <a:r>
              <a:t>- Erreur fréquente : Citer sans date ni version : le document a peut-être été remplacé.</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Chercher le titre exact entre guillemets.</a:t>
            </a:r>
          </a:p>
          <a:p>
            <a:r>
              <a:t>- Méthode : Ouvrir « Toutes les versions » avant de payer quoi que ce soit.</a:t>
            </a:r>
          </a:p>
          <a:p>
            <a:r>
              <a:t>- Méthode : Tester une archive ouverte (HAL, arXiv), puis Unpaywall ; sinon noter « accès payant ».</a:t>
            </a:r>
          </a:p>
          <a:p>
            <a:r>
              <a:t>- Erreur fréquente : Payer un article sans avoir cherché une version gratuite.</a:t>
            </a:r>
          </a:p>
          <a:p>
            <a:r>
              <a:t>- Erreur fréquente : Citer un article dont on n'a lu que le titre.</a:t>
            </a:r>
          </a:p>
          <a:p>
            <a:r>
              <a:t>- À retenir : Titre exact + « Toutes les versions » + archive ouverte : trois gestes avant de payer.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Un clic enregistre la référence.</a:t>
            </a:r>
          </a:p>
          <a:p>
            <a:r>
              <a:t>- Méthode : Toujours vérifier les champs importés.</a:t>
            </a:r>
          </a:p>
          <a:p>
            <a:r>
              <a:t>- Méthode : Classer dès l'enregistrement.</a:t>
            </a:r>
          </a:p>
          <a:p>
            <a:r>
              <a:t>- Erreur fréquente : Importer sans vérifier : des champs manquent souvent.</a:t>
            </a:r>
          </a:p>
          <a:p>
            <a:r>
              <a:t>- Erreur fréquente : Mélanger plusieurs styles de citation.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Noter chaque critère sans regarder le total.</a:t>
            </a:r>
          </a:p>
          <a:p>
            <a:r>
              <a:t>- Méthode : Appliquer les seuils : 9 et plus, 5 à 8, 4 et moins.</a:t>
            </a:r>
          </a:p>
          <a:p>
            <a:r>
              <a:t>- Méthode : Justifier : une phrase, un fait.</a:t>
            </a:r>
          </a:p>
          <a:p>
            <a:r>
              <a:t>- Erreur fréquente : Noter « Recoupé » sans avoir cherché une autre source indépendante.</a:t>
            </a:r>
          </a:p>
          <a:p>
            <a:r>
              <a:t>- Erreur fréquente : Retenir cinq sources du même éditeur : elles ne se recoupent pas.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Chaque article cite un autre article : remonter jusqu'au document primaire.</a:t>
            </a:r>
          </a:p>
          <a:p>
            <a:r>
              <a:t>- Méthode : Lire ce que la source mesure, sur qui, quand.</a:t>
            </a:r>
          </a:p>
          <a:p>
            <a:r>
              <a:t>- Méthode : À défaut de source primaire : ne pas citer comme un fait.</a:t>
            </a:r>
          </a:p>
          <a:p>
            <a:r>
              <a:t>- Erreur fréquente : S'arrêter au deuxième article qui répète le chiffre.</a:t>
            </a:r>
          </a:p>
          <a:p>
            <a:r>
              <a:t>- Erreur fréquente : Citer le chiffre parce qu'il est « connu ».</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Coller l'adresse exacte de la page dans web.archive.org.</a:t>
            </a:r>
          </a:p>
          <a:p>
            <a:r>
              <a:t>- Méthode : Comparer deux dates avec le calendrier.</a:t>
            </a:r>
          </a:p>
          <a:p>
            <a:r>
              <a:t>- Méthode : Citer avec la date de consultation ; archiver soi-même si la page est importante.</a:t>
            </a:r>
          </a:p>
          <a:p>
            <a:r>
              <a:t>- Erreur fréquente : Citer une page sans date de consultation.</a:t>
            </a:r>
          </a:p>
          <a:p>
            <a:r>
              <a:t>- Erreur fréquente : Croire qu'une page en ligne est stable.</a:t>
            </a:r>
          </a:p>
          <a:p>
            <a:r>
              <a:t>- À retenir : Une page sans date de consultation ne se vérifie pas : datez, et archivez ce qui compte.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Lire dans l'ordre : résumé, conclusion, méthode, limites.</a:t>
            </a:r>
          </a:p>
          <a:p>
            <a:r>
              <a:t>- Méthode : Séparer le résultat (ce qui est mesuré) de l'interprétation.</a:t>
            </a:r>
          </a:p>
          <a:p>
            <a:r>
              <a:t>- Méthode : Toujours regarder qui finance.</a:t>
            </a:r>
          </a:p>
          <a:p>
            <a:r>
              <a:t>- Erreur fréquente : Généraliser un résultat obtenu sur un seul service à toutes les organisations.</a:t>
            </a:r>
          </a:p>
          <a:p>
            <a:r>
              <a:t>- Erreur fréquente : Ignorer l'employeur des auteurs : l'étude est utile, mais ce n'est pas un avis indépendant.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Chercher aussi ce qui contredit.</a:t>
            </a:r>
          </a:p>
          <a:p>
            <a:r>
              <a:t>- Méthode : Regarder qui publie et qui finance.</a:t>
            </a:r>
          </a:p>
          <a:p>
            <a:r>
              <a:t>- Erreur fréquente : Croire qu'une source financée est forcément fausse : elle demande seulement une vérification supplémentaire.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Colonne Lien : ouvrir un ou deux sites en direct</a:t>
            </a:r>
          </a:p>
          <a:p>
            <a:r>
              <a:t>- Six outils, une précaution chacun</a:t>
            </a:r>
          </a:p>
          <a:p>
            <a:r>
              <a:t>- Une source citée n'est pas une source lue</a:t>
            </a:r>
          </a:p>
          <a:p>
            <a:r>
              <a:t>- Aucune donnée confidentielle</a:t>
            </a:r>
          </a:p>
          <a:p>
            <a:r>
              <a:t>- Proposer un test : compter combien de références sont vérifiables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Chercher le titre exact entre guillemets.</a:t>
            </a:r>
          </a:p>
          <a:p>
            <a:r>
              <a:t>- Méthode : Ouvrir l'adresse DOI.</a:t>
            </a:r>
          </a:p>
          <a:p>
            <a:r>
              <a:t>- Méthode : Vérifier que la revue ou la conférence existe.</a:t>
            </a:r>
          </a:p>
          <a:p>
            <a:r>
              <a:t>- Méthode : Vérifier les auteurs, l'année, les pages.</a:t>
            </a:r>
          </a:p>
          <a:p>
            <a:r>
              <a:t>- Erreur fréquente : Demander à la même IA de confirmer : elle peut confirmer une invention.</a:t>
            </a:r>
          </a:p>
          <a:p>
            <a:r>
              <a:t>- Erreur fréquente : Vérifier seulement l'orthographe des noms.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Repérer le saut entre les raisons et la conclusion.</a:t>
            </a:r>
          </a:p>
          <a:p>
            <a:r>
              <a:t>- Méthode : Poser la question qui comble le saut.</a:t>
            </a:r>
          </a:p>
          <a:p>
            <a:r>
              <a:t>- Erreur fréquente : Nommer le sophisme sans dire pourquoi il est fragile.</a:t>
            </a:r>
          </a:p>
          <a:p>
            <a:r>
              <a:t>- Erreur fréquente : Répondre par une attaque : la contre-question doit rester ouverte.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Un pourcentage sans base n'est pas un fait.</a:t>
            </a:r>
          </a:p>
          <a:p>
            <a:r>
              <a:t>- Méthode : Chercher la méthode derrière le chiffre.</a:t>
            </a:r>
          </a:p>
          <a:p>
            <a:r>
              <a:t>- Méthode : Citer le chiffre comme une position, avec sa source.</a:t>
            </a:r>
          </a:p>
          <a:p>
            <a:r>
              <a:t>- Erreur fréquente : Reprendre le chiffre sans le qualifier.</a:t>
            </a:r>
          </a:p>
          <a:p>
            <a:r>
              <a:t>- Erreur fréquente : Rejeter la source : on peut la citer comme position du fournisseur.</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Les données portent une référence.</a:t>
            </a:r>
          </a:p>
          <a:p>
            <a:r>
              <a:t>- Méthode : La garantie explique le lien.</a:t>
            </a:r>
          </a:p>
          <a:p>
            <a:r>
              <a:t>- Méthode : La réfutation est cherchée, pas subie.</a:t>
            </a:r>
          </a:p>
          <a:p>
            <a:r>
              <a:t>- Méthode : Le qualificatif dit la portée.</a:t>
            </a:r>
          </a:p>
          <a:p>
            <a:r>
              <a:t>- Erreur fréquente : Une donnée sans référence.</a:t>
            </a:r>
          </a:p>
          <a:p>
            <a:r>
              <a:t>- Erreur fréquente : Une garantie qui répète l'affirmation.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Écouter, reformuler, répondre, vérifier.</a:t>
            </a:r>
          </a:p>
          <a:p>
            <a:r>
              <a:t>- Méthode : Fait si on l'a ; concession si l'objection est juste ; réserve si on ne sait pas.</a:t>
            </a:r>
          </a:p>
          <a:p>
            <a:r>
              <a:t>- Méthode : Une IA propose des objections plausibles : c'est à vous de juger leur pertinence.</a:t>
            </a:r>
          </a:p>
          <a:p>
            <a:r>
              <a:t>- Erreur fréquente : Se justifier longuement.</a:t>
            </a:r>
          </a:p>
          <a:p>
            <a:r>
              <a:t>- Erreur fréquente : Nier une objection fondée.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Calculer la moyenne et la dispersion de chaque outil.</a:t>
            </a:r>
          </a:p>
          <a:p>
            <a:r>
              <a:t>- Méthode : Comparer l'écart des moyennes à la dispersion.</a:t>
            </a:r>
          </a:p>
          <a:p>
            <a:r>
              <a:t>- Méthode : Conclure avec prudence : cinq mesures, c'est peu.</a:t>
            </a:r>
          </a:p>
          <a:p>
            <a:r>
              <a:t>- Erreur fréquente : Conclure « B est meilleur » avec 0,4 minute d'écart.</a:t>
            </a:r>
          </a:p>
          <a:p>
            <a:r>
              <a:t>- Erreur fréquente : Oublier de dire le nombre de mesures.</a:t>
            </a:r>
          </a:p>
          <a:p>
            <a:r>
              <a:t>- À retenir : Avant de classer deux solutions, comparer l'écart à la dispersion et dire le nombre de mesures.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Chaque score a une source ou est signalé « estimation ».</a:t>
            </a:r>
          </a:p>
          <a:p>
            <a:r>
              <a:t>- Méthode : Poids justifiés.</a:t>
            </a:r>
          </a:p>
          <a:p>
            <a:r>
              <a:t>- Méthode : Test de sensibilité sur le point faible.</a:t>
            </a:r>
          </a:p>
          <a:p>
            <a:r>
              <a:t>- Erreur fréquente : Des scores sans source.</a:t>
            </a:r>
          </a:p>
          <a:p>
            <a:r>
              <a:t>- Erreur fréquente : Des critères qui se recouvrent (double comptage).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Qui dit quoi, et quand ? (source + année).</a:t>
            </a:r>
          </a:p>
          <a:p>
            <a:r>
              <a:t>- Méthode : Qu'est-ce qui est mesuré, avec quel chiffre ?</a:t>
            </a:r>
          </a:p>
          <a:p>
            <a:r>
              <a:t>- Méthode : Quelle limite : auteur, échantillon, durée, méthode ?</a:t>
            </a:r>
          </a:p>
          <a:p>
            <a:r>
              <a:t>- Méthode : Un verbe prudent : « indique », « annonce », « suggère ».</a:t>
            </a:r>
          </a:p>
          <a:p>
            <a:r>
              <a:t>- Erreur fréquente : Donner le chiffre sans dire ce qu'il mesure.</a:t>
            </a:r>
          </a:p>
          <a:p>
            <a:r>
              <a:t>- Erreur fréquente : Oublier l'auteur ou son intérêt (éditeur, fournisseur).</a:t>
            </a:r>
          </a:p>
          <a:p>
            <a:r>
              <a:t>- À retenir : Une phrase d'état de l'art = source + chiffre + limite.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Règles : équipes, 45 secondes, points 1 à 3</a:t>
            </a:r>
          </a:p>
          <a:p>
            <a:r>
              <a:t>- Lancer d'abord la salle depuis le lien de l'animateur</a:t>
            </a:r>
          </a:p>
          <a:p>
            <a:r>
              <a:t>- Deux manches de 10 questions</a:t>
            </a:r>
          </a:p>
          <a:p>
            <a:r>
              <a:t>- Lire l'explication après chaque question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Créer la salle avant de projeter le QR</a:t>
            </a:r>
          </a:p>
          <a:p>
            <a:r>
              <a:t>- Les équipes saisissent code et nom</a:t>
            </a:r>
          </a:p>
          <a:p>
            <a:r>
              <a:t>- Si le Wi-Fi bloque : partage de connexion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Faits, pas jugements.</a:t>
            </a:r>
          </a:p>
          <a:p>
            <a:r>
              <a:t>- Méthode : SBI : situation, comportement, impact.</a:t>
            </a:r>
          </a:p>
          <a:p>
            <a:r>
              <a:t>- Méthode : Recevoir : écouter, reformuler, décider.</a:t>
            </a:r>
          </a:p>
          <a:p>
            <a:r>
              <a:t>- Erreur fréquente : Juger la personne au lieu de décrire le texte.</a:t>
            </a:r>
          </a:p>
          <a:p>
            <a:r>
              <a:t>- Erreur fréquente : Se justifier au lieu de noter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Un message clé : une phrase que la directrice peut répéter.</a:t>
            </a:r>
          </a:p>
          <a:p>
            <a:r>
              <a:t>- Méthode : Un chiffre, une analogie, une demande.</a:t>
            </a:r>
          </a:p>
          <a:p>
            <a:r>
              <a:t>- Méthode : S'entraîner à voix haute, chronomètre en main.</a:t>
            </a:r>
          </a:p>
          <a:p>
            <a:r>
              <a:t>- Erreur fréquente : Tout dire : 5 minutes = un message.</a:t>
            </a:r>
          </a:p>
          <a:p>
            <a:r>
              <a:t>- Erreur fréquente : Lire ses notes.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LA CORRECTION (points clés) :</a:t>
            </a:r>
          </a:p>
          <a:p>
            <a:r>
              <a:t>- Méthode : Répondre à la question posée, avec la méthode du cours.</a:t>
            </a:r>
          </a:p>
          <a:p>
            <a:r>
              <a:t>- Méthode : Citer un critère ou un terme précis.</a:t>
            </a:r>
          </a:p>
          <a:p>
            <a:r>
              <a:t>- Erreur fréquente : Répondre hors sujet : relire la consigne.</a:t>
            </a:r>
          </a:p>
          <a:p>
            <a:r>
              <a:t>- Erreur fréquente : Oublier la réserve dans une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(points clés) :</a:t>
            </a:r>
          </a:p>
          <a:p>
            <a:r>
              <a:t>- Chacun scanne et répond seul</a:t>
            </a:r>
          </a:p>
          <a:p>
            <a:r>
              <a:t>- 10 questions tirées des 31 du Jeu 20</a:t>
            </a:r>
          </a:p>
          <a:p>
            <a:r>
              <a:t>- Score et explications à la fin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belmdeveloppement.github.io/communication-pro/#/prof"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belmdeveloppement.github.io/communication-pro/#/prof"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belmdeveloppement.github.io/communication-pro/#/prof" TargetMode="Externa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belmdeveloppement.github.io/communication-pro/#/prof" TargetMode="Externa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belmdeveloppement.github.io/communication-pro/#/prof" TargetMode="Externa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belmdeveloppement.github.io/communication-pro/#/prof" TargetMode="Externa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belmdeveloppement.github.io/communication-pro/#/prof" TargetMode="Externa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belmdeveloppement.github.io/communication-pro/#/prof" TargetMode="Externa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belmdeveloppement.github.io/communication-pro/#/prof" TargetMode="Externa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s://belmdeveloppement.github.io/communication-pro/#/prof" TargetMode="External"/><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belmdeveloppement.github.io/communication-pro/#/prof" TargetMode="Externa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belmdeveloppement.github.io/communication-pro/#/prof" TargetMode="Externa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belmdeveloppement.github.io/communication-pro/#/prof" TargetMode="Externa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belmdeveloppement.github.io/communication-pro/#/prof" TargetMode="External"/><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belmdeveloppement.github.io/communication-pro/#/prof" TargetMode="External"/><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belmdeveloppement.github.io/communication-pro/#/prof" TargetMode="External"/><Relationship Id="rId4"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belmdeveloppement.github.io/communication-pro/#/prof" TargetMode="Externa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belmdeveloppement.github.io/communication-pro/#/prof" TargetMode="External"/><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belmdeveloppement.github.io/communication-pro/#/prof" TargetMode="External"/><Relationship Id="rId4"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belmdeveloppement.github.io/communication-pro/#/prof" TargetMode="External"/><Relationship Id="rId4"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belmdeveloppement.github.io/communication-pro/#/prof" TargetMode="External"/><Relationship Id="rId4"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belmdeveloppement.github.io/communication-pro/#/prof" TargetMode="External"/><Relationship Id="rId4" Type="http://schemas.openxmlformats.org/officeDocument/2006/relationships/image" Target="../media/image2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belmdeveloppement.github.io/communication-pro/#/prof" TargetMode="External"/><Relationship Id="rId4" Type="http://schemas.openxmlformats.org/officeDocument/2006/relationships/image" Target="../media/image2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belmdeveloppement.github.io/communication-pro/#/prof" TargetMode="External"/><Relationship Id="rId4" Type="http://schemas.openxmlformats.org/officeDocument/2006/relationships/image" Target="../media/image2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belmdeveloppement.github.io/communication-pro/#/prof" TargetMode="External"/><Relationship Id="rId4" Type="http://schemas.openxmlformats.org/officeDocument/2006/relationships/image" Target="../media/image2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belmdeveloppement.github.io/communication-pro/#/prof" TargetMode="External"/><Relationship Id="rId4" Type="http://schemas.openxmlformats.org/officeDocument/2006/relationships/image" Target="../media/image2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belmdeveloppement.github.io/communication-pro/#/prof" TargetMode="External"/><Relationship Id="rId4" Type="http://schemas.openxmlformats.org/officeDocument/2006/relationships/image" Target="../media/image2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hyperlink" Target="https://belmdeveloppement.github.io/communication-pro/#/prof" TargetMode="External"/><Relationship Id="rId4" Type="http://schemas.openxmlformats.org/officeDocument/2006/relationships/image" Target="../media/image3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hyperlink" Target="https://belmdeveloppement.github.io/communication-pro/#/prof" TargetMode="External"/><Relationship Id="rId4" Type="http://schemas.openxmlformats.org/officeDocument/2006/relationships/image" Target="../media/image3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belmdeveloppement.github.io/communication-pro/#/prof" TargetMode="External"/><Relationship Id="rId4" Type="http://schemas.openxmlformats.org/officeDocument/2006/relationships/image" Target="../media/image3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belmdeveloppement.github.io/communication-pro/#/prof" TargetMode="External"/><Relationship Id="rId4" Type="http://schemas.openxmlformats.org/officeDocument/2006/relationships/image" Target="../media/image3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belmdeveloppement.github.io/communication-pro/#/prof" TargetMode="External"/><Relationship Id="rId4" Type="http://schemas.openxmlformats.org/officeDocument/2006/relationships/image" Target="../media/image3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hyperlink" Target="https://belmdeveloppement.github.io/communication-pro/#/jeu20" TargetMode="External"/><Relationship Id="rId4" Type="http://schemas.openxmlformats.org/officeDocument/2006/relationships/notesSlide" Target="../notesSlides/notesSlide12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hyperlink" Target="https://belmdeveloppement.github.io/communication-pro/#/jeu20" TargetMode="External"/><Relationship Id="rId4" Type="http://schemas.openxmlformats.org/officeDocument/2006/relationships/notesSlide" Target="../notesSlides/notesSlide9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hyperlink" Target="https://belmdeveloppement.github.io/communication-pro/#/prof" TargetMode="External"/><Relationship Id="rId4" Type="http://schemas.openxmlformats.org/officeDocument/2006/relationships/image" Target="../media/image3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hyperlink" Target="https://belmdeveloppement.github.io/communication-pro/#/prof" TargetMode="External"/><Relationship Id="rId4" Type="http://schemas.openxmlformats.org/officeDocument/2006/relationships/image" Target="../media/image3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belmdeveloppement.github.io/communication-pro/#/prof" TargetMode="External"/><Relationship Id="rId4" Type="http://schemas.openxmlformats.org/officeDocument/2006/relationships/image" Target="../media/image3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hyperlink" Target="https://belmdeveloppement.github.io/communication-pro/#/prof" TargetMode="External"/><Relationship Id="rId4" Type="http://schemas.openxmlformats.org/officeDocument/2006/relationships/image" Target="../media/image3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hyperlink" Target="https://belmdeveloppement.github.io/communication-pro/#/quiz-final" TargetMode="External"/><Relationship Id="rId4" Type="http://schemas.openxmlformats.org/officeDocument/2006/relationships/notesSlide" Target="../notesSlides/notesSlide12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hyperlink" Target="https://belmdeveloppement.github.io/communication-pro/#/prof" TargetMode="External"/><Relationship Id="rId4" Type="http://schemas.openxmlformats.org/officeDocument/2006/relationships/image" Target="../media/image4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4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ectangle 1"/>
          <p:cNvSpPr/>
          <p:nvPr/>
        </p:nvSpPr>
        <p:spPr>
          <a:xfrm>
            <a:off x="0" y="4754880"/>
            <a:ext cx="12191695" cy="109728"/>
          </a:xfrm>
          <a:prstGeom prst="rect">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515600" cy="1463040"/>
          </a:xfrm>
          <a:prstGeom prst="rect">
            <a:avLst/>
          </a:prstGeom>
          <a:noFill/>
        </p:spPr>
        <p:txBody>
          <a:bodyPr wrap="square" anchor="b">
            <a:spAutoFit/>
          </a:bodyPr>
          <a:lstStyle/>
          <a:p>
            <a:pPr algn="l">
              <a:spcAft>
                <a:spcPts val="1539"/>
              </a:spcAft>
            </a:pPr>
            <a:r>
              <a:rPr sz="4400" b="1" i="0">
                <a:solidFill>
                  <a:srgbClr val="FFFFFF"/>
                </a:solidFill>
                <a:latin typeface="Calibri"/>
              </a:rPr>
              <a:t>Communication professionnelle de l'ingénieur</a:t>
            </a:r>
          </a:p>
        </p:txBody>
      </p:sp>
      <p:sp>
        <p:nvSpPr>
          <p:cNvPr id="4" name="TextBox 3"/>
          <p:cNvSpPr txBox="1"/>
          <p:nvPr/>
        </p:nvSpPr>
        <p:spPr>
          <a:xfrm>
            <a:off x="731520" y="2971800"/>
            <a:ext cx="10515600" cy="822960"/>
          </a:xfrm>
          <a:prstGeom prst="rect">
            <a:avLst/>
          </a:prstGeom>
          <a:noFill/>
        </p:spPr>
        <p:txBody>
          <a:bodyPr wrap="square" anchor="t">
            <a:spAutoFit/>
          </a:bodyPr>
          <a:lstStyle/>
          <a:p>
            <a:pPr algn="l">
              <a:spcAft>
                <a:spcPts val="839"/>
              </a:spcAft>
            </a:pPr>
            <a:r>
              <a:rPr sz="2400" b="0" i="0">
                <a:solidFill>
                  <a:srgbClr val="DCE3F5"/>
                </a:solidFill>
                <a:latin typeface="Calibri"/>
              </a:rPr>
              <a:t>Chercher, vérifier, argumenter, rédiger et défendre : la boîte à outils</a:t>
            </a:r>
          </a:p>
        </p:txBody>
      </p:sp>
      <p:sp>
        <p:nvSpPr>
          <p:cNvPr id="5" name="TextBox 4"/>
          <p:cNvSpPr txBox="1"/>
          <p:nvPr/>
        </p:nvSpPr>
        <p:spPr>
          <a:xfrm>
            <a:off x="731520" y="5029200"/>
            <a:ext cx="10515600" cy="822960"/>
          </a:xfrm>
          <a:prstGeom prst="rect">
            <a:avLst/>
          </a:prstGeom>
          <a:noFill/>
        </p:spPr>
        <p:txBody>
          <a:bodyPr wrap="square" anchor="t">
            <a:spAutoFit/>
          </a:bodyPr>
          <a:lstStyle/>
          <a:p>
            <a:pPr algn="l">
              <a:spcAft>
                <a:spcPts val="560"/>
              </a:spcAft>
            </a:pPr>
            <a:r>
              <a:rPr sz="1600" b="0" i="0">
                <a:solidFill>
                  <a:srgbClr val="DCE3F5"/>
                </a:solidFill>
                <a:latin typeface="Calibri"/>
              </a:rPr>
              <a:t>Ingénieurs 2e année · 2,5 jours (17 h 30 pauses comprises) · gestes concrets, sites et outils, défis chronométrés, missions sur le sujet de votre équipe · fil rouge : TransLor (entreprise fictive)</a:t>
            </a:r>
          </a:p>
        </p:txBody>
      </p:sp>
      <p:sp>
        <p:nvSpPr>
          <p:cNvPr id="6" name="TextBox 5"/>
          <p:cNvSpPr txBox="1"/>
          <p:nvPr/>
        </p:nvSpPr>
        <p:spPr>
          <a:xfrm>
            <a:off x="731520" y="6309360"/>
            <a:ext cx="10515600" cy="320040"/>
          </a:xfrm>
          <a:prstGeom prst="rect">
            <a:avLst/>
          </a:prstGeom>
          <a:noFill/>
        </p:spPr>
        <p:txBody>
          <a:bodyPr wrap="square" anchor="t">
            <a:spAutoFit/>
          </a:bodyPr>
          <a:lstStyle/>
          <a:p>
            <a:pPr algn="l">
              <a:spcAft>
                <a:spcPts val="384"/>
              </a:spcAft>
            </a:pPr>
            <a:r>
              <a:rPr sz="1100" b="0" i="0">
                <a:solidFill>
                  <a:srgbClr val="B9C4E8"/>
                </a:solidFill>
                <a:latin typeface="Calibri"/>
              </a:rPr>
              <a:t>© 2026 SAS BELM DEVELOPPEMENT. Tous droits réservés. Créé avec l'aide de Claude (Anthropic), relu par l'auteur.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TextBox 1"/>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3" name="TextBox 2"/>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a:t>
            </a:r>
          </a:p>
        </p:txBody>
      </p:sp>
      <p:sp>
        <p:nvSpPr>
          <p:cNvPr id="4" name="TextBox 3"/>
          <p:cNvSpPr txBox="1"/>
          <p:nvPr/>
        </p:nvSpPr>
        <p:spPr>
          <a:xfrm>
            <a:off x="914400" y="1554480"/>
            <a:ext cx="10332720" cy="3474720"/>
          </a:xfrm>
          <a:prstGeom prst="rect">
            <a:avLst/>
          </a:prstGeom>
          <a:noFill/>
        </p:spPr>
        <p:txBody>
          <a:bodyPr wrap="square" anchor="ctr">
            <a:spAutoFit/>
          </a:bodyPr>
          <a:lstStyle/>
          <a:p>
            <a:pPr algn="ctr">
              <a:spcAft>
                <a:spcPts val="1679"/>
              </a:spcAft>
            </a:pPr>
            <a:r>
              <a:rPr sz="4800" b="1" i="0">
                <a:solidFill>
                  <a:srgbClr val="FFFFFF"/>
                </a:solidFill>
                <a:latin typeface="Calibri"/>
              </a:rPr>
              <a:t>« La retraite à vie des ministres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TextBox 1"/>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3" name="TextBox 2"/>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a:t>
            </a:r>
          </a:p>
        </p:txBody>
      </p:sp>
      <p:sp>
        <p:nvSpPr>
          <p:cNvPr id="4" name="TextBox 3"/>
          <p:cNvSpPr txBox="1"/>
          <p:nvPr/>
        </p:nvSpPr>
        <p:spPr>
          <a:xfrm>
            <a:off x="914400" y="1554480"/>
            <a:ext cx="10332720" cy="3474720"/>
          </a:xfrm>
          <a:prstGeom prst="rect">
            <a:avLst/>
          </a:prstGeom>
          <a:noFill/>
        </p:spPr>
        <p:txBody>
          <a:bodyPr wrap="square" anchor="ctr">
            <a:spAutoFit/>
          </a:bodyPr>
          <a:lstStyle/>
          <a:p>
            <a:pPr algn="ctr">
              <a:spcAft>
                <a:spcPts val="1679"/>
              </a:spcAft>
            </a:pPr>
            <a:r>
              <a:rPr sz="4800" b="1" i="0">
                <a:solidFill>
                  <a:srgbClr val="FFFFFF"/>
                </a:solidFill>
                <a:latin typeface="Calibri"/>
              </a:rPr>
              <a:t>« Le paiement systématique des jours de grève pour les fonctionnaires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Débat de 5 minutes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a:t>
            </a:r>
          </a:p>
        </p:txBody>
      </p:sp>
      <p:sp>
        <p:nvSpPr>
          <p:cNvPr id="6" name="Rounded Rectangle 5"/>
          <p:cNvSpPr/>
          <p:nvPr/>
        </p:nvSpPr>
        <p:spPr>
          <a:xfrm>
            <a:off x="548640" y="1280160"/>
            <a:ext cx="11064240" cy="2743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979"/>
              </a:spcAft>
            </a:pPr>
            <a:r>
              <a:rPr sz="2800" b="1" i="0">
                <a:solidFill>
                  <a:srgbClr val="1F2A5C"/>
                </a:solidFill>
                <a:latin typeface="Calibri"/>
              </a:rPr>
              <a:t>« La retraite à vie des ministres »</a:t>
            </a:r>
          </a:p>
          <a:p>
            <a:pPr algn="ctr">
              <a:spcAft>
                <a:spcPts val="979"/>
              </a:spcAft>
            </a:pPr>
            <a:r>
              <a:rPr sz="2800" b="1" i="0">
                <a:solidFill>
                  <a:srgbClr val="1F2A5C"/>
                </a:solidFill>
                <a:latin typeface="Calibri"/>
              </a:rPr>
              <a:t>« Le paiement systématique des jours de grève pour les fonctionnaires »</a:t>
            </a:r>
          </a:p>
        </p:txBody>
      </p:sp>
      <p:sp>
        <p:nvSpPr>
          <p:cNvPr id="7" name="TextBox 6"/>
          <p:cNvSpPr txBox="1"/>
          <p:nvPr/>
        </p:nvSpPr>
        <p:spPr>
          <a:xfrm>
            <a:off x="548640" y="4297680"/>
            <a:ext cx="11064240" cy="1463040"/>
          </a:xfrm>
          <a:prstGeom prst="rect">
            <a:avLst/>
          </a:prstGeom>
          <a:noFill/>
        </p:spPr>
        <p:txBody>
          <a:bodyPr wrap="square" anchor="ctr">
            <a:spAutoFit/>
          </a:bodyPr>
          <a:lstStyle/>
          <a:p>
            <a:pPr algn="ctr">
              <a:spcAft>
                <a:spcPts val="979"/>
              </a:spcAft>
            </a:pPr>
            <a:r>
              <a:rPr sz="2800" b="0" i="0">
                <a:solidFill>
                  <a:srgbClr val="1B1B1B"/>
                </a:solidFill>
                <a:latin typeface="Calibri"/>
              </a:rPr>
              <a:t>Vrai ? Faux ? Qu'en pensez-vous, et sur quoi vous appuyez-vous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Maintenant : vérifiez</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a:t>
            </a:r>
          </a:p>
        </p:txBody>
      </p:sp>
      <p:sp>
        <p:nvSpPr>
          <p:cNvPr id="6" name="Rounded Rectangle 5"/>
          <p:cNvSpPr/>
          <p:nvPr/>
        </p:nvSpPr>
        <p:spPr>
          <a:xfrm>
            <a:off x="914400" y="1645920"/>
            <a:ext cx="10332720" cy="23774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189"/>
              </a:spcAft>
            </a:pPr>
            <a:r>
              <a:rPr sz="3400" b="1" i="0">
                <a:solidFill>
                  <a:srgbClr val="FFFFFF"/>
                </a:solidFill>
                <a:latin typeface="Calibri"/>
              </a:rPr>
              <a:t>Sur quelle source vous appuyez-vous ?</a:t>
            </a:r>
          </a:p>
        </p:txBody>
      </p:sp>
      <p:sp>
        <p:nvSpPr>
          <p:cNvPr id="7" name="TextBox 6"/>
          <p:cNvSpPr txBox="1"/>
          <p:nvPr/>
        </p:nvSpPr>
        <p:spPr>
          <a:xfrm>
            <a:off x="914400" y="4297680"/>
            <a:ext cx="10332720" cy="1828800"/>
          </a:xfrm>
          <a:prstGeom prst="rect">
            <a:avLst/>
          </a:prstGeom>
          <a:noFill/>
        </p:spPr>
        <p:txBody>
          <a:bodyPr wrap="square" anchor="t">
            <a:spAutoFit/>
          </a:bodyPr>
          <a:lstStyle/>
          <a:p>
            <a:pPr algn="l" marL="201168" indent="-201168">
              <a:spcAft>
                <a:spcPts val="700"/>
              </a:spcAft>
              <a:buChar char="•"/>
            </a:pPr>
            <a:r>
              <a:rPr sz="2000" b="0" i="0">
                <a:solidFill>
                  <a:srgbClr val="1B1B1B"/>
                </a:solidFill>
                <a:latin typeface="Calibri"/>
              </a:rPr>
              <a:t>Toute information doit être sourcée : c'est l'objet de ce cours</a:t>
            </a:r>
          </a:p>
          <a:p>
            <a:pPr algn="l" marL="201168" indent="-201168">
              <a:spcAft>
                <a:spcPts val="700"/>
              </a:spcAft>
              <a:buChar char="•"/>
            </a:pPr>
            <a:r>
              <a:rPr sz="2000" b="0" i="0">
                <a:solidFill>
                  <a:srgbClr val="1B1B1B"/>
                </a:solidFill>
                <a:latin typeface="Calibri"/>
              </a:rPr>
              <a:t>Binômes, ordinateur, 12 minutes : ce que disent les textes officiels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F 0</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Débat, puis vérification : deux phrases entendues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F0</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Binômes, ordinateur  ·  12 min  ·  Carnet · chapitre 1  ·  Outil : moteur de recherche, sites officiels</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55"/>
              </a:spcAft>
            </a:pPr>
            <a:r>
              <a:rPr sz="1300" b="0" i="0">
                <a:solidFill>
                  <a:srgbClr val="1B1B1B"/>
                </a:solidFill>
                <a:latin typeface="Calibri"/>
              </a:rPr>
              <a:t>Constater qu'une phrase entendue se vérifie : on définit d'abord les mots, puis on cherche un texte officiel. À la fin, vous savez dire « exacte, inexacte ou à nuancer » en citant une source.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Deux phrases entendues à la machine à café, que vous venez de débattre :</a:t>
            </a:r>
          </a:p>
          <a:p>
            <a:pPr algn="l">
              <a:spcAft>
                <a:spcPts val="600"/>
              </a:spcAft>
            </a:pPr>
            <a:r>
              <a:rPr sz="2000" b="0" i="0">
                <a:solidFill>
                  <a:srgbClr val="1B1B1B"/>
                </a:solidFill>
                <a:latin typeface="Calibri"/>
              </a:rPr>
              <a:t>« La retraite à vie des ministres. »</a:t>
            </a:r>
          </a:p>
          <a:p>
            <a:pPr algn="l">
              <a:spcAft>
                <a:spcPts val="600"/>
              </a:spcAft>
            </a:pPr>
            <a:r>
              <a:rPr sz="2000" b="0" i="0">
                <a:solidFill>
                  <a:srgbClr val="1B1B1B"/>
                </a:solidFill>
                <a:latin typeface="Calibri"/>
              </a:rPr>
              <a:t>« Le paiement systématique des jours de grève pour les fonctionnaires. »</a:t>
            </a:r>
          </a:p>
          <a:p>
            <a:pPr algn="l">
              <a:spcAft>
                <a:spcPts val="600"/>
              </a:spcAft>
            </a:pPr>
            <a:r>
              <a:rPr sz="2000" b="0" i="0">
                <a:solidFill>
                  <a:srgbClr val="1B1B1B"/>
                </a:solidFill>
                <a:latin typeface="Calibri"/>
              </a:rPr>
              <a:t>Maintenant, on vérifie : 12 minutes, un moteur de recherche, et uniquement des sources que vous pouvez citer (organisme, titre, date).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Phrase 1 (retraite à vie des ministres) : d'après la meilleure source trouvée, la phrase est-elle exacte ?</a:t>
            </a:r>
          </a:p>
          <a:p>
            <a:pPr algn="l" marL="274320" indent="-274320">
              <a:spcAft>
                <a:spcPts val="480"/>
              </a:spcAft>
              <a:buAutoNum type="arabicPeriod"/>
            </a:pPr>
            <a:r>
              <a:rPr sz="1600" b="0" i="0">
                <a:solidFill>
                  <a:srgbClr val="1B1B1B"/>
                </a:solidFill>
                <a:latin typeface="Calibri"/>
              </a:rPr>
              <a:t>Phrase 2 (paiement des jours de grève) : d'après la meilleure source trouvée, la phrase est-elle exacte ?</a:t>
            </a:r>
          </a:p>
          <a:p>
            <a:pPr algn="l" marL="274320" indent="-274320">
              <a:spcAft>
                <a:spcPts val="480"/>
              </a:spcAft>
              <a:buAutoNum type="arabicPeriod"/>
            </a:pPr>
            <a:r>
              <a:rPr sz="1600" b="0" i="0">
                <a:solidFill>
                  <a:srgbClr val="1B1B1B"/>
                </a:solidFill>
                <a:latin typeface="Calibri"/>
              </a:rPr>
              <a:t>Citez la source de chaque phrase (organisme, titre, date).</a:t>
            </a:r>
          </a:p>
          <a:p>
            <a:pPr algn="l" marL="274320" indent="-274320">
              <a:spcAft>
                <a:spcPts val="480"/>
              </a:spcAft>
              <a:buAutoNum type="arabicPeriod"/>
            </a:pPr>
            <a:r>
              <a:rPr sz="1600" b="0" i="0">
                <a:solidFill>
                  <a:srgbClr val="1B1B1B"/>
                </a:solidFill>
                <a:latin typeface="Calibri"/>
              </a:rPr>
              <a:t>En combien de minutes avez-vous trouvé votre première source solide ?</a:t>
            </a:r>
          </a:p>
          <a:p>
            <a:pPr algn="l" marL="274320" indent="-274320">
              <a:spcAft>
                <a:spcPts val="480"/>
              </a:spcAft>
              <a:buAutoNum type="arabicPeriod"/>
            </a:pPr>
            <a:r>
              <a:rPr sz="1600" b="0" i="0">
                <a:solidFill>
                  <a:srgbClr val="1B1B1B"/>
                </a:solidFill>
                <a:latin typeface="Calibri"/>
              </a:rPr>
              <a:t>Avec ChatGPT ou une autre IA (notez laquelle) : posez-lui la phrase 1 telle quelle. Cite-t-elle un texte officiel que vous pouvez ouvrir ?</a:t>
            </a:r>
          </a:p>
        </p:txBody>
      </p:sp>
      <p:sp>
        <p:nvSpPr>
          <p:cNvPr id="15" name="TextBox 14"/>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6" name="Picture 15" descr="F0.png"/>
          <p:cNvPicPr>
            <a:picLocks noChangeAspect="1"/>
          </p:cNvPicPr>
          <p:nvPr/>
        </p:nvPicPr>
        <p:blipFill>
          <a:blip r:embed="rId4"/>
          <a:stretch>
            <a:fillRect/>
          </a:stretch>
        </p:blipFill>
        <p:spPr>
          <a:xfrm>
            <a:off x="10744200" y="5257800"/>
            <a:ext cx="1005840" cy="1005840"/>
          </a:xfrm>
          <a:prstGeom prst="rect">
            <a:avLst/>
          </a:prstGeom>
        </p:spPr>
      </p:pic>
      <p:sp>
        <p:nvSpPr>
          <p:cNvPr id="17" name="TextBox 16"/>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39"/>
              </a:spcAft>
            </a:pPr>
            <a:r>
              <a:rPr sz="2400" b="1" i="0">
                <a:solidFill>
                  <a:srgbClr val="FFFFFF"/>
                </a:solidFill>
                <a:latin typeface="Calibri"/>
              </a:rPr>
              <a:t>Correction · F0 — Débat, puis vérification : deux phrases entendues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F0</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5029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Définir d'abord les mots flous (« ministres », « à vie », « systématique », « fonctionnaires »).</a:t>
            </a:r>
          </a:p>
          <a:p>
            <a:pPr algn="l" marL="274320" indent="-274320">
              <a:spcAft>
                <a:spcPts val="375"/>
              </a:spcAft>
              <a:buAutoNum type="arabicPeriod"/>
            </a:pPr>
            <a:r>
              <a:rPr sz="1500" b="0" i="0">
                <a:solidFill>
                  <a:srgbClr val="1B1B1B"/>
                </a:solidFill>
                <a:latin typeface="Calibri"/>
              </a:rPr>
              <a:t>Chercher un texte officiel : loi, décret, réponse ministérielle, site public.</a:t>
            </a:r>
          </a:p>
          <a:p>
            <a:pPr algn="l" marL="274320" indent="-274320">
              <a:spcAft>
                <a:spcPts val="375"/>
              </a:spcAft>
              <a:buAutoNum type="arabicPeriod"/>
            </a:pPr>
            <a:r>
              <a:rPr sz="1500" b="0" i="0">
                <a:solidFill>
                  <a:srgbClr val="1B1B1B"/>
                </a:solidFill>
                <a:latin typeface="Calibri"/>
              </a:rPr>
              <a:t>Comparer avec des sites secondaires : date, auteur, intérêt commercial.</a:t>
            </a:r>
          </a:p>
          <a:p>
            <a:pPr algn="l" marL="274320" indent="-274320">
              <a:spcAft>
                <a:spcPts val="375"/>
              </a:spcAft>
              <a:buAutoNum type="arabicPeriod"/>
            </a:pPr>
            <a:r>
              <a:rPr sz="1500" b="0" i="0">
                <a:solidFill>
                  <a:srgbClr val="1B1B1B"/>
                </a:solidFill>
                <a:latin typeface="Calibri"/>
              </a:rPr>
              <a:t>Écrire ce que la source dit, pas ce que l'on pensait.</a:t>
            </a:r>
          </a:p>
        </p:txBody>
      </p:sp>
      <p:graphicFrame>
        <p:nvGraphicFramePr>
          <p:cNvPr id="9" name="Table 8"/>
          <p:cNvGraphicFramePr>
            <a:graphicFrameLocks noGrp="1"/>
          </p:cNvGraphicFramePr>
          <p:nvPr/>
        </p:nvGraphicFramePr>
        <p:xfrm>
          <a:off x="3703320" y="1097280"/>
          <a:ext cx="8046719" cy="2377440"/>
        </p:xfrm>
        <a:graphic>
          <a:graphicData uri="http://schemas.openxmlformats.org/drawingml/2006/table">
            <a:tbl>
              <a:tblPr firstRow="0" bandRow="0">
                <a:tableStyleId>{5C22544A-7EE6-4342-B048-85BDC9FD1C3A}</a:tableStyleId>
              </a:tblPr>
              <a:tblGrid>
                <a:gridCol w="2054481"/>
                <a:gridCol w="5992238"/>
              </a:tblGrid>
              <a:tr h="237744">
                <a:tc>
                  <a:txBody>
                    <a:bodyPr wrap="square"/>
                    <a:lstStyle/>
                    <a:p>
                      <a:r>
                        <a:rPr sz="1100" b="1">
                          <a:solidFill>
                            <a:srgbClr val="FFFFFF"/>
                          </a:solidFill>
                          <a:latin typeface="Calibri"/>
                        </a:rPr>
                        <a:t>Phrase</a:t>
                      </a:r>
                    </a:p>
                  </a:txBody>
                  <a:tcPr marL="73152" marR="73152" marT="36576" marB="36576">
                    <a:solidFill>
                      <a:srgbClr val="1F2A5C"/>
                    </a:solidFill>
                  </a:tcPr>
                </a:tc>
                <a:tc>
                  <a:txBody>
                    <a:bodyPr wrap="square"/>
                    <a:lstStyle/>
                    <a:p>
                      <a:r>
                        <a:rPr sz="1100" b="1">
                          <a:solidFill>
                            <a:srgbClr val="FFFFFF"/>
                          </a:solidFill>
                          <a:latin typeface="Calibri"/>
                        </a:rPr>
                        <a:t>Ce que disent les sources lues à la construction (octobre 2026)</a:t>
                      </a:r>
                    </a:p>
                  </a:txBody>
                  <a:tcPr marL="73152" marR="73152" marT="36576" marB="36576">
                    <a:solidFill>
                      <a:srgbClr val="1F2A5C"/>
                    </a:solidFill>
                  </a:tcPr>
                </a:tc>
              </a:tr>
              <a:tr h="237744">
                <a:tc>
                  <a:txBody>
                    <a:bodyPr wrap="square"/>
                    <a:lstStyle/>
                    <a:p>
                      <a:r>
                        <a:rPr sz="1100" b="1">
                          <a:solidFill>
                            <a:srgbClr val="1B1B1B"/>
                          </a:solidFill>
                          <a:latin typeface="Calibri"/>
                        </a:rPr>
                        <a:t>1 · mots flous</a:t>
                      </a:r>
                    </a:p>
                  </a:txBody>
                  <a:tcPr marL="73152" marR="73152" marT="36576" marB="36576">
                    <a:solidFill>
                      <a:srgbClr val="FFFFFF"/>
                    </a:solidFill>
                  </a:tcPr>
                </a:tc>
                <a:tc>
                  <a:txBody>
                    <a:bodyPr wrap="square"/>
                    <a:lstStyle/>
                    <a:p>
                      <a:r>
                        <a:rPr sz="1100" b="0">
                          <a:solidFill>
                            <a:srgbClr val="1B1B1B"/>
                          </a:solidFill>
                          <a:latin typeface="Calibri"/>
                        </a:rPr>
                        <a:t>« Ministres » : membres du gouvernement ou ministres du culte ? (une recherche « pension des ministres » renvoie aussi à la Cavimac, question n° 8167, 2002). « À vie » : toute pension est versée à vie ; la vraie question est : un régime spécial ?</a:t>
                      </a:r>
                    </a:p>
                  </a:txBody>
                  <a:tcPr marL="73152" marR="73152" marT="36576" marB="36576">
                    <a:solidFill>
                      <a:srgbClr val="FFFFFF"/>
                    </a:solidFill>
                  </a:tcPr>
                </a:tc>
              </a:tr>
              <a:tr h="237744">
                <a:tc>
                  <a:txBody>
                    <a:bodyPr wrap="square"/>
                    <a:lstStyle/>
                    <a:p>
                      <a:r>
                        <a:rPr sz="1100" b="1">
                          <a:solidFill>
                            <a:srgbClr val="1B1B1B"/>
                          </a:solidFill>
                          <a:latin typeface="Calibri"/>
                        </a:rPr>
                        <a:t>1 · texte officiel</a:t>
                      </a:r>
                    </a:p>
                  </a:txBody>
                  <a:tcPr marL="73152" marR="73152" marT="36576" marB="36576">
                    <a:solidFill>
                      <a:srgbClr val="F3F5F9"/>
                    </a:solidFill>
                  </a:tcPr>
                </a:tc>
                <a:tc>
                  <a:txBody>
                    <a:bodyPr wrap="square"/>
                    <a:lstStyle/>
                    <a:p>
                      <a:r>
                        <a:rPr sz="1100" b="0">
                          <a:solidFill>
                            <a:srgbClr val="1B1B1B"/>
                          </a:solidFill>
                          <a:latin typeface="Calibri"/>
                        </a:rPr>
                        <a:t>Réponse du Premier ministre, question écrite n° 16295 (AN, JO 10/09/2019) : tous les membres du Gouvernement cotisent à la CNAV et à l'IRCANTEC.</a:t>
                      </a:r>
                    </a:p>
                  </a:txBody>
                  <a:tcPr marL="73152" marR="73152" marT="36576" marB="36576">
                    <a:solidFill>
                      <a:srgbClr val="F3F5F9"/>
                    </a:solidFill>
                  </a:tcPr>
                </a:tc>
              </a:tr>
              <a:tr h="237744">
                <a:tc>
                  <a:txBody>
                    <a:bodyPr wrap="square"/>
                    <a:lstStyle/>
                    <a:p>
                      <a:r>
                        <a:rPr sz="1100" b="1">
                          <a:solidFill>
                            <a:srgbClr val="1B1B1B"/>
                          </a:solidFill>
                          <a:latin typeface="Calibri"/>
                        </a:rPr>
                        <a:t>1 · sites secondaires</a:t>
                      </a:r>
                    </a:p>
                  </a:txBody>
                  <a:tcPr marL="73152" marR="73152" marT="36576" marB="36576">
                    <a:solidFill>
                      <a:srgbClr val="FFFFFF"/>
                    </a:solidFill>
                  </a:tcPr>
                </a:tc>
                <a:tc>
                  <a:txBody>
                    <a:bodyPr wrap="square"/>
                    <a:lstStyle/>
                    <a:p>
                      <a:r>
                        <a:rPr sz="1100" b="0">
                          <a:solidFill>
                            <a:srgbClr val="1B1B1B"/>
                          </a:solidFill>
                          <a:latin typeface="Calibri"/>
                        </a:rPr>
                        <a:t>La Retraite en Clair (sept. 2025), Cleerly (avril 2026) : pas de retraite à vie spécifique ; indemnité de départ de trois mois au plus ; montants différents selon les sites.</a:t>
                      </a:r>
                    </a:p>
                  </a:txBody>
                  <a:tcPr marL="73152" marR="73152" marT="36576" marB="36576">
                    <a:solidFill>
                      <a:srgbClr val="FFFFFF"/>
                    </a:solidFill>
                  </a:tcPr>
                </a:tc>
              </a:tr>
              <a:tr h="237744">
                <a:tc>
                  <a:txBody>
                    <a:bodyPr wrap="square"/>
                    <a:lstStyle/>
                    <a:p>
                      <a:r>
                        <a:rPr sz="1100" b="1">
                          <a:solidFill>
                            <a:srgbClr val="1B1B1B"/>
                          </a:solidFill>
                          <a:latin typeface="Calibri"/>
                        </a:rPr>
                        <a:t>1 · verdict prudent</a:t>
                      </a:r>
                    </a:p>
                  </a:txBody>
                  <a:tcPr marL="73152" marR="73152" marT="36576" marB="36576">
                    <a:solidFill>
                      <a:srgbClr val="F3F5F9"/>
                    </a:solidFill>
                  </a:tcPr>
                </a:tc>
                <a:tc>
                  <a:txBody>
                    <a:bodyPr wrap="square"/>
                    <a:lstStyle/>
                    <a:p>
                      <a:r>
                        <a:rPr sz="1100" b="0">
                          <a:solidFill>
                            <a:srgbClr val="1B1B1B"/>
                          </a:solidFill>
                          <a:latin typeface="Calibri"/>
                        </a:rPr>
                        <a:t>À nuancer : le texte officiel lu (réponse ministérielle de 2019) ne décrit pas de régime spécial ; la Retraite en Clair (2022, mise à jour en 2025) le confirme.</a:t>
                      </a:r>
                    </a:p>
                  </a:txBody>
                  <a:tcPr marL="73152" marR="73152" marT="36576" marB="36576">
                    <a:solidFill>
                      <a:srgbClr val="F3F5F9"/>
                    </a:solidFill>
                  </a:tcPr>
                </a:tc>
              </a:tr>
              <a:tr h="237744">
                <a:tc>
                  <a:txBody>
                    <a:bodyPr wrap="square"/>
                    <a:lstStyle/>
                    <a:p>
                      <a:r>
                        <a:rPr sz="1100" b="1">
                          <a:solidFill>
                            <a:srgbClr val="1B1B1B"/>
                          </a:solidFill>
                          <a:latin typeface="Calibri"/>
                        </a:rPr>
                        <a:t>2 · mots flous</a:t>
                      </a:r>
                    </a:p>
                  </a:txBody>
                  <a:tcPr marL="73152" marR="73152" marT="36576" marB="36576">
                    <a:solidFill>
                      <a:srgbClr val="FFFFFF"/>
                    </a:solidFill>
                  </a:tcPr>
                </a:tc>
                <a:tc>
                  <a:txBody>
                    <a:bodyPr wrap="square"/>
                    <a:lstStyle/>
                    <a:p>
                      <a:r>
                        <a:rPr sz="1100" b="0">
                          <a:solidFill>
                            <a:srgbClr val="1B1B1B"/>
                          </a:solidFill>
                          <a:latin typeface="Calibri"/>
                        </a:rPr>
                        <a:t>« Systématique » ? « Fonctionnaires » : État, territoriale, hospitalière ? « Payé » : traitement ou primes ?</a:t>
                      </a:r>
                    </a:p>
                  </a:txBody>
                  <a:tcPr marL="73152" marR="73152" marT="36576" marB="36576">
                    <a:solidFill>
                      <a:srgbClr val="FFFFFF"/>
                    </a:solidFill>
                  </a:tcPr>
                </a:tc>
              </a:tr>
              <a:tr h="237744">
                <a:tc>
                  <a:txBody>
                    <a:bodyPr wrap="square"/>
                    <a:lstStyle/>
                    <a:p>
                      <a:r>
                        <a:rPr sz="1100" b="1">
                          <a:solidFill>
                            <a:srgbClr val="1B1B1B"/>
                          </a:solidFill>
                          <a:latin typeface="Calibri"/>
                        </a:rPr>
                        <a:t>2 · texte officiel</a:t>
                      </a:r>
                    </a:p>
                  </a:txBody>
                  <a:tcPr marL="73152" marR="73152" marT="36576" marB="36576">
                    <a:solidFill>
                      <a:srgbClr val="F3F5F9"/>
                    </a:solidFill>
                  </a:tcPr>
                </a:tc>
                <a:tc>
                  <a:txBody>
                    <a:bodyPr wrap="square"/>
                    <a:lstStyle/>
                    <a:p>
                      <a:r>
                        <a:rPr sz="1100" b="0">
                          <a:solidFill>
                            <a:srgbClr val="1B1B1B"/>
                          </a:solidFill>
                          <a:latin typeface="Calibri"/>
                        </a:rPr>
                        <a:t>Réponse ministérielle du 25/05/2004 (question n° 28642) : toute absence pour fait de grève entraîne une retenue d'un trentième du traitement (loi n° 61-825 de 1961 ; décret n° 62-765 de 1962).</a:t>
                      </a:r>
                    </a:p>
                  </a:txBody>
                  <a:tcPr marL="73152" marR="73152" marT="36576" marB="36576">
                    <a:solidFill>
                      <a:srgbClr val="F3F5F9"/>
                    </a:solidFill>
                  </a:tcPr>
                </a:tc>
              </a:tr>
              <a:tr h="237744">
                <a:tc>
                  <a:txBody>
                    <a:bodyPr wrap="square"/>
                    <a:lstStyle/>
                    <a:p>
                      <a:r>
                        <a:rPr sz="1100" b="1">
                          <a:solidFill>
                            <a:srgbClr val="1B1B1B"/>
                          </a:solidFill>
                          <a:latin typeface="Calibri"/>
                        </a:rPr>
                        <a:t>2 · complément</a:t>
                      </a:r>
                    </a:p>
                  </a:txBody>
                  <a:tcPr marL="73152" marR="73152" marT="36576" marB="36576">
                    <a:solidFill>
                      <a:srgbClr val="FFFFFF"/>
                    </a:solidFill>
                  </a:tcPr>
                </a:tc>
                <a:tc>
                  <a:txBody>
                    <a:bodyPr wrap="square"/>
                    <a:lstStyle/>
                    <a:p>
                      <a:r>
                        <a:rPr sz="1100" b="0">
                          <a:solidFill>
                            <a:srgbClr val="1B1B1B"/>
                          </a:solidFill>
                          <a:latin typeface="Calibri"/>
                        </a:rPr>
                        <a:t>Maire-info (17/02/2023) : règle du « trentième indivisible » pour l'État, pas pour la territoriale ni l'hospitalière ; jugée contraire à la Charte sociale européenne par le CEDS (saisine CGT).</a:t>
                      </a:r>
                    </a:p>
                  </a:txBody>
                  <a:tcPr marL="73152" marR="73152" marT="36576" marB="36576">
                    <a:solidFill>
                      <a:srgbClr val="FFFFFF"/>
                    </a:solidFill>
                  </a:tcPr>
                </a:tc>
              </a:tr>
              <a:tr h="237744">
                <a:tc>
                  <a:txBody>
                    <a:bodyPr wrap="square"/>
                    <a:lstStyle/>
                    <a:p>
                      <a:r>
                        <a:rPr sz="1100" b="1">
                          <a:solidFill>
                            <a:srgbClr val="1B1B1B"/>
                          </a:solidFill>
                          <a:latin typeface="Calibri"/>
                        </a:rPr>
                        <a:t>2 · verdict prudent</a:t>
                      </a:r>
                    </a:p>
                  </a:txBody>
                  <a:tcPr marL="73152" marR="73152" marT="36576" marB="36576">
                    <a:solidFill>
                      <a:srgbClr val="F3F5F9"/>
                    </a:solidFill>
                  </a:tcPr>
                </a:tc>
                <a:tc>
                  <a:txBody>
                    <a:bodyPr wrap="square"/>
                    <a:lstStyle/>
                    <a:p>
                      <a:r>
                        <a:rPr sz="1100" b="0">
                          <a:solidFill>
                            <a:srgbClr val="1B1B1B"/>
                          </a:solidFill>
                          <a:latin typeface="Calibri"/>
                        </a:rPr>
                        <a:t>Inexacte pour l'État d'après ces sources (retenue confirmée par la cour administrative d'appel de Versailles, 24/07/2018, n° 16VE03343, d'après Le Monde du Droit). Le débat sur la règle est politique : on le rapporte, on ne le tranche pas.</a:t>
                      </a:r>
                    </a:p>
                  </a:txBody>
                  <a:tcPr marL="73152" marR="73152" marT="36576" marB="36576">
                    <a:solidFill>
                      <a:srgbClr val="F3F5F9"/>
                    </a:solidFill>
                  </a:tcPr>
                </a:tc>
              </a:tr>
              <a:tr h="237744">
                <a:tc>
                  <a:txBody>
                    <a:bodyPr wrap="square"/>
                    <a:lstStyle/>
                    <a:p>
                      <a:r>
                        <a:rPr sz="1100" b="1">
                          <a:solidFill>
                            <a:srgbClr val="1B1B1B"/>
                          </a:solidFill>
                          <a:latin typeface="Calibri"/>
                        </a:rPr>
                        <a:t>IA · réponse de l'IA</a:t>
                      </a:r>
                    </a:p>
                  </a:txBody>
                  <a:tcPr marL="73152" marR="73152" marT="36576" marB="36576">
                    <a:solidFill>
                      <a:srgbClr val="FFFFFF"/>
                    </a:solidFill>
                  </a:tcPr>
                </a:tc>
                <a:tc>
                  <a:txBody>
                    <a:bodyPr wrap="square"/>
                    <a:lstStyle/>
                    <a:p>
                      <a:r>
                        <a:rPr sz="1100" b="0">
                          <a:solidFill>
                            <a:srgbClr val="1B1B1B"/>
                          </a:solidFill>
                          <a:latin typeface="Calibri"/>
                        </a:rPr>
                        <a:t>Souvent non, ou une référence vague. Une IA répond de façon fluide : seule une source officielle ouverte et lue vaut preuve. Comparez avec votre propre source.</a:t>
                      </a:r>
                    </a:p>
                  </a:txBody>
                  <a:tcPr marL="73152" marR="73152" marT="36576" marB="36576">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Ce que vous saurez faire dans 2,5 jours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a:t>
            </a:r>
          </a:p>
        </p:txBody>
      </p:sp>
      <p:sp>
        <p:nvSpPr>
          <p:cNvPr id="6" name="Rounded Rectangle 5"/>
          <p:cNvSpPr/>
          <p:nvPr/>
        </p:nvSpPr>
        <p:spPr>
          <a:xfrm>
            <a:off x="41148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365760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Trouver vite</a:t>
            </a:r>
          </a:p>
        </p:txBody>
      </p:sp>
      <p:sp>
        <p:nvSpPr>
          <p:cNvPr id="8" name="TextBox 7"/>
          <p:cNvSpPr txBox="1"/>
          <p:nvPr/>
        </p:nvSpPr>
        <p:spPr>
          <a:xfrm>
            <a:off x="45720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Le texte officiel, le PDF, l'article gratuit en quelques minutes.</a:t>
            </a:r>
          </a:p>
          <a:p>
            <a:pPr algn="l">
              <a:spcAft>
                <a:spcPts val="509"/>
              </a:spcAft>
            </a:pPr>
            <a:r>
              <a:rPr sz="1700" b="0" i="0">
                <a:solidFill>
                  <a:srgbClr val="1B1B1B"/>
                </a:solidFill>
                <a:latin typeface="Calibri"/>
              </a:rPr>
              <a:t>Outils : Google (site:, filetype:), Scholar, HAL</a:t>
            </a:r>
          </a:p>
        </p:txBody>
      </p:sp>
      <p:sp>
        <p:nvSpPr>
          <p:cNvPr id="9" name="Rounded Rectangle 8"/>
          <p:cNvSpPr/>
          <p:nvPr/>
        </p:nvSpPr>
        <p:spPr>
          <a:xfrm>
            <a:off x="425196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188720"/>
            <a:ext cx="365760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Vérifier en 2 minutes</a:t>
            </a:r>
          </a:p>
        </p:txBody>
      </p:sp>
      <p:sp>
        <p:nvSpPr>
          <p:cNvPr id="11" name="TextBox 10"/>
          <p:cNvSpPr txBox="1"/>
          <p:nvPr/>
        </p:nvSpPr>
        <p:spPr>
          <a:xfrm>
            <a:off x="429768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Qui parle, quand, d'où vient le chiffre.</a:t>
            </a:r>
          </a:p>
          <a:p>
            <a:pPr algn="l">
              <a:spcAft>
                <a:spcPts val="509"/>
              </a:spcAft>
            </a:pPr>
            <a:r>
              <a:rPr sz="1700" b="0" i="0">
                <a:solidFill>
                  <a:srgbClr val="1B1B1B"/>
                </a:solidFill>
                <a:latin typeface="Calibri"/>
              </a:rPr>
              <a:t>Outils : grille en 6 questions, Wayback Machine</a:t>
            </a:r>
          </a:p>
        </p:txBody>
      </p:sp>
      <p:sp>
        <p:nvSpPr>
          <p:cNvPr id="12" name="Rounded Rectangle 11"/>
          <p:cNvSpPr/>
          <p:nvPr/>
        </p:nvSpPr>
        <p:spPr>
          <a:xfrm>
            <a:off x="809244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188720"/>
            <a:ext cx="36576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Lire un article en 10 min</a:t>
            </a:r>
          </a:p>
        </p:txBody>
      </p:sp>
      <p:sp>
        <p:nvSpPr>
          <p:cNvPr id="14" name="TextBox 13"/>
          <p:cNvSpPr txBox="1"/>
          <p:nvPr/>
        </p:nvSpPr>
        <p:spPr>
          <a:xfrm>
            <a:off x="813816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Dans le bon ordre, avec ses limites.</a:t>
            </a:r>
          </a:p>
          <a:p>
            <a:pPr algn="l">
              <a:spcAft>
                <a:spcPts val="509"/>
              </a:spcAft>
            </a:pPr>
            <a:r>
              <a:rPr sz="1700" b="0" i="0">
                <a:solidFill>
                  <a:srgbClr val="1B1B1B"/>
                </a:solidFill>
                <a:latin typeface="Calibri"/>
              </a:rPr>
              <a:t>Outils : Zotero, NotebookLM, Elicit</a:t>
            </a:r>
          </a:p>
        </p:txBody>
      </p:sp>
      <p:sp>
        <p:nvSpPr>
          <p:cNvPr id="15" name="Rounded Rectangle 14"/>
          <p:cNvSpPr/>
          <p:nvPr/>
        </p:nvSpPr>
        <p:spPr>
          <a:xfrm>
            <a:off x="41148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43300"/>
            <a:ext cx="365760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Surveiller sans se noyer</a:t>
            </a:r>
          </a:p>
        </p:txBody>
      </p:sp>
      <p:sp>
        <p:nvSpPr>
          <p:cNvPr id="17" name="TextBox 16"/>
          <p:cNvSpPr txBox="1"/>
          <p:nvPr/>
        </p:nvSpPr>
        <p:spPr>
          <a:xfrm>
            <a:off x="45720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15 minutes par semaine suffisent.</a:t>
            </a:r>
          </a:p>
          <a:p>
            <a:pPr algn="l">
              <a:spcAft>
                <a:spcPts val="509"/>
              </a:spcAft>
            </a:pPr>
            <a:r>
              <a:rPr sz="1700" b="0" i="0">
                <a:solidFill>
                  <a:srgbClr val="1B1B1B"/>
                </a:solidFill>
                <a:latin typeface="Calibri"/>
              </a:rPr>
              <a:t>Outils : Google Alerts, Inoreader, CERT-FR</a:t>
            </a:r>
          </a:p>
        </p:txBody>
      </p:sp>
      <p:sp>
        <p:nvSpPr>
          <p:cNvPr id="18" name="Rounded Rectangle 17"/>
          <p:cNvSpPr/>
          <p:nvPr/>
        </p:nvSpPr>
        <p:spPr>
          <a:xfrm>
            <a:off x="425196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3543300"/>
            <a:ext cx="365760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Décider avec des preuves</a:t>
            </a:r>
          </a:p>
        </p:txBody>
      </p:sp>
      <p:sp>
        <p:nvSpPr>
          <p:cNvPr id="20" name="TextBox 19"/>
          <p:cNvSpPr txBox="1"/>
          <p:nvPr/>
        </p:nvSpPr>
        <p:spPr>
          <a:xfrm>
            <a:off x="429768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Argument en 6 lignes, matrice pondérée, phrase honnête.</a:t>
            </a:r>
          </a:p>
          <a:p>
            <a:pPr algn="l">
              <a:spcAft>
                <a:spcPts val="509"/>
              </a:spcAft>
            </a:pPr>
            <a:r>
              <a:rPr sz="1700" b="0" i="0">
                <a:solidFill>
                  <a:srgbClr val="1B1B1B"/>
                </a:solidFill>
                <a:latin typeface="Calibri"/>
              </a:rPr>
              <a:t>Outils : tableur, modèle de Toulmin</a:t>
            </a:r>
          </a:p>
        </p:txBody>
      </p:sp>
      <p:sp>
        <p:nvSpPr>
          <p:cNvPr id="21" name="Rounded Rectangle 20"/>
          <p:cNvSpPr/>
          <p:nvPr/>
        </p:nvSpPr>
        <p:spPr>
          <a:xfrm>
            <a:off x="809244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543300"/>
            <a:ext cx="365760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Écrire et défendre</a:t>
            </a:r>
          </a:p>
        </p:txBody>
      </p:sp>
      <p:sp>
        <p:nvSpPr>
          <p:cNvPr id="23" name="TextBox 22"/>
          <p:cNvSpPr txBox="1"/>
          <p:nvPr/>
        </p:nvSpPr>
        <p:spPr>
          <a:xfrm>
            <a:off x="813816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Note d'une page, état de l'art de 2 pages, pitch de 5 minutes.</a:t>
            </a:r>
          </a:p>
          <a:p>
            <a:pPr algn="l">
              <a:spcAft>
                <a:spcPts val="509"/>
              </a:spcAft>
            </a:pPr>
            <a:r>
              <a:rPr sz="1700" b="0" i="0">
                <a:solidFill>
                  <a:srgbClr val="1B1B1B"/>
                </a:solidFill>
                <a:latin typeface="Calibri"/>
              </a:rPr>
              <a:t>Outils : plan, Zotero, chronomètre</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1" i="0">
                <a:solidFill>
                  <a:srgbClr val="1B1B1B"/>
                </a:solidFill>
                <a:latin typeface="Calibri"/>
              </a:rPr>
              <a:t>Chaque module = un geste, un outil, un défi ou une mission sur VOTRE sujet. Pas de cours magistral.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Programme : 2,5 jours = 17 h 30 pauses comprises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a:t>
            </a:r>
          </a:p>
        </p:txBody>
      </p:sp>
      <p:graphicFrame>
        <p:nvGraphicFramePr>
          <p:cNvPr id="6" name="Table 5"/>
          <p:cNvGraphicFramePr>
            <a:graphicFrameLocks noGrp="1"/>
          </p:cNvGraphicFramePr>
          <p:nvPr/>
        </p:nvGraphicFramePr>
        <p:xfrm>
          <a:off x="411480" y="1188720"/>
          <a:ext cx="11338559" cy="4754880"/>
        </p:xfrm>
        <a:graphic>
          <a:graphicData uri="http://schemas.openxmlformats.org/drawingml/2006/table">
            <a:tbl>
              <a:tblPr firstRow="0" bandRow="0">
                <a:tableStyleId>{5C22544A-7EE6-4342-B048-85BDC9FD1C3A}</a:tableStyleId>
              </a:tblPr>
              <a:tblGrid>
                <a:gridCol w="1443089"/>
                <a:gridCol w="1133856"/>
                <a:gridCol w="8761614"/>
              </a:tblGrid>
              <a:tr h="365760">
                <a:tc>
                  <a:txBody>
                    <a:bodyPr wrap="square"/>
                    <a:lstStyle/>
                    <a:p>
                      <a:r>
                        <a:rPr sz="1700" b="1">
                          <a:solidFill>
                            <a:srgbClr val="FFFFFF"/>
                          </a:solidFill>
                          <a:latin typeface="Calibri"/>
                        </a:rPr>
                        <a:t>Repère</a:t>
                      </a:r>
                    </a:p>
                  </a:txBody>
                  <a:tcPr marL="73152" marR="73152" marT="36576" marB="36576">
                    <a:solidFill>
                      <a:srgbClr val="1F2A5C"/>
                    </a:solidFill>
                  </a:tcPr>
                </a:tc>
                <a:tc>
                  <a:txBody>
                    <a:bodyPr wrap="square"/>
                    <a:lstStyle/>
                    <a:p>
                      <a:r>
                        <a:rPr sz="1700" b="1">
                          <a:solidFill>
                            <a:srgbClr val="FFFFFF"/>
                          </a:solidFill>
                          <a:latin typeface="Calibri"/>
                        </a:rPr>
                        <a:t>Durée</a:t>
                      </a:r>
                    </a:p>
                  </a:txBody>
                  <a:tcPr marL="73152" marR="73152" marT="36576" marB="36576">
                    <a:solidFill>
                      <a:srgbClr val="1F2A5C"/>
                    </a:solidFill>
                  </a:tcPr>
                </a:tc>
                <a:tc>
                  <a:txBody>
                    <a:bodyPr wrap="square"/>
                    <a:lstStyle/>
                    <a:p>
                      <a:r>
                        <a:rPr sz="1700" b="1">
                          <a:solidFill>
                            <a:srgbClr val="FFFFFF"/>
                          </a:solidFill>
                          <a:latin typeface="Calibri"/>
                        </a:rPr>
                        <a:t>Séquence</a:t>
                      </a:r>
                    </a:p>
                  </a:txBody>
                  <a:tcPr marL="73152" marR="73152" marT="36576" marB="36576">
                    <a:solidFill>
                      <a:srgbClr val="1F2A5C"/>
                    </a:solidFill>
                  </a:tcPr>
                </a:tc>
              </a:tr>
              <a:tr h="365760">
                <a:tc>
                  <a:txBody>
                    <a:bodyPr wrap="square"/>
                    <a:lstStyle/>
                    <a:p>
                      <a:r>
                        <a:rPr sz="1700" b="1">
                          <a:solidFill>
                            <a:srgbClr val="1B1B1B"/>
                          </a:solidFill>
                          <a:latin typeface="Calibri"/>
                        </a:rPr>
                        <a:t>J1 0 h 00</a:t>
                      </a:r>
                    </a:p>
                  </a:txBody>
                  <a:tcPr marL="73152" marR="73152" marT="36576" marB="36576">
                    <a:solidFill>
                      <a:srgbClr val="FFFFFF"/>
                    </a:solidFill>
                  </a:tcPr>
                </a:tc>
                <a:tc>
                  <a:txBody>
                    <a:bodyPr wrap="square"/>
                    <a:lstStyle/>
                    <a:p>
                      <a:r>
                        <a:rPr sz="1700" b="0">
                          <a:solidFill>
                            <a:srgbClr val="1B1B1B"/>
                          </a:solidFill>
                          <a:latin typeface="Calibri"/>
                        </a:rPr>
                        <a:t>65 min</a:t>
                      </a:r>
                    </a:p>
                  </a:txBody>
                  <a:tcPr marL="73152" marR="73152" marT="36576" marB="36576">
                    <a:solidFill>
                      <a:srgbClr val="FFFFFF"/>
                    </a:solidFill>
                  </a:tcPr>
                </a:tc>
                <a:tc>
                  <a:txBody>
                    <a:bodyPr wrap="square"/>
                    <a:lstStyle/>
                    <a:p>
                      <a:r>
                        <a:rPr sz="1700" b="0">
                          <a:solidFill>
                            <a:srgbClr val="1B1B1B"/>
                          </a:solidFill>
                          <a:latin typeface="Calibri"/>
                        </a:rPr>
                        <a:t>Ouverture, cadrage et choix de la question</a:t>
                      </a:r>
                    </a:p>
                  </a:txBody>
                  <a:tcPr marL="73152" marR="73152" marT="36576" marB="36576">
                    <a:solidFill>
                      <a:srgbClr val="FFFFFF"/>
                    </a:solidFill>
                  </a:tcPr>
                </a:tc>
              </a:tr>
              <a:tr h="365760">
                <a:tc>
                  <a:txBody>
                    <a:bodyPr wrap="square"/>
                    <a:lstStyle/>
                    <a:p>
                      <a:r>
                        <a:rPr sz="1700" b="1">
                          <a:solidFill>
                            <a:srgbClr val="1B1B1B"/>
                          </a:solidFill>
                          <a:latin typeface="Calibri"/>
                        </a:rPr>
                        <a:t>J1 1 h 05</a:t>
                      </a:r>
                    </a:p>
                  </a:txBody>
                  <a:tcPr marL="73152" marR="73152" marT="36576" marB="36576">
                    <a:solidFill>
                      <a:srgbClr val="F3F5F9"/>
                    </a:solidFill>
                  </a:tcPr>
                </a:tc>
                <a:tc>
                  <a:txBody>
                    <a:bodyPr wrap="square"/>
                    <a:lstStyle/>
                    <a:p>
                      <a:r>
                        <a:rPr sz="1700" b="0">
                          <a:solidFill>
                            <a:srgbClr val="1B1B1B"/>
                          </a:solidFill>
                          <a:latin typeface="Calibri"/>
                        </a:rPr>
                        <a:t>65 min</a:t>
                      </a:r>
                    </a:p>
                  </a:txBody>
                  <a:tcPr marL="73152" marR="73152" marT="36576" marB="36576">
                    <a:solidFill>
                      <a:srgbClr val="F3F5F9"/>
                    </a:solidFill>
                  </a:tcPr>
                </a:tc>
                <a:tc>
                  <a:txBody>
                    <a:bodyPr wrap="square"/>
                    <a:lstStyle/>
                    <a:p>
                      <a:r>
                        <a:rPr sz="1700" b="0">
                          <a:solidFill>
                            <a:srgbClr val="1B1B1B"/>
                          </a:solidFill>
                          <a:latin typeface="Calibri"/>
                        </a:rPr>
                        <a:t>B · Écrire et demander : mail, note, entretien (puis pause de 15 min)</a:t>
                      </a:r>
                    </a:p>
                  </a:txBody>
                  <a:tcPr marL="73152" marR="73152" marT="36576" marB="36576">
                    <a:solidFill>
                      <a:srgbClr val="F3F5F9"/>
                    </a:solidFill>
                  </a:tcPr>
                </a:tc>
              </a:tr>
              <a:tr h="365760">
                <a:tc>
                  <a:txBody>
                    <a:bodyPr wrap="square"/>
                    <a:lstStyle/>
                    <a:p>
                      <a:r>
                        <a:rPr sz="1700" b="1">
                          <a:solidFill>
                            <a:srgbClr val="1B1B1B"/>
                          </a:solidFill>
                          <a:latin typeface="Calibri"/>
                        </a:rPr>
                        <a:t>J1 2 h 25</a:t>
                      </a:r>
                    </a:p>
                  </a:txBody>
                  <a:tcPr marL="73152" marR="73152" marT="36576" marB="36576">
                    <a:solidFill>
                      <a:srgbClr val="FFFFFF"/>
                    </a:solidFill>
                  </a:tcPr>
                </a:tc>
                <a:tc>
                  <a:txBody>
                    <a:bodyPr wrap="square"/>
                    <a:lstStyle/>
                    <a:p>
                      <a:r>
                        <a:rPr sz="1700" b="0">
                          <a:solidFill>
                            <a:srgbClr val="1B1B1B"/>
                          </a:solidFill>
                          <a:latin typeface="Calibri"/>
                        </a:rPr>
                        <a:t>130 min</a:t>
                      </a:r>
                    </a:p>
                  </a:txBody>
                  <a:tcPr marL="73152" marR="73152" marT="36576" marB="36576">
                    <a:solidFill>
                      <a:srgbClr val="FFFFFF"/>
                    </a:solidFill>
                  </a:tcPr>
                </a:tc>
                <a:tc>
                  <a:txBody>
                    <a:bodyPr wrap="square"/>
                    <a:lstStyle/>
                    <a:p>
                      <a:r>
                        <a:rPr sz="1700" b="0">
                          <a:solidFill>
                            <a:srgbClr val="1B1B1B"/>
                          </a:solidFill>
                          <a:latin typeface="Calibri"/>
                        </a:rPr>
                        <a:t>C · Chercher : requêtes, Scholar, sites officiels, Zotero, veille (puis pause de 15 min)</a:t>
                      </a:r>
                    </a:p>
                  </a:txBody>
                  <a:tcPr marL="73152" marR="73152" marT="36576" marB="36576">
                    <a:solidFill>
                      <a:srgbClr val="FFFFFF"/>
                    </a:solidFill>
                  </a:tcPr>
                </a:tc>
              </a:tr>
              <a:tr h="365760">
                <a:tc>
                  <a:txBody>
                    <a:bodyPr wrap="square"/>
                    <a:lstStyle/>
                    <a:p>
                      <a:r>
                        <a:rPr sz="1700" b="1">
                          <a:solidFill>
                            <a:srgbClr val="1B1B1B"/>
                          </a:solidFill>
                          <a:latin typeface="Calibri"/>
                        </a:rPr>
                        <a:t>J1 4 h 50</a:t>
                      </a:r>
                    </a:p>
                  </a:txBody>
                  <a:tcPr marL="73152" marR="73152" marT="36576" marB="36576">
                    <a:solidFill>
                      <a:srgbClr val="F3F5F9"/>
                    </a:solidFill>
                  </a:tcPr>
                </a:tc>
                <a:tc>
                  <a:txBody>
                    <a:bodyPr wrap="square"/>
                    <a:lstStyle/>
                    <a:p>
                      <a:r>
                        <a:rPr sz="1700" b="0">
                          <a:solidFill>
                            <a:srgbClr val="1B1B1B"/>
                          </a:solidFill>
                          <a:latin typeface="Calibri"/>
                        </a:rPr>
                        <a:t>80 min</a:t>
                      </a:r>
                    </a:p>
                  </a:txBody>
                  <a:tcPr marL="73152" marR="73152" marT="36576" marB="36576">
                    <a:solidFill>
                      <a:srgbClr val="F3F5F9"/>
                    </a:solidFill>
                  </a:tcPr>
                </a:tc>
                <a:tc>
                  <a:txBody>
                    <a:bodyPr wrap="square"/>
                    <a:lstStyle/>
                    <a:p>
                      <a:r>
                        <a:rPr sz="1700" b="0">
                          <a:solidFill>
                            <a:srgbClr val="1B1B1B"/>
                          </a:solidFill>
                          <a:latin typeface="Calibri"/>
                        </a:rPr>
                        <a:t>D1 · Vérifier les sources</a:t>
                      </a:r>
                    </a:p>
                  </a:txBody>
                  <a:tcPr marL="73152" marR="73152" marT="36576" marB="36576">
                    <a:solidFill>
                      <a:srgbClr val="F3F5F9"/>
                    </a:solidFill>
                  </a:tcPr>
                </a:tc>
              </a:tr>
              <a:tr h="365760">
                <a:tc>
                  <a:txBody>
                    <a:bodyPr wrap="square"/>
                    <a:lstStyle/>
                    <a:p>
                      <a:r>
                        <a:rPr sz="1700" b="1">
                          <a:solidFill>
                            <a:srgbClr val="1B1B1B"/>
                          </a:solidFill>
                          <a:latin typeface="Calibri"/>
                        </a:rPr>
                        <a:t>J1 6 h 10</a:t>
                      </a:r>
                    </a:p>
                  </a:txBody>
                  <a:tcPr marL="73152" marR="73152" marT="36576" marB="36576">
                    <a:solidFill>
                      <a:srgbClr val="FFFFFF"/>
                    </a:solidFill>
                  </a:tcPr>
                </a:tc>
                <a:tc>
                  <a:txBody>
                    <a:bodyPr wrap="square"/>
                    <a:lstStyle/>
                    <a:p>
                      <a:r>
                        <a:rPr sz="1700" b="0">
                          <a:solidFill>
                            <a:srgbClr val="1B1B1B"/>
                          </a:solidFill>
                          <a:latin typeface="Calibri"/>
                        </a:rPr>
                        <a:t>50 min</a:t>
                      </a:r>
                    </a:p>
                  </a:txBody>
                  <a:tcPr marL="73152" marR="73152" marT="36576" marB="36576">
                    <a:solidFill>
                      <a:srgbClr val="FFFFFF"/>
                    </a:solidFill>
                  </a:tcPr>
                </a:tc>
                <a:tc>
                  <a:txBody>
                    <a:bodyPr wrap="square"/>
                    <a:lstStyle/>
                    <a:p>
                      <a:r>
                        <a:rPr sz="1700" b="0">
                          <a:solidFill>
                            <a:srgbClr val="1B1B1B"/>
                          </a:solidFill>
                          <a:latin typeface="Calibri"/>
                        </a:rPr>
                        <a:t>D2 · Lire vite, contrôler l'IA</a:t>
                      </a:r>
                    </a:p>
                  </a:txBody>
                  <a:tcPr marL="73152" marR="73152" marT="36576" marB="36576">
                    <a:solidFill>
                      <a:srgbClr val="FFFFFF"/>
                    </a:solidFill>
                  </a:tcPr>
                </a:tc>
              </a:tr>
              <a:tr h="365760">
                <a:tc>
                  <a:txBody>
                    <a:bodyPr wrap="square"/>
                    <a:lstStyle/>
                    <a:p>
                      <a:r>
                        <a:rPr sz="1700" b="1">
                          <a:solidFill>
                            <a:srgbClr val="1B1B1B"/>
                          </a:solidFill>
                          <a:latin typeface="Calibri"/>
                        </a:rPr>
                        <a:t>J2 0 h 00</a:t>
                      </a:r>
                    </a:p>
                  </a:txBody>
                  <a:tcPr marL="73152" marR="73152" marT="36576" marB="36576">
                    <a:solidFill>
                      <a:srgbClr val="F3F5F9"/>
                    </a:solidFill>
                  </a:tcPr>
                </a:tc>
                <a:tc>
                  <a:txBody>
                    <a:bodyPr wrap="square"/>
                    <a:lstStyle/>
                    <a:p>
                      <a:r>
                        <a:rPr sz="1700" b="0">
                          <a:solidFill>
                            <a:srgbClr val="1B1B1B"/>
                          </a:solidFill>
                          <a:latin typeface="Calibri"/>
                        </a:rPr>
                        <a:t>105 min</a:t>
                      </a:r>
                    </a:p>
                  </a:txBody>
                  <a:tcPr marL="73152" marR="73152" marT="36576" marB="36576">
                    <a:solidFill>
                      <a:srgbClr val="F3F5F9"/>
                    </a:solidFill>
                  </a:tcPr>
                </a:tc>
                <a:tc>
                  <a:txBody>
                    <a:bodyPr wrap="square"/>
                    <a:lstStyle/>
                    <a:p>
                      <a:r>
                        <a:rPr sz="1700" b="0">
                          <a:solidFill>
                            <a:srgbClr val="1B1B1B"/>
                          </a:solidFill>
                          <a:latin typeface="Calibri"/>
                        </a:rPr>
                        <a:t>E · Argumenter : argument en six lignes, chiffres, objections (puis pause de 15 min)</a:t>
                      </a:r>
                    </a:p>
                  </a:txBody>
                  <a:tcPr marL="73152" marR="73152" marT="36576" marB="36576">
                    <a:solidFill>
                      <a:srgbClr val="F3F5F9"/>
                    </a:solidFill>
                  </a:tcPr>
                </a:tc>
              </a:tr>
              <a:tr h="365760">
                <a:tc>
                  <a:txBody>
                    <a:bodyPr wrap="square"/>
                    <a:lstStyle/>
                    <a:p>
                      <a:r>
                        <a:rPr sz="1700" b="1">
                          <a:solidFill>
                            <a:srgbClr val="1B1B1B"/>
                          </a:solidFill>
                          <a:latin typeface="Calibri"/>
                        </a:rPr>
                        <a:t>J2 2 h 00</a:t>
                      </a:r>
                    </a:p>
                  </a:txBody>
                  <a:tcPr marL="73152" marR="73152" marT="36576" marB="36576">
                    <a:solidFill>
                      <a:srgbClr val="FFFFFF"/>
                    </a:solidFill>
                  </a:tcPr>
                </a:tc>
                <a:tc>
                  <a:txBody>
                    <a:bodyPr wrap="square"/>
                    <a:lstStyle/>
                    <a:p>
                      <a:r>
                        <a:rPr sz="1700" b="0">
                          <a:solidFill>
                            <a:srgbClr val="1B1B1B"/>
                          </a:solidFill>
                          <a:latin typeface="Calibri"/>
                        </a:rPr>
                        <a:t>110 min</a:t>
                      </a:r>
                    </a:p>
                  </a:txBody>
                  <a:tcPr marL="73152" marR="73152" marT="36576" marB="36576">
                    <a:solidFill>
                      <a:srgbClr val="FFFFFF"/>
                    </a:solidFill>
                  </a:tcPr>
                </a:tc>
                <a:tc>
                  <a:txBody>
                    <a:bodyPr wrap="square"/>
                    <a:lstStyle/>
                    <a:p>
                      <a:r>
                        <a:rPr sz="1700" b="0">
                          <a:solidFill>
                            <a:srgbClr val="1B1B1B"/>
                          </a:solidFill>
                          <a:latin typeface="Calibri"/>
                        </a:rPr>
                        <a:t>F · Comparer et décider (matrice, écart réel ou bruit) (puis pause de 15 min)</a:t>
                      </a:r>
                    </a:p>
                  </a:txBody>
                  <a:tcPr marL="73152" marR="73152" marT="36576" marB="36576">
                    <a:solidFill>
                      <a:srgbClr val="FFFFFF"/>
                    </a:solidFill>
                  </a:tcPr>
                </a:tc>
              </a:tr>
              <a:tr h="365760">
                <a:tc>
                  <a:txBody>
                    <a:bodyPr wrap="square"/>
                    <a:lstStyle/>
                    <a:p>
                      <a:r>
                        <a:rPr sz="1700" b="1">
                          <a:solidFill>
                            <a:srgbClr val="1B1B1B"/>
                          </a:solidFill>
                          <a:latin typeface="Calibri"/>
                        </a:rPr>
                        <a:t>J2 4 h 05</a:t>
                      </a:r>
                    </a:p>
                  </a:txBody>
                  <a:tcPr marL="73152" marR="73152" marT="36576" marB="36576">
                    <a:solidFill>
                      <a:srgbClr val="F3F5F9"/>
                    </a:solidFill>
                  </a:tcPr>
                </a:tc>
                <a:tc>
                  <a:txBody>
                    <a:bodyPr wrap="square"/>
                    <a:lstStyle/>
                    <a:p>
                      <a:r>
                        <a:rPr sz="1700" b="0">
                          <a:solidFill>
                            <a:srgbClr val="1B1B1B"/>
                          </a:solidFill>
                          <a:latin typeface="Calibri"/>
                        </a:rPr>
                        <a:t>115 min</a:t>
                      </a:r>
                    </a:p>
                  </a:txBody>
                  <a:tcPr marL="73152" marR="73152" marT="36576" marB="36576">
                    <a:solidFill>
                      <a:srgbClr val="F3F5F9"/>
                    </a:solidFill>
                  </a:tcPr>
                </a:tc>
                <a:tc>
                  <a:txBody>
                    <a:bodyPr wrap="square"/>
                    <a:lstStyle/>
                    <a:p>
                      <a:r>
                        <a:rPr sz="1700" b="0">
                          <a:solidFill>
                            <a:srgbClr val="1B1B1B"/>
                          </a:solidFill>
                          <a:latin typeface="Calibri"/>
                        </a:rPr>
                        <a:t>F · Rédiger l'état de l'art</a:t>
                      </a:r>
                    </a:p>
                  </a:txBody>
                  <a:tcPr marL="73152" marR="73152" marT="36576" marB="36576">
                    <a:solidFill>
                      <a:srgbClr val="F3F5F9"/>
                    </a:solidFill>
                  </a:tcPr>
                </a:tc>
              </a:tr>
              <a:tr h="365760">
                <a:tc>
                  <a:txBody>
                    <a:bodyPr wrap="square"/>
                    <a:lstStyle/>
                    <a:p>
                      <a:r>
                        <a:rPr sz="1700" b="1">
                          <a:solidFill>
                            <a:srgbClr val="1B1B1B"/>
                          </a:solidFill>
                          <a:latin typeface="Calibri"/>
                        </a:rPr>
                        <a:t>J2 6 h 00</a:t>
                      </a:r>
                    </a:p>
                  </a:txBody>
                  <a:tcPr marL="73152" marR="73152" marT="36576" marB="36576">
                    <a:solidFill>
                      <a:srgbClr val="FFFFFF"/>
                    </a:solidFill>
                  </a:tcPr>
                </a:tc>
                <a:tc>
                  <a:txBody>
                    <a:bodyPr wrap="square"/>
                    <a:lstStyle/>
                    <a:p>
                      <a:r>
                        <a:rPr sz="1700" b="0">
                          <a:solidFill>
                            <a:srgbClr val="1B1B1B"/>
                          </a:solidFill>
                          <a:latin typeface="Calibri"/>
                        </a:rPr>
                        <a:t>35 min</a:t>
                      </a:r>
                    </a:p>
                  </a:txBody>
                  <a:tcPr marL="73152" marR="73152" marT="36576" marB="36576">
                    <a:solidFill>
                      <a:srgbClr val="FFFFFF"/>
                    </a:solidFill>
                  </a:tcPr>
                </a:tc>
                <a:tc>
                  <a:txBody>
                    <a:bodyPr wrap="square"/>
                    <a:lstStyle/>
                    <a:p>
                      <a:r>
                        <a:rPr sz="1700" b="0">
                          <a:solidFill>
                            <a:srgbClr val="1B1B1B"/>
                          </a:solidFill>
                          <a:latin typeface="Calibri"/>
                        </a:rPr>
                        <a:t>Jeu 20 : quiz Chercher, évaluer, argumenter</a:t>
                      </a:r>
                    </a:p>
                  </a:txBody>
                  <a:tcPr marL="73152" marR="73152" marT="36576" marB="36576">
                    <a:solidFill>
                      <a:srgbClr val="FFFFFF"/>
                    </a:solidFill>
                  </a:tcPr>
                </a:tc>
              </a:tr>
              <a:tr h="365760">
                <a:tc>
                  <a:txBody>
                    <a:bodyPr wrap="square"/>
                    <a:lstStyle/>
                    <a:p>
                      <a:r>
                        <a:rPr sz="1700" b="1">
                          <a:solidFill>
                            <a:srgbClr val="1B1B1B"/>
                          </a:solidFill>
                          <a:latin typeface="Calibri"/>
                        </a:rPr>
                        <a:t>J3 0 h 00</a:t>
                      </a:r>
                    </a:p>
                  </a:txBody>
                  <a:tcPr marL="73152" marR="73152" marT="36576" marB="36576">
                    <a:solidFill>
                      <a:srgbClr val="F3F5F9"/>
                    </a:solidFill>
                  </a:tcPr>
                </a:tc>
                <a:tc>
                  <a:txBody>
                    <a:bodyPr wrap="square"/>
                    <a:lstStyle/>
                    <a:p>
                      <a:r>
                        <a:rPr sz="1700" b="0">
                          <a:solidFill>
                            <a:srgbClr val="1B1B1B"/>
                          </a:solidFill>
                          <a:latin typeface="Calibri"/>
                        </a:rPr>
                        <a:t>50 min</a:t>
                      </a:r>
                    </a:p>
                  </a:txBody>
                  <a:tcPr marL="73152" marR="73152" marT="36576" marB="36576">
                    <a:solidFill>
                      <a:srgbClr val="F3F5F9"/>
                    </a:solidFill>
                  </a:tcPr>
                </a:tc>
                <a:tc>
                  <a:txBody>
                    <a:bodyPr wrap="square"/>
                    <a:lstStyle/>
                    <a:p>
                      <a:r>
                        <a:rPr sz="1700" b="0">
                          <a:solidFill>
                            <a:srgbClr val="1B1B1B"/>
                          </a:solidFill>
                          <a:latin typeface="Calibri"/>
                        </a:rPr>
                        <a:t>G · Relire, préparer le pitch (puis pause de 15 min)</a:t>
                      </a:r>
                    </a:p>
                  </a:txBody>
                  <a:tcPr marL="73152" marR="73152" marT="36576" marB="36576">
                    <a:solidFill>
                      <a:srgbClr val="F3F5F9"/>
                    </a:solidFill>
                  </a:tcPr>
                </a:tc>
              </a:tr>
              <a:tr h="365760">
                <a:tc>
                  <a:txBody>
                    <a:bodyPr wrap="square"/>
                    <a:lstStyle/>
                    <a:p>
                      <a:r>
                        <a:rPr sz="1700" b="1">
                          <a:solidFill>
                            <a:srgbClr val="1B1B1B"/>
                          </a:solidFill>
                          <a:latin typeface="Calibri"/>
                        </a:rPr>
                        <a:t>J3 1 h 05</a:t>
                      </a:r>
                    </a:p>
                  </a:txBody>
                  <a:tcPr marL="73152" marR="73152" marT="36576" marB="36576">
                    <a:solidFill>
                      <a:srgbClr val="FFFFFF"/>
                    </a:solidFill>
                  </a:tcPr>
                </a:tc>
                <a:tc>
                  <a:txBody>
                    <a:bodyPr wrap="square"/>
                    <a:lstStyle/>
                    <a:p>
                      <a:r>
                        <a:rPr sz="1700" b="0">
                          <a:solidFill>
                            <a:srgbClr val="1B1B1B"/>
                          </a:solidFill>
                          <a:latin typeface="Calibri"/>
                        </a:rPr>
                        <a:t>65 min</a:t>
                      </a:r>
                    </a:p>
                  </a:txBody>
                  <a:tcPr marL="73152" marR="73152" marT="36576" marB="36576">
                    <a:solidFill>
                      <a:srgbClr val="FFFFFF"/>
                    </a:solidFill>
                  </a:tcPr>
                </a:tc>
                <a:tc>
                  <a:txBody>
                    <a:bodyPr wrap="square"/>
                    <a:lstStyle/>
                    <a:p>
                      <a:r>
                        <a:rPr sz="1700" b="0">
                          <a:solidFill>
                            <a:srgbClr val="1B1B1B"/>
                          </a:solidFill>
                          <a:latin typeface="Calibri"/>
                        </a:rPr>
                        <a:t>Pitchs et jury (puis pause de 15 min)</a:t>
                      </a:r>
                    </a:p>
                  </a:txBody>
                  <a:tcPr marL="73152" marR="73152" marT="36576" marB="36576">
                    <a:solidFill>
                      <a:srgbClr val="FFFFFF"/>
                    </a:solidFill>
                  </a:tcPr>
                </a:tc>
              </a:tr>
              <a:tr h="365760">
                <a:tc>
                  <a:txBody>
                    <a:bodyPr wrap="square"/>
                    <a:lstStyle/>
                    <a:p>
                      <a:r>
                        <a:rPr sz="1700" b="1">
                          <a:solidFill>
                            <a:srgbClr val="1B1B1B"/>
                          </a:solidFill>
                          <a:latin typeface="Calibri"/>
                        </a:rPr>
                        <a:t>J3 2 h 25</a:t>
                      </a:r>
                    </a:p>
                  </a:txBody>
                  <a:tcPr marL="73152" marR="73152" marT="36576" marB="36576">
                    <a:solidFill>
                      <a:srgbClr val="F3F5F9"/>
                    </a:solidFill>
                  </a:tcPr>
                </a:tc>
                <a:tc>
                  <a:txBody>
                    <a:bodyPr wrap="square"/>
                    <a:lstStyle/>
                    <a:p>
                      <a:r>
                        <a:rPr sz="1700" b="0">
                          <a:solidFill>
                            <a:srgbClr val="1B1B1B"/>
                          </a:solidFill>
                          <a:latin typeface="Calibri"/>
                        </a:rPr>
                        <a:t>40 min</a:t>
                      </a:r>
                    </a:p>
                  </a:txBody>
                  <a:tcPr marL="73152" marR="73152" marT="36576" marB="36576">
                    <a:solidFill>
                      <a:srgbClr val="F3F5F9"/>
                    </a:solidFill>
                  </a:tcPr>
                </a:tc>
                <a:tc>
                  <a:txBody>
                    <a:bodyPr wrap="square"/>
                    <a:lstStyle/>
                    <a:p>
                      <a:r>
                        <a:rPr sz="1700" b="0">
                          <a:solidFill>
                            <a:srgbClr val="1B1B1B"/>
                          </a:solidFill>
                          <a:latin typeface="Calibri"/>
                        </a:rPr>
                        <a:t>I · Examen, quiz final, boîte à outils</a:t>
                      </a:r>
                    </a:p>
                  </a:txBody>
                  <a:tcPr marL="73152" marR="73152" marT="36576" marB="36576">
                    <a:solidFill>
                      <a:srgbClr val="F3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Comment se déroule le cours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a:t>
            </a:r>
          </a:p>
        </p:txBody>
      </p:sp>
      <p:sp>
        <p:nvSpPr>
          <p:cNvPr id="6" name="Rounded Rectangle 5"/>
          <p:cNvSpPr/>
          <p:nvPr/>
        </p:nvSpPr>
        <p:spPr>
          <a:xfrm>
            <a:off x="41148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365760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Un fil rouge</a:t>
            </a:r>
          </a:p>
        </p:txBody>
      </p:sp>
      <p:sp>
        <p:nvSpPr>
          <p:cNvPr id="8" name="TextBox 7"/>
          <p:cNvSpPr txBox="1"/>
          <p:nvPr/>
        </p:nvSpPr>
        <p:spPr>
          <a:xfrm>
            <a:off x="45720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Votre équipe produit un état de l'art pour TransLor, puis le défend devant un jury.</a:t>
            </a:r>
          </a:p>
        </p:txBody>
      </p:sp>
      <p:sp>
        <p:nvSpPr>
          <p:cNvPr id="9" name="Rounded Rectangle 8"/>
          <p:cNvSpPr/>
          <p:nvPr/>
        </p:nvSpPr>
        <p:spPr>
          <a:xfrm>
            <a:off x="425196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188720"/>
            <a:ext cx="365760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Théorie courte</a:t>
            </a:r>
          </a:p>
        </p:txBody>
      </p:sp>
      <p:sp>
        <p:nvSpPr>
          <p:cNvPr id="11" name="TextBox 10"/>
          <p:cNvSpPr txBox="1"/>
          <p:nvPr/>
        </p:nvSpPr>
        <p:spPr>
          <a:xfrm>
            <a:off x="429768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Jamais plus de 5 diapositives de suite sans exercice, quiz ou jeu.</a:t>
            </a:r>
          </a:p>
        </p:txBody>
      </p:sp>
      <p:sp>
        <p:nvSpPr>
          <p:cNvPr id="12" name="Rounded Rectangle 11"/>
          <p:cNvSpPr/>
          <p:nvPr/>
        </p:nvSpPr>
        <p:spPr>
          <a:xfrm>
            <a:off x="809244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188720"/>
            <a:ext cx="36576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Exercice</a:t>
            </a:r>
          </a:p>
        </p:txBody>
      </p:sp>
      <p:sp>
        <p:nvSpPr>
          <p:cNvPr id="14" name="TextBox 13"/>
          <p:cNvSpPr txBox="1"/>
          <p:nvPr/>
        </p:nvSpPr>
        <p:spPr>
          <a:xfrm>
            <a:off x="813816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Énoncé et minuteur sur votre téléphone (QR code) ; vos réponses arrivent en direct chez l'enseignant.</a:t>
            </a:r>
          </a:p>
        </p:txBody>
      </p:sp>
      <p:sp>
        <p:nvSpPr>
          <p:cNvPr id="15" name="Rounded Rectangle 14"/>
          <p:cNvSpPr/>
          <p:nvPr/>
        </p:nvSpPr>
        <p:spPr>
          <a:xfrm>
            <a:off x="41148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43300"/>
            <a:ext cx="365760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Correction détaillée</a:t>
            </a:r>
          </a:p>
        </p:txBody>
      </p:sp>
      <p:sp>
        <p:nvSpPr>
          <p:cNvPr id="17" name="TextBox 16"/>
          <p:cNvSpPr txBox="1"/>
          <p:nvPr/>
        </p:nvSpPr>
        <p:spPr>
          <a:xfrm>
            <a:off x="45720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Diapositives à fond bleu clair : méthode, réponses, erreurs fréquentes, exemple modèle.</a:t>
            </a:r>
          </a:p>
        </p:txBody>
      </p:sp>
      <p:sp>
        <p:nvSpPr>
          <p:cNvPr id="18" name="Rounded Rectangle 17"/>
          <p:cNvSpPr/>
          <p:nvPr/>
        </p:nvSpPr>
        <p:spPr>
          <a:xfrm>
            <a:off x="425196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3543300"/>
            <a:ext cx="365760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Outils réels</a:t>
            </a:r>
          </a:p>
        </p:txBody>
      </p:sp>
      <p:sp>
        <p:nvSpPr>
          <p:cNvPr id="20" name="TextBox 19"/>
          <p:cNvSpPr txBox="1"/>
          <p:nvPr/>
        </p:nvSpPr>
        <p:spPr>
          <a:xfrm>
            <a:off x="429768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Google Scholar, Zotero, tableur, document partagé : sur votre ordinateur.</a:t>
            </a:r>
          </a:p>
        </p:txBody>
      </p:sp>
      <p:sp>
        <p:nvSpPr>
          <p:cNvPr id="21" name="Rounded Rectangle 20"/>
          <p:cNvSpPr/>
          <p:nvPr/>
        </p:nvSpPr>
        <p:spPr>
          <a:xfrm>
            <a:off x="809244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543300"/>
            <a:ext cx="365760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Livrables</a:t>
            </a:r>
          </a:p>
        </p:txBody>
      </p:sp>
      <p:sp>
        <p:nvSpPr>
          <p:cNvPr id="23" name="TextBox 22"/>
          <p:cNvSpPr txBox="1"/>
          <p:nvPr/>
        </p:nvSpPr>
        <p:spPr>
          <a:xfrm>
            <a:off x="813816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Un état de l'art de 2 pages, un pitch de 5 minutes, une fiche sur une vulnérabilité de votre organisation.</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TransLor est fictive : chiffres et sources des exercices sont inventés ou signalés. Boîte à outils : page « Outils » de l'application.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Utiliser une IA dans ce cours : quatre règles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Autorisée</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Comme assistant : mots-clés, reformulation, relecture, objections.</a:t>
            </a:r>
          </a:p>
          <a:p>
            <a:pPr algn="l">
              <a:spcAft>
                <a:spcPts val="509"/>
              </a:spcAft>
            </a:pPr>
            <a:r>
              <a:rPr sz="1700" b="0" i="0">
                <a:solidFill>
                  <a:srgbClr val="1B1B1B"/>
                </a:solidFill>
                <a:latin typeface="Calibri"/>
              </a:rPr>
              <a:t>Ex. : « donne 10 synonymes de sauvegarde en anglais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Jamais une source</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On ouvre et on lit chaque source avant de la citer.</a:t>
            </a:r>
          </a:p>
          <a:p>
            <a:pPr algn="l">
              <a:spcAft>
                <a:spcPts val="509"/>
              </a:spcAft>
            </a:pPr>
            <a:r>
              <a:rPr sz="1700" b="0" i="0">
                <a:solidFill>
                  <a:srgbClr val="1B1B1B"/>
                </a:solidFill>
                <a:latin typeface="Calibri"/>
              </a:rPr>
              <a:t>Ex. : un DOI donné par une IA est vérifié sur doi.org</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À déclarer</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Dans le dossier (section 18) : outil, usage, vérification.</a:t>
            </a:r>
          </a:p>
          <a:p>
            <a:pPr algn="l">
              <a:spcAft>
                <a:spcPts val="509"/>
              </a:spcAft>
            </a:pPr>
            <a:r>
              <a:rPr sz="1700" b="0" i="0">
                <a:solidFill>
                  <a:srgbClr val="1B1B1B"/>
                </a:solidFill>
                <a:latin typeface="Calibri"/>
              </a:rPr>
              <a:t>Ex. : « IA utilisée pour proposer des objections »</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Confidentialité</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Aucune donnée confidentielle ni personnelle dans un outil en ligne.</a:t>
            </a:r>
          </a:p>
          <a:p>
            <a:pPr algn="l">
              <a:spcAft>
                <a:spcPts val="509"/>
              </a:spcAft>
            </a:pPr>
            <a:r>
              <a:rPr sz="1700" b="0" i="0">
                <a:solidFill>
                  <a:srgbClr val="1B1B1B"/>
                </a:solidFill>
                <a:latin typeface="Calibri"/>
              </a:rPr>
              <a:t>Ex. : textes fictifs ou publics seulement</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DOI (Digital Object Identifier) : identifiant unique d'un article ou d'un rapport, du type 10.1000/xyz123 ; on l'ouvre sur doi.org pour vérifier qu'il mène au bon document.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0</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769"/>
              </a:spcAft>
            </a:pPr>
            <a:r>
              <a:rPr sz="2200" b="1" i="0">
                <a:solidFill>
                  <a:srgbClr val="FFFFFF"/>
                </a:solidFill>
                <a:latin typeface="Calibri"/>
              </a:rPr>
              <a:t>Lire une offre d'emploi d'ingénieur : que demande-t-on vraiment ?</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EX0</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10 min  ·  Carnet · chapitre 1  ·  Outil : France Travail, APEC, site d'entreprise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Savoir ce qu'on attend vraiment d'un ingénieur dans le métier que vous visez : lire une offre d'emploi, repérer les verbes de communication et les relier aux objectifs du cours.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59"/>
              </a:spcAft>
            </a:pPr>
            <a:r>
              <a:rPr sz="1200" b="0" i="0">
                <a:solidFill>
                  <a:srgbClr val="1B1B1B"/>
                </a:solidFill>
                <a:latin typeface="Calibri"/>
              </a:rPr>
              <a:t>Deux offres réelles, relevées en octobre 2026 (elles peuvent avoir expiré) :</a:t>
            </a:r>
          </a:p>
          <a:p>
            <a:pPr algn="l">
              <a:spcAft>
                <a:spcPts val="359"/>
              </a:spcAft>
            </a:pPr>
            <a:r>
              <a:rPr sz="1200" b="0" i="0">
                <a:solidFill>
                  <a:srgbClr val="1B1B1B"/>
                </a:solidFill>
                <a:latin typeface="Calibri"/>
              </a:rPr>
              <a:t>ANSSI, « Analyste sécurité expert – Veille et vulnérabilités H/F » (réf. 2026-2261375, choisirleservicepublic.gouv.fr) : « assurer une veille quotidienne sur les vulnérabilités et codes d'exploitation » ; « rédiger les synthèses et les avis de sécurité » ; « participer aux échanges avec les CERT et CSIRT homologues ». Diplôme d'ingénieur ou master.</a:t>
            </a:r>
          </a:p>
          <a:p>
            <a:pPr algn="l">
              <a:spcAft>
                <a:spcPts val="359"/>
              </a:spcAft>
            </a:pPr>
            <a:r>
              <a:rPr sz="1200" b="0" i="0">
                <a:solidFill>
                  <a:srgbClr val="1B1B1B"/>
                </a:solidFill>
                <a:latin typeface="Calibri"/>
              </a:rPr>
              <a:t>Bouygues Telecom, « Analyste Vulnérabilité Confirmé H/F » (France Travail, publiée le 6 mars 2025) : veille continue des vulnérabilités, rapports orientés risques, vulgarisation de sujets techniques, « excellentes capacités de communication et pédagogie ».</a:t>
            </a:r>
          </a:p>
          <a:p>
            <a:pPr algn="l">
              <a:spcAft>
                <a:spcPts val="359"/>
              </a:spcAft>
            </a:pPr>
            <a:r>
              <a:rPr sz="1200" b="0" i="0">
                <a:solidFill>
                  <a:srgbClr val="1B1B1B"/>
                </a:solidFill>
                <a:latin typeface="Calibri"/>
              </a:rPr>
              <a:t>À vous : trouvez une offre réelle d'ingénieur dans le métier que vous visez (France Travail, APEC, site d'une entreprise ou talents.ssi.gouv.fr).</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59"/>
              </a:spcAft>
              <a:buAutoNum type="arabicPeriod"/>
            </a:pPr>
            <a:r>
              <a:rPr sz="1200" b="0" i="0">
                <a:solidFill>
                  <a:srgbClr val="1B1B1B"/>
                </a:solidFill>
                <a:latin typeface="Calibri"/>
              </a:rPr>
              <a:t>Notez l'employeur, l'intitulé, la date et l'adresse de votre offre.</a:t>
            </a:r>
          </a:p>
          <a:p>
            <a:pPr algn="l" marL="274320" indent="-274320">
              <a:spcAft>
                <a:spcPts val="359"/>
              </a:spcAft>
              <a:buAutoNum type="arabicPeriod"/>
            </a:pPr>
            <a:r>
              <a:rPr sz="1200" b="0" i="0">
                <a:solidFill>
                  <a:srgbClr val="1B1B1B"/>
                </a:solidFill>
                <a:latin typeface="Calibri"/>
              </a:rPr>
              <a:t>Soulignez les verbes qui concernent chercher ou veiller, écrire, présenter : combien de verbes de ce type trouvez-vous ?</a:t>
            </a:r>
          </a:p>
          <a:p>
            <a:pPr algn="l" marL="274320" indent="-274320">
              <a:spcAft>
                <a:spcPts val="359"/>
              </a:spcAft>
              <a:buAutoNum type="arabicPeriod"/>
            </a:pPr>
            <a:r>
              <a:rPr sz="1200" b="0" i="0">
                <a:solidFill>
                  <a:srgbClr val="1B1B1B"/>
                </a:solidFill>
                <a:latin typeface="Calibri"/>
              </a:rPr>
              <a:t>L'offre demande-t-elle explicitement de la veille ?</a:t>
            </a:r>
          </a:p>
          <a:p>
            <a:pPr algn="l" marL="274320" indent="-274320">
              <a:spcAft>
                <a:spcPts val="359"/>
              </a:spcAft>
              <a:buAutoNum type="arabicPeriod"/>
            </a:pPr>
            <a:r>
              <a:rPr sz="1200" b="0" i="0">
                <a:solidFill>
                  <a:srgbClr val="1B1B1B"/>
                </a:solidFill>
                <a:latin typeface="Calibri"/>
              </a:rPr>
              <a:t>Associez trois verbes aux objectifs du syllabus (O1, O2, O3, P1, P2).</a:t>
            </a:r>
          </a:p>
          <a:p>
            <a:pPr algn="l" marL="274320" indent="-274320">
              <a:spcAft>
                <a:spcPts val="359"/>
              </a:spcAft>
              <a:buAutoNum type="arabicPeriod"/>
            </a:pPr>
            <a:r>
              <a:rPr sz="1200" b="0" i="0">
                <a:solidFill>
                  <a:srgbClr val="1B1B1B"/>
                </a:solidFill>
                <a:latin typeface="Calibri"/>
              </a:rPr>
              <a:t>Quelle compétence de cette offre ce cours vous fera-t-il travailler en priorité ?</a:t>
            </a:r>
          </a:p>
          <a:p>
            <a:pPr algn="l" marL="274320" indent="-274320">
              <a:spcAft>
                <a:spcPts val="359"/>
              </a:spcAft>
              <a:buAutoNum type="arabicPeriod"/>
            </a:pPr>
            <a:r>
              <a:rPr sz="1200" b="0" i="0">
                <a:solidFill>
                  <a:srgbClr val="1B1B1B"/>
                </a:solidFill>
                <a:latin typeface="Calibri"/>
              </a:rPr>
              <a:t>Avec ChatGPT ou une autre IA (notez laquelle) : collez l'offre et demandez « quelles compétences de communication attend-on ? ». Combien de compétences l'IA ajoute-t-elle que vous n'aviez pas relevées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Votre offre cible et la correspondance avec les objectifs → Dossier, section 0.</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0.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665"/>
              </a:spcAft>
            </a:pPr>
            <a:r>
              <a:rPr sz="1900" b="1" i="0">
                <a:solidFill>
                  <a:srgbClr val="FFFFFF"/>
                </a:solidFill>
                <a:latin typeface="Calibri"/>
              </a:rPr>
              <a:t>Correction · EX 0 — Lire une offre d'emploi d'ingénieur : que demande-t-on vraiment ?</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EX0</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Repérer les verbes d'action : veiller, rédiger, vulgariser, présenter.</a:t>
            </a:r>
          </a:p>
          <a:p>
            <a:pPr algn="l" marL="274320" indent="-274320">
              <a:spcAft>
                <a:spcPts val="375"/>
              </a:spcAft>
              <a:buAutoNum type="arabicPeriod"/>
            </a:pPr>
            <a:r>
              <a:rPr sz="1500" b="0" i="0">
                <a:solidFill>
                  <a:srgbClr val="1B1B1B"/>
                </a:solidFill>
                <a:latin typeface="Calibri"/>
              </a:rPr>
              <a:t>Relier chaque verbe à un objectif du syllabus.</a:t>
            </a:r>
          </a:p>
          <a:p>
            <a:pPr algn="l" marL="274320" indent="-274320">
              <a:spcAft>
                <a:spcPts val="375"/>
              </a:spcAft>
              <a:buAutoNum type="arabicPeriod"/>
            </a:pPr>
            <a:r>
              <a:rPr sz="1500" b="0" i="0">
                <a:solidFill>
                  <a:srgbClr val="1B1B1B"/>
                </a:solidFill>
                <a:latin typeface="Calibri"/>
              </a:rPr>
              <a:t>Garder la date et l'adresse : une offre disparaît, la trace reste.</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4206240"/>
                <a:gridCol w="3840480"/>
              </a:tblGrid>
              <a:tr h="237744">
                <a:tc>
                  <a:txBody>
                    <a:bodyPr wrap="square"/>
                    <a:lstStyle/>
                    <a:p>
                      <a:r>
                        <a:rPr sz="1300" b="1">
                          <a:solidFill>
                            <a:srgbClr val="FFFFFF"/>
                          </a:solidFill>
                          <a:latin typeface="Calibri"/>
                        </a:rPr>
                        <a:t>Extrait de l'offre</a:t>
                      </a:r>
                    </a:p>
                  </a:txBody>
                  <a:tcPr marL="73152" marR="73152" marT="36576" marB="36576">
                    <a:solidFill>
                      <a:srgbClr val="1F2A5C"/>
                    </a:solidFill>
                  </a:tcPr>
                </a:tc>
                <a:tc>
                  <a:txBody>
                    <a:bodyPr wrap="square"/>
                    <a:lstStyle/>
                    <a:p>
                      <a:r>
                        <a:rPr sz="1300" b="1">
                          <a:solidFill>
                            <a:srgbClr val="FFFFFF"/>
                          </a:solidFill>
                          <a:latin typeface="Calibri"/>
                        </a:rPr>
                        <a:t>Objectif du syllabus</a:t>
                      </a:r>
                    </a:p>
                  </a:txBody>
                  <a:tcPr marL="73152" marR="73152" marT="36576" marB="36576">
                    <a:solidFill>
                      <a:srgbClr val="1F2A5C"/>
                    </a:solidFill>
                  </a:tcPr>
                </a:tc>
              </a:tr>
              <a:tr h="237744">
                <a:tc>
                  <a:txBody>
                    <a:bodyPr wrap="square"/>
                    <a:lstStyle/>
                    <a:p>
                      <a:r>
                        <a:rPr sz="1300" b="1">
                          <a:solidFill>
                            <a:srgbClr val="1B1B1B"/>
                          </a:solidFill>
                          <a:latin typeface="Calibri"/>
                        </a:rPr>
                        <a:t>ANSSI : « assurer une veille quotidienne sur les vulnérabilités »</a:t>
                      </a:r>
                    </a:p>
                  </a:txBody>
                  <a:tcPr marL="73152" marR="73152" marT="36576" marB="36576">
                    <a:solidFill>
                      <a:srgbClr val="FFFFFF"/>
                    </a:solidFill>
                  </a:tcPr>
                </a:tc>
                <a:tc>
                  <a:txBody>
                    <a:bodyPr wrap="square"/>
                    <a:lstStyle/>
                    <a:p>
                      <a:r>
                        <a:rPr sz="1300" b="0">
                          <a:solidFill>
                            <a:srgbClr val="1B1B1B"/>
                          </a:solidFill>
                          <a:latin typeface="Calibri"/>
                        </a:rPr>
                        <a:t>O3 : chercher, évaluer, valider (et projet tutoré)</a:t>
                      </a:r>
                    </a:p>
                  </a:txBody>
                  <a:tcPr marL="73152" marR="73152" marT="36576" marB="36576">
                    <a:solidFill>
                      <a:srgbClr val="FFFFFF"/>
                    </a:solidFill>
                  </a:tcPr>
                </a:tc>
              </a:tr>
              <a:tr h="237744">
                <a:tc>
                  <a:txBody>
                    <a:bodyPr wrap="square"/>
                    <a:lstStyle/>
                    <a:p>
                      <a:r>
                        <a:rPr sz="1300" b="1">
                          <a:solidFill>
                            <a:srgbClr val="1B1B1B"/>
                          </a:solidFill>
                          <a:latin typeface="Calibri"/>
                        </a:rPr>
                        <a:t>ANSSI : « rédiger les synthèses et les avis de sécurité »</a:t>
                      </a:r>
                    </a:p>
                  </a:txBody>
                  <a:tcPr marL="73152" marR="73152" marT="36576" marB="36576">
                    <a:solidFill>
                      <a:srgbClr val="F3F5F9"/>
                    </a:solidFill>
                  </a:tcPr>
                </a:tc>
                <a:tc>
                  <a:txBody>
                    <a:bodyPr wrap="square"/>
                    <a:lstStyle/>
                    <a:p>
                      <a:r>
                        <a:rPr sz="1300" b="0">
                          <a:solidFill>
                            <a:srgbClr val="1B1B1B"/>
                          </a:solidFill>
                          <a:latin typeface="Calibri"/>
                        </a:rPr>
                        <a:t>P2 : restituer par écrit ; O1 : un avis recommande, donc argumente</a:t>
                      </a:r>
                    </a:p>
                  </a:txBody>
                  <a:tcPr marL="73152" marR="73152" marT="36576" marB="36576">
                    <a:solidFill>
                      <a:srgbClr val="F3F5F9"/>
                    </a:solidFill>
                  </a:tcPr>
                </a:tc>
              </a:tr>
              <a:tr h="237744">
                <a:tc>
                  <a:txBody>
                    <a:bodyPr wrap="square"/>
                    <a:lstStyle/>
                    <a:p>
                      <a:r>
                        <a:rPr sz="1300" b="1">
                          <a:solidFill>
                            <a:srgbClr val="1B1B1B"/>
                          </a:solidFill>
                          <a:latin typeface="Calibri"/>
                        </a:rPr>
                        <a:t>ANSSI : échanges avec les CERT et CSIRT homologues</a:t>
                      </a:r>
                    </a:p>
                  </a:txBody>
                  <a:tcPr marL="73152" marR="73152" marT="36576" marB="36576">
                    <a:solidFill>
                      <a:srgbClr val="FFFFFF"/>
                    </a:solidFill>
                  </a:tcPr>
                </a:tc>
                <a:tc>
                  <a:txBody>
                    <a:bodyPr wrap="square"/>
                    <a:lstStyle/>
                    <a:p>
                      <a:r>
                        <a:rPr sz="1300" b="0">
                          <a:solidFill>
                            <a:srgbClr val="1B1B1B"/>
                          </a:solidFill>
                          <a:latin typeface="Calibri"/>
                        </a:rPr>
                        <a:t>P1 : communiquer en posture d'ingénieur</a:t>
                      </a:r>
                    </a:p>
                  </a:txBody>
                  <a:tcPr marL="73152" marR="73152" marT="36576" marB="36576">
                    <a:solidFill>
                      <a:srgbClr val="FFFFFF"/>
                    </a:solidFill>
                  </a:tcPr>
                </a:tc>
              </a:tr>
              <a:tr h="237744">
                <a:tc>
                  <a:txBody>
                    <a:bodyPr wrap="square"/>
                    <a:lstStyle/>
                    <a:p>
                      <a:r>
                        <a:rPr sz="1300" b="1">
                          <a:solidFill>
                            <a:srgbClr val="1B1B1B"/>
                          </a:solidFill>
                          <a:latin typeface="Calibri"/>
                        </a:rPr>
                        <a:t>Bouygues Telecom : rapports orientés risques</a:t>
                      </a:r>
                    </a:p>
                  </a:txBody>
                  <a:tcPr marL="73152" marR="73152" marT="36576" marB="36576">
                    <a:solidFill>
                      <a:srgbClr val="F3F5F9"/>
                    </a:solidFill>
                  </a:tcPr>
                </a:tc>
                <a:tc>
                  <a:txBody>
                    <a:bodyPr wrap="square"/>
                    <a:lstStyle/>
                    <a:p>
                      <a:r>
                        <a:rPr sz="1300" b="0">
                          <a:solidFill>
                            <a:srgbClr val="1B1B1B"/>
                          </a:solidFill>
                          <a:latin typeface="Calibri"/>
                        </a:rPr>
                        <a:t>P2 : restituer ; O1 : argumenter à partir de faits</a:t>
                      </a:r>
                    </a:p>
                  </a:txBody>
                  <a:tcPr marL="73152" marR="73152" marT="36576" marB="36576">
                    <a:solidFill>
                      <a:srgbClr val="F3F5F9"/>
                    </a:solidFill>
                  </a:tcPr>
                </a:tc>
              </a:tr>
              <a:tr h="237744">
                <a:tc>
                  <a:txBody>
                    <a:bodyPr wrap="square"/>
                    <a:lstStyle/>
                    <a:p>
                      <a:r>
                        <a:rPr sz="1300" b="1">
                          <a:solidFill>
                            <a:srgbClr val="1B1B1B"/>
                          </a:solidFill>
                          <a:latin typeface="Calibri"/>
                        </a:rPr>
                        <a:t>Bouygues Telecom : vulgariser des sujets techniques</a:t>
                      </a:r>
                    </a:p>
                  </a:txBody>
                  <a:tcPr marL="73152" marR="73152" marT="36576" marB="36576">
                    <a:solidFill>
                      <a:srgbClr val="FFFFFF"/>
                    </a:solidFill>
                  </a:tcPr>
                </a:tc>
                <a:tc>
                  <a:txBody>
                    <a:bodyPr wrap="square"/>
                    <a:lstStyle/>
                    <a:p>
                      <a:r>
                        <a:rPr sz="1300" b="0">
                          <a:solidFill>
                            <a:srgbClr val="1B1B1B"/>
                          </a:solidFill>
                          <a:latin typeface="Calibri"/>
                        </a:rPr>
                        <a:t>O2 : maîtriser l'information spécialisée, puis la traduire</a:t>
                      </a:r>
                    </a:p>
                  </a:txBody>
                  <a:tcPr marL="73152" marR="73152" marT="36576" marB="36576">
                    <a:solidFill>
                      <a:srgbClr val="FFFFFF"/>
                    </a:solidFill>
                  </a:tcPr>
                </a:tc>
              </a:tr>
              <a:tr h="237744">
                <a:tc>
                  <a:txBody>
                    <a:bodyPr wrap="square"/>
                    <a:lstStyle/>
                    <a:p>
                      <a:r>
                        <a:rPr sz="1300" b="1">
                          <a:solidFill>
                            <a:srgbClr val="1B1B1B"/>
                          </a:solidFill>
                          <a:latin typeface="Calibri"/>
                        </a:rPr>
                        <a:t>Limite</a:t>
                      </a:r>
                    </a:p>
                  </a:txBody>
                  <a:tcPr marL="73152" marR="73152" marT="36576" marB="36576">
                    <a:solidFill>
                      <a:srgbClr val="F3F5F9"/>
                    </a:solidFill>
                  </a:tcPr>
                </a:tc>
                <a:tc>
                  <a:txBody>
                    <a:bodyPr wrap="square"/>
                    <a:lstStyle/>
                    <a:p>
                      <a:r>
                        <a:rPr sz="1300" b="0">
                          <a:solidFill>
                            <a:srgbClr val="1B1B1B"/>
                          </a:solidFill>
                          <a:latin typeface="Calibri"/>
                        </a:rPr>
                        <a:t>Deux offres ne forment pas un échantillon : l'objectif est d'apprendre à lire une offre, pas de conclure sur « le » marché</a:t>
                      </a:r>
                    </a:p>
                  </a:txBody>
                  <a:tcPr marL="73152" marR="73152" marT="36576" marB="36576">
                    <a:solidFill>
                      <a:srgbClr val="F3F5F9"/>
                    </a:solidFill>
                  </a:tcPr>
                </a:tc>
              </a:tr>
              <a:tr h="237744">
                <a:tc>
                  <a:txBody>
                    <a:bodyPr wrap="square"/>
                    <a:lstStyle/>
                    <a:p>
                      <a:r>
                        <a:rPr sz="1300" b="1">
                          <a:solidFill>
                            <a:srgbClr val="1B1B1B"/>
                          </a:solidFill>
                          <a:latin typeface="Calibri"/>
                        </a:rPr>
                        <a:t>IA · compétences ajoutées</a:t>
                      </a:r>
                    </a:p>
                  </a:txBody>
                  <a:tcPr marL="73152" marR="73152" marT="36576" marB="36576">
                    <a:solidFill>
                      <a:srgbClr val="FFFFFF"/>
                    </a:solidFill>
                  </a:tcPr>
                </a:tc>
                <a:tc>
                  <a:txBody>
                    <a:bodyPr wrap="square"/>
                    <a:lstStyle/>
                    <a:p>
                      <a:r>
                        <a:rPr sz="1300" b="0">
                          <a:solidFill>
                            <a:srgbClr val="1B1B1B"/>
                          </a:solidFill>
                          <a:latin typeface="Calibri"/>
                        </a:rPr>
                        <a:t>Souvent 1 à 3 : écrire des synthèses, vulgariser, travailler avec d'autres équipes. Retenez celles que l'offre dit réellement ; rejetez celles que l'IA invente.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Lister les compétences techniques et oublier les verbes de communication.</a:t>
            </a:r>
          </a:p>
          <a:p>
            <a:pPr algn="l" marL="201168" indent="-201168">
              <a:spcAft>
                <a:spcPts val="110"/>
              </a:spcAft>
              <a:buChar char="•"/>
            </a:pPr>
            <a:r>
              <a:rPr sz="1100" b="0" i="0">
                <a:solidFill>
                  <a:srgbClr val="1B1B1B"/>
                </a:solidFill>
                <a:latin typeface="Calibri"/>
              </a:rPr>
              <a:t>Citer une offre sans date ni adresse.</a:t>
            </a:r>
          </a:p>
          <a:p>
            <a:pPr algn="l" marL="201168" indent="-201168">
              <a:spcAft>
                <a:spcPts val="110"/>
              </a:spcAft>
              <a:buChar char="•"/>
            </a:pPr>
            <a:r>
              <a:rPr sz="1100" b="0" i="0">
                <a:solidFill>
                  <a:srgbClr val="1B1B1B"/>
                </a:solidFill>
                <a:latin typeface="Calibri"/>
              </a:rPr>
              <a:t>Généraliser à partir d'une seule offre.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Cinq prompts à copier (et ce qu'il faut contrôler)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14</a:t>
            </a:r>
          </a:p>
        </p:txBody>
      </p:sp>
      <p:graphicFrame>
        <p:nvGraphicFramePr>
          <p:cNvPr id="6" name="Table 5"/>
          <p:cNvGraphicFramePr>
            <a:graphicFrameLocks noGrp="1"/>
          </p:cNvGraphicFramePr>
          <p:nvPr/>
        </p:nvGraphicFramePr>
        <p:xfrm>
          <a:off x="411480" y="1188720"/>
          <a:ext cx="11338560" cy="2194560"/>
        </p:xfrm>
        <a:graphic>
          <a:graphicData uri="http://schemas.openxmlformats.org/drawingml/2006/table">
            <a:tbl>
              <a:tblPr firstRow="0" bandRow="0">
                <a:tableStyleId>{5C22544A-7EE6-4342-B048-85BDC9FD1C3A}</a:tableStyleId>
              </a:tblPr>
              <a:tblGrid>
                <a:gridCol w="1700784"/>
                <a:gridCol w="6236208"/>
                <a:gridCol w="3401568"/>
              </a:tblGrid>
              <a:tr h="365760">
                <a:tc>
                  <a:txBody>
                    <a:bodyPr wrap="square"/>
                    <a:lstStyle/>
                    <a:p>
                      <a:r>
                        <a:rPr sz="1700" b="1">
                          <a:solidFill>
                            <a:srgbClr val="FFFFFF"/>
                          </a:solidFill>
                          <a:latin typeface="Calibri"/>
                        </a:rPr>
                        <a:t>Besoin</a:t>
                      </a:r>
                    </a:p>
                  </a:txBody>
                  <a:tcPr marL="73152" marR="73152" marT="36576" marB="36576">
                    <a:solidFill>
                      <a:srgbClr val="1F2A5C"/>
                    </a:solidFill>
                  </a:tcPr>
                </a:tc>
                <a:tc>
                  <a:txBody>
                    <a:bodyPr wrap="square"/>
                    <a:lstStyle/>
                    <a:p>
                      <a:r>
                        <a:rPr sz="1700" b="1">
                          <a:solidFill>
                            <a:srgbClr val="FFFFFF"/>
                          </a:solidFill>
                          <a:latin typeface="Calibri"/>
                        </a:rPr>
                        <a:t>Prompt à copier</a:t>
                      </a:r>
                    </a:p>
                  </a:txBody>
                  <a:tcPr marL="73152" marR="73152" marT="36576" marB="36576">
                    <a:solidFill>
                      <a:srgbClr val="1F2A5C"/>
                    </a:solidFill>
                  </a:tcPr>
                </a:tc>
                <a:tc>
                  <a:txBody>
                    <a:bodyPr wrap="square"/>
                    <a:lstStyle/>
                    <a:p>
                      <a:r>
                        <a:rPr sz="1700" b="1">
                          <a:solidFill>
                            <a:srgbClr val="FFFFFF"/>
                          </a:solidFill>
                          <a:latin typeface="Calibri"/>
                        </a:rPr>
                        <a:t>À contrôler</a:t>
                      </a:r>
                    </a:p>
                  </a:txBody>
                  <a:tcPr marL="73152" marR="73152" marT="36576" marB="36576">
                    <a:solidFill>
                      <a:srgbClr val="1F2A5C"/>
                    </a:solidFill>
                  </a:tcPr>
                </a:tc>
              </a:tr>
              <a:tr h="365760">
                <a:tc>
                  <a:txBody>
                    <a:bodyPr wrap="square"/>
                    <a:lstStyle/>
                    <a:p>
                      <a:r>
                        <a:rPr sz="1700" b="1">
                          <a:solidFill>
                            <a:srgbClr val="1B1B1B"/>
                          </a:solidFill>
                          <a:latin typeface="Calibri"/>
                        </a:rPr>
                        <a:t>Mots-clés</a:t>
                      </a:r>
                    </a:p>
                  </a:txBody>
                  <a:tcPr marL="73152" marR="73152" marT="36576" marB="36576">
                    <a:solidFill>
                      <a:srgbClr val="FFFFFF"/>
                    </a:solidFill>
                  </a:tcPr>
                </a:tc>
                <a:tc>
                  <a:txBody>
                    <a:bodyPr wrap="square"/>
                    <a:lstStyle/>
                    <a:p>
                      <a:r>
                        <a:rPr sz="1700" b="0">
                          <a:solidFill>
                            <a:srgbClr val="1B1B1B"/>
                          </a:solidFill>
                          <a:latin typeface="Calibri"/>
                        </a:rPr>
                        <a:t>« Question : … Donne 10 mots-clés en français et en anglais, des synonymes et une requête avec guillemets et OR. »</a:t>
                      </a:r>
                    </a:p>
                  </a:txBody>
                  <a:tcPr marL="73152" marR="73152" marT="36576" marB="36576">
                    <a:solidFill>
                      <a:srgbClr val="FFFFFF"/>
                    </a:solidFill>
                  </a:tcPr>
                </a:tc>
                <a:tc>
                  <a:txBody>
                    <a:bodyPr wrap="square"/>
                    <a:lstStyle/>
                    <a:p>
                      <a:r>
                        <a:rPr sz="1700" b="0">
                          <a:solidFill>
                            <a:srgbClr val="1B1B1B"/>
                          </a:solidFill>
                          <a:latin typeface="Calibri"/>
                        </a:rPr>
                        <a:t>Testez la requête dans le moteur : comptez les résultats</a:t>
                      </a:r>
                    </a:p>
                  </a:txBody>
                  <a:tcPr marL="73152" marR="73152" marT="36576" marB="36576">
                    <a:solidFill>
                      <a:srgbClr val="FFFFFF"/>
                    </a:solidFill>
                  </a:tcPr>
                </a:tc>
              </a:tr>
              <a:tr h="365760">
                <a:tc>
                  <a:txBody>
                    <a:bodyPr wrap="square"/>
                    <a:lstStyle/>
                    <a:p>
                      <a:r>
                        <a:rPr sz="1700" b="1">
                          <a:solidFill>
                            <a:srgbClr val="1B1B1B"/>
                          </a:solidFill>
                          <a:latin typeface="Calibri"/>
                        </a:rPr>
                        <a:t>Lire un article public</a:t>
                      </a:r>
                    </a:p>
                  </a:txBody>
                  <a:tcPr marL="73152" marR="73152" marT="36576" marB="36576">
                    <a:solidFill>
                      <a:srgbClr val="F3F5F9"/>
                    </a:solidFill>
                  </a:tcPr>
                </a:tc>
                <a:tc>
                  <a:txBody>
                    <a:bodyPr wrap="square"/>
                    <a:lstStyle/>
                    <a:p>
                      <a:r>
                        <a:rPr sz="1700" b="0">
                          <a:solidFill>
                            <a:srgbClr val="1B1B1B"/>
                          </a:solidFill>
                          <a:latin typeface="Calibri"/>
                        </a:rPr>
                        <a:t>« Voici le texte d'un article. Donne la question, la méthode, le résultat chiffré et les limites, avec le numéro de page. »</a:t>
                      </a:r>
                    </a:p>
                  </a:txBody>
                  <a:tcPr marL="73152" marR="73152" marT="36576" marB="36576">
                    <a:solidFill>
                      <a:srgbClr val="F3F5F9"/>
                    </a:solidFill>
                  </a:tcPr>
                </a:tc>
                <a:tc>
                  <a:txBody>
                    <a:bodyPr wrap="square"/>
                    <a:lstStyle/>
                    <a:p>
                      <a:r>
                        <a:rPr sz="1700" b="0">
                          <a:solidFill>
                            <a:srgbClr val="1B1B1B"/>
                          </a:solidFill>
                          <a:latin typeface="Calibri"/>
                        </a:rPr>
                        <a:t>Relisez le passage cité dans l'article</a:t>
                      </a:r>
                    </a:p>
                  </a:txBody>
                  <a:tcPr marL="73152" marR="73152" marT="36576" marB="36576">
                    <a:solidFill>
                      <a:srgbClr val="F3F5F9"/>
                    </a:solidFill>
                  </a:tcPr>
                </a:tc>
              </a:tr>
              <a:tr h="365760">
                <a:tc>
                  <a:txBody>
                    <a:bodyPr wrap="square"/>
                    <a:lstStyle/>
                    <a:p>
                      <a:r>
                        <a:rPr sz="1700" b="1">
                          <a:solidFill>
                            <a:srgbClr val="1B1B1B"/>
                          </a:solidFill>
                          <a:latin typeface="Calibri"/>
                        </a:rPr>
                        <a:t>Avocat du diable</a:t>
                      </a:r>
                    </a:p>
                  </a:txBody>
                  <a:tcPr marL="73152" marR="73152" marT="36576" marB="36576">
                    <a:solidFill>
                      <a:srgbClr val="FFFFFF"/>
                    </a:solidFill>
                  </a:tcPr>
                </a:tc>
                <a:tc>
                  <a:txBody>
                    <a:bodyPr wrap="square"/>
                    <a:lstStyle/>
                    <a:p>
                      <a:r>
                        <a:rPr sz="1700" b="0">
                          <a:solidFill>
                            <a:srgbClr val="1B1B1B"/>
                          </a:solidFill>
                          <a:latin typeface="Calibri"/>
                        </a:rPr>
                        <a:t>« Voici mon argument (affirmation, données, garantie). Donne les 3 objections les plus fortes, sans inventer de chiffres. »</a:t>
                      </a:r>
                    </a:p>
                  </a:txBody>
                  <a:tcPr marL="73152" marR="73152" marT="36576" marB="36576">
                    <a:solidFill>
                      <a:srgbClr val="FFFFFF"/>
                    </a:solidFill>
                  </a:tcPr>
                </a:tc>
                <a:tc>
                  <a:txBody>
                    <a:bodyPr wrap="square"/>
                    <a:lstStyle/>
                    <a:p>
                      <a:r>
                        <a:rPr sz="1700" b="0">
                          <a:solidFill>
                            <a:srgbClr val="1B1B1B"/>
                          </a:solidFill>
                          <a:latin typeface="Calibri"/>
                        </a:rPr>
                        <a:t>Gardez seulement les objections pertinentes pour votre cas</a:t>
                      </a:r>
                    </a:p>
                  </a:txBody>
                  <a:tcPr marL="73152" marR="73152" marT="36576" marB="36576">
                    <a:solidFill>
                      <a:srgbClr val="FFFFFF"/>
                    </a:solidFill>
                  </a:tcPr>
                </a:tc>
              </a:tr>
              <a:tr h="365760">
                <a:tc>
                  <a:txBody>
                    <a:bodyPr wrap="square"/>
                    <a:lstStyle/>
                    <a:p>
                      <a:r>
                        <a:rPr sz="1700" b="1">
                          <a:solidFill>
                            <a:srgbClr val="1B1B1B"/>
                          </a:solidFill>
                          <a:latin typeface="Calibri"/>
                        </a:rPr>
                        <a:t>Relecture</a:t>
                      </a:r>
                    </a:p>
                  </a:txBody>
                  <a:tcPr marL="73152" marR="73152" marT="36576" marB="36576">
                    <a:solidFill>
                      <a:srgbClr val="F3F5F9"/>
                    </a:solidFill>
                  </a:tcPr>
                </a:tc>
                <a:tc>
                  <a:txBody>
                    <a:bodyPr wrap="square"/>
                    <a:lstStyle/>
                    <a:p>
                      <a:r>
                        <a:rPr sz="1700" b="0">
                          <a:solidFill>
                            <a:srgbClr val="1B1B1B"/>
                          </a:solidFill>
                          <a:latin typeface="Calibri"/>
                        </a:rPr>
                        <a:t>« Relis ce paragraphe : clarté, orthographe, une affirmation sans source ? Ne le réécris pas. »</a:t>
                      </a:r>
                    </a:p>
                  </a:txBody>
                  <a:tcPr marL="73152" marR="73152" marT="36576" marB="36576">
                    <a:solidFill>
                      <a:srgbClr val="F3F5F9"/>
                    </a:solidFill>
                  </a:tcPr>
                </a:tc>
                <a:tc>
                  <a:txBody>
                    <a:bodyPr wrap="square"/>
                    <a:lstStyle/>
                    <a:p>
                      <a:r>
                        <a:rPr sz="1700" b="0">
                          <a:solidFill>
                            <a:srgbClr val="1B1B1B"/>
                          </a:solidFill>
                          <a:latin typeface="Calibri"/>
                        </a:rPr>
                        <a:t>Vous décidez de chaque correction</a:t>
                      </a:r>
                    </a:p>
                  </a:txBody>
                  <a:tcPr marL="73152" marR="73152" marT="36576" marB="36576">
                    <a:solidFill>
                      <a:srgbClr val="F3F5F9"/>
                    </a:solidFill>
                  </a:tcPr>
                </a:tc>
              </a:tr>
              <a:tr h="365760">
                <a:tc>
                  <a:txBody>
                    <a:bodyPr wrap="square"/>
                    <a:lstStyle/>
                    <a:p>
                      <a:r>
                        <a:rPr sz="1700" b="1">
                          <a:solidFill>
                            <a:srgbClr val="1B1B1B"/>
                          </a:solidFill>
                          <a:latin typeface="Calibri"/>
                        </a:rPr>
                        <a:t>Jury sceptique</a:t>
                      </a:r>
                    </a:p>
                  </a:txBody>
                  <a:tcPr marL="73152" marR="73152" marT="36576" marB="36576">
                    <a:solidFill>
                      <a:srgbClr val="FFFFFF"/>
                    </a:solidFill>
                  </a:tcPr>
                </a:tc>
                <a:tc>
                  <a:txBody>
                    <a:bodyPr wrap="square"/>
                    <a:lstStyle/>
                    <a:p>
                      <a:r>
                        <a:rPr sz="1700" b="0">
                          <a:solidFill>
                            <a:srgbClr val="1B1B1B"/>
                          </a:solidFill>
                          <a:latin typeface="Calibri"/>
                        </a:rPr>
                        <a:t>« Tu es la directrice, non technique et sceptique. Pose-moi 3 questions sur ce pitch. »</a:t>
                      </a:r>
                    </a:p>
                  </a:txBody>
                  <a:tcPr marL="73152" marR="73152" marT="36576" marB="36576">
                    <a:solidFill>
                      <a:srgbClr val="FFFFFF"/>
                    </a:solidFill>
                  </a:tcPr>
                </a:tc>
                <a:tc>
                  <a:txBody>
                    <a:bodyPr wrap="square"/>
                    <a:lstStyle/>
                    <a:p>
                      <a:r>
                        <a:rPr sz="1700" b="0">
                          <a:solidFill>
                            <a:srgbClr val="1B1B1B"/>
                          </a:solidFill>
                          <a:latin typeface="Calibri"/>
                        </a:rPr>
                        <a:t>Répondez à voix haute, chronométrez</a:t>
                      </a:r>
                    </a:p>
                  </a:txBody>
                  <a:tcPr marL="73152" marR="73152" marT="36576" marB="36576">
                    <a:solidFill>
                      <a:srgbClr val="FFFFFF"/>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Jamais de donnée confidentielle. Notez le nom de l'IA utilisée (dossier, section 18) et variez-les : les réponses diffèrent.</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un bon prompt contient un rôle, un contexte, une tâche, un format et une limite (« sans inventer de source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00"/>
              </a:spcAft>
            </a:pPr>
            <a:r>
              <a:rPr sz="2000" b="1" i="0">
                <a:solidFill>
                  <a:srgbClr val="FFFFFF"/>
                </a:solidFill>
                <a:latin typeface="Calibri"/>
              </a:rPr>
              <a:t>Votre mission sur les 2,5 jours : un état de l'art pour la directrice de TransLor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15</a:t>
            </a:r>
          </a:p>
        </p:txBody>
      </p:sp>
      <p:sp>
        <p:nvSpPr>
          <p:cNvPr id="6" name="Rounded Rectangle 5"/>
          <p:cNvSpPr/>
          <p:nvPr/>
        </p:nvSpPr>
        <p:spPr>
          <a:xfrm>
            <a:off x="411480" y="1371600"/>
            <a:ext cx="162306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Question
(jour 1)</a:t>
            </a:r>
          </a:p>
        </p:txBody>
      </p:sp>
      <p:sp>
        <p:nvSpPr>
          <p:cNvPr id="7" name="Rounded Rectangle 6"/>
          <p:cNvSpPr/>
          <p:nvPr/>
        </p:nvSpPr>
        <p:spPr>
          <a:xfrm>
            <a:off x="411480"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Choisir un sujet, formuler la décision</a:t>
            </a:r>
          </a:p>
          <a:p>
            <a:pPr algn="l">
              <a:spcAft>
                <a:spcPts val="480"/>
              </a:spcAft>
            </a:pPr>
            <a:r>
              <a:rPr sz="1600" b="0" i="0">
                <a:solidFill>
                  <a:srgbClr val="1B1B1B"/>
                </a:solidFill>
                <a:latin typeface="Calibri"/>
              </a:rPr>
              <a:t>Ex. : « Faut-il des passkeys ? »</a:t>
            </a:r>
          </a:p>
        </p:txBody>
      </p:sp>
      <p:sp>
        <p:nvSpPr>
          <p:cNvPr id="8" name="Right Arrow 7"/>
          <p:cNvSpPr/>
          <p:nvPr/>
        </p:nvSpPr>
        <p:spPr>
          <a:xfrm>
            <a:off x="20528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54580" y="1371600"/>
            <a:ext cx="162306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Chercher
(jour 1)</a:t>
            </a:r>
          </a:p>
        </p:txBody>
      </p:sp>
      <p:sp>
        <p:nvSpPr>
          <p:cNvPr id="10" name="Rounded Rectangle 9"/>
          <p:cNvSpPr/>
          <p:nvPr/>
        </p:nvSpPr>
        <p:spPr>
          <a:xfrm>
            <a:off x="2354580"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Requêtes, sources, Zotero</a:t>
            </a:r>
          </a:p>
          <a:p>
            <a:pPr algn="l">
              <a:spcAft>
                <a:spcPts val="480"/>
              </a:spcAft>
            </a:pPr>
            <a:r>
              <a:rPr sz="1600" b="0" i="0">
                <a:solidFill>
                  <a:srgbClr val="1B1B1B"/>
                </a:solidFill>
                <a:latin typeface="Calibri"/>
              </a:rPr>
              <a:t>Ex. : « passkeys » OR passwordless</a:t>
            </a:r>
          </a:p>
        </p:txBody>
      </p:sp>
      <p:sp>
        <p:nvSpPr>
          <p:cNvPr id="11" name="Right Arrow 10"/>
          <p:cNvSpPr/>
          <p:nvPr/>
        </p:nvSpPr>
        <p:spPr>
          <a:xfrm>
            <a:off x="39959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7680" y="1371600"/>
            <a:ext cx="162306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Évaluer
(jour 1)</a:t>
            </a:r>
          </a:p>
        </p:txBody>
      </p:sp>
      <p:sp>
        <p:nvSpPr>
          <p:cNvPr id="13" name="Rounded Rectangle 12"/>
          <p:cNvSpPr/>
          <p:nvPr/>
        </p:nvSpPr>
        <p:spPr>
          <a:xfrm>
            <a:off x="4297680"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Grille en six questions</a:t>
            </a:r>
          </a:p>
          <a:p>
            <a:pPr algn="l">
              <a:spcAft>
                <a:spcPts val="480"/>
              </a:spcAft>
            </a:pPr>
            <a:r>
              <a:rPr sz="1600" b="0" i="0">
                <a:solidFill>
                  <a:srgbClr val="1B1B1B"/>
                </a:solidFill>
                <a:latin typeface="Calibri"/>
              </a:rPr>
              <a:t>Ex. : rapport d'agence : 10 sur 12</a:t>
            </a:r>
          </a:p>
        </p:txBody>
      </p:sp>
      <p:sp>
        <p:nvSpPr>
          <p:cNvPr id="14" name="Right Arrow 13"/>
          <p:cNvSpPr/>
          <p:nvPr/>
        </p:nvSpPr>
        <p:spPr>
          <a:xfrm>
            <a:off x="59390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40780" y="1371600"/>
            <a:ext cx="162306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Argumenter
(jour 2)</a:t>
            </a:r>
          </a:p>
        </p:txBody>
      </p:sp>
      <p:sp>
        <p:nvSpPr>
          <p:cNvPr id="16" name="Rounded Rectangle 15"/>
          <p:cNvSpPr/>
          <p:nvPr/>
        </p:nvSpPr>
        <p:spPr>
          <a:xfrm>
            <a:off x="6240780"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Toulmin, objections, réserves</a:t>
            </a:r>
          </a:p>
          <a:p>
            <a:pPr algn="l">
              <a:spcAft>
                <a:spcPts val="480"/>
              </a:spcAft>
            </a:pPr>
            <a:r>
              <a:rPr sz="1600" b="0" i="0">
                <a:solidFill>
                  <a:srgbClr val="1B1B1B"/>
                </a:solidFill>
                <a:latin typeface="Calibri"/>
              </a:rPr>
              <a:t>Ex. : « probablement, sous réserve… »</a:t>
            </a:r>
          </a:p>
        </p:txBody>
      </p:sp>
      <p:sp>
        <p:nvSpPr>
          <p:cNvPr id="17" name="Right Arrow 16"/>
          <p:cNvSpPr/>
          <p:nvPr/>
        </p:nvSpPr>
        <p:spPr>
          <a:xfrm>
            <a:off x="7882127"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83879" y="1371600"/>
            <a:ext cx="162306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Synthétiser
(jour 2)</a:t>
            </a:r>
          </a:p>
        </p:txBody>
      </p:sp>
      <p:sp>
        <p:nvSpPr>
          <p:cNvPr id="19" name="Rounded Rectangle 18"/>
          <p:cNvSpPr/>
          <p:nvPr/>
        </p:nvSpPr>
        <p:spPr>
          <a:xfrm>
            <a:off x="8183879"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Matrice, plan, rédaction</a:t>
            </a:r>
          </a:p>
          <a:p>
            <a:pPr algn="l">
              <a:spcAft>
                <a:spcPts val="480"/>
              </a:spcAft>
            </a:pPr>
            <a:r>
              <a:rPr sz="1600" b="0" i="0">
                <a:solidFill>
                  <a:srgbClr val="1B1B1B"/>
                </a:solidFill>
                <a:latin typeface="Calibri"/>
              </a:rPr>
              <a:t>Ex. : 3 solutions, 4 critères</a:t>
            </a:r>
          </a:p>
        </p:txBody>
      </p:sp>
      <p:sp>
        <p:nvSpPr>
          <p:cNvPr id="20" name="Right Arrow 19"/>
          <p:cNvSpPr/>
          <p:nvPr/>
        </p:nvSpPr>
        <p:spPr>
          <a:xfrm>
            <a:off x="98252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26980" y="1371600"/>
            <a:ext cx="1623060" cy="82296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Défendre
(jour 3)</a:t>
            </a:r>
          </a:p>
        </p:txBody>
      </p:sp>
      <p:sp>
        <p:nvSpPr>
          <p:cNvPr id="22" name="Rounded Rectangle 21"/>
          <p:cNvSpPr/>
          <p:nvPr/>
        </p:nvSpPr>
        <p:spPr>
          <a:xfrm>
            <a:off x="10126980" y="2286000"/>
            <a:ext cx="162306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Pitch de 5 minutes et jury</a:t>
            </a:r>
          </a:p>
          <a:p>
            <a:pPr algn="l">
              <a:spcAft>
                <a:spcPts val="480"/>
              </a:spcAft>
            </a:pPr>
            <a:r>
              <a:rPr sz="1600" b="0" i="0">
                <a:solidFill>
                  <a:srgbClr val="1B1B1B"/>
                </a:solidFill>
                <a:latin typeface="Calibri"/>
              </a:rPr>
              <a:t>Ex. : un message clé en une phrase</a:t>
            </a:r>
          </a:p>
        </p:txBody>
      </p:sp>
      <p:sp>
        <p:nvSpPr>
          <p:cNvPr id="23" name="Rounded Rectangle 22"/>
          <p:cNvSpPr/>
          <p:nvPr/>
        </p:nvSpPr>
        <p:spPr>
          <a:xfrm>
            <a:off x="411480" y="4846320"/>
            <a:ext cx="11338560" cy="731520"/>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Résultat attendu à la fin des 2,5 jours : un état de l'art de 2 pages avec bibliographie, remis à la directrice (non technique), puis défendu en 5 minutes devant un jury. Le dossier d'état de l'art rassemble toutes les pièces.</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C'est le fil rouge de tout le cours : un seul état de l'art, construit étape par étape. Chaque exercice y ajoute une pièce.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19 sujets pour votre état de l'art</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16</a:t>
            </a:r>
          </a:p>
        </p:txBody>
      </p:sp>
      <p:graphicFrame>
        <p:nvGraphicFramePr>
          <p:cNvPr id="6" name="Table 5"/>
          <p:cNvGraphicFramePr>
            <a:graphicFrameLocks noGrp="1"/>
          </p:cNvGraphicFramePr>
          <p:nvPr/>
        </p:nvGraphicFramePr>
        <p:xfrm>
          <a:off x="411480" y="1188720"/>
          <a:ext cx="11338559" cy="4023360"/>
        </p:xfrm>
        <a:graphic>
          <a:graphicData uri="http://schemas.openxmlformats.org/drawingml/2006/table">
            <a:tbl>
              <a:tblPr firstRow="0" bandRow="0">
                <a:tableStyleId>{5C22544A-7EE6-4342-B048-85BDC9FD1C3A}</a:tableStyleId>
              </a:tblPr>
              <a:tblGrid>
                <a:gridCol w="3298490"/>
                <a:gridCol w="8040069"/>
              </a:tblGrid>
              <a:tr h="365760">
                <a:tc>
                  <a:txBody>
                    <a:bodyPr wrap="square"/>
                    <a:lstStyle/>
                    <a:p>
                      <a:r>
                        <a:rPr sz="1700" b="1">
                          <a:solidFill>
                            <a:srgbClr val="FFFFFF"/>
                          </a:solidFill>
                          <a:latin typeface="Calibri"/>
                        </a:rPr>
                        <a:t>Sujet</a:t>
                      </a:r>
                    </a:p>
                  </a:txBody>
                  <a:tcPr marL="73152" marR="73152" marT="36576" marB="36576">
                    <a:solidFill>
                      <a:srgbClr val="1F2A5C"/>
                    </a:solidFill>
                  </a:tcPr>
                </a:tc>
                <a:tc>
                  <a:txBody>
                    <a:bodyPr wrap="square"/>
                    <a:lstStyle/>
                    <a:p>
                      <a:r>
                        <a:rPr sz="1700" b="1">
                          <a:solidFill>
                            <a:srgbClr val="FFFFFF"/>
                          </a:solidFill>
                          <a:latin typeface="Calibri"/>
                        </a:rPr>
                        <a:t>Question de départ</a:t>
                      </a:r>
                    </a:p>
                  </a:txBody>
                  <a:tcPr marL="73152" marR="73152" marT="36576" marB="36576">
                    <a:solidFill>
                      <a:srgbClr val="1F2A5C"/>
                    </a:solidFill>
                  </a:tcPr>
                </a:tc>
              </a:tr>
              <a:tr h="365760">
                <a:tc>
                  <a:txBody>
                    <a:bodyPr wrap="square"/>
                    <a:lstStyle/>
                    <a:p>
                      <a:r>
                        <a:rPr sz="1700" b="1">
                          <a:solidFill>
                            <a:srgbClr val="1B1B1B"/>
                          </a:solidFill>
                          <a:latin typeface="Calibri"/>
                        </a:rPr>
                        <a:t>Passkeys</a:t>
                      </a:r>
                    </a:p>
                  </a:txBody>
                  <a:tcPr marL="73152" marR="73152" marT="36576" marB="36576">
                    <a:solidFill>
                      <a:srgbClr val="FFFFFF"/>
                    </a:solidFill>
                  </a:tcPr>
                </a:tc>
                <a:tc>
                  <a:txBody>
                    <a:bodyPr wrap="square"/>
                    <a:lstStyle/>
                    <a:p>
                      <a:r>
                        <a:rPr sz="1700" b="0">
                          <a:solidFill>
                            <a:srgbClr val="1B1B1B"/>
                          </a:solidFill>
                          <a:latin typeface="Calibri"/>
                        </a:rPr>
                        <a:t>Faut-il remplacer les mots de passe par des passkeys ?</a:t>
                      </a:r>
                    </a:p>
                  </a:txBody>
                  <a:tcPr marL="73152" marR="73152" marT="36576" marB="36576">
                    <a:solidFill>
                      <a:srgbClr val="FFFFFF"/>
                    </a:solidFill>
                  </a:tcPr>
                </a:tc>
              </a:tr>
              <a:tr h="365760">
                <a:tc>
                  <a:txBody>
                    <a:bodyPr wrap="square"/>
                    <a:lstStyle/>
                    <a:p>
                      <a:r>
                        <a:rPr sz="1700" b="1">
                          <a:solidFill>
                            <a:srgbClr val="1B1B1B"/>
                          </a:solidFill>
                          <a:latin typeface="Calibri"/>
                        </a:rPr>
                        <a:t>Gestionnaire de mots de passe</a:t>
                      </a:r>
                    </a:p>
                  </a:txBody>
                  <a:tcPr marL="73152" marR="73152" marT="36576" marB="36576">
                    <a:solidFill>
                      <a:srgbClr val="F3F5F9"/>
                    </a:solidFill>
                  </a:tcPr>
                </a:tc>
                <a:tc>
                  <a:txBody>
                    <a:bodyPr wrap="square"/>
                    <a:lstStyle/>
                    <a:p>
                      <a:r>
                        <a:rPr sz="1700" b="0">
                          <a:solidFill>
                            <a:srgbClr val="1B1B1B"/>
                          </a:solidFill>
                          <a:latin typeface="Calibri"/>
                        </a:rPr>
                        <a:t>Faut-il un gestionnaire de mots de passe d'entreprise ?</a:t>
                      </a:r>
                    </a:p>
                  </a:txBody>
                  <a:tcPr marL="73152" marR="73152" marT="36576" marB="36576">
                    <a:solidFill>
                      <a:srgbClr val="F3F5F9"/>
                    </a:solidFill>
                  </a:tcPr>
                </a:tc>
              </a:tr>
              <a:tr h="365760">
                <a:tc>
                  <a:txBody>
                    <a:bodyPr wrap="square"/>
                    <a:lstStyle/>
                    <a:p>
                      <a:r>
                        <a:rPr sz="1700" b="1">
                          <a:solidFill>
                            <a:srgbClr val="1B1B1B"/>
                          </a:solidFill>
                          <a:latin typeface="Calibri"/>
                        </a:rPr>
                        <a:t>Double authentification</a:t>
                      </a:r>
                    </a:p>
                  </a:txBody>
                  <a:tcPr marL="73152" marR="73152" marT="36576" marB="36576">
                    <a:solidFill>
                      <a:srgbClr val="FFFFFF"/>
                    </a:solidFill>
                  </a:tcPr>
                </a:tc>
                <a:tc>
                  <a:txBody>
                    <a:bodyPr wrap="square"/>
                    <a:lstStyle/>
                    <a:p>
                      <a:r>
                        <a:rPr sz="1700" b="0">
                          <a:solidFill>
                            <a:srgbClr val="1B1B1B"/>
                          </a:solidFill>
                          <a:latin typeface="Calibri"/>
                        </a:rPr>
                        <a:t>SMS, application ou clé physique pour la double authentification ?</a:t>
                      </a:r>
                    </a:p>
                  </a:txBody>
                  <a:tcPr marL="73152" marR="73152" marT="36576" marB="36576">
                    <a:solidFill>
                      <a:srgbClr val="FFFFFF"/>
                    </a:solidFill>
                  </a:tcPr>
                </a:tc>
              </a:tr>
              <a:tr h="365760">
                <a:tc>
                  <a:txBody>
                    <a:bodyPr wrap="square"/>
                    <a:lstStyle/>
                    <a:p>
                      <a:r>
                        <a:rPr sz="1700" b="1">
                          <a:solidFill>
                            <a:srgbClr val="1B1B1B"/>
                          </a:solidFill>
                          <a:latin typeface="Calibri"/>
                        </a:rPr>
                        <a:t>Sauvegarde</a:t>
                      </a:r>
                    </a:p>
                  </a:txBody>
                  <a:tcPr marL="73152" marR="73152" marT="36576" marB="36576">
                    <a:solidFill>
                      <a:srgbClr val="F3F5F9"/>
                    </a:solidFill>
                  </a:tcPr>
                </a:tc>
                <a:tc>
                  <a:txBody>
                    <a:bodyPr wrap="square"/>
                    <a:lstStyle/>
                    <a:p>
                      <a:r>
                        <a:rPr sz="1700" b="0">
                          <a:solidFill>
                            <a:srgbClr val="1B1B1B"/>
                          </a:solidFill>
                          <a:latin typeface="Calibri"/>
                        </a:rPr>
                        <a:t>Cloud, disque local ou les deux (règle 3-2-1) ?</a:t>
                      </a:r>
                    </a:p>
                  </a:txBody>
                  <a:tcPr marL="73152" marR="73152" marT="36576" marB="36576">
                    <a:solidFill>
                      <a:srgbClr val="F3F5F9"/>
                    </a:solidFill>
                  </a:tcPr>
                </a:tc>
              </a:tr>
              <a:tr h="365760">
                <a:tc>
                  <a:txBody>
                    <a:bodyPr wrap="square"/>
                    <a:lstStyle/>
                    <a:p>
                      <a:r>
                        <a:rPr sz="1700" b="1">
                          <a:solidFill>
                            <a:srgbClr val="1B1B1B"/>
                          </a:solidFill>
                          <a:latin typeface="Calibri"/>
                        </a:rPr>
                        <a:t>IA générative au travail</a:t>
                      </a:r>
                    </a:p>
                  </a:txBody>
                  <a:tcPr marL="73152" marR="73152" marT="36576" marB="36576">
                    <a:solidFill>
                      <a:srgbClr val="FFFFFF"/>
                    </a:solidFill>
                  </a:tcPr>
                </a:tc>
                <a:tc>
                  <a:txBody>
                    <a:bodyPr wrap="square"/>
                    <a:lstStyle/>
                    <a:p>
                      <a:r>
                        <a:rPr sz="1700" b="0">
                          <a:solidFill>
                            <a:srgbClr val="1B1B1B"/>
                          </a:solidFill>
                          <a:latin typeface="Calibri"/>
                        </a:rPr>
                        <a:t>L'autoriser, l'encadrer ou l'interdire ?</a:t>
                      </a:r>
                    </a:p>
                  </a:txBody>
                  <a:tcPr marL="73152" marR="73152" marT="36576" marB="36576">
                    <a:solidFill>
                      <a:srgbClr val="FFFFFF"/>
                    </a:solidFill>
                  </a:tcPr>
                </a:tc>
              </a:tr>
              <a:tr h="365760">
                <a:tc>
                  <a:txBody>
                    <a:bodyPr wrap="square"/>
                    <a:lstStyle/>
                    <a:p>
                      <a:r>
                        <a:rPr sz="1700" b="1">
                          <a:solidFill>
                            <a:srgbClr val="1B1B1B"/>
                          </a:solidFill>
                          <a:latin typeface="Calibri"/>
                        </a:rPr>
                        <a:t>Télétravail et productivité</a:t>
                      </a:r>
                    </a:p>
                  </a:txBody>
                  <a:tcPr marL="73152" marR="73152" marT="36576" marB="36576">
                    <a:solidFill>
                      <a:srgbClr val="F3F5F9"/>
                    </a:solidFill>
                  </a:tcPr>
                </a:tc>
                <a:tc>
                  <a:txBody>
                    <a:bodyPr wrap="square"/>
                    <a:lstStyle/>
                    <a:p>
                      <a:r>
                        <a:rPr sz="1700" b="0">
                          <a:solidFill>
                            <a:srgbClr val="1B1B1B"/>
                          </a:solidFill>
                          <a:latin typeface="Calibri"/>
                        </a:rPr>
                        <a:t>L'effet du télétravail sur la productivité est-il établi ?</a:t>
                      </a:r>
                    </a:p>
                  </a:txBody>
                  <a:tcPr marL="73152" marR="73152" marT="36576" marB="36576">
                    <a:solidFill>
                      <a:srgbClr val="F3F5F9"/>
                    </a:solidFill>
                  </a:tcPr>
                </a:tc>
              </a:tr>
              <a:tr h="365760">
                <a:tc>
                  <a:txBody>
                    <a:bodyPr wrap="square"/>
                    <a:lstStyle/>
                    <a:p>
                      <a:r>
                        <a:rPr sz="1700" b="1">
                          <a:solidFill>
                            <a:srgbClr val="1B1B1B"/>
                          </a:solidFill>
                          <a:latin typeface="Calibri"/>
                        </a:rPr>
                        <a:t>Télétravail et accès</a:t>
                      </a:r>
                    </a:p>
                  </a:txBody>
                  <a:tcPr marL="73152" marR="73152" marT="36576" marB="36576">
                    <a:solidFill>
                      <a:srgbClr val="FFFFFF"/>
                    </a:solidFill>
                  </a:tcPr>
                </a:tc>
                <a:tc>
                  <a:txBody>
                    <a:bodyPr wrap="square"/>
                    <a:lstStyle/>
                    <a:p>
                      <a:r>
                        <a:rPr sz="1700" b="0">
                          <a:solidFill>
                            <a:srgbClr val="1B1B1B"/>
                          </a:solidFill>
                          <a:latin typeface="Calibri"/>
                        </a:rPr>
                        <a:t>VPN ou accès par navigateur sécurisé ?</a:t>
                      </a:r>
                    </a:p>
                  </a:txBody>
                  <a:tcPr marL="73152" marR="73152" marT="36576" marB="36576">
                    <a:solidFill>
                      <a:srgbClr val="FFFFFF"/>
                    </a:solidFill>
                  </a:tcPr>
                </a:tc>
              </a:tr>
              <a:tr h="365760">
                <a:tc>
                  <a:txBody>
                    <a:bodyPr wrap="square"/>
                    <a:lstStyle/>
                    <a:p>
                      <a:r>
                        <a:rPr sz="1700" b="1">
                          <a:solidFill>
                            <a:srgbClr val="1B1B1B"/>
                          </a:solidFill>
                          <a:latin typeface="Calibri"/>
                        </a:rPr>
                        <a:t>Hébergement</a:t>
                      </a:r>
                    </a:p>
                  </a:txBody>
                  <a:tcPr marL="73152" marR="73152" marT="36576" marB="36576">
                    <a:solidFill>
                      <a:srgbClr val="F3F5F9"/>
                    </a:solidFill>
                  </a:tcPr>
                </a:tc>
                <a:tc>
                  <a:txBody>
                    <a:bodyPr wrap="square"/>
                    <a:lstStyle/>
                    <a:p>
                      <a:r>
                        <a:rPr sz="1700" b="0">
                          <a:solidFill>
                            <a:srgbClr val="1B1B1B"/>
                          </a:solidFill>
                          <a:latin typeface="Calibri"/>
                        </a:rPr>
                        <a:t>Cloud public, hébergeur local ou serveur interne ?</a:t>
                      </a:r>
                    </a:p>
                  </a:txBody>
                  <a:tcPr marL="73152" marR="73152" marT="36576" marB="36576">
                    <a:solidFill>
                      <a:srgbClr val="F3F5F9"/>
                    </a:solidFill>
                  </a:tcPr>
                </a:tc>
              </a:tr>
              <a:tr h="365760">
                <a:tc>
                  <a:txBody>
                    <a:bodyPr wrap="square"/>
                    <a:lstStyle/>
                    <a:p>
                      <a:r>
                        <a:rPr sz="1700" b="1">
                          <a:solidFill>
                            <a:srgbClr val="1B1B1B"/>
                          </a:solidFill>
                          <a:latin typeface="Calibri"/>
                        </a:rPr>
                        <a:t>Ordinateurs personnels (BYOD)</a:t>
                      </a:r>
                    </a:p>
                  </a:txBody>
                  <a:tcPr marL="73152" marR="73152" marT="36576" marB="36576">
                    <a:solidFill>
                      <a:srgbClr val="FFFFFF"/>
                    </a:solidFill>
                  </a:tcPr>
                </a:tc>
                <a:tc>
                  <a:txBody>
                    <a:bodyPr wrap="square"/>
                    <a:lstStyle/>
                    <a:p>
                      <a:r>
                        <a:rPr sz="1700" b="0">
                          <a:solidFill>
                            <a:srgbClr val="1B1B1B"/>
                          </a:solidFill>
                          <a:latin typeface="Calibri"/>
                        </a:rPr>
                        <a:t>Faut-il autoriser les ordinateurs personnels au travail ?</a:t>
                      </a:r>
                    </a:p>
                  </a:txBody>
                  <a:tcPr marL="73152" marR="73152" marT="36576" marB="36576">
                    <a:solidFill>
                      <a:srgbClr val="FFFFFF"/>
                    </a:solidFill>
                  </a:tcPr>
                </a:tc>
              </a:tr>
              <a:tr h="365760">
                <a:tc>
                  <a:txBody>
                    <a:bodyPr wrap="square"/>
                    <a:lstStyle/>
                    <a:p>
                      <a:r>
                        <a:rPr sz="1700" b="1">
                          <a:solidFill>
                            <a:srgbClr val="1B1B1B"/>
                          </a:solidFill>
                          <a:latin typeface="Calibri"/>
                        </a:rPr>
                        <a:t>Sensibilisation au phishing</a:t>
                      </a:r>
                    </a:p>
                  </a:txBody>
                  <a:tcPr marL="73152" marR="73152" marT="36576" marB="36576">
                    <a:solidFill>
                      <a:srgbClr val="F3F5F9"/>
                    </a:solidFill>
                  </a:tcPr>
                </a:tc>
                <a:tc>
                  <a:txBody>
                    <a:bodyPr wrap="square"/>
                    <a:lstStyle/>
                    <a:p>
                      <a:r>
                        <a:rPr sz="1700" b="0">
                          <a:solidFill>
                            <a:srgbClr val="1B1B1B"/>
                          </a:solidFill>
                          <a:latin typeface="Calibri"/>
                        </a:rPr>
                        <a:t>Formation, simulations d'attaque, ou les deux ?</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Suite des sujets (11 à 19) et choix : page « Sujets » de l'application (QR). Un seul sujet par personne ; chaque sujet n'est attribué qu'à une seule personne, la première qui le choisit.</a:t>
            </a:r>
          </a:p>
        </p:txBody>
      </p:sp>
      <p:pic>
        <p:nvPicPr>
          <p:cNvPr id="8" name="Picture 7" descr="sujets.png"/>
          <p:cNvPicPr>
            <a:picLocks noChangeAspect="1"/>
          </p:cNvPicPr>
          <p:nvPr/>
        </p:nvPicPr>
        <p:blipFill>
          <a:blip r:embed="rId3"/>
          <a:stretch>
            <a:fillRect/>
          </a:stretch>
        </p:blipFill>
        <p:spPr>
          <a:xfrm>
            <a:off x="10744200" y="5074920"/>
            <a:ext cx="1097280" cy="1097280"/>
          </a:xfrm>
          <a:prstGeom prst="rect">
            <a:avLst/>
          </a:prstGeom>
        </p:spPr>
      </p:pic>
      <p:sp>
        <p:nvSpPr>
          <p:cNvPr id="9" name="TextBox 8"/>
          <p:cNvSpPr txBox="1"/>
          <p:nvPr/>
        </p:nvSpPr>
        <p:spPr>
          <a:xfrm>
            <a:off x="10287000" y="6153912"/>
            <a:ext cx="201168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Choisir et formuler votre question de décision</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17</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15 min  ·  Carnet · chapitre 1  ·  Outil : Google Scholar, page Sujets (application)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Transformer un sujet en question de décision : un choix à éclairer, des critères que l'on peut comparer, des mots-clés. C'est la base de tout votre dossier.</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70"/>
              </a:spcAft>
            </a:pPr>
            <a:r>
              <a:rPr sz="1900" b="0" i="0">
                <a:solidFill>
                  <a:srgbClr val="1B1B1B"/>
                </a:solidFill>
                <a:latin typeface="Calibri"/>
              </a:rPr>
              <a:t>La directrice de TransLor (PME de 120 salariés, fictive) vous confie un état de l'art pour éclairer une décision informatique.</a:t>
            </a:r>
          </a:p>
          <a:p>
            <a:pPr algn="l">
              <a:spcAft>
                <a:spcPts val="570"/>
              </a:spcAft>
            </a:pPr>
            <a:r>
              <a:rPr sz="1900" b="0" i="0">
                <a:solidFill>
                  <a:srgbClr val="1B1B1B"/>
                </a:solidFill>
                <a:latin typeface="Calibri"/>
              </a:rPr>
              <a:t>Choisissez un sujet dans la liste (page « Sujets », QR) : vous le défendrez devant un jury à la fin du cours. Règle : un seul sujet par personne, et un sujet n'est attribué qu'à une seule personne, la première qui le choisit dans l'application.</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50"/>
              </a:spcAft>
              <a:buAutoNum type="arabicPeriod"/>
            </a:pPr>
            <a:r>
              <a:rPr sz="1500" b="0" i="0">
                <a:solidFill>
                  <a:srgbClr val="1B1B1B"/>
                </a:solidFill>
                <a:latin typeface="Calibri"/>
              </a:rPr>
              <a:t>Choisissez un sujet et reformulez-le : « Faut-il … chez TransLor, selon quels critères ? »</a:t>
            </a:r>
          </a:p>
          <a:p>
            <a:pPr algn="l" marL="274320" indent="-274320">
              <a:spcAft>
                <a:spcPts val="450"/>
              </a:spcAft>
              <a:buAutoNum type="arabicPeriod"/>
            </a:pPr>
            <a:r>
              <a:rPr sz="1500" b="0" i="0">
                <a:solidFill>
                  <a:srgbClr val="1B1B1B"/>
                </a:solidFill>
                <a:latin typeface="Calibri"/>
              </a:rPr>
              <a:t>Écrivez 4 critères de comparaison (coût, sécurité, facilité d'usage, délai…).</a:t>
            </a:r>
          </a:p>
          <a:p>
            <a:pPr algn="l" marL="274320" indent="-274320">
              <a:spcAft>
                <a:spcPts val="450"/>
              </a:spcAft>
              <a:buAutoNum type="arabicPeriod"/>
            </a:pPr>
            <a:r>
              <a:rPr sz="1500" b="0" i="0">
                <a:solidFill>
                  <a:srgbClr val="1B1B1B"/>
                </a:solidFill>
                <a:latin typeface="Calibri"/>
              </a:rPr>
              <a:t>Écrivez 3 mots-clés en français et leur traduction en anglais.</a:t>
            </a:r>
          </a:p>
          <a:p>
            <a:pPr algn="l" marL="274320" indent="-274320">
              <a:spcAft>
                <a:spcPts val="450"/>
              </a:spcAft>
              <a:buAutoNum type="arabicPeriod"/>
            </a:pPr>
            <a:r>
              <a:rPr sz="1500" b="0" i="0">
                <a:solidFill>
                  <a:srgbClr val="1B1B1B"/>
                </a:solidFill>
                <a:latin typeface="Calibri"/>
              </a:rPr>
              <a:t>Tapez-les dans Google Scholar : combien de résultats environ ?</a:t>
            </a:r>
          </a:p>
          <a:p>
            <a:pPr algn="l" marL="274320" indent="-274320">
              <a:spcAft>
                <a:spcPts val="450"/>
              </a:spcAft>
              <a:buAutoNum type="arabicPeriod"/>
            </a:pPr>
            <a:r>
              <a:rPr sz="1500" b="0" i="0">
                <a:solidFill>
                  <a:srgbClr val="1B1B1B"/>
                </a:solidFill>
                <a:latin typeface="Calibri"/>
              </a:rPr>
              <a:t>Avec Claude ou une autre IA (notez laquelle) : demandez 5 formulations de question de décision pour votre sujet. Gardez-en une ou écrivez la vôtre, et dites pourquoi en une phrase.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Votre question de décision, 4 critères et 3 mots-clés → Dossier, section 1.</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39"/>
              </a:spcAft>
            </a:pPr>
            <a:r>
              <a:rPr sz="2400" b="1" i="0">
                <a:solidFill>
                  <a:srgbClr val="FFFFFF"/>
                </a:solidFill>
                <a:latin typeface="Calibri"/>
              </a:rPr>
              <a:t>Correction · EX 1 — Choisir et formuler votre question de décision</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18</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Un thème n'est pas une question : il faut une décision.</a:t>
            </a:r>
          </a:p>
          <a:p>
            <a:pPr algn="l" marL="274320" indent="-274320">
              <a:spcAft>
                <a:spcPts val="375"/>
              </a:spcAft>
              <a:buAutoNum type="arabicPeriod"/>
            </a:pPr>
            <a:r>
              <a:rPr sz="1500" b="0" i="0">
                <a:solidFill>
                  <a:srgbClr val="1B1B1B"/>
                </a:solidFill>
                <a:latin typeface="Calibri"/>
              </a:rPr>
              <a:t>Les critères sont des mots que l'on peut comparer.</a:t>
            </a:r>
          </a:p>
          <a:p>
            <a:pPr algn="l" marL="274320" indent="-274320">
              <a:spcAft>
                <a:spcPts val="375"/>
              </a:spcAft>
              <a:buAutoNum type="arabicPeriod"/>
            </a:pPr>
            <a:r>
              <a:rPr sz="1500" b="0" i="0">
                <a:solidFill>
                  <a:srgbClr val="1B1B1B"/>
                </a:solidFill>
                <a:latin typeface="Calibri"/>
              </a:rPr>
              <a:t>Les mots-clés viennent de la question, pas du hasard.</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2682240"/>
                <a:gridCol w="5364480"/>
              </a:tblGrid>
              <a:tr h="237744">
                <a:tc>
                  <a:txBody>
                    <a:bodyPr wrap="square"/>
                    <a:lstStyle/>
                    <a:p>
                      <a:r>
                        <a:rPr sz="1600" b="1">
                          <a:solidFill>
                            <a:srgbClr val="FFFFFF"/>
                          </a:solidFill>
                          <a:latin typeface="Calibri"/>
                        </a:rPr>
                        <a:t>Faible</a:t>
                      </a:r>
                    </a:p>
                  </a:txBody>
                  <a:tcPr marL="73152" marR="73152" marT="36576" marB="36576">
                    <a:solidFill>
                      <a:srgbClr val="1F2A5C"/>
                    </a:solidFill>
                  </a:tcPr>
                </a:tc>
                <a:tc>
                  <a:txBody>
                    <a:bodyPr wrap="square"/>
                    <a:lstStyle/>
                    <a:p>
                      <a:r>
                        <a:rPr sz="1600" b="1">
                          <a:solidFill>
                            <a:srgbClr val="FFFFFF"/>
                          </a:solidFill>
                          <a:latin typeface="Calibri"/>
                        </a:rPr>
                        <a:t>Bon (exemple)</a:t>
                      </a:r>
                    </a:p>
                  </a:txBody>
                  <a:tcPr marL="73152" marR="73152" marT="36576" marB="36576">
                    <a:solidFill>
                      <a:srgbClr val="1F2A5C"/>
                    </a:solidFill>
                  </a:tcPr>
                </a:tc>
              </a:tr>
              <a:tr h="237744">
                <a:tc>
                  <a:txBody>
                    <a:bodyPr wrap="square"/>
                    <a:lstStyle/>
                    <a:p>
                      <a:r>
                        <a:rPr sz="1600" b="1">
                          <a:solidFill>
                            <a:srgbClr val="1B1B1B"/>
                          </a:solidFill>
                          <a:latin typeface="Calibri"/>
                        </a:rPr>
                        <a:t>« Les passkeys »</a:t>
                      </a:r>
                    </a:p>
                  </a:txBody>
                  <a:tcPr marL="73152" marR="73152" marT="36576" marB="36576">
                    <a:solidFill>
                      <a:srgbClr val="FFFFFF"/>
                    </a:solidFill>
                  </a:tcPr>
                </a:tc>
                <a:tc>
                  <a:txBody>
                    <a:bodyPr wrap="square"/>
                    <a:lstStyle/>
                    <a:p>
                      <a:r>
                        <a:rPr sz="1600" b="0">
                          <a:solidFill>
                            <a:srgbClr val="1B1B1B"/>
                          </a:solidFill>
                          <a:latin typeface="Calibri"/>
                        </a:rPr>
                        <a:t>« Faut-il remplacer les mots de passe par des passkeys chez TransLor, selon le coût, la sécurité, la facilité d'usage et la compatibilité ? »</a:t>
                      </a:r>
                    </a:p>
                  </a:txBody>
                  <a:tcPr marL="73152" marR="73152" marT="36576" marB="36576">
                    <a:solidFill>
                      <a:srgbClr val="FFFFFF"/>
                    </a:solidFill>
                  </a:tcPr>
                </a:tc>
              </a:tr>
              <a:tr h="237744">
                <a:tc>
                  <a:txBody>
                    <a:bodyPr wrap="square"/>
                    <a:lstStyle/>
                    <a:p>
                      <a:r>
                        <a:rPr sz="1600" b="1">
                          <a:solidFill>
                            <a:srgbClr val="1B1B1B"/>
                          </a:solidFill>
                          <a:latin typeface="Calibri"/>
                        </a:rPr>
                        <a:t>« Le cloud, c'est mieux ? »</a:t>
                      </a:r>
                    </a:p>
                  </a:txBody>
                  <a:tcPr marL="73152" marR="73152" marT="36576" marB="36576">
                    <a:solidFill>
                      <a:srgbClr val="F3F5F9"/>
                    </a:solidFill>
                  </a:tcPr>
                </a:tc>
                <a:tc>
                  <a:txBody>
                    <a:bodyPr wrap="square"/>
                    <a:lstStyle/>
                    <a:p>
                      <a:r>
                        <a:rPr sz="1600" b="0">
                          <a:solidFill>
                            <a:srgbClr val="1B1B1B"/>
                          </a:solidFill>
                          <a:latin typeface="Calibri"/>
                        </a:rPr>
                        <a:t>« Faut-il héberger la messagerie dans un cloud public, chez un hébergeur local ou en interne, selon le coût, la sécurité et la reprise après panne ? »</a:t>
                      </a:r>
                    </a:p>
                  </a:txBody>
                  <a:tcPr marL="73152" marR="73152" marT="36576" marB="36576">
                    <a:solidFill>
                      <a:srgbClr val="F3F5F9"/>
                    </a:solidFill>
                  </a:tcPr>
                </a:tc>
              </a:tr>
              <a:tr h="237744">
                <a:tc>
                  <a:txBody>
                    <a:bodyPr wrap="square"/>
                    <a:lstStyle/>
                    <a:p>
                      <a:r>
                        <a:rPr sz="1600" b="1">
                          <a:solidFill>
                            <a:srgbClr val="1B1B1B"/>
                          </a:solidFill>
                          <a:latin typeface="Calibri"/>
                        </a:rPr>
                        <a:t>Critères : « bien », « moderne »</a:t>
                      </a:r>
                    </a:p>
                  </a:txBody>
                  <a:tcPr marL="73152" marR="73152" marT="36576" marB="36576">
                    <a:solidFill>
                      <a:srgbClr val="FFFFFF"/>
                    </a:solidFill>
                  </a:tcPr>
                </a:tc>
                <a:tc>
                  <a:txBody>
                    <a:bodyPr wrap="square"/>
                    <a:lstStyle/>
                    <a:p>
                      <a:r>
                        <a:rPr sz="1600" b="0">
                          <a:solidFill>
                            <a:srgbClr val="1B1B1B"/>
                          </a:solidFill>
                          <a:latin typeface="Calibri"/>
                        </a:rPr>
                        <a:t>Critères comparables : coût annuel, délai de déploiement, risque résiduel, satisfaction des utilisateurs</a:t>
                      </a:r>
                    </a:p>
                  </a:txBody>
                  <a:tcPr marL="73152" marR="73152" marT="36576" marB="36576">
                    <a:solidFill>
                      <a:srgbClr val="FFFFFF"/>
                    </a:solidFill>
                  </a:tcPr>
                </a:tc>
              </a:tr>
              <a:tr h="237744">
                <a:tc>
                  <a:txBody>
                    <a:bodyPr wrap="square"/>
                    <a:lstStyle/>
                    <a:p>
                      <a:r>
                        <a:rPr sz="1600" b="1">
                          <a:solidFill>
                            <a:srgbClr val="1B1B1B"/>
                          </a:solidFill>
                          <a:latin typeface="Calibri"/>
                        </a:rPr>
                        <a:t>Mots-clés : « sécurité »</a:t>
                      </a:r>
                    </a:p>
                  </a:txBody>
                  <a:tcPr marL="73152" marR="73152" marT="36576" marB="36576">
                    <a:solidFill>
                      <a:srgbClr val="F3F5F9"/>
                    </a:solidFill>
                  </a:tcPr>
                </a:tc>
                <a:tc>
                  <a:txBody>
                    <a:bodyPr wrap="square"/>
                    <a:lstStyle/>
                    <a:p>
                      <a:r>
                        <a:rPr sz="1600" b="0">
                          <a:solidFill>
                            <a:srgbClr val="1B1B1B"/>
                          </a:solidFill>
                          <a:latin typeface="Calibri"/>
                        </a:rPr>
                        <a:t>« passkeys » OR « passwordless », « authentification » OR « authentication »</a:t>
                      </a:r>
                    </a:p>
                  </a:txBody>
                  <a:tcPr marL="73152" marR="73152" marT="36576" marB="36576">
                    <a:solidFill>
                      <a:srgbClr val="F3F5F9"/>
                    </a:solidFill>
                  </a:tcPr>
                </a:tc>
              </a:tr>
              <a:tr h="237744">
                <a:tc>
                  <a:txBody>
                    <a:bodyPr wrap="square"/>
                    <a:lstStyle/>
                    <a:p>
                      <a:r>
                        <a:rPr sz="1600" b="1">
                          <a:solidFill>
                            <a:srgbClr val="1B1B1B"/>
                          </a:solidFill>
                          <a:latin typeface="Calibri"/>
                        </a:rPr>
                        <a:t>IA · formulations</a:t>
                      </a:r>
                    </a:p>
                  </a:txBody>
                  <a:tcPr marL="73152" marR="73152" marT="36576" marB="36576">
                    <a:solidFill>
                      <a:srgbClr val="FFFFFF"/>
                    </a:solidFill>
                  </a:tcPr>
                </a:tc>
                <a:tc>
                  <a:txBody>
                    <a:bodyPr wrap="square"/>
                    <a:lstStyle/>
                    <a:p>
                      <a:r>
                        <a:rPr sz="1600" b="0">
                          <a:solidFill>
                            <a:srgbClr val="1B1B1B"/>
                          </a:solidFill>
                          <a:latin typeface="Calibri"/>
                        </a:rPr>
                        <a:t>Gardez la formulation qui contient une décision, des critères comparables et un périmètre (TransLor). Une IA propose souvent des questions trop larges : resserrez.</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Un sujet trop large : on ne finira pas.</a:t>
            </a:r>
          </a:p>
          <a:p>
            <a:pPr algn="l" marL="201168" indent="-201168">
              <a:spcAft>
                <a:spcPts val="110"/>
              </a:spcAft>
              <a:buChar char="•"/>
            </a:pPr>
            <a:r>
              <a:rPr sz="1100" b="0" i="0">
                <a:solidFill>
                  <a:srgbClr val="1B1B1B"/>
                </a:solidFill>
                <a:latin typeface="Calibri"/>
              </a:rPr>
              <a:t>Un sujet sans littérature : vérifiez en deux minutes que vous trouvez au moins cinq résultats sérieux.</a:t>
            </a:r>
          </a:p>
          <a:p>
            <a:pPr algn="l" marL="201168" indent="-201168">
              <a:spcAft>
                <a:spcPts val="110"/>
              </a:spcAft>
              <a:buChar char="•"/>
            </a:pPr>
            <a:r>
              <a:rPr sz="1100" b="0" i="0">
                <a:solidFill>
                  <a:srgbClr val="1B1B1B"/>
                </a:solidFill>
                <a:latin typeface="Calibri"/>
              </a:rPr>
              <a:t>Écrire la réponse d'avance : la question reste ouverte.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Votre fil rouge : le dossier d'état de l'art</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19</a:t>
            </a:r>
          </a:p>
        </p:txBody>
      </p:sp>
      <p:graphicFrame>
        <p:nvGraphicFramePr>
          <p:cNvPr id="6" name="Table 5"/>
          <p:cNvGraphicFramePr>
            <a:graphicFrameLocks noGrp="1"/>
          </p:cNvGraphicFramePr>
          <p:nvPr/>
        </p:nvGraphicFramePr>
        <p:xfrm>
          <a:off x="411480" y="1188720"/>
          <a:ext cx="9326880" cy="4389120"/>
        </p:xfrm>
        <a:graphic>
          <a:graphicData uri="http://schemas.openxmlformats.org/drawingml/2006/table">
            <a:tbl>
              <a:tblPr firstRow="0" bandRow="0">
                <a:tableStyleId>{5C22544A-7EE6-4342-B048-85BDC9FD1C3A}</a:tableStyleId>
              </a:tblPr>
              <a:tblGrid>
                <a:gridCol w="2377440"/>
                <a:gridCol w="1828800"/>
                <a:gridCol w="5120640"/>
              </a:tblGrid>
              <a:tr h="365760">
                <a:tc>
                  <a:txBody>
                    <a:bodyPr wrap="square"/>
                    <a:lstStyle/>
                    <a:p>
                      <a:r>
                        <a:rPr sz="1400" b="1">
                          <a:solidFill>
                            <a:srgbClr val="FFFFFF"/>
                          </a:solidFill>
                          <a:latin typeface="Calibri"/>
                        </a:rPr>
                        <a:t>Section</a:t>
                      </a:r>
                    </a:p>
                  </a:txBody>
                  <a:tcPr marL="73152" marR="73152" marT="36576" marB="36576">
                    <a:solidFill>
                      <a:srgbClr val="1F2A5C"/>
                    </a:solidFill>
                  </a:tcPr>
                </a:tc>
                <a:tc>
                  <a:txBody>
                    <a:bodyPr wrap="square"/>
                    <a:lstStyle/>
                    <a:p>
                      <a:r>
                        <a:rPr sz="1400" b="1">
                          <a:solidFill>
                            <a:srgbClr val="FFFFFF"/>
                          </a:solidFill>
                          <a:latin typeface="Calibri"/>
                        </a:rPr>
                        <a:t>Exercices</a:t>
                      </a:r>
                    </a:p>
                  </a:txBody>
                  <a:tcPr marL="73152" marR="73152" marT="36576" marB="36576">
                    <a:solidFill>
                      <a:srgbClr val="1F2A5C"/>
                    </a:solidFill>
                  </a:tcPr>
                </a:tc>
                <a:tc>
                  <a:txBody>
                    <a:bodyPr wrap="square"/>
                    <a:lstStyle/>
                    <a:p>
                      <a:r>
                        <a:rPr sz="1400" b="1">
                          <a:solidFill>
                            <a:srgbClr val="FFFFFF"/>
                          </a:solidFill>
                          <a:latin typeface="Calibri"/>
                        </a:rPr>
                        <a:t>Ce que vous y mettez</a:t>
                      </a:r>
                    </a:p>
                  </a:txBody>
                  <a:tcPr marL="73152" marR="73152" marT="36576" marB="36576">
                    <a:solidFill>
                      <a:srgbClr val="1F2A5C"/>
                    </a:solidFill>
                  </a:tcPr>
                </a:tc>
              </a:tr>
              <a:tr h="365760">
                <a:tc>
                  <a:txBody>
                    <a:bodyPr wrap="square"/>
                    <a:lstStyle/>
                    <a:p>
                      <a:r>
                        <a:rPr sz="1400" b="1">
                          <a:solidFill>
                            <a:srgbClr val="1B1B1B"/>
                          </a:solidFill>
                          <a:latin typeface="Calibri"/>
                        </a:rPr>
                        <a:t>0 Offre cible</a:t>
                      </a:r>
                    </a:p>
                  </a:txBody>
                  <a:tcPr marL="73152" marR="73152" marT="36576" marB="36576">
                    <a:solidFill>
                      <a:srgbClr val="FFFFFF"/>
                    </a:solidFill>
                  </a:tcPr>
                </a:tc>
                <a:tc>
                  <a:txBody>
                    <a:bodyPr wrap="square"/>
                    <a:lstStyle/>
                    <a:p>
                      <a:r>
                        <a:rPr sz="1400" b="0">
                          <a:solidFill>
                            <a:srgbClr val="1B1B1B"/>
                          </a:solidFill>
                          <a:latin typeface="Calibri"/>
                        </a:rPr>
                        <a:t>EX0</a:t>
                      </a:r>
                    </a:p>
                  </a:txBody>
                  <a:tcPr marL="73152" marR="73152" marT="36576" marB="36576">
                    <a:solidFill>
                      <a:srgbClr val="FFFFFF"/>
                    </a:solidFill>
                  </a:tcPr>
                </a:tc>
                <a:tc>
                  <a:txBody>
                    <a:bodyPr wrap="square"/>
                    <a:lstStyle/>
                    <a:p>
                      <a:r>
                        <a:rPr sz="1400" b="0">
                          <a:solidFill>
                            <a:srgbClr val="1B1B1B"/>
                          </a:solidFill>
                          <a:latin typeface="Calibri"/>
                        </a:rPr>
                        <a:t>Une offre d'ingénieur réelle, verbes et objectifs</a:t>
                      </a:r>
                    </a:p>
                  </a:txBody>
                  <a:tcPr marL="73152" marR="73152" marT="36576" marB="36576">
                    <a:solidFill>
                      <a:srgbClr val="FFFFFF"/>
                    </a:solidFill>
                  </a:tcPr>
                </a:tc>
              </a:tr>
              <a:tr h="365760">
                <a:tc>
                  <a:txBody>
                    <a:bodyPr wrap="square"/>
                    <a:lstStyle/>
                    <a:p>
                      <a:r>
                        <a:rPr sz="1400" b="1">
                          <a:solidFill>
                            <a:srgbClr val="1B1B1B"/>
                          </a:solidFill>
                          <a:latin typeface="Calibri"/>
                        </a:rPr>
                        <a:t>1 Question</a:t>
                      </a:r>
                    </a:p>
                  </a:txBody>
                  <a:tcPr marL="73152" marR="73152" marT="36576" marB="36576">
                    <a:solidFill>
                      <a:srgbClr val="F3F5F9"/>
                    </a:solidFill>
                  </a:tcPr>
                </a:tc>
                <a:tc>
                  <a:txBody>
                    <a:bodyPr wrap="square"/>
                    <a:lstStyle/>
                    <a:p>
                      <a:r>
                        <a:rPr sz="1400" b="0">
                          <a:solidFill>
                            <a:srgbClr val="1B1B1B"/>
                          </a:solidFill>
                          <a:latin typeface="Calibri"/>
                        </a:rPr>
                        <a:t>EX1</a:t>
                      </a:r>
                    </a:p>
                  </a:txBody>
                  <a:tcPr marL="73152" marR="73152" marT="36576" marB="36576">
                    <a:solidFill>
                      <a:srgbClr val="F3F5F9"/>
                    </a:solidFill>
                  </a:tcPr>
                </a:tc>
                <a:tc>
                  <a:txBody>
                    <a:bodyPr wrap="square"/>
                    <a:lstStyle/>
                    <a:p>
                      <a:r>
                        <a:rPr sz="1400" b="0">
                          <a:solidFill>
                            <a:srgbClr val="1B1B1B"/>
                          </a:solidFill>
                          <a:latin typeface="Calibri"/>
                        </a:rPr>
                        <a:t>Sujet, décision, critères, mots-clés</a:t>
                      </a:r>
                    </a:p>
                  </a:txBody>
                  <a:tcPr marL="73152" marR="73152" marT="36576" marB="36576">
                    <a:solidFill>
                      <a:srgbClr val="F3F5F9"/>
                    </a:solidFill>
                  </a:tcPr>
                </a:tc>
              </a:tr>
              <a:tr h="365760">
                <a:tc>
                  <a:txBody>
                    <a:bodyPr wrap="square"/>
                    <a:lstStyle/>
                    <a:p>
                      <a:r>
                        <a:rPr sz="1400" b="1">
                          <a:solidFill>
                            <a:srgbClr val="1B1B1B"/>
                          </a:solidFill>
                          <a:latin typeface="Calibri"/>
                        </a:rPr>
                        <a:t>2 Besoin</a:t>
                      </a:r>
                    </a:p>
                  </a:txBody>
                  <a:tcPr marL="73152" marR="73152" marT="36576" marB="36576">
                    <a:solidFill>
                      <a:srgbClr val="FFFFFF"/>
                    </a:solidFill>
                  </a:tcPr>
                </a:tc>
                <a:tc>
                  <a:txBody>
                    <a:bodyPr wrap="square"/>
                    <a:lstStyle/>
                    <a:p>
                      <a:r>
                        <a:rPr sz="1400" b="0">
                          <a:solidFill>
                            <a:srgbClr val="1B1B1B"/>
                          </a:solidFill>
                          <a:latin typeface="Calibri"/>
                        </a:rPr>
                        <a:t>EX4</a:t>
                      </a:r>
                    </a:p>
                  </a:txBody>
                  <a:tcPr marL="73152" marR="73152" marT="36576" marB="36576">
                    <a:solidFill>
                      <a:srgbClr val="FFFFFF"/>
                    </a:solidFill>
                  </a:tcPr>
                </a:tc>
                <a:tc>
                  <a:txBody>
                    <a:bodyPr wrap="square"/>
                    <a:lstStyle/>
                    <a:p>
                      <a:r>
                        <a:rPr sz="1400" b="0">
                          <a:solidFill>
                            <a:srgbClr val="1B1B1B"/>
                          </a:solidFill>
                          <a:latin typeface="Calibri"/>
                        </a:rPr>
                        <a:t>Besoin réel, critère de réussite</a:t>
                      </a:r>
                    </a:p>
                  </a:txBody>
                  <a:tcPr marL="73152" marR="73152" marT="36576" marB="36576">
                    <a:solidFill>
                      <a:srgbClr val="FFFFFF"/>
                    </a:solidFill>
                  </a:tcPr>
                </a:tc>
              </a:tr>
              <a:tr h="365760">
                <a:tc>
                  <a:txBody>
                    <a:bodyPr wrap="square"/>
                    <a:lstStyle/>
                    <a:p>
                      <a:r>
                        <a:rPr sz="1400" b="1">
                          <a:solidFill>
                            <a:srgbClr val="1B1B1B"/>
                          </a:solidFill>
                          <a:latin typeface="Calibri"/>
                        </a:rPr>
                        <a:t>3 à 6 Recherche et sources</a:t>
                      </a:r>
                    </a:p>
                  </a:txBody>
                  <a:tcPr marL="73152" marR="73152" marT="36576" marB="36576">
                    <a:solidFill>
                      <a:srgbClr val="F3F5F9"/>
                    </a:solidFill>
                  </a:tcPr>
                </a:tc>
                <a:tc>
                  <a:txBody>
                    <a:bodyPr wrap="square"/>
                    <a:lstStyle/>
                    <a:p>
                      <a:r>
                        <a:rPr sz="1400" b="0">
                          <a:solidFill>
                            <a:srgbClr val="1B1B1B"/>
                          </a:solidFill>
                          <a:latin typeface="Calibri"/>
                        </a:rPr>
                        <a:t>EX7 à EX13</a:t>
                      </a:r>
                    </a:p>
                  </a:txBody>
                  <a:tcPr marL="73152" marR="73152" marT="36576" marB="36576">
                    <a:solidFill>
                      <a:srgbClr val="F3F5F9"/>
                    </a:solidFill>
                  </a:tcPr>
                </a:tc>
                <a:tc>
                  <a:txBody>
                    <a:bodyPr wrap="square"/>
                    <a:lstStyle/>
                    <a:p>
                      <a:r>
                        <a:rPr sz="1400" b="0">
                          <a:solidFill>
                            <a:srgbClr val="1B1B1B"/>
                          </a:solidFill>
                          <a:latin typeface="Calibri"/>
                        </a:rPr>
                        <a:t>Requêtes, sources notées, origine d'un chiffre</a:t>
                      </a:r>
                    </a:p>
                  </a:txBody>
                  <a:tcPr marL="73152" marR="73152" marT="36576" marB="36576">
                    <a:solidFill>
                      <a:srgbClr val="F3F5F9"/>
                    </a:solidFill>
                  </a:tcPr>
                </a:tc>
              </a:tr>
              <a:tr h="365760">
                <a:tc>
                  <a:txBody>
                    <a:bodyPr wrap="square"/>
                    <a:lstStyle/>
                    <a:p>
                      <a:r>
                        <a:rPr sz="1400" b="1">
                          <a:solidFill>
                            <a:srgbClr val="1B1B1B"/>
                          </a:solidFill>
                          <a:latin typeface="Calibri"/>
                        </a:rPr>
                        <a:t>7 et 8 Lire et vérifier</a:t>
                      </a:r>
                    </a:p>
                  </a:txBody>
                  <a:tcPr marL="73152" marR="73152" marT="36576" marB="36576">
                    <a:solidFill>
                      <a:srgbClr val="FFFFFF"/>
                    </a:solidFill>
                  </a:tcPr>
                </a:tc>
                <a:tc>
                  <a:txBody>
                    <a:bodyPr wrap="square"/>
                    <a:lstStyle/>
                    <a:p>
                      <a:r>
                        <a:rPr sz="1400" b="0">
                          <a:solidFill>
                            <a:srgbClr val="1B1B1B"/>
                          </a:solidFill>
                          <a:latin typeface="Calibri"/>
                        </a:rPr>
                        <a:t>EX14, EX15</a:t>
                      </a:r>
                    </a:p>
                  </a:txBody>
                  <a:tcPr marL="73152" marR="73152" marT="36576" marB="36576">
                    <a:solidFill>
                      <a:srgbClr val="FFFFFF"/>
                    </a:solidFill>
                  </a:tcPr>
                </a:tc>
                <a:tc>
                  <a:txBody>
                    <a:bodyPr wrap="square"/>
                    <a:lstStyle/>
                    <a:p>
                      <a:r>
                        <a:rPr sz="1400" b="0">
                          <a:solidFill>
                            <a:srgbClr val="1B1B1B"/>
                          </a:solidFill>
                          <a:latin typeface="Calibri"/>
                        </a:rPr>
                        <a:t>Fiche de lecture, références vérifiées</a:t>
                      </a:r>
                    </a:p>
                  </a:txBody>
                  <a:tcPr marL="73152" marR="73152" marT="36576" marB="36576">
                    <a:solidFill>
                      <a:srgbClr val="FFFFFF"/>
                    </a:solidFill>
                  </a:tcPr>
                </a:tc>
              </a:tr>
              <a:tr h="365760">
                <a:tc>
                  <a:txBody>
                    <a:bodyPr wrap="square"/>
                    <a:lstStyle/>
                    <a:p>
                      <a:r>
                        <a:rPr sz="1400" b="1">
                          <a:solidFill>
                            <a:srgbClr val="1B1B1B"/>
                          </a:solidFill>
                          <a:latin typeface="Calibri"/>
                        </a:rPr>
                        <a:t>9 et 10 Argumenter</a:t>
                      </a:r>
                    </a:p>
                  </a:txBody>
                  <a:tcPr marL="73152" marR="73152" marT="36576" marB="36576">
                    <a:solidFill>
                      <a:srgbClr val="F3F5F9"/>
                    </a:solidFill>
                  </a:tcPr>
                </a:tc>
                <a:tc>
                  <a:txBody>
                    <a:bodyPr wrap="square"/>
                    <a:lstStyle/>
                    <a:p>
                      <a:r>
                        <a:rPr sz="1400" b="0">
                          <a:solidFill>
                            <a:srgbClr val="1B1B1B"/>
                          </a:solidFill>
                          <a:latin typeface="Calibri"/>
                        </a:rPr>
                        <a:t>EX16 à EX20</a:t>
                      </a:r>
                    </a:p>
                  </a:txBody>
                  <a:tcPr marL="73152" marR="73152" marT="36576" marB="36576">
                    <a:solidFill>
                      <a:srgbClr val="F3F5F9"/>
                    </a:solidFill>
                  </a:tcPr>
                </a:tc>
                <a:tc>
                  <a:txBody>
                    <a:bodyPr wrap="square"/>
                    <a:lstStyle/>
                    <a:p>
                      <a:r>
                        <a:rPr sz="1400" b="0">
                          <a:solidFill>
                            <a:srgbClr val="1B1B1B"/>
                          </a:solidFill>
                          <a:latin typeface="Calibri"/>
                        </a:rPr>
                        <a:t>Toulmin, chiffre de fournisseur, objections</a:t>
                      </a:r>
                    </a:p>
                  </a:txBody>
                  <a:tcPr marL="73152" marR="73152" marT="36576" marB="36576">
                    <a:solidFill>
                      <a:srgbClr val="F3F5F9"/>
                    </a:solidFill>
                  </a:tcPr>
                </a:tc>
              </a:tr>
              <a:tr h="365760">
                <a:tc>
                  <a:txBody>
                    <a:bodyPr wrap="square"/>
                    <a:lstStyle/>
                    <a:p>
                      <a:r>
                        <a:rPr sz="1400" b="1">
                          <a:solidFill>
                            <a:srgbClr val="1B1B1B"/>
                          </a:solidFill>
                          <a:latin typeface="Calibri"/>
                        </a:rPr>
                        <a:t>11 à 13 État de l'art</a:t>
                      </a:r>
                    </a:p>
                  </a:txBody>
                  <a:tcPr marL="73152" marR="73152" marT="36576" marB="36576">
                    <a:solidFill>
                      <a:srgbClr val="FFFFFF"/>
                    </a:solidFill>
                  </a:tcPr>
                </a:tc>
                <a:tc>
                  <a:txBody>
                    <a:bodyPr wrap="square"/>
                    <a:lstStyle/>
                    <a:p>
                      <a:r>
                        <a:rPr sz="1400" b="0">
                          <a:solidFill>
                            <a:srgbClr val="1B1B1B"/>
                          </a:solidFill>
                          <a:latin typeface="Calibri"/>
                        </a:rPr>
                        <a:t>EX21 à EX24</a:t>
                      </a:r>
                    </a:p>
                  </a:txBody>
                  <a:tcPr marL="73152" marR="73152" marT="36576" marB="36576">
                    <a:solidFill>
                      <a:srgbClr val="FFFFFF"/>
                    </a:solidFill>
                  </a:tcPr>
                </a:tc>
                <a:tc>
                  <a:txBody>
                    <a:bodyPr wrap="square"/>
                    <a:lstStyle/>
                    <a:p>
                      <a:r>
                        <a:rPr sz="1400" b="0">
                          <a:solidFill>
                            <a:srgbClr val="1B1B1B"/>
                          </a:solidFill>
                          <a:latin typeface="Calibri"/>
                        </a:rPr>
                        <a:t>Matrice, plan, texte de 2 pages</a:t>
                      </a:r>
                    </a:p>
                  </a:txBody>
                  <a:tcPr marL="73152" marR="73152" marT="36576" marB="36576">
                    <a:solidFill>
                      <a:srgbClr val="FFFFFF"/>
                    </a:solidFill>
                  </a:tcPr>
                </a:tc>
              </a:tr>
              <a:tr h="365760">
                <a:tc>
                  <a:txBody>
                    <a:bodyPr wrap="square"/>
                    <a:lstStyle/>
                    <a:p>
                      <a:r>
                        <a:rPr sz="1400" b="1">
                          <a:solidFill>
                            <a:srgbClr val="1B1B1B"/>
                          </a:solidFill>
                          <a:latin typeface="Calibri"/>
                        </a:rPr>
                        <a:t>14 et 15 Relire, présenter</a:t>
                      </a:r>
                    </a:p>
                  </a:txBody>
                  <a:tcPr marL="73152" marR="73152" marT="36576" marB="36576">
                    <a:solidFill>
                      <a:srgbClr val="F3F5F9"/>
                    </a:solidFill>
                  </a:tcPr>
                </a:tc>
                <a:tc>
                  <a:txBody>
                    <a:bodyPr wrap="square"/>
                    <a:lstStyle/>
                    <a:p>
                      <a:r>
                        <a:rPr sz="1400" b="0">
                          <a:solidFill>
                            <a:srgbClr val="1B1B1B"/>
                          </a:solidFill>
                          <a:latin typeface="Calibri"/>
                        </a:rPr>
                        <a:t>EX25 à EX27</a:t>
                      </a:r>
                    </a:p>
                  </a:txBody>
                  <a:tcPr marL="73152" marR="73152" marT="36576" marB="36576">
                    <a:solidFill>
                      <a:srgbClr val="F3F5F9"/>
                    </a:solidFill>
                  </a:tcPr>
                </a:tc>
                <a:tc>
                  <a:txBody>
                    <a:bodyPr wrap="square"/>
                    <a:lstStyle/>
                    <a:p>
                      <a:r>
                        <a:rPr sz="1400" b="0">
                          <a:solidFill>
                            <a:srgbClr val="1B1B1B"/>
                          </a:solidFill>
                          <a:latin typeface="Calibri"/>
                        </a:rPr>
                        <a:t>Retours SBI, message clé, jury</a:t>
                      </a:r>
                    </a:p>
                  </a:txBody>
                  <a:tcPr marL="73152" marR="73152" marT="36576" marB="36576">
                    <a:solidFill>
                      <a:srgbClr val="F3F5F9"/>
                    </a:solidFill>
                  </a:tcPr>
                </a:tc>
              </a:tr>
              <a:tr h="365760">
                <a:tc>
                  <a:txBody>
                    <a:bodyPr wrap="square"/>
                    <a:lstStyle/>
                    <a:p>
                      <a:r>
                        <a:rPr sz="1400" b="1">
                          <a:solidFill>
                            <a:srgbClr val="1B1B1B"/>
                          </a:solidFill>
                          <a:latin typeface="Calibri"/>
                        </a:rPr>
                        <a:t>17 et 18</a:t>
                      </a:r>
                    </a:p>
                  </a:txBody>
                  <a:tcPr marL="73152" marR="73152" marT="36576" marB="36576">
                    <a:solidFill>
                      <a:srgbClr val="FFFFFF"/>
                    </a:solidFill>
                  </a:tcPr>
                </a:tc>
                <a:tc>
                  <a:txBody>
                    <a:bodyPr wrap="square"/>
                    <a:lstStyle/>
                    <a:p>
                      <a:r>
                        <a:rPr sz="1400" b="0">
                          <a:solidFill>
                            <a:srgbClr val="1B1B1B"/>
                          </a:solidFill>
                          <a:latin typeface="Calibri"/>
                        </a:rPr>
                        <a:t>EX10 (Zotero), IA</a:t>
                      </a:r>
                    </a:p>
                  </a:txBody>
                  <a:tcPr marL="73152" marR="73152" marT="36576" marB="36576">
                    <a:solidFill>
                      <a:srgbClr val="FFFFFF"/>
                    </a:solidFill>
                  </a:tcPr>
                </a:tc>
                <a:tc>
                  <a:txBody>
                    <a:bodyPr wrap="square"/>
                    <a:lstStyle/>
                    <a:p>
                      <a:r>
                        <a:rPr sz="1400" b="0">
                          <a:solidFill>
                            <a:srgbClr val="1B1B1B"/>
                          </a:solidFill>
                          <a:latin typeface="Calibri"/>
                        </a:rPr>
                        <a:t>Bibliographie, déclaration d'usage de l'IA</a:t>
                      </a:r>
                    </a:p>
                  </a:txBody>
                  <a:tcPr marL="73152" marR="73152" marT="36576" marB="36576">
                    <a:solidFill>
                      <a:srgbClr val="FFFFFF"/>
                    </a:solidFill>
                  </a:tcPr>
                </a:tc>
              </a:tr>
              <a:tr h="365760">
                <a:tc>
                  <a:txBody>
                    <a:bodyPr wrap="square"/>
                    <a:lstStyle/>
                    <a:p>
                      <a:r>
                        <a:rPr sz="1400" b="1">
                          <a:solidFill>
                            <a:srgbClr val="1B1B1B"/>
                          </a:solidFill>
                          <a:latin typeface="Calibri"/>
                        </a:rPr>
                        <a:t>19 et 21 Veille et benchmark</a:t>
                      </a:r>
                    </a:p>
                  </a:txBody>
                  <a:tcPr marL="73152" marR="73152" marT="36576" marB="36576">
                    <a:solidFill>
                      <a:srgbClr val="F3F5F9"/>
                    </a:solidFill>
                  </a:tcPr>
                </a:tc>
                <a:tc>
                  <a:txBody>
                    <a:bodyPr wrap="square"/>
                    <a:lstStyle/>
                    <a:p>
                      <a:r>
                        <a:rPr sz="1400" b="0">
                          <a:solidFill>
                            <a:srgbClr val="1B1B1B"/>
                          </a:solidFill>
                          <a:latin typeface="Calibri"/>
                        </a:rPr>
                        <a:t>V4, V8</a:t>
                      </a:r>
                    </a:p>
                  </a:txBody>
                  <a:tcPr marL="73152" marR="73152" marT="36576" marB="36576">
                    <a:solidFill>
                      <a:srgbClr val="F3F5F9"/>
                    </a:solidFill>
                  </a:tcPr>
                </a:tc>
                <a:tc>
                  <a:txBody>
                    <a:bodyPr wrap="square"/>
                    <a:lstStyle/>
                    <a:p>
                      <a:r>
                        <a:rPr sz="1400" b="0">
                          <a:solidFill>
                            <a:srgbClr val="1B1B1B"/>
                          </a:solidFill>
                          <a:latin typeface="Calibri"/>
                        </a:rPr>
                        <a:t>Plan de veille, mesures et écarts</a:t>
                      </a:r>
                    </a:p>
                  </a:txBody>
                  <a:tcPr marL="73152" marR="73152" marT="36576" marB="36576">
                    <a:solidFill>
                      <a:srgbClr val="F3F5F9"/>
                    </a:solidFill>
                  </a:tcPr>
                </a:tc>
              </a:tr>
              <a:tr h="365760">
                <a:tc>
                  <a:txBody>
                    <a:bodyPr wrap="square"/>
                    <a:lstStyle/>
                    <a:p>
                      <a:r>
                        <a:rPr sz="1400" b="1">
                          <a:solidFill>
                            <a:srgbClr val="1B1B1B"/>
                          </a:solidFill>
                          <a:latin typeface="Calibri"/>
                        </a:rPr>
                        <a:t>16 et 20 (annexe H)</a:t>
                      </a:r>
                    </a:p>
                  </a:txBody>
                  <a:tcPr marL="73152" marR="73152" marT="36576" marB="36576">
                    <a:solidFill>
                      <a:srgbClr val="FFFFFF"/>
                    </a:solidFill>
                  </a:tcPr>
                </a:tc>
                <a:tc>
                  <a:txBody>
                    <a:bodyPr wrap="square"/>
                    <a:lstStyle/>
                    <a:p>
                      <a:r>
                        <a:rPr sz="1400" b="0">
                          <a:solidFill>
                            <a:srgbClr val="1B1B1B"/>
                          </a:solidFill>
                          <a:latin typeface="Calibri"/>
                        </a:rPr>
                        <a:t>EX28, V5</a:t>
                      </a:r>
                    </a:p>
                  </a:txBody>
                  <a:tcPr marL="73152" marR="73152" marT="36576" marB="36576">
                    <a:solidFill>
                      <a:srgbClr val="FFFFFF"/>
                    </a:solidFill>
                  </a:tcPr>
                </a:tc>
                <a:tc>
                  <a:txBody>
                    <a:bodyPr wrap="square"/>
                    <a:lstStyle/>
                    <a:p>
                      <a:r>
                        <a:rPr sz="1400" b="0">
                          <a:solidFill>
                            <a:srgbClr val="1B1B1B"/>
                          </a:solidFill>
                          <a:latin typeface="Calibri"/>
                        </a:rPr>
                        <a:t>Fiche de vulnérabilité et fiche CVE : hors temps de cours, pour le projet tutoré</a:t>
                      </a:r>
                    </a:p>
                  </a:txBody>
                  <a:tcPr marL="73152" marR="73152" marT="36576" marB="36576">
                    <a:solidFill>
                      <a:srgbClr val="FFFFFF"/>
                    </a:solidFill>
                  </a:tcPr>
                </a:tc>
              </a:tr>
            </a:tbl>
          </a:graphicData>
        </a:graphic>
      </p:graphicFrame>
      <p:sp>
        <p:nvSpPr>
          <p:cNvPr id="7" name="Rounded Rectangle 6"/>
          <p:cNvSpPr/>
          <p:nvPr/>
        </p:nvSpPr>
        <p:spPr>
          <a:xfrm>
            <a:off x="411480" y="5715000"/>
            <a:ext cx="9326880" cy="54864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19"/>
              </a:spcAft>
            </a:pPr>
            <a:r>
              <a:rPr sz="1200" b="1" i="0">
                <a:solidFill>
                  <a:srgbClr val="1B1B1B"/>
                </a:solidFill>
                <a:latin typeface="Calibri"/>
              </a:rPr>
              <a:t>Un seul fichier PowerPoint (une diapositive par section, avec un exemple en gris à effacer), rempli au fil des exercices : chaque exercice indique « → Dossier, section X ».</a:t>
            </a:r>
          </a:p>
        </p:txBody>
      </p:sp>
      <p:pic>
        <p:nvPicPr>
          <p:cNvPr id="8" name="Picture 7" descr="dossier.png"/>
          <p:cNvPicPr>
            <a:picLocks noChangeAspect="1"/>
          </p:cNvPicPr>
          <p:nvPr/>
        </p:nvPicPr>
        <p:blipFill>
          <a:blip r:embed="rId2"/>
          <a:stretch>
            <a:fillRect/>
          </a:stretch>
        </p:blipFill>
        <p:spPr>
          <a:xfrm>
            <a:off x="10058400" y="1371600"/>
            <a:ext cx="1737360" cy="1737360"/>
          </a:xfrm>
          <a:prstGeom prst="rect">
            <a:avLst/>
          </a:prstGeom>
        </p:spPr>
      </p:pic>
      <p:sp>
        <p:nvSpPr>
          <p:cNvPr id="9" name="TextBox 8"/>
          <p:cNvSpPr txBox="1"/>
          <p:nvPr/>
        </p:nvSpPr>
        <p:spPr>
          <a:xfrm>
            <a:off x="9601200" y="3090672"/>
            <a:ext cx="265176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
        <p:nvSpPr>
          <p:cNvPr id="10" name="TextBox 9"/>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modèle de dossier du cours (fichier PowerPoint, page « Dossier » de l'application) ; correspondance avec le syllabus ECUE-S7-1-2 à la dernière page du modèle.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B</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Écrire et demander pour obtenir une réponse</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Partie 1 du syllabus · exercices EX5, EX6, EX4</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Écrire un e-mail dont on comprend l'action en 5 secondes</a:t>
            </a:r>
          </a:p>
          <a:p>
            <a:pPr algn="l" marL="201168" indent="-201168">
              <a:spcAft>
                <a:spcPts val="700"/>
              </a:spcAft>
              <a:buChar char="•"/>
            </a:pPr>
            <a:r>
              <a:rPr sz="2000" b="0" i="0">
                <a:solidFill>
                  <a:srgbClr val="FFFFFF"/>
                </a:solidFill>
                <a:latin typeface="Calibri"/>
              </a:rPr>
              <a:t>Résumer un sujet technique en une page</a:t>
            </a:r>
          </a:p>
          <a:p>
            <a:pPr algn="l" marL="201168" indent="-201168">
              <a:spcAft>
                <a:spcPts val="700"/>
              </a:spcAft>
              <a:buChar char="•"/>
            </a:pPr>
            <a:r>
              <a:rPr sz="2000" b="0" i="0">
                <a:solidFill>
                  <a:srgbClr val="FFFFFF"/>
                </a:solidFill>
                <a:latin typeface="Calibri"/>
              </a:rPr>
              <a:t>Cadrer une demande avec 6 questions et trouver le vrai besoin</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P1 · Manipuler l'information et la communication en posture d'ingénieur</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Le mail qui obtient une réponse : avant / après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21</a:t>
            </a:r>
          </a:p>
        </p:txBody>
      </p:sp>
      <p:graphicFrame>
        <p:nvGraphicFramePr>
          <p:cNvPr id="6" name="Table 5"/>
          <p:cNvGraphicFramePr>
            <a:graphicFrameLocks noGrp="1"/>
          </p:cNvGraphicFramePr>
          <p:nvPr/>
        </p:nvGraphicFramePr>
        <p:xfrm>
          <a:off x="411480" y="1188720"/>
          <a:ext cx="11338560" cy="2194560"/>
        </p:xfrm>
        <a:graphic>
          <a:graphicData uri="http://schemas.openxmlformats.org/drawingml/2006/table">
            <a:tbl>
              <a:tblPr firstRow="0" bandRow="0">
                <a:tableStyleId>{5C22544A-7EE6-4342-B048-85BDC9FD1C3A}</a:tableStyleId>
              </a:tblPr>
              <a:tblGrid>
                <a:gridCol w="1511808"/>
                <a:gridCol w="3968496"/>
                <a:gridCol w="5858256"/>
              </a:tblGrid>
              <a:tr h="365760">
                <a:tc>
                  <a:txBody>
                    <a:bodyPr wrap="square"/>
                    <a:lstStyle/>
                    <a:p>
                      <a:r>
                        <a:rPr sz="1700" b="1">
                          <a:solidFill>
                            <a:srgbClr val="FFFFFF"/>
                          </a:solidFill>
                          <a:latin typeface="Calibri"/>
                        </a:rPr>
                        <a:t>Élément</a:t>
                      </a:r>
                    </a:p>
                  </a:txBody>
                  <a:tcPr marL="73152" marR="73152" marT="36576" marB="36576">
                    <a:solidFill>
                      <a:srgbClr val="1F2A5C"/>
                    </a:solidFill>
                  </a:tcPr>
                </a:tc>
                <a:tc>
                  <a:txBody>
                    <a:bodyPr wrap="square"/>
                    <a:lstStyle/>
                    <a:p>
                      <a:r>
                        <a:rPr sz="1700" b="1">
                          <a:solidFill>
                            <a:srgbClr val="FFFFFF"/>
                          </a:solidFill>
                          <a:latin typeface="Calibri"/>
                        </a:rPr>
                        <a:t>À éviter</a:t>
                      </a:r>
                    </a:p>
                  </a:txBody>
                  <a:tcPr marL="73152" marR="73152" marT="36576" marB="36576">
                    <a:solidFill>
                      <a:srgbClr val="1F2A5C"/>
                    </a:solidFill>
                  </a:tcPr>
                </a:tc>
                <a:tc>
                  <a:txBody>
                    <a:bodyPr wrap="square"/>
                    <a:lstStyle/>
                    <a:p>
                      <a:r>
                        <a:rPr sz="1700" b="1">
                          <a:solidFill>
                            <a:srgbClr val="FFFFFF"/>
                          </a:solidFill>
                          <a:latin typeface="Calibri"/>
                        </a:rPr>
                        <a:t>À écrire</a:t>
                      </a:r>
                    </a:p>
                  </a:txBody>
                  <a:tcPr marL="73152" marR="73152" marT="36576" marB="36576">
                    <a:solidFill>
                      <a:srgbClr val="1F2A5C"/>
                    </a:solidFill>
                  </a:tcPr>
                </a:tc>
              </a:tr>
              <a:tr h="365760">
                <a:tc>
                  <a:txBody>
                    <a:bodyPr wrap="square"/>
                    <a:lstStyle/>
                    <a:p>
                      <a:r>
                        <a:rPr sz="1700" b="1">
                          <a:solidFill>
                            <a:srgbClr val="1B1B1B"/>
                          </a:solidFill>
                          <a:latin typeface="Calibri"/>
                        </a:rPr>
                        <a:t>Objet</a:t>
                      </a:r>
                    </a:p>
                  </a:txBody>
                  <a:tcPr marL="73152" marR="73152" marT="36576" marB="36576">
                    <a:solidFill>
                      <a:srgbClr val="FFFFFF"/>
                    </a:solidFill>
                  </a:tcPr>
                </a:tc>
                <a:tc>
                  <a:txBody>
                    <a:bodyPr wrap="square"/>
                    <a:lstStyle/>
                    <a:p>
                      <a:r>
                        <a:rPr sz="1700" b="0">
                          <a:solidFill>
                            <a:srgbClr val="1B1B1B"/>
                          </a:solidFill>
                          <a:latin typeface="Calibri"/>
                        </a:rPr>
                        <a:t>« Question »</a:t>
                      </a:r>
                    </a:p>
                  </a:txBody>
                  <a:tcPr marL="73152" marR="73152" marT="36576" marB="36576">
                    <a:solidFill>
                      <a:srgbClr val="FFFFFF"/>
                    </a:solidFill>
                  </a:tcPr>
                </a:tc>
                <a:tc>
                  <a:txBody>
                    <a:bodyPr wrap="square"/>
                    <a:lstStyle/>
                    <a:p>
                      <a:r>
                        <a:rPr sz="1700" b="0">
                          <a:solidFill>
                            <a:srgbClr val="1B1B1B"/>
                          </a:solidFill>
                          <a:latin typeface="Calibri"/>
                        </a:rPr>
                        <a:t>« Décision avant jeudi 12 h : choix du transporteur »</a:t>
                      </a:r>
                    </a:p>
                  </a:txBody>
                  <a:tcPr marL="73152" marR="73152" marT="36576" marB="36576">
                    <a:solidFill>
                      <a:srgbClr val="FFFFFF"/>
                    </a:solidFill>
                  </a:tcPr>
                </a:tc>
              </a:tr>
              <a:tr h="365760">
                <a:tc>
                  <a:txBody>
                    <a:bodyPr wrap="square"/>
                    <a:lstStyle/>
                    <a:p>
                      <a:r>
                        <a:rPr sz="1700" b="1">
                          <a:solidFill>
                            <a:srgbClr val="1B1B1B"/>
                          </a:solidFill>
                          <a:latin typeface="Calibri"/>
                        </a:rPr>
                        <a:t>Première phrase</a:t>
                      </a:r>
                    </a:p>
                  </a:txBody>
                  <a:tcPr marL="73152" marR="73152" marT="36576" marB="36576">
                    <a:solidFill>
                      <a:srgbClr val="F3F5F9"/>
                    </a:solidFill>
                  </a:tcPr>
                </a:tc>
                <a:tc>
                  <a:txBody>
                    <a:bodyPr wrap="square"/>
                    <a:lstStyle/>
                    <a:p>
                      <a:r>
                        <a:rPr sz="1700" b="0">
                          <a:solidFill>
                            <a:srgbClr val="1B1B1B"/>
                          </a:solidFill>
                          <a:latin typeface="Calibri"/>
                        </a:rPr>
                        <a:t>« Je me permets de vous écrire au sujet de… »</a:t>
                      </a:r>
                    </a:p>
                  </a:txBody>
                  <a:tcPr marL="73152" marR="73152" marT="36576" marB="36576">
                    <a:solidFill>
                      <a:srgbClr val="F3F5F9"/>
                    </a:solidFill>
                  </a:tcPr>
                </a:tc>
                <a:tc>
                  <a:txBody>
                    <a:bodyPr wrap="square"/>
                    <a:lstStyle/>
                    <a:p>
                      <a:r>
                        <a:rPr sz="1700" b="0">
                          <a:solidFill>
                            <a:srgbClr val="1B1B1B"/>
                          </a:solidFill>
                          <a:latin typeface="Calibri"/>
                        </a:rPr>
                        <a:t>« Pouvez-vous valider l'option B avant jeudi 12 h ? »</a:t>
                      </a:r>
                    </a:p>
                  </a:txBody>
                  <a:tcPr marL="73152" marR="73152" marT="36576" marB="36576">
                    <a:solidFill>
                      <a:srgbClr val="F3F5F9"/>
                    </a:solidFill>
                  </a:tcPr>
                </a:tc>
              </a:tr>
              <a:tr h="365760">
                <a:tc>
                  <a:txBody>
                    <a:bodyPr wrap="square"/>
                    <a:lstStyle/>
                    <a:p>
                      <a:r>
                        <a:rPr sz="1700" b="1">
                          <a:solidFill>
                            <a:srgbClr val="1B1B1B"/>
                          </a:solidFill>
                          <a:latin typeface="Calibri"/>
                        </a:rPr>
                        <a:t>Contexte</a:t>
                      </a:r>
                    </a:p>
                  </a:txBody>
                  <a:tcPr marL="73152" marR="73152" marT="36576" marB="36576">
                    <a:solidFill>
                      <a:srgbClr val="FFFFFF"/>
                    </a:solidFill>
                  </a:tcPr>
                </a:tc>
                <a:tc>
                  <a:txBody>
                    <a:bodyPr wrap="square"/>
                    <a:lstStyle/>
                    <a:p>
                      <a:r>
                        <a:rPr sz="1700" b="0">
                          <a:solidFill>
                            <a:srgbClr val="1B1B1B"/>
                          </a:solidFill>
                          <a:latin typeface="Calibri"/>
                        </a:rPr>
                        <a:t>Une page d'historique</a:t>
                      </a:r>
                    </a:p>
                  </a:txBody>
                  <a:tcPr marL="73152" marR="73152" marT="36576" marB="36576">
                    <a:solidFill>
                      <a:srgbClr val="FFFFFF"/>
                    </a:solidFill>
                  </a:tcPr>
                </a:tc>
                <a:tc>
                  <a:txBody>
                    <a:bodyPr wrap="square"/>
                    <a:lstStyle/>
                    <a:p>
                      <a:r>
                        <a:rPr sz="1700" b="0">
                          <a:solidFill>
                            <a:srgbClr val="1B1B1B"/>
                          </a:solidFill>
                          <a:latin typeface="Calibri"/>
                        </a:rPr>
                        <a:t>Trois lignes : coût, délai, risque</a:t>
                      </a:r>
                    </a:p>
                  </a:txBody>
                  <a:tcPr marL="73152" marR="73152" marT="36576" marB="36576">
                    <a:solidFill>
                      <a:srgbClr val="FFFFFF"/>
                    </a:solidFill>
                  </a:tcPr>
                </a:tc>
              </a:tr>
              <a:tr h="365760">
                <a:tc>
                  <a:txBody>
                    <a:bodyPr wrap="square"/>
                    <a:lstStyle/>
                    <a:p>
                      <a:r>
                        <a:rPr sz="1700" b="1">
                          <a:solidFill>
                            <a:srgbClr val="1B1B1B"/>
                          </a:solidFill>
                          <a:latin typeface="Calibri"/>
                        </a:rPr>
                        <a:t>Échéance</a:t>
                      </a:r>
                    </a:p>
                  </a:txBody>
                  <a:tcPr marL="73152" marR="73152" marT="36576" marB="36576">
                    <a:solidFill>
                      <a:srgbClr val="F3F5F9"/>
                    </a:solidFill>
                  </a:tcPr>
                </a:tc>
                <a:tc>
                  <a:txBody>
                    <a:bodyPr wrap="square"/>
                    <a:lstStyle/>
                    <a:p>
                      <a:r>
                        <a:rPr sz="1700" b="0">
                          <a:solidFill>
                            <a:srgbClr val="1B1B1B"/>
                          </a:solidFill>
                          <a:latin typeface="Calibri"/>
                        </a:rPr>
                        <a:t>Absente</a:t>
                      </a:r>
                    </a:p>
                  </a:txBody>
                  <a:tcPr marL="73152" marR="73152" marT="36576" marB="36576">
                    <a:solidFill>
                      <a:srgbClr val="F3F5F9"/>
                    </a:solidFill>
                  </a:tcPr>
                </a:tc>
                <a:tc>
                  <a:txBody>
                    <a:bodyPr wrap="square"/>
                    <a:lstStyle/>
                    <a:p>
                      <a:r>
                        <a:rPr sz="1700" b="0">
                          <a:solidFill>
                            <a:srgbClr val="1B1B1B"/>
                          </a:solidFill>
                          <a:latin typeface="Calibri"/>
                        </a:rPr>
                        <a:t>Date, heure, et ce qui se passe sans réponse</a:t>
                      </a:r>
                    </a:p>
                  </a:txBody>
                  <a:tcPr marL="73152" marR="73152" marT="36576" marB="36576">
                    <a:solidFill>
                      <a:srgbClr val="F3F5F9"/>
                    </a:solidFill>
                  </a:tcPr>
                </a:tc>
              </a:tr>
              <a:tr h="365760">
                <a:tc>
                  <a:txBody>
                    <a:bodyPr wrap="square"/>
                    <a:lstStyle/>
                    <a:p>
                      <a:r>
                        <a:rPr sz="1700" b="1">
                          <a:solidFill>
                            <a:srgbClr val="1B1B1B"/>
                          </a:solidFill>
                          <a:latin typeface="Calibri"/>
                        </a:rPr>
                        <a:t>Relance</a:t>
                      </a:r>
                    </a:p>
                  </a:txBody>
                  <a:tcPr marL="73152" marR="73152" marT="36576" marB="36576">
                    <a:solidFill>
                      <a:srgbClr val="FFFFFF"/>
                    </a:solidFill>
                  </a:tcPr>
                </a:tc>
                <a:tc>
                  <a:txBody>
                    <a:bodyPr wrap="square"/>
                    <a:lstStyle/>
                    <a:p>
                      <a:r>
                        <a:rPr sz="1700" b="0">
                          <a:solidFill>
                            <a:srgbClr val="1B1B1B"/>
                          </a:solidFill>
                          <a:latin typeface="Calibri"/>
                        </a:rPr>
                        <a:t>« Je relance. »</a:t>
                      </a:r>
                    </a:p>
                  </a:txBody>
                  <a:tcPr marL="73152" marR="73152" marT="36576" marB="36576">
                    <a:solidFill>
                      <a:srgbClr val="FFFFFF"/>
                    </a:solidFill>
                  </a:tcPr>
                </a:tc>
                <a:tc>
                  <a:txBody>
                    <a:bodyPr wrap="square"/>
                    <a:lstStyle/>
                    <a:p>
                      <a:r>
                        <a:rPr sz="1700" b="0">
                          <a:solidFill>
                            <a:srgbClr val="1B1B1B"/>
                          </a:solidFill>
                          <a:latin typeface="Calibri"/>
                        </a:rPr>
                        <a:t>« Votre validation débloque la commande de lundi : pouvez-vous confirmer aujourd'hui ? »</a:t>
                      </a:r>
                    </a:p>
                  </a:txBody>
                  <a:tcPr marL="73152" marR="73152" marT="36576" marB="36576">
                    <a:solidFill>
                      <a:srgbClr val="FFFFFF"/>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Test en 5 secondes : en lisant l'objet et la première ligne, le lecteur sait-il quoi faire, et pour quand ?</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Voici mon e-mail. Quelle action attend-on du lecteur, et pour quand ? » Si l'IA hésite, le lecteur aussi.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Six phrases prêtes à l'emploi</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22</a:t>
            </a:r>
          </a:p>
        </p:txBody>
      </p:sp>
      <p:sp>
        <p:nvSpPr>
          <p:cNvPr id="6" name="Rounded Rectangle 5"/>
          <p:cNvSpPr/>
          <p:nvPr/>
        </p:nvSpPr>
        <p:spPr>
          <a:xfrm>
            <a:off x="41148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365760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Demander</a:t>
            </a:r>
          </a:p>
        </p:txBody>
      </p:sp>
      <p:sp>
        <p:nvSpPr>
          <p:cNvPr id="8" name="TextBox 7"/>
          <p:cNvSpPr txBox="1"/>
          <p:nvPr/>
        </p:nvSpPr>
        <p:spPr>
          <a:xfrm>
            <a:off x="45720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Pouvez-vous … avant [date] ? Cela permet de … »</a:t>
            </a:r>
          </a:p>
        </p:txBody>
      </p:sp>
      <p:sp>
        <p:nvSpPr>
          <p:cNvPr id="9" name="Rounded Rectangle 8"/>
          <p:cNvSpPr/>
          <p:nvPr/>
        </p:nvSpPr>
        <p:spPr>
          <a:xfrm>
            <a:off x="425196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188720"/>
            <a:ext cx="365760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Relancer</a:t>
            </a:r>
          </a:p>
        </p:txBody>
      </p:sp>
      <p:sp>
        <p:nvSpPr>
          <p:cNvPr id="11" name="TextBox 10"/>
          <p:cNvSpPr txBox="1"/>
          <p:nvPr/>
        </p:nvSpPr>
        <p:spPr>
          <a:xfrm>
            <a:off x="429768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Je reviens vers vous sur … : sans retour avant [date], nous … »</a:t>
            </a:r>
          </a:p>
        </p:txBody>
      </p:sp>
      <p:sp>
        <p:nvSpPr>
          <p:cNvPr id="12" name="Rounded Rectangle 11"/>
          <p:cNvSpPr/>
          <p:nvPr/>
        </p:nvSpPr>
        <p:spPr>
          <a:xfrm>
            <a:off x="809244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188720"/>
            <a:ext cx="36576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Refuser avec une option</a:t>
            </a:r>
          </a:p>
        </p:txBody>
      </p:sp>
      <p:sp>
        <p:nvSpPr>
          <p:cNvPr id="14" name="TextBox 13"/>
          <p:cNvSpPr txBox="1"/>
          <p:nvPr/>
        </p:nvSpPr>
        <p:spPr>
          <a:xfrm>
            <a:off x="813816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Je ne peux pas … d'ici là ; je peux proposer … »</a:t>
            </a:r>
          </a:p>
        </p:txBody>
      </p:sp>
      <p:sp>
        <p:nvSpPr>
          <p:cNvPr id="15" name="Rounded Rectangle 14"/>
          <p:cNvSpPr/>
          <p:nvPr/>
        </p:nvSpPr>
        <p:spPr>
          <a:xfrm>
            <a:off x="41148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43300"/>
            <a:ext cx="365760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Signaler un problème</a:t>
            </a:r>
          </a:p>
        </p:txBody>
      </p:sp>
      <p:sp>
        <p:nvSpPr>
          <p:cNvPr id="17" name="TextBox 16"/>
          <p:cNvSpPr txBox="1"/>
          <p:nvPr/>
        </p:nvSpPr>
        <p:spPr>
          <a:xfrm>
            <a:off x="45720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Constat : … Impact : … Proposition : … »</a:t>
            </a:r>
          </a:p>
        </p:txBody>
      </p:sp>
      <p:sp>
        <p:nvSpPr>
          <p:cNvPr id="18" name="Rounded Rectangle 17"/>
          <p:cNvSpPr/>
          <p:nvPr/>
        </p:nvSpPr>
        <p:spPr>
          <a:xfrm>
            <a:off x="425196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3543300"/>
            <a:ext cx="365760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Reformuler en réunion</a:t>
            </a:r>
          </a:p>
        </p:txBody>
      </p:sp>
      <p:sp>
        <p:nvSpPr>
          <p:cNvPr id="20" name="TextBox 19"/>
          <p:cNvSpPr txBox="1"/>
          <p:nvPr/>
        </p:nvSpPr>
        <p:spPr>
          <a:xfrm>
            <a:off x="429768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Si je comprends bien, vous voulez … ; est-ce exact ? »</a:t>
            </a:r>
          </a:p>
        </p:txBody>
      </p:sp>
      <p:sp>
        <p:nvSpPr>
          <p:cNvPr id="21" name="Rounded Rectangle 20"/>
          <p:cNvSpPr/>
          <p:nvPr/>
        </p:nvSpPr>
        <p:spPr>
          <a:xfrm>
            <a:off x="809244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543300"/>
            <a:ext cx="365760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Conclure une réunion</a:t>
            </a:r>
          </a:p>
        </p:txBody>
      </p:sp>
      <p:sp>
        <p:nvSpPr>
          <p:cNvPr id="23" name="TextBox 22"/>
          <p:cNvSpPr txBox="1"/>
          <p:nvPr/>
        </p:nvSpPr>
        <p:spPr>
          <a:xfrm>
            <a:off x="813816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Décisions : … Actions : qui, quoi, quand. »</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Copiez ces débuts de phrase dans votre carnet : vous les réutiliserez en stage et en entreprise.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5</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Corriger trois e-mails : avant / après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EX5</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23</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  15 min  ·  Carnet · chapitre 2  ·  Outil : e-mail réel, IA générative (test de lisibilité)</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Corriger des e-mails pour que le lecteur sache quoi faire, pour quand.</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50"/>
              </a:spcAft>
            </a:pPr>
            <a:r>
              <a:rPr sz="1500" b="0" i="0">
                <a:solidFill>
                  <a:srgbClr val="1B1B1B"/>
                </a:solidFill>
                <a:latin typeface="Calibri"/>
              </a:rPr>
              <a:t>Trois e-mails reçus chez TransLor. Lisez-les, puis corrigez-les.</a:t>
            </a:r>
          </a:p>
          <a:p>
            <a:pPr algn="l">
              <a:spcAft>
                <a:spcPts val="450"/>
              </a:spcAft>
            </a:pPr>
            <a:r>
              <a:rPr sz="1500" b="0" i="0">
                <a:solidFill>
                  <a:srgbClr val="1B1B1B"/>
                </a:solidFill>
                <a:latin typeface="Calibri"/>
              </a:rPr>
              <a:t>E1, envoyé à la directrice. Objet : « Question ». Texte : « Je pense qu'on pourrait faire autrement, mais je ne sais pas si c'est possible. Qu'en pensez-vous ? »</a:t>
            </a:r>
          </a:p>
          <a:p>
            <a:pPr algn="l">
              <a:spcAft>
                <a:spcPts val="450"/>
              </a:spcAft>
            </a:pPr>
            <a:r>
              <a:rPr sz="1500" b="0" i="0">
                <a:solidFill>
                  <a:srgbClr val="1B1B1B"/>
                </a:solidFill>
                <a:latin typeface="Calibri"/>
              </a:rPr>
              <a:t>E2, envoyé à Marc. Objet : « Re: Re: Re: Fwd: tournées ». Texte : trois sujets mélangés (planning de lundi, tablette de Léa, facture carburant), sans demande claire.</a:t>
            </a:r>
          </a:p>
          <a:p>
            <a:pPr algn="l">
              <a:spcAft>
                <a:spcPts val="450"/>
              </a:spcAft>
            </a:pPr>
            <a:r>
              <a:rPr sz="1500" b="0" i="0">
                <a:solidFill>
                  <a:srgbClr val="1B1B1B"/>
                </a:solidFill>
                <a:latin typeface="Calibri"/>
              </a:rPr>
              <a:t>E3 : « OK merci ! » envoyé en « Répondre à tous » à 40 personnes.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Pour E1, E2 et E3, trouvez les défauts (un par e-mail pour commencer).</a:t>
            </a:r>
          </a:p>
          <a:p>
            <a:pPr algn="l" marL="274320" indent="-274320">
              <a:spcAft>
                <a:spcPts val="600"/>
              </a:spcAft>
              <a:buAutoNum type="arabicPeriod"/>
            </a:pPr>
            <a:r>
              <a:rPr sz="2000" b="0" i="0">
                <a:solidFill>
                  <a:srgbClr val="1B1B1B"/>
                </a:solidFill>
                <a:latin typeface="Calibri"/>
              </a:rPr>
              <a:t>Réécrivez l'objet de E1 et de E2 (8 mots maximum) et le texte de E1 en 4 lignes, conclusion en premier.</a:t>
            </a:r>
          </a:p>
          <a:p>
            <a:pPr algn="l" marL="274320" indent="-274320">
              <a:spcAft>
                <a:spcPts val="600"/>
              </a:spcAft>
              <a:buAutoNum type="arabicPeriod"/>
            </a:pPr>
            <a:r>
              <a:rPr sz="2000" b="0" i="0">
                <a:solidFill>
                  <a:srgbClr val="1B1B1B"/>
                </a:solidFill>
                <a:latin typeface="Calibri"/>
              </a:rPr>
              <a:t>Test IA (ordinateur) : collez votre E1 réécrit et demandez « Quelle action attend-on du lecteur, pour quand ? ». Notez le nom de l'IA utilisée.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Trois e-mails corrigés.</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5.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5 — Corriger trois e-mails : avant / après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EX5</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24</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Objet = sujet + action attendue.</a:t>
            </a:r>
          </a:p>
          <a:p>
            <a:pPr algn="l" marL="274320" indent="-274320">
              <a:spcAft>
                <a:spcPts val="375"/>
              </a:spcAft>
              <a:buAutoNum type="arabicPeriod"/>
            </a:pPr>
            <a:r>
              <a:rPr sz="1500" b="0" i="0">
                <a:solidFill>
                  <a:srgbClr val="1B1B1B"/>
                </a:solidFill>
                <a:latin typeface="Calibri"/>
              </a:rPr>
              <a:t>Un e-mail = un sujet.</a:t>
            </a:r>
          </a:p>
          <a:p>
            <a:pPr algn="l" marL="274320" indent="-274320">
              <a:spcAft>
                <a:spcPts val="375"/>
              </a:spcAft>
              <a:buAutoNum type="arabicPeriod"/>
            </a:pPr>
            <a:r>
              <a:rPr sz="1500" b="0" i="0">
                <a:solidFill>
                  <a:srgbClr val="1B1B1B"/>
                </a:solidFill>
                <a:latin typeface="Calibri"/>
              </a:rPr>
              <a:t>Conclusion d'abord, détails ensuite.</a:t>
            </a:r>
          </a:p>
          <a:p>
            <a:pPr algn="l" marL="274320" indent="-274320">
              <a:spcAft>
                <a:spcPts val="375"/>
              </a:spcAft>
              <a:buAutoNum type="arabicPeriod"/>
            </a:pPr>
            <a:r>
              <a:rPr sz="1500" b="0" i="0">
                <a:solidFill>
                  <a:srgbClr val="1B1B1B"/>
                </a:solidFill>
                <a:latin typeface="Calibri"/>
              </a:rPr>
              <a:t>Répondre à tous seulement si tous doivent le savoir.</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1508760"/>
                <a:gridCol w="6537960"/>
              </a:tblGrid>
              <a:tr h="237744">
                <a:tc>
                  <a:txBody>
                    <a:bodyPr wrap="square"/>
                    <a:lstStyle/>
                    <a:p>
                      <a:r>
                        <a:rPr sz="1700" b="1">
                          <a:solidFill>
                            <a:srgbClr val="FFFFFF"/>
                          </a:solidFill>
                          <a:latin typeface="Calibri"/>
                        </a:rPr>
                        <a:t>Question</a:t>
                      </a:r>
                    </a:p>
                  </a:txBody>
                  <a:tcPr marL="73152" marR="73152" marT="36576" marB="36576">
                    <a:solidFill>
                      <a:srgbClr val="1F2A5C"/>
                    </a:solidFill>
                  </a:tcPr>
                </a:tc>
                <a:tc>
                  <a:txBody>
                    <a:bodyPr wrap="square"/>
                    <a:lstStyle/>
                    <a:p>
                      <a:r>
                        <a:rPr sz="1700" b="1">
                          <a:solidFill>
                            <a:srgbClr val="FFFFFF"/>
                          </a:solidFill>
                          <a:latin typeface="Calibri"/>
                        </a:rPr>
                        <a:t>Réponse</a:t>
                      </a:r>
                    </a:p>
                  </a:txBody>
                  <a:tcPr marL="73152" marR="73152" marT="36576" marB="36576">
                    <a:solidFill>
                      <a:srgbClr val="1F2A5C"/>
                    </a:solidFill>
                  </a:tcPr>
                </a:tc>
              </a:tr>
              <a:tr h="237744">
                <a:tc>
                  <a:txBody>
                    <a:bodyPr wrap="square"/>
                    <a:lstStyle/>
                    <a:p>
                      <a:r>
                        <a:rPr sz="1700" b="1">
                          <a:solidFill>
                            <a:srgbClr val="1B1B1B"/>
                          </a:solidFill>
                          <a:latin typeface="Calibri"/>
                        </a:rPr>
                        <a:t>E1 : défauts</a:t>
                      </a:r>
                    </a:p>
                  </a:txBody>
                  <a:tcPr marL="73152" marR="73152" marT="36576" marB="36576">
                    <a:solidFill>
                      <a:srgbClr val="FFFFFF"/>
                    </a:solidFill>
                  </a:tcPr>
                </a:tc>
                <a:tc>
                  <a:txBody>
                    <a:bodyPr wrap="square"/>
                    <a:lstStyle/>
                    <a:p>
                      <a:r>
                        <a:rPr sz="1700" b="0">
                          <a:solidFill>
                            <a:srgbClr val="1B1B1B"/>
                          </a:solidFill>
                          <a:latin typeface="Calibri"/>
                        </a:rPr>
                        <a:t>Objet vide ; idée vague (« autrement ») ; pas d'action ni d'échéance</a:t>
                      </a:r>
                    </a:p>
                  </a:txBody>
                  <a:tcPr marL="73152" marR="73152" marT="36576" marB="36576">
                    <a:solidFill>
                      <a:srgbClr val="FFFFFF"/>
                    </a:solidFill>
                  </a:tcPr>
                </a:tc>
              </a:tr>
              <a:tr h="237744">
                <a:tc>
                  <a:txBody>
                    <a:bodyPr wrap="square"/>
                    <a:lstStyle/>
                    <a:p>
                      <a:r>
                        <a:rPr sz="1700" b="1">
                          <a:solidFill>
                            <a:srgbClr val="1B1B1B"/>
                          </a:solidFill>
                          <a:latin typeface="Calibri"/>
                        </a:rPr>
                        <a:t>E1 : objet</a:t>
                      </a:r>
                    </a:p>
                  </a:txBody>
                  <a:tcPr marL="73152" marR="73152" marT="36576" marB="36576">
                    <a:solidFill>
                      <a:srgbClr val="F3F5F9"/>
                    </a:solidFill>
                  </a:tcPr>
                </a:tc>
                <a:tc>
                  <a:txBody>
                    <a:bodyPr wrap="square"/>
                    <a:lstStyle/>
                    <a:p>
                      <a:r>
                        <a:rPr sz="1700" b="0">
                          <a:solidFill>
                            <a:srgbClr val="1B1B1B"/>
                          </a:solidFill>
                          <a:latin typeface="Calibri"/>
                        </a:rPr>
                        <a:t>« Décision avant jeudi : changer l'ordre des tournées ? »</a:t>
                      </a:r>
                    </a:p>
                  </a:txBody>
                  <a:tcPr marL="73152" marR="73152" marT="36576" marB="36576">
                    <a:solidFill>
                      <a:srgbClr val="F3F5F9"/>
                    </a:solidFill>
                  </a:tcPr>
                </a:tc>
              </a:tr>
              <a:tr h="237744">
                <a:tc>
                  <a:txBody>
                    <a:bodyPr wrap="square"/>
                    <a:lstStyle/>
                    <a:p>
                      <a:r>
                        <a:rPr sz="1700" b="1">
                          <a:solidFill>
                            <a:srgbClr val="1B1B1B"/>
                          </a:solidFill>
                          <a:latin typeface="Calibri"/>
                        </a:rPr>
                        <a:t>E1 : corps</a:t>
                      </a:r>
                    </a:p>
                  </a:txBody>
                  <a:tcPr marL="73152" marR="73152" marT="36576" marB="36576">
                    <a:solidFill>
                      <a:srgbClr val="FFFFFF"/>
                    </a:solidFill>
                  </a:tcPr>
                </a:tc>
                <a:tc>
                  <a:txBody>
                    <a:bodyPr wrap="square"/>
                    <a:lstStyle/>
                    <a:p>
                      <a:r>
                        <a:rPr sz="1700" b="0">
                          <a:solidFill>
                            <a:srgbClr val="1B1B1B"/>
                          </a:solidFill>
                          <a:latin typeface="Calibri"/>
                        </a:rPr>
                        <a:t>« Je propose d'inverser les tournées 3 et 4 pour gagner 20 minutes. Votre accord est nécessaire avant jeudi 12 h. Contexte : deux retards cette semaine. Je vous détaille en annexe. »</a:t>
                      </a:r>
                    </a:p>
                  </a:txBody>
                  <a:tcPr marL="73152" marR="73152" marT="36576" marB="36576">
                    <a:solidFill>
                      <a:srgbClr val="FFFFFF"/>
                    </a:solidFill>
                  </a:tcPr>
                </a:tc>
              </a:tr>
              <a:tr h="237744">
                <a:tc>
                  <a:txBody>
                    <a:bodyPr wrap="square"/>
                    <a:lstStyle/>
                    <a:p>
                      <a:r>
                        <a:rPr sz="1700" b="1">
                          <a:solidFill>
                            <a:srgbClr val="1B1B1B"/>
                          </a:solidFill>
                          <a:latin typeface="Calibri"/>
                        </a:rPr>
                        <a:t>E2 : traitement</a:t>
                      </a:r>
                    </a:p>
                  </a:txBody>
                  <a:tcPr marL="73152" marR="73152" marT="36576" marB="36576">
                    <a:solidFill>
                      <a:srgbClr val="F3F5F9"/>
                    </a:solidFill>
                  </a:tcPr>
                </a:tc>
                <a:tc>
                  <a:txBody>
                    <a:bodyPr wrap="square"/>
                    <a:lstStyle/>
                    <a:p>
                      <a:r>
                        <a:rPr sz="1700" b="0">
                          <a:solidFill>
                            <a:srgbClr val="1B1B1B"/>
                          </a:solidFill>
                          <a:latin typeface="Calibri"/>
                        </a:rPr>
                        <a:t>Trois e-mails séparés, chacun avec son objet : « Planning lundi : validation », « Tablette Léa : panne », « Facture carburant : justificatif »</a:t>
                      </a:r>
                    </a:p>
                  </a:txBody>
                  <a:tcPr marL="73152" marR="73152" marT="36576" marB="36576">
                    <a:solidFill>
                      <a:srgbClr val="F3F5F9"/>
                    </a:solidFill>
                  </a:tcPr>
                </a:tc>
              </a:tr>
              <a:tr h="237744">
                <a:tc>
                  <a:txBody>
                    <a:bodyPr wrap="square"/>
                    <a:lstStyle/>
                    <a:p>
                      <a:r>
                        <a:rPr sz="1700" b="1">
                          <a:solidFill>
                            <a:srgbClr val="1B1B1B"/>
                          </a:solidFill>
                          <a:latin typeface="Calibri"/>
                        </a:rPr>
                        <a:t>E3 : conseil</a:t>
                      </a:r>
                    </a:p>
                  </a:txBody>
                  <a:tcPr marL="73152" marR="73152" marT="36576" marB="36576">
                    <a:solidFill>
                      <a:srgbClr val="FFFFFF"/>
                    </a:solidFill>
                  </a:tcPr>
                </a:tc>
                <a:tc>
                  <a:txBody>
                    <a:bodyPr wrap="square"/>
                    <a:lstStyle/>
                    <a:p>
                      <a:r>
                        <a:rPr sz="1700" b="0">
                          <a:solidFill>
                            <a:srgbClr val="1B1B1B"/>
                          </a:solidFill>
                          <a:latin typeface="Calibri"/>
                        </a:rPr>
                        <a:t>Ne pas répondre à tous ; pour remercier, utiliser une réaction ou répondre à l'expéditeur seul</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Laisser un fil « Re: Re: Fwd » qui ne reflète plus le sujet.</a:t>
            </a:r>
          </a:p>
          <a:p>
            <a:pPr algn="l" marL="201168" indent="-201168">
              <a:spcAft>
                <a:spcPts val="110"/>
              </a:spcAft>
              <a:buChar char="•"/>
            </a:pPr>
            <a:r>
              <a:rPr sz="1100" b="0" i="0">
                <a:solidFill>
                  <a:srgbClr val="1B1B1B"/>
                </a:solidFill>
                <a:latin typeface="Calibri"/>
              </a:rPr>
              <a:t>Mettre la demande à la fin d'un long paragraphe.</a:t>
            </a:r>
          </a:p>
          <a:p>
            <a:pPr algn="l" marL="201168" indent="-201168">
              <a:spcAft>
                <a:spcPts val="110"/>
              </a:spcAft>
              <a:buChar char="•"/>
            </a:pPr>
            <a:r>
              <a:rPr sz="1100" b="0" i="0">
                <a:solidFill>
                  <a:srgbClr val="1B1B1B"/>
                </a:solidFill>
                <a:latin typeface="Calibri"/>
              </a:rPr>
              <a:t>Aucune échéance : la demande n'est jamais traitée.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La note de synthèse d'une page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25</a:t>
            </a:r>
          </a:p>
        </p:txBody>
      </p:sp>
      <p:sp>
        <p:nvSpPr>
          <p:cNvPr id="6" name="Rounded Rectangle 5"/>
          <p:cNvSpPr/>
          <p:nvPr/>
        </p:nvSpPr>
        <p:spPr>
          <a:xfrm>
            <a:off x="411480" y="1371600"/>
            <a:ext cx="259461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Conclusion</a:t>
            </a:r>
          </a:p>
        </p:txBody>
      </p:sp>
      <p:sp>
        <p:nvSpPr>
          <p:cNvPr id="7" name="Rounded Rectangle 6"/>
          <p:cNvSpPr/>
          <p:nvPr/>
        </p:nvSpPr>
        <p:spPr>
          <a:xfrm>
            <a:off x="4114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La recommandation en une phrase</a:t>
            </a:r>
          </a:p>
          <a:p>
            <a:pPr algn="l">
              <a:spcAft>
                <a:spcPts val="480"/>
              </a:spcAft>
            </a:pPr>
            <a:r>
              <a:rPr sz="1600" b="0" i="0">
                <a:solidFill>
                  <a:srgbClr val="1B1B1B"/>
                </a:solidFill>
                <a:latin typeface="Calibri"/>
              </a:rPr>
              <a:t>Ex. : « Ajouter une copie hors site. »</a:t>
            </a:r>
          </a:p>
        </p:txBody>
      </p:sp>
      <p:sp>
        <p:nvSpPr>
          <p:cNvPr id="8" name="Right Arrow 7"/>
          <p:cNvSpPr/>
          <p:nvPr/>
        </p:nvSpPr>
        <p:spPr>
          <a:xfrm>
            <a:off x="30243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26130" y="1371600"/>
            <a:ext cx="259461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Trois arguments</a:t>
            </a:r>
          </a:p>
        </p:txBody>
      </p:sp>
      <p:sp>
        <p:nvSpPr>
          <p:cNvPr id="10" name="Rounded Rectangle 9"/>
          <p:cNvSpPr/>
          <p:nvPr/>
        </p:nvSpPr>
        <p:spPr>
          <a:xfrm>
            <a:off x="33261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Chacun avec un chiffre</a:t>
            </a:r>
          </a:p>
          <a:p>
            <a:pPr algn="l">
              <a:spcAft>
                <a:spcPts val="480"/>
              </a:spcAft>
            </a:pPr>
            <a:r>
              <a:rPr sz="1600" b="0" i="0">
                <a:solidFill>
                  <a:srgbClr val="1B1B1B"/>
                </a:solidFill>
                <a:latin typeface="Calibri"/>
              </a:rPr>
              <a:t>Ex. : « Restauration : 9 h contre 3 h. »</a:t>
            </a:r>
          </a:p>
        </p:txBody>
      </p:sp>
      <p:sp>
        <p:nvSpPr>
          <p:cNvPr id="11" name="Right Arrow 10"/>
          <p:cNvSpPr/>
          <p:nvPr/>
        </p:nvSpPr>
        <p:spPr>
          <a:xfrm>
            <a:off x="59390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0780" y="1371600"/>
            <a:ext cx="259461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Risque ou réserve</a:t>
            </a:r>
          </a:p>
        </p:txBody>
      </p:sp>
      <p:sp>
        <p:nvSpPr>
          <p:cNvPr id="13" name="Rounded Rectangle 12"/>
          <p:cNvSpPr/>
          <p:nvPr/>
        </p:nvSpPr>
        <p:spPr>
          <a:xfrm>
            <a:off x="62407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Ce qui peut changer la conclusion</a:t>
            </a:r>
          </a:p>
          <a:p>
            <a:pPr algn="l">
              <a:spcAft>
                <a:spcPts val="480"/>
              </a:spcAft>
            </a:pPr>
            <a:r>
              <a:rPr sz="1600" b="0" i="0">
                <a:solidFill>
                  <a:srgbClr val="1B1B1B"/>
                </a:solidFill>
                <a:latin typeface="Calibri"/>
              </a:rPr>
              <a:t>Ex. : « Probabilité de panne estimée, non mesurée. »</a:t>
            </a:r>
          </a:p>
        </p:txBody>
      </p:sp>
      <p:sp>
        <p:nvSpPr>
          <p:cNvPr id="14" name="Right Arrow 13"/>
          <p:cNvSpPr/>
          <p:nvPr/>
        </p:nvSpPr>
        <p:spPr>
          <a:xfrm>
            <a:off x="88536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55430" y="1371600"/>
            <a:ext cx="259461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Décision demandée</a:t>
            </a:r>
          </a:p>
        </p:txBody>
      </p:sp>
      <p:sp>
        <p:nvSpPr>
          <p:cNvPr id="16" name="Rounded Rectangle 15"/>
          <p:cNvSpPr/>
          <p:nvPr/>
        </p:nvSpPr>
        <p:spPr>
          <a:xfrm>
            <a:off x="91554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Qui décide, pour quand</a:t>
            </a:r>
          </a:p>
          <a:p>
            <a:pPr algn="l">
              <a:spcAft>
                <a:spcPts val="480"/>
              </a:spcAft>
            </a:pPr>
            <a:r>
              <a:rPr sz="1600" b="0" i="0">
                <a:solidFill>
                  <a:srgbClr val="1B1B1B"/>
                </a:solidFill>
                <a:latin typeface="Calibri"/>
              </a:rPr>
              <a:t>Ex. : « La directrice valide avant le 30. »</a:t>
            </a:r>
          </a:p>
        </p:txBody>
      </p:sp>
      <p:sp>
        <p:nvSpPr>
          <p:cNvPr id="17" name="Rounded Rectangle 16"/>
          <p:cNvSpPr/>
          <p:nvPr/>
        </p:nvSpPr>
        <p:spPr>
          <a:xfrm>
            <a:off x="411480" y="4846320"/>
            <a:ext cx="11338560" cy="731520"/>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19"/>
              </a:spcAft>
            </a:pPr>
            <a:r>
              <a:rPr sz="1200" b="0" i="0">
                <a:solidFill>
                  <a:srgbClr val="1B1B1B"/>
                </a:solidFill>
                <a:latin typeface="Calibri"/>
              </a:rPr>
              <a:t>Pyramide inversée : l'information la plus importante d'abord, les détails ensuite (technique journalistique). Même ordre pour un e-mail : conclusion, action attendue, contexte, détails. À ne pas confondre avec le « principe de la pyramide » de B. Minto, qui structure un raisonnement.</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Le lecteur doit pouvoir décider sans vous poser de question. C'est la forme de votre état de l'art en miniature.</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Voici ma note. Quelle décision attend-on, de qui, pour quand ? » Si l'IA ne le trouve pas, le lecteur non plus.</a:t>
            </a:r>
          </a:p>
        </p:txBody>
      </p:sp>
      <p:sp>
        <p:nvSpPr>
          <p:cNvPr id="20" name="TextBox 19"/>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Forme usuelle de la note de synthèse en entreprise (synthèse de l'enseignant, non sourcée) ; exemples fictifs de TransLor.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6</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Rédiger une note de synthèse d'une page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EX6</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26</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  20 min  ·  Carnet · chapitre 2  ·  Outil : modèle de note de synthèse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Synthétiser une information technique en six lignes pour décider.</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09"/>
              </a:spcAft>
            </a:pPr>
            <a:r>
              <a:rPr sz="1700" b="0" i="0">
                <a:solidFill>
                  <a:srgbClr val="1B1B1B"/>
                </a:solidFill>
                <a:latin typeface="Calibri"/>
              </a:rPr>
              <a:t>Extrait d'un rapport interne (fictif) sur les sauvegardes de TransLor :</a:t>
            </a:r>
          </a:p>
          <a:p>
            <a:pPr algn="l">
              <a:spcAft>
                <a:spcPts val="509"/>
              </a:spcAft>
            </a:pPr>
            <a:r>
              <a:rPr sz="1700" b="0" i="0">
                <a:solidFill>
                  <a:srgbClr val="1B1B1B"/>
                </a:solidFill>
                <a:latin typeface="Calibri"/>
              </a:rPr>
              <a:t>La sauvegarde est faite chaque nuit sur un disque unique, dans la salle serveur. Le disque a trois ans. Un test de restauration en juin a pris 9 heures. L'administrateur estime la probabilité d'une panne de disque à 10 % par an. Une journée d'arrêt coûterait environ 40 000 € (hypothèse inventée). Le prestataire propose une copie hors site pour 150 € par mois, avec restauration en 3 heures.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Écrivez la conclusion en une phrase.</a:t>
            </a:r>
          </a:p>
          <a:p>
            <a:pPr algn="l" marL="274320" indent="-274320">
              <a:spcAft>
                <a:spcPts val="600"/>
              </a:spcAft>
              <a:buAutoNum type="arabicPeriod"/>
            </a:pPr>
            <a:r>
              <a:rPr sz="2000" b="0" i="0">
                <a:solidFill>
                  <a:srgbClr val="1B1B1B"/>
                </a:solidFill>
                <a:latin typeface="Calibri"/>
              </a:rPr>
              <a:t>Donnez trois arguments chiffrés.</a:t>
            </a:r>
          </a:p>
          <a:p>
            <a:pPr algn="l" marL="274320" indent="-274320">
              <a:spcAft>
                <a:spcPts val="600"/>
              </a:spcAft>
              <a:buAutoNum type="arabicPeriod"/>
            </a:pPr>
            <a:r>
              <a:rPr sz="2000" b="0" i="0">
                <a:solidFill>
                  <a:srgbClr val="1B1B1B"/>
                </a:solidFill>
                <a:latin typeface="Calibri"/>
              </a:rPr>
              <a:t>Ajoutez une réserve et la décision demandée, avec une date.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Une note de synthèse de 6 lignes maximum.</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6.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6 — Rédiger une note de synthèse d'une page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EX6</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27</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Conclusion d'abord.</a:t>
            </a:r>
          </a:p>
          <a:p>
            <a:pPr algn="l" marL="274320" indent="-274320">
              <a:spcAft>
                <a:spcPts val="375"/>
              </a:spcAft>
              <a:buAutoNum type="arabicPeriod"/>
            </a:pPr>
            <a:r>
              <a:rPr sz="1500" b="0" i="0">
                <a:solidFill>
                  <a:srgbClr val="1B1B1B"/>
                </a:solidFill>
                <a:latin typeface="Calibri"/>
              </a:rPr>
              <a:t>Trois arguments, chacun avec un chiffre.</a:t>
            </a:r>
          </a:p>
          <a:p>
            <a:pPr algn="l" marL="274320" indent="-274320">
              <a:spcAft>
                <a:spcPts val="375"/>
              </a:spcAft>
              <a:buAutoNum type="arabicPeriod"/>
            </a:pPr>
            <a:r>
              <a:rPr sz="1500" b="0" i="0">
                <a:solidFill>
                  <a:srgbClr val="1B1B1B"/>
                </a:solidFill>
                <a:latin typeface="Calibri"/>
              </a:rPr>
              <a:t>Une réserve honnête.</a:t>
            </a:r>
          </a:p>
          <a:p>
            <a:pPr algn="l" marL="274320" indent="-274320">
              <a:spcAft>
                <a:spcPts val="375"/>
              </a:spcAft>
              <a:buAutoNum type="arabicPeriod"/>
            </a:pPr>
            <a:r>
              <a:rPr sz="1500" b="0" i="0">
                <a:solidFill>
                  <a:srgbClr val="1B1B1B"/>
                </a:solidFill>
                <a:latin typeface="Calibri"/>
              </a:rPr>
              <a:t>Une décision demandée et une date.</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1508760"/>
                <a:gridCol w="6537960"/>
              </a:tblGrid>
              <a:tr h="237744">
                <a:tc>
                  <a:txBody>
                    <a:bodyPr wrap="square"/>
                    <a:lstStyle/>
                    <a:p>
                      <a:r>
                        <a:rPr sz="1700" b="1">
                          <a:solidFill>
                            <a:srgbClr val="FFFFFF"/>
                          </a:solidFill>
                          <a:latin typeface="Calibri"/>
                        </a:rPr>
                        <a:t>Question</a:t>
                      </a:r>
                    </a:p>
                  </a:txBody>
                  <a:tcPr marL="73152" marR="73152" marT="36576" marB="36576">
                    <a:solidFill>
                      <a:srgbClr val="1F2A5C"/>
                    </a:solidFill>
                  </a:tcPr>
                </a:tc>
                <a:tc>
                  <a:txBody>
                    <a:bodyPr wrap="square"/>
                    <a:lstStyle/>
                    <a:p>
                      <a:r>
                        <a:rPr sz="1700" b="1">
                          <a:solidFill>
                            <a:srgbClr val="FFFFFF"/>
                          </a:solidFill>
                          <a:latin typeface="Calibri"/>
                        </a:rPr>
                        <a:t>Réponse</a:t>
                      </a:r>
                    </a:p>
                  </a:txBody>
                  <a:tcPr marL="73152" marR="73152" marT="36576" marB="36576">
                    <a:solidFill>
                      <a:srgbClr val="1F2A5C"/>
                    </a:solidFill>
                  </a:tcPr>
                </a:tc>
              </a:tr>
              <a:tr h="237744">
                <a:tc>
                  <a:txBody>
                    <a:bodyPr wrap="square"/>
                    <a:lstStyle/>
                    <a:p>
                      <a:r>
                        <a:rPr sz="1700" b="1">
                          <a:solidFill>
                            <a:srgbClr val="1B1B1B"/>
                          </a:solidFill>
                          <a:latin typeface="Calibri"/>
                        </a:rPr>
                        <a:t>Conclusion</a:t>
                      </a:r>
                    </a:p>
                  </a:txBody>
                  <a:tcPr marL="73152" marR="73152" marT="36576" marB="36576">
                    <a:solidFill>
                      <a:srgbClr val="FFFFFF"/>
                    </a:solidFill>
                  </a:tcPr>
                </a:tc>
                <a:tc>
                  <a:txBody>
                    <a:bodyPr wrap="square"/>
                    <a:lstStyle/>
                    <a:p>
                      <a:r>
                        <a:rPr sz="1700" b="0">
                          <a:solidFill>
                            <a:srgbClr val="1B1B1B"/>
                          </a:solidFill>
                          <a:latin typeface="Calibri"/>
                        </a:rPr>
                        <a:t>Ajouter une copie hors site des sauvegardes</a:t>
                      </a:r>
                    </a:p>
                  </a:txBody>
                  <a:tcPr marL="73152" marR="73152" marT="36576" marB="36576">
                    <a:solidFill>
                      <a:srgbClr val="FFFFFF"/>
                    </a:solidFill>
                  </a:tcPr>
                </a:tc>
              </a:tr>
              <a:tr h="237744">
                <a:tc>
                  <a:txBody>
                    <a:bodyPr wrap="square"/>
                    <a:lstStyle/>
                    <a:p>
                      <a:r>
                        <a:rPr sz="1700" b="1">
                          <a:solidFill>
                            <a:srgbClr val="1B1B1B"/>
                          </a:solidFill>
                          <a:latin typeface="Calibri"/>
                        </a:rPr>
                        <a:t>Argument 1</a:t>
                      </a:r>
                    </a:p>
                  </a:txBody>
                  <a:tcPr marL="73152" marR="73152" marT="36576" marB="36576">
                    <a:solidFill>
                      <a:srgbClr val="F3F5F9"/>
                    </a:solidFill>
                  </a:tcPr>
                </a:tc>
                <a:tc>
                  <a:txBody>
                    <a:bodyPr wrap="square"/>
                    <a:lstStyle/>
                    <a:p>
                      <a:r>
                        <a:rPr sz="1700" b="0">
                          <a:solidFill>
                            <a:srgbClr val="1B1B1B"/>
                          </a:solidFill>
                          <a:latin typeface="Calibri"/>
                        </a:rPr>
                        <a:t>Disque unique de trois ans : risque de panne estimé à 10 % par an</a:t>
                      </a:r>
                    </a:p>
                  </a:txBody>
                  <a:tcPr marL="73152" marR="73152" marT="36576" marB="36576">
                    <a:solidFill>
                      <a:srgbClr val="F3F5F9"/>
                    </a:solidFill>
                  </a:tcPr>
                </a:tc>
              </a:tr>
              <a:tr h="237744">
                <a:tc>
                  <a:txBody>
                    <a:bodyPr wrap="square"/>
                    <a:lstStyle/>
                    <a:p>
                      <a:r>
                        <a:rPr sz="1700" b="1">
                          <a:solidFill>
                            <a:srgbClr val="1B1B1B"/>
                          </a:solidFill>
                          <a:latin typeface="Calibri"/>
                        </a:rPr>
                        <a:t>Argument 2</a:t>
                      </a:r>
                    </a:p>
                  </a:txBody>
                  <a:tcPr marL="73152" marR="73152" marT="36576" marB="36576">
                    <a:solidFill>
                      <a:srgbClr val="FFFFFF"/>
                    </a:solidFill>
                  </a:tcPr>
                </a:tc>
                <a:tc>
                  <a:txBody>
                    <a:bodyPr wrap="square"/>
                    <a:lstStyle/>
                    <a:p>
                      <a:r>
                        <a:rPr sz="1700" b="0">
                          <a:solidFill>
                            <a:srgbClr val="1B1B1B"/>
                          </a:solidFill>
                          <a:latin typeface="Calibri"/>
                        </a:rPr>
                        <a:t>Restauration actuelle : 9 h, contre 3 h avec la copie hors site</a:t>
                      </a:r>
                    </a:p>
                  </a:txBody>
                  <a:tcPr marL="73152" marR="73152" marT="36576" marB="36576">
                    <a:solidFill>
                      <a:srgbClr val="FFFFFF"/>
                    </a:solidFill>
                  </a:tcPr>
                </a:tc>
              </a:tr>
              <a:tr h="237744">
                <a:tc>
                  <a:txBody>
                    <a:bodyPr wrap="square"/>
                    <a:lstStyle/>
                    <a:p>
                      <a:r>
                        <a:rPr sz="1700" b="1">
                          <a:solidFill>
                            <a:srgbClr val="1B1B1B"/>
                          </a:solidFill>
                          <a:latin typeface="Calibri"/>
                        </a:rPr>
                        <a:t>Argument 3</a:t>
                      </a:r>
                    </a:p>
                  </a:txBody>
                  <a:tcPr marL="73152" marR="73152" marT="36576" marB="36576">
                    <a:solidFill>
                      <a:srgbClr val="F3F5F9"/>
                    </a:solidFill>
                  </a:tcPr>
                </a:tc>
                <a:tc>
                  <a:txBody>
                    <a:bodyPr wrap="square"/>
                    <a:lstStyle/>
                    <a:p>
                      <a:r>
                        <a:rPr sz="1700" b="0">
                          <a:solidFill>
                            <a:srgbClr val="1B1B1B"/>
                          </a:solidFill>
                          <a:latin typeface="Calibri"/>
                        </a:rPr>
                        <a:t>Coût : 150 × 12 = 1 800 € par an ; perte attendue sans copie : 10 % × 40 000 = 4 000 € par an</a:t>
                      </a:r>
                    </a:p>
                  </a:txBody>
                  <a:tcPr marL="73152" marR="73152" marT="36576" marB="36576">
                    <a:solidFill>
                      <a:srgbClr val="F3F5F9"/>
                    </a:solidFill>
                  </a:tcPr>
                </a:tc>
              </a:tr>
              <a:tr h="237744">
                <a:tc>
                  <a:txBody>
                    <a:bodyPr wrap="square"/>
                    <a:lstStyle/>
                    <a:p>
                      <a:r>
                        <a:rPr sz="1700" b="1">
                          <a:solidFill>
                            <a:srgbClr val="1B1B1B"/>
                          </a:solidFill>
                          <a:latin typeface="Calibri"/>
                        </a:rPr>
                        <a:t>Réserve</a:t>
                      </a:r>
                    </a:p>
                  </a:txBody>
                  <a:tcPr marL="73152" marR="73152" marT="36576" marB="36576">
                    <a:solidFill>
                      <a:srgbClr val="FFFFFF"/>
                    </a:solidFill>
                  </a:tcPr>
                </a:tc>
                <a:tc>
                  <a:txBody>
                    <a:bodyPr wrap="square"/>
                    <a:lstStyle/>
                    <a:p>
                      <a:r>
                        <a:rPr sz="1700" b="0">
                          <a:solidFill>
                            <a:srgbClr val="1B1B1B"/>
                          </a:solidFill>
                          <a:latin typeface="Calibri"/>
                        </a:rPr>
                        <a:t>La probabilité est une estimation de l'administrateur ; le coût d'un arrêt est une hypothèse</a:t>
                      </a:r>
                    </a:p>
                  </a:txBody>
                  <a:tcPr marL="73152" marR="73152" marT="36576" marB="36576">
                    <a:solidFill>
                      <a:srgbClr val="FFFFFF"/>
                    </a:solidFill>
                  </a:tcPr>
                </a:tc>
              </a:tr>
              <a:tr h="237744">
                <a:tc>
                  <a:txBody>
                    <a:bodyPr wrap="square"/>
                    <a:lstStyle/>
                    <a:p>
                      <a:r>
                        <a:rPr sz="1700" b="1">
                          <a:solidFill>
                            <a:srgbClr val="1B1B1B"/>
                          </a:solidFill>
                          <a:latin typeface="Calibri"/>
                        </a:rPr>
                        <a:t>Décision demandée</a:t>
                      </a:r>
                    </a:p>
                  </a:txBody>
                  <a:tcPr marL="73152" marR="73152" marT="36576" marB="36576">
                    <a:solidFill>
                      <a:srgbClr val="F3F5F9"/>
                    </a:solidFill>
                  </a:tcPr>
                </a:tc>
                <a:tc>
                  <a:txBody>
                    <a:bodyPr wrap="square"/>
                    <a:lstStyle/>
                    <a:p>
                      <a:r>
                        <a:rPr sz="1700" b="0">
                          <a:solidFill>
                            <a:srgbClr val="1B1B1B"/>
                          </a:solidFill>
                          <a:latin typeface="Calibri"/>
                        </a:rPr>
                        <a:t>Valider 1 800 € par an avant la fin du mois</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Raconter l'historique au lieu de conclure.</a:t>
            </a:r>
          </a:p>
          <a:p>
            <a:pPr algn="l" marL="201168" indent="-201168">
              <a:spcAft>
                <a:spcPts val="110"/>
              </a:spcAft>
              <a:buChar char="•"/>
            </a:pPr>
            <a:r>
              <a:rPr sz="1100" b="0" i="0">
                <a:solidFill>
                  <a:srgbClr val="1B1B1B"/>
                </a:solidFill>
                <a:latin typeface="Calibri"/>
              </a:rPr>
              <a:t>Écrire « coûteux » ou « rapide » sans chiffre.</a:t>
            </a:r>
          </a:p>
          <a:p>
            <a:pPr algn="l" marL="201168" indent="-201168">
              <a:spcAft>
                <a:spcPts val="110"/>
              </a:spcAft>
              <a:buChar char="•"/>
            </a:pPr>
            <a:r>
              <a:rPr sz="1100" b="0" i="0">
                <a:solidFill>
                  <a:srgbClr val="1B1B1B"/>
                </a:solidFill>
                <a:latin typeface="Calibri"/>
              </a:rPr>
              <a:t>Oublier la décision demandée et la date.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QQOQCCP : cadrer une demande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28</a:t>
            </a:r>
          </a:p>
        </p:txBody>
      </p:sp>
      <p:sp>
        <p:nvSpPr>
          <p:cNvPr id="6" name="Rounded Rectangle 5"/>
          <p:cNvSpPr/>
          <p:nvPr/>
        </p:nvSpPr>
        <p:spPr>
          <a:xfrm>
            <a:off x="411480" y="118872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Qui ?</a:t>
            </a:r>
          </a:p>
        </p:txBody>
      </p:sp>
      <p:sp>
        <p:nvSpPr>
          <p:cNvPr id="8" name="TextBox 7"/>
          <p:cNvSpPr txBox="1"/>
          <p:nvPr/>
        </p:nvSpPr>
        <p:spPr>
          <a:xfrm>
            <a:off x="457200" y="178308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Qui est concerné, qui décide ?</a:t>
            </a:r>
          </a:p>
          <a:p>
            <a:pPr algn="l">
              <a:spcAft>
                <a:spcPts val="509"/>
              </a:spcAft>
            </a:pPr>
            <a:r>
              <a:rPr sz="1700" b="0" i="0">
                <a:solidFill>
                  <a:srgbClr val="1B1B1B"/>
                </a:solidFill>
                <a:latin typeface="Calibri"/>
              </a:rPr>
              <a:t>Ex. : 15 gestionnaires, la directrice</a:t>
            </a:r>
          </a:p>
        </p:txBody>
      </p:sp>
      <p:sp>
        <p:nvSpPr>
          <p:cNvPr id="9" name="Rounded Rectangle 8"/>
          <p:cNvSpPr/>
          <p:nvPr/>
        </p:nvSpPr>
        <p:spPr>
          <a:xfrm>
            <a:off x="3291840" y="118872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Quoi ?</a:t>
            </a:r>
          </a:p>
        </p:txBody>
      </p:sp>
      <p:sp>
        <p:nvSpPr>
          <p:cNvPr id="11" name="TextBox 10"/>
          <p:cNvSpPr txBox="1"/>
          <p:nvPr/>
        </p:nvSpPr>
        <p:spPr>
          <a:xfrm>
            <a:off x="3337560" y="178308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Quel est le problème exact ?</a:t>
            </a:r>
          </a:p>
          <a:p>
            <a:pPr algn="l">
              <a:spcAft>
                <a:spcPts val="509"/>
              </a:spcAft>
            </a:pPr>
            <a:r>
              <a:rPr sz="1700" b="0" i="0">
                <a:solidFill>
                  <a:srgbClr val="1B1B1B"/>
                </a:solidFill>
                <a:latin typeface="Calibri"/>
              </a:rPr>
              <a:t>Ex. : ressaisie des tournées dans Excel</a:t>
            </a:r>
          </a:p>
        </p:txBody>
      </p:sp>
      <p:sp>
        <p:nvSpPr>
          <p:cNvPr id="12" name="Rounded Rectangle 11"/>
          <p:cNvSpPr/>
          <p:nvPr/>
        </p:nvSpPr>
        <p:spPr>
          <a:xfrm>
            <a:off x="6172200" y="118872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Où ?</a:t>
            </a:r>
          </a:p>
        </p:txBody>
      </p:sp>
      <p:sp>
        <p:nvSpPr>
          <p:cNvPr id="14" name="TextBox 13"/>
          <p:cNvSpPr txBox="1"/>
          <p:nvPr/>
        </p:nvSpPr>
        <p:spPr>
          <a:xfrm>
            <a:off x="6217920" y="178308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Quel lieu, quel système ?</a:t>
            </a:r>
          </a:p>
          <a:p>
            <a:pPr algn="l">
              <a:spcAft>
                <a:spcPts val="509"/>
              </a:spcAft>
            </a:pPr>
            <a:r>
              <a:rPr sz="1700" b="0" i="0">
                <a:solidFill>
                  <a:srgbClr val="1B1B1B"/>
                </a:solidFill>
                <a:latin typeface="Calibri"/>
              </a:rPr>
              <a:t>Ex. : dépôt de Metz, logiciel de transport</a:t>
            </a:r>
          </a:p>
        </p:txBody>
      </p:sp>
      <p:sp>
        <p:nvSpPr>
          <p:cNvPr id="15" name="Rounded Rectangle 14"/>
          <p:cNvSpPr/>
          <p:nvPr/>
        </p:nvSpPr>
        <p:spPr>
          <a:xfrm>
            <a:off x="9052560" y="118872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Quand ?</a:t>
            </a:r>
          </a:p>
        </p:txBody>
      </p:sp>
      <p:sp>
        <p:nvSpPr>
          <p:cNvPr id="17" name="TextBox 16"/>
          <p:cNvSpPr txBox="1"/>
          <p:nvPr/>
        </p:nvSpPr>
        <p:spPr>
          <a:xfrm>
            <a:off x="9098280" y="178308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Quel moment, quelle fréquence ?</a:t>
            </a:r>
          </a:p>
          <a:p>
            <a:pPr algn="l">
              <a:spcAft>
                <a:spcPts val="509"/>
              </a:spcAft>
            </a:pPr>
            <a:r>
              <a:rPr sz="1700" b="0" i="0">
                <a:solidFill>
                  <a:srgbClr val="1B1B1B"/>
                </a:solidFill>
                <a:latin typeface="Calibri"/>
              </a:rPr>
              <a:t>Ex. : chaque matin avant 7 h</a:t>
            </a:r>
          </a:p>
        </p:txBody>
      </p:sp>
      <p:sp>
        <p:nvSpPr>
          <p:cNvPr id="18" name="Rounded Rectangle 17"/>
          <p:cNvSpPr/>
          <p:nvPr/>
        </p:nvSpPr>
        <p:spPr>
          <a:xfrm>
            <a:off x="411480" y="354330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3543300"/>
            <a:ext cx="269748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Comment ?</a:t>
            </a:r>
          </a:p>
        </p:txBody>
      </p:sp>
      <p:sp>
        <p:nvSpPr>
          <p:cNvPr id="20" name="TextBox 19"/>
          <p:cNvSpPr txBox="1"/>
          <p:nvPr/>
        </p:nvSpPr>
        <p:spPr>
          <a:xfrm>
            <a:off x="457200" y="413766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De quelle manière ?</a:t>
            </a:r>
          </a:p>
          <a:p>
            <a:pPr algn="l">
              <a:spcAft>
                <a:spcPts val="509"/>
              </a:spcAft>
            </a:pPr>
            <a:r>
              <a:rPr sz="1700" b="0" i="0">
                <a:solidFill>
                  <a:srgbClr val="1B1B1B"/>
                </a:solidFill>
                <a:latin typeface="Calibri"/>
              </a:rPr>
              <a:t>Ex. : copier-coller depuis l'écran</a:t>
            </a:r>
          </a:p>
        </p:txBody>
      </p:sp>
      <p:sp>
        <p:nvSpPr>
          <p:cNvPr id="21" name="Rounded Rectangle 20"/>
          <p:cNvSpPr/>
          <p:nvPr/>
        </p:nvSpPr>
        <p:spPr>
          <a:xfrm>
            <a:off x="3291840" y="354330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91840" y="3543300"/>
            <a:ext cx="269748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Combien ?</a:t>
            </a:r>
          </a:p>
        </p:txBody>
      </p:sp>
      <p:sp>
        <p:nvSpPr>
          <p:cNvPr id="23" name="TextBox 22"/>
          <p:cNvSpPr txBox="1"/>
          <p:nvPr/>
        </p:nvSpPr>
        <p:spPr>
          <a:xfrm>
            <a:off x="3337560" y="413766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Quelle quantité, quel coût ?</a:t>
            </a:r>
          </a:p>
          <a:p>
            <a:pPr algn="l">
              <a:spcAft>
                <a:spcPts val="509"/>
              </a:spcAft>
            </a:pPr>
            <a:r>
              <a:rPr sz="1700" b="0" i="0">
                <a:solidFill>
                  <a:srgbClr val="1B1B1B"/>
                </a:solidFill>
                <a:latin typeface="Calibri"/>
              </a:rPr>
              <a:t>Ex. : 45 min par jour et par personne</a:t>
            </a:r>
          </a:p>
        </p:txBody>
      </p:sp>
      <p:sp>
        <p:nvSpPr>
          <p:cNvPr id="24" name="Rounded Rectangle 23"/>
          <p:cNvSpPr/>
          <p:nvPr/>
        </p:nvSpPr>
        <p:spPr>
          <a:xfrm>
            <a:off x="6172200" y="3543300"/>
            <a:ext cx="269748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72200" y="354330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Pourquoi ?</a:t>
            </a:r>
          </a:p>
        </p:txBody>
      </p:sp>
      <p:sp>
        <p:nvSpPr>
          <p:cNvPr id="26" name="TextBox 25"/>
          <p:cNvSpPr txBox="1"/>
          <p:nvPr/>
        </p:nvSpPr>
        <p:spPr>
          <a:xfrm>
            <a:off x="6217920" y="4137660"/>
            <a:ext cx="2606040" cy="1531620"/>
          </a:xfrm>
          <a:prstGeom prst="rect">
            <a:avLst/>
          </a:prstGeom>
          <a:noFill/>
        </p:spPr>
        <p:txBody>
          <a:bodyPr wrap="square" anchor="t">
            <a:spAutoFit/>
          </a:bodyPr>
          <a:lstStyle/>
          <a:p>
            <a:pPr algn="l">
              <a:spcAft>
                <a:spcPts val="509"/>
              </a:spcAft>
            </a:pPr>
            <a:r>
              <a:rPr sz="1700" b="0" i="0">
                <a:solidFill>
                  <a:srgbClr val="1B1B1B"/>
                </a:solidFill>
                <a:latin typeface="Calibri"/>
              </a:rPr>
              <a:t>Quel enjeu ?</a:t>
            </a:r>
          </a:p>
          <a:p>
            <a:pPr algn="l">
              <a:spcAft>
                <a:spcPts val="509"/>
              </a:spcAft>
            </a:pPr>
            <a:r>
              <a:rPr sz="1700" b="0" i="0">
                <a:solidFill>
                  <a:srgbClr val="1B1B1B"/>
                </a:solidFill>
                <a:latin typeface="Calibri"/>
              </a:rPr>
              <a:t>Ex. : prévenir les clients avant un retard</a:t>
            </a:r>
          </a:p>
        </p:txBody>
      </p:sp>
      <p:sp>
        <p:nvSpPr>
          <p:cNvPr id="27" name="Rounded Rectangle 26"/>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19"/>
              </a:spcAft>
            </a:pPr>
            <a:r>
              <a:rPr sz="1200" b="1" i="0">
                <a:solidFill>
                  <a:srgbClr val="1B1B1B"/>
                </a:solidFill>
                <a:latin typeface="Calibri"/>
              </a:rPr>
              <a:t>Marc dit : « Je voudrais un export Excel des tournées du jour. » C'est une solution, pas un besoin : QQOQCCP aide à retrouver le besoin.</a:t>
            </a:r>
          </a:p>
        </p:txBody>
      </p:sp>
      <p:sp>
        <p:nvSpPr>
          <p:cNvPr id="28" name="Rounded Rectangle 27"/>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Voici une demande (sans donnée réelle) : … Pose-moi les questions de cadrage qui manquent : qui, quoi, où, quand, comment, combien, pourquoi. »</a:t>
            </a:r>
          </a:p>
        </p:txBody>
      </p:sp>
      <p:sp>
        <p:nvSpPr>
          <p:cNvPr id="29" name="TextBox 2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QQOQCCP : outil classique de la qualité, héritier des questions de la rhétorique antique (Quintilien) ; exemples fictifs de TransLor.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Les 5 pourquoi : remonter à la cause du besoin</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29</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La demande</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Marc : « Je veux un export Excel. »</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Pourquoi ?</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Pour voir les tournées avant 7 h.</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Pourquoi ?</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Pour prévenir les clients d'un retard.</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Pourquoi ?</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Les retards sont découverts trop tard.</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Besoin réel</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Une alerte 30 minutes avant le créneau.</a:t>
            </a:r>
          </a:p>
        </p:txBody>
      </p:sp>
      <p:sp>
        <p:nvSpPr>
          <p:cNvPr id="20" name="Rounded Rectangle 19"/>
          <p:cNvSpPr/>
          <p:nvPr/>
        </p:nvSpPr>
        <p:spPr>
          <a:xfrm>
            <a:off x="411480" y="4846320"/>
            <a:ext cx="11338560" cy="731520"/>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Le besoin réel obtenu va dans la section 2 de votre dossier. Exemple fictif de TransLor.</a:t>
            </a:r>
          </a:p>
        </p:txBody>
      </p:sp>
      <p:sp>
        <p:nvSpPr>
          <p:cNvPr id="21" name="Rounded Rectangle 20"/>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Ici, on s'arrête à 3 pourquoi : la réponse ne dépend plus d'une solution. La méthode en prévoit jusqu'à 5.</a:t>
            </a:r>
          </a:p>
        </p:txBody>
      </p:sp>
      <p:sp>
        <p:nvSpPr>
          <p:cNvPr id="22" name="TextBox 21"/>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5 Pourquoi : S. Toyoda, popularisé par T. Ohno, Toyota Production System, 1978 ; exemple fictif de TransLor.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4</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Recueillir un besoin : l'entretien avec Marc</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EX4</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30</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(enquêteur / Marc)  ·  20 min  ·  Carnet · chapitre 2  ·  Outil : QQOQCCP, 5 pourquoi, téléphone (nombre)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Mener un entretien pour trouver le besoin réel derrière une demande (« un export Excel »), puis chiffrer le coût du problème pour convaincre.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50"/>
              </a:spcAft>
            </a:pPr>
            <a:r>
              <a:rPr sz="1500" b="0" i="0">
                <a:solidFill>
                  <a:srgbClr val="1B1B1B"/>
                </a:solidFill>
                <a:latin typeface="Calibri"/>
              </a:rPr>
              <a:t>Marc, gestionnaire d'exploitation, vous dit : « Je voudrais un export Excel des tournées du jour. »</a:t>
            </a:r>
          </a:p>
          <a:p>
            <a:pPr algn="l">
              <a:spcAft>
                <a:spcPts val="450"/>
              </a:spcAft>
            </a:pPr>
            <a:r>
              <a:rPr sz="1500" b="0" i="0">
                <a:solidFill>
                  <a:srgbClr val="1B1B1B"/>
                </a:solidFill>
                <a:latin typeface="Calibri"/>
              </a:rPr>
              <a:t>Vous êtes l'ingénieur chargé d'étudier la demande. Votre binôme joue Marc (sa fiche de rôle est sur l'application, à ne pas montrer à l'enquêteur).</a:t>
            </a:r>
          </a:p>
          <a:p>
            <a:pPr algn="l">
              <a:spcAft>
                <a:spcPts val="450"/>
              </a:spcAft>
            </a:pPr>
            <a:r>
              <a:rPr sz="1500" b="0" i="0">
                <a:solidFill>
                  <a:srgbClr val="1B1B1B"/>
                </a:solidFill>
                <a:latin typeface="Calibri"/>
              </a:rPr>
              <a:t>Vous avez 8 minutes. Ne proposez aucune solution avant d'avoir compris le besoin.</a:t>
            </a:r>
          </a:p>
          <a:p>
            <a:pPr algn="l">
              <a:spcAft>
                <a:spcPts val="450"/>
              </a:spcAft>
            </a:pPr>
            <a:r>
              <a:rPr sz="1500" b="0" i="0">
                <a:solidFill>
                  <a:srgbClr val="1B1B1B"/>
                </a:solidFill>
                <a:latin typeface="Calibri"/>
              </a:rPr>
              <a:t>Exemple de 6 questions pour une autre demande (« un tableau de bord ») : Qui le lira ? Quelles décisions en dépendent ? À quelle fréquence ? Où se trouvent les données ? Combien de temps y consacrez-vous aujourd'hui ? Comment saurez-vous qu'il est réussi ?</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20"/>
              </a:spcAft>
              <a:buAutoNum type="arabicPeriod"/>
            </a:pPr>
            <a:r>
              <a:rPr sz="1400" b="0" i="0">
                <a:solidFill>
                  <a:srgbClr val="1B1B1B"/>
                </a:solidFill>
                <a:latin typeface="Calibri"/>
              </a:rPr>
              <a:t>Préparez 6 questions avec QQOQCCP, en entonnoir (large, précis, confirmation).</a:t>
            </a:r>
          </a:p>
          <a:p>
            <a:pPr algn="l" marL="274320" indent="-274320">
              <a:spcAft>
                <a:spcPts val="420"/>
              </a:spcAft>
              <a:buAutoNum type="arabicPeriod"/>
            </a:pPr>
            <a:r>
              <a:rPr sz="1400" b="0" i="0">
                <a:solidFill>
                  <a:srgbClr val="1B1B1B"/>
                </a:solidFill>
                <a:latin typeface="Calibri"/>
              </a:rPr>
              <a:t>Menez l'entretien (8 minutes) sans proposer de solution.</a:t>
            </a:r>
          </a:p>
          <a:p>
            <a:pPr algn="l" marL="274320" indent="-274320">
              <a:spcAft>
                <a:spcPts val="420"/>
              </a:spcAft>
              <a:buAutoNum type="arabicPeriod"/>
            </a:pPr>
            <a:r>
              <a:rPr sz="1400" b="0" i="0">
                <a:solidFill>
                  <a:srgbClr val="1B1B1B"/>
                </a:solidFill>
                <a:latin typeface="Calibri"/>
              </a:rPr>
              <a:t>Reformulez le besoin réel en une phrase.</a:t>
            </a:r>
          </a:p>
          <a:p>
            <a:pPr algn="l" marL="274320" indent="-274320">
              <a:spcAft>
                <a:spcPts val="420"/>
              </a:spcAft>
              <a:buAutoNum type="arabicPeriod"/>
            </a:pPr>
            <a:r>
              <a:rPr sz="1400" b="0" i="0">
                <a:solidFill>
                  <a:srgbClr val="1B1B1B"/>
                </a:solidFill>
                <a:latin typeface="Calibri"/>
              </a:rPr>
              <a:t>Chiffrez le coût annuel actuel, en euros (45 min par jour et par gestionnaire, 225 jours, 15 gestionnaires, 32 € de l'heure).</a:t>
            </a:r>
          </a:p>
          <a:p>
            <a:pPr algn="l" marL="274320" indent="-274320">
              <a:spcAft>
                <a:spcPts val="420"/>
              </a:spcAft>
              <a:buAutoNum type="arabicPeriod"/>
            </a:pPr>
            <a:r>
              <a:rPr sz="1400" b="0" i="0">
                <a:solidFill>
                  <a:srgbClr val="1B1B1B"/>
                </a:solidFill>
                <a:latin typeface="Calibri"/>
              </a:rPr>
              <a:t>Après l'entretien, demandez à une IA 6 questions QQOQCCP pour la demande de Marc. Combien de ses questions auraient apporté une information que vous n'avez pas obtenue ? Notez le nom de l'IA utilisée.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Besoin reformulé, coût annuel, critère de réussite. → Dossier, section 2.</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4.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75"/>
              </a:spcAft>
            </a:pPr>
            <a:r>
              <a:rPr sz="2500" b="1" i="0">
                <a:solidFill>
                  <a:srgbClr val="FFFFFF"/>
                </a:solidFill>
                <a:latin typeface="Calibri"/>
              </a:rPr>
              <a:t>Correction · EX 4 — Recueillir un besoin : l'entretien avec Marc</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EX4</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31</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50"/>
              </a:spcAft>
              <a:buAutoNum type="arabicPeriod"/>
            </a:pPr>
            <a:r>
              <a:rPr sz="1400" b="0" i="0">
                <a:solidFill>
                  <a:srgbClr val="1B1B1B"/>
                </a:solidFill>
                <a:latin typeface="Calibri"/>
              </a:rPr>
              <a:t>Questions larges (« Racontez-moi une matinée type »), puis précises (fréquence, durée, impact), puis une question de confirmation : voir les 6 questions attendues.</a:t>
            </a:r>
          </a:p>
          <a:p>
            <a:pPr algn="l" marL="274320" indent="-274320">
              <a:spcAft>
                <a:spcPts val="350"/>
              </a:spcAft>
              <a:buAutoNum type="arabicPeriod"/>
            </a:pPr>
            <a:r>
              <a:rPr sz="1400" b="0" i="0">
                <a:solidFill>
                  <a:srgbClr val="1B1B1B"/>
                </a:solidFill>
                <a:latin typeface="Calibri"/>
              </a:rPr>
              <a:t>Demander à quoi servira l'export (le besoin derrière la solution).</a:t>
            </a:r>
          </a:p>
          <a:p>
            <a:pPr algn="l" marL="274320" indent="-274320">
              <a:spcAft>
                <a:spcPts val="350"/>
              </a:spcAft>
              <a:buAutoNum type="arabicPeriod"/>
            </a:pPr>
            <a:r>
              <a:rPr sz="1400" b="0" i="0">
                <a:solidFill>
                  <a:srgbClr val="1B1B1B"/>
                </a:solidFill>
                <a:latin typeface="Calibri"/>
              </a:rPr>
              <a:t>Reformuler en une phrase besoin + critère.</a:t>
            </a:r>
          </a:p>
          <a:p>
            <a:pPr algn="l" marL="274320" indent="-274320">
              <a:spcAft>
                <a:spcPts val="350"/>
              </a:spcAft>
              <a:buAutoNum type="arabicPeriod"/>
            </a:pPr>
            <a:r>
              <a:rPr sz="1400" b="0" i="0">
                <a:solidFill>
                  <a:srgbClr val="1B1B1B"/>
                </a:solidFill>
                <a:latin typeface="Calibri"/>
              </a:rPr>
              <a:t>Chiffrer l'impact avant de proposer.</a:t>
            </a:r>
          </a:p>
        </p:txBody>
      </p:sp>
      <p:graphicFrame>
        <p:nvGraphicFramePr>
          <p:cNvPr id="9" name="Table 8"/>
          <p:cNvGraphicFramePr>
            <a:graphicFrameLocks noGrp="1"/>
          </p:cNvGraphicFramePr>
          <p:nvPr/>
        </p:nvGraphicFramePr>
        <p:xfrm>
          <a:off x="3703320" y="1097280"/>
          <a:ext cx="8046720" cy="2139696"/>
        </p:xfrm>
        <a:graphic>
          <a:graphicData uri="http://schemas.openxmlformats.org/drawingml/2006/table">
            <a:tbl>
              <a:tblPr firstRow="0" bandRow="0">
                <a:tableStyleId>{5C22544A-7EE6-4342-B048-85BDC9FD1C3A}</a:tableStyleId>
              </a:tblPr>
              <a:tblGrid>
                <a:gridCol w="1508760"/>
                <a:gridCol w="6537960"/>
              </a:tblGrid>
              <a:tr h="237744">
                <a:tc>
                  <a:txBody>
                    <a:bodyPr wrap="square"/>
                    <a:lstStyle/>
                    <a:p>
                      <a:r>
                        <a:rPr sz="1200" b="1">
                          <a:solidFill>
                            <a:srgbClr val="FFFFFF"/>
                          </a:solidFill>
                          <a:latin typeface="Calibri"/>
                        </a:rPr>
                        <a:t>Question</a:t>
                      </a:r>
                    </a:p>
                  </a:txBody>
                  <a:tcPr marL="73152" marR="73152" marT="36576" marB="36576">
                    <a:solidFill>
                      <a:srgbClr val="1F2A5C"/>
                    </a:solidFill>
                  </a:tcPr>
                </a:tc>
                <a:tc>
                  <a:txBody>
                    <a:bodyPr wrap="square"/>
                    <a:lstStyle/>
                    <a:p>
                      <a:r>
                        <a:rPr sz="1200" b="1">
                          <a:solidFill>
                            <a:srgbClr val="FFFFFF"/>
                          </a:solidFill>
                          <a:latin typeface="Calibri"/>
                        </a:rPr>
                        <a:t>Réponse</a:t>
                      </a:r>
                    </a:p>
                  </a:txBody>
                  <a:tcPr marL="73152" marR="73152" marT="36576" marB="36576">
                    <a:solidFill>
                      <a:srgbClr val="1F2A5C"/>
                    </a:solidFill>
                  </a:tcPr>
                </a:tc>
              </a:tr>
              <a:tr h="237744">
                <a:tc>
                  <a:txBody>
                    <a:bodyPr wrap="square"/>
                    <a:lstStyle/>
                    <a:p>
                      <a:r>
                        <a:rPr sz="1200" b="1">
                          <a:solidFill>
                            <a:srgbClr val="1B1B1B"/>
                          </a:solidFill>
                          <a:latin typeface="Calibri"/>
                        </a:rPr>
                        <a:t>Les 6 questions attendues (QQOQCCP, en entonnoir)</a:t>
                      </a:r>
                    </a:p>
                  </a:txBody>
                  <a:tcPr marL="73152" marR="73152" marT="36576" marB="36576">
                    <a:solidFill>
                      <a:srgbClr val="FFFFFF"/>
                    </a:solidFill>
                  </a:tcPr>
                </a:tc>
                <a:tc>
                  <a:txBody>
                    <a:bodyPr wrap="square"/>
                    <a:lstStyle/>
                    <a:p>
                      <a:r>
                        <a:rPr sz="1200" b="0">
                          <a:solidFill>
                            <a:srgbClr val="1B1B1B"/>
                          </a:solidFill>
                          <a:latin typeface="Calibri"/>
                        </a:rPr>
                        <a:t>1. Racontez-moi une matinée type. (large)  2. Qui utilise ces tournées, et qui décide ensuite ? (qui)  3. À quelle fréquence et à quelle heure cherchez-vous ces données ? (quand)  4. Où se trouvent ces données aujourd'hui ? (où)  5. Combien de temps y consacrez-vous, et que coûte un retard ? (combien)  6. À quoi servira l'export ? Comment saurez-vous que c'est réussi ? (pourquoi, confirmation)</a:t>
                      </a:r>
                    </a:p>
                  </a:txBody>
                  <a:tcPr marL="73152" marR="73152" marT="36576" marB="36576">
                    <a:solidFill>
                      <a:srgbClr val="FFFFFF"/>
                    </a:solidFill>
                  </a:tcPr>
                </a:tc>
              </a:tr>
              <a:tr h="237744">
                <a:tc>
                  <a:txBody>
                    <a:bodyPr wrap="square"/>
                    <a:lstStyle/>
                    <a:p>
                      <a:r>
                        <a:rPr sz="1200" b="1">
                          <a:solidFill>
                            <a:srgbClr val="1B1B1B"/>
                          </a:solidFill>
                          <a:latin typeface="Calibri"/>
                        </a:rPr>
                        <a:t>Ce que Marc répond (fiche de rôle)</a:t>
                      </a:r>
                    </a:p>
                  </a:txBody>
                  <a:tcPr marL="73152" marR="73152" marT="36576" marB="36576">
                    <a:solidFill>
                      <a:srgbClr val="F3F5F9"/>
                    </a:solidFill>
                  </a:tcPr>
                </a:tc>
                <a:tc>
                  <a:txBody>
                    <a:bodyPr wrap="square"/>
                    <a:lstStyle/>
                    <a:p>
                      <a:r>
                        <a:rPr sz="1200" b="0">
                          <a:solidFill>
                            <a:srgbClr val="1B1B1B"/>
                          </a:solidFill>
                          <a:latin typeface="Calibri"/>
                        </a:rPr>
                        <a:t>Il ressaisit chaque matin les tournées dans Excel pour repérer celles qui risquent d'être en retard (45 minutes par jour) et prévenir les clients avant 7 h.</a:t>
                      </a:r>
                    </a:p>
                  </a:txBody>
                  <a:tcPr marL="73152" marR="73152" marT="36576" marB="36576">
                    <a:solidFill>
                      <a:srgbClr val="F3F5F9"/>
                    </a:solidFill>
                  </a:tcPr>
                </a:tc>
              </a:tr>
              <a:tr h="237744">
                <a:tc>
                  <a:txBody>
                    <a:bodyPr wrap="square"/>
                    <a:lstStyle/>
                    <a:p>
                      <a:r>
                        <a:rPr sz="1200" b="1">
                          <a:solidFill>
                            <a:srgbClr val="1B1B1B"/>
                          </a:solidFill>
                          <a:latin typeface="Calibri"/>
                        </a:rPr>
                        <a:t>Besoin réel</a:t>
                      </a:r>
                    </a:p>
                  </a:txBody>
                  <a:tcPr marL="73152" marR="73152" marT="36576" marB="36576">
                    <a:solidFill>
                      <a:srgbClr val="FFFFFF"/>
                    </a:solidFill>
                  </a:tcPr>
                </a:tc>
                <a:tc>
                  <a:txBody>
                    <a:bodyPr wrap="square"/>
                    <a:lstStyle/>
                    <a:p>
                      <a:r>
                        <a:rPr sz="1200" b="0">
                          <a:solidFill>
                            <a:srgbClr val="1B1B1B"/>
                          </a:solidFill>
                          <a:latin typeface="Calibri"/>
                        </a:rPr>
                        <a:t>Voir avant 7 h les tournées à risque de retard, pour prévenir les clients à temps</a:t>
                      </a:r>
                    </a:p>
                  </a:txBody>
                  <a:tcPr marL="73152" marR="73152" marT="36576" marB="36576">
                    <a:solidFill>
                      <a:srgbClr val="FFFFFF"/>
                    </a:solidFill>
                  </a:tcPr>
                </a:tc>
              </a:tr>
              <a:tr h="237744">
                <a:tc>
                  <a:txBody>
                    <a:bodyPr wrap="square"/>
                    <a:lstStyle/>
                    <a:p>
                      <a:r>
                        <a:rPr sz="1200" b="1">
                          <a:solidFill>
                            <a:srgbClr val="1B1B1B"/>
                          </a:solidFill>
                          <a:latin typeface="Calibri"/>
                        </a:rPr>
                        <a:t>Fréquence du problème</a:t>
                      </a:r>
                    </a:p>
                  </a:txBody>
                  <a:tcPr marL="73152" marR="73152" marT="36576" marB="36576">
                    <a:solidFill>
                      <a:srgbClr val="F3F5F9"/>
                    </a:solidFill>
                  </a:tcPr>
                </a:tc>
                <a:tc>
                  <a:txBody>
                    <a:bodyPr wrap="square"/>
                    <a:lstStyle/>
                    <a:p>
                      <a:r>
                        <a:rPr sz="1200" b="0">
                          <a:solidFill>
                            <a:srgbClr val="1B1B1B"/>
                          </a:solidFill>
                          <a:latin typeface="Calibri"/>
                        </a:rPr>
                        <a:t>20 tournées × 12 % = 2,4 tournées en retard par jour ; 2,4 × 225 = 540 par an</a:t>
                      </a:r>
                    </a:p>
                  </a:txBody>
                  <a:tcPr marL="73152" marR="73152" marT="36576" marB="36576">
                    <a:solidFill>
                      <a:srgbClr val="F3F5F9"/>
                    </a:solidFill>
                  </a:tcPr>
                </a:tc>
              </a:tr>
              <a:tr h="237744">
                <a:tc>
                  <a:txBody>
                    <a:bodyPr wrap="square"/>
                    <a:lstStyle/>
                    <a:p>
                      <a:r>
                        <a:rPr sz="1200" b="1">
                          <a:solidFill>
                            <a:srgbClr val="1B1B1B"/>
                          </a:solidFill>
                          <a:latin typeface="Calibri"/>
                        </a:rPr>
                        <a:t>Coût actuel de la ressaisie</a:t>
                      </a:r>
                    </a:p>
                  </a:txBody>
                  <a:tcPr marL="73152" marR="73152" marT="36576" marB="36576">
                    <a:solidFill>
                      <a:srgbClr val="FFFFFF"/>
                    </a:solidFill>
                  </a:tcPr>
                </a:tc>
                <a:tc>
                  <a:txBody>
                    <a:bodyPr wrap="square"/>
                    <a:lstStyle/>
                    <a:p>
                      <a:r>
                        <a:rPr sz="1200" b="0">
                          <a:solidFill>
                            <a:srgbClr val="1B1B1B"/>
                          </a:solidFill>
                          <a:latin typeface="Calibri"/>
                        </a:rPr>
                        <a:t>0,75 h × 225 j × 32 € = 5 400 € par gestionnaire ; × 15 = 81 000 € par an</a:t>
                      </a:r>
                    </a:p>
                  </a:txBody>
                  <a:tcPr marL="73152" marR="73152" marT="36576" marB="36576">
                    <a:solidFill>
                      <a:srgbClr val="FFFFFF"/>
                    </a:solidFill>
                  </a:tcPr>
                </a:tc>
              </a:tr>
              <a:tr h="237744">
                <a:tc>
                  <a:txBody>
                    <a:bodyPr wrap="square"/>
                    <a:lstStyle/>
                    <a:p>
                      <a:r>
                        <a:rPr sz="1200" b="1">
                          <a:solidFill>
                            <a:srgbClr val="1B1B1B"/>
                          </a:solidFill>
                          <a:latin typeface="Calibri"/>
                        </a:rPr>
                        <a:t>Critère de réussite</a:t>
                      </a:r>
                    </a:p>
                  </a:txBody>
                  <a:tcPr marL="73152" marR="73152" marT="36576" marB="36576">
                    <a:solidFill>
                      <a:srgbClr val="F3F5F9"/>
                    </a:solidFill>
                  </a:tcPr>
                </a:tc>
                <a:tc>
                  <a:txBody>
                    <a:bodyPr wrap="square"/>
                    <a:lstStyle/>
                    <a:p>
                      <a:r>
                        <a:rPr sz="1200" b="0">
                          <a:solidFill>
                            <a:srgbClr val="1B1B1B"/>
                          </a:solidFill>
                          <a:latin typeface="Calibri"/>
                        </a:rPr>
                        <a:t>Alerte au moins 30 minutes avant le créneau, budget ≤ 2 k€</a:t>
                      </a:r>
                    </a:p>
                  </a:txBody>
                  <a:tcPr marL="73152" marR="73152" marT="36576" marB="36576">
                    <a:solidFill>
                      <a:srgbClr val="F3F5F9"/>
                    </a:solidFill>
                  </a:tcPr>
                </a:tc>
              </a:tr>
              <a:tr h="237744">
                <a:tc>
                  <a:txBody>
                    <a:bodyPr wrap="square"/>
                    <a:lstStyle/>
                    <a:p>
                      <a:r>
                        <a:rPr sz="1200" b="1">
                          <a:solidFill>
                            <a:srgbClr val="1B1B1B"/>
                          </a:solidFill>
                          <a:latin typeface="Calibri"/>
                        </a:rPr>
                        <a:t>Phrase de reformulation</a:t>
                      </a:r>
                    </a:p>
                  </a:txBody>
                  <a:tcPr marL="73152" marR="73152" marT="36576" marB="36576">
                    <a:solidFill>
                      <a:srgbClr val="FFFFFF"/>
                    </a:solidFill>
                  </a:tcPr>
                </a:tc>
                <a:tc>
                  <a:txBody>
                    <a:bodyPr wrap="square"/>
                    <a:lstStyle/>
                    <a:p>
                      <a:r>
                        <a:rPr sz="1200" b="0">
                          <a:solidFill>
                            <a:srgbClr val="1B1B1B"/>
                          </a:solidFill>
                          <a:latin typeface="Calibri"/>
                        </a:rPr>
                        <a:t>« Vous voulez être alerté 30 minutes avant un retard probable pour prévenir vos clients, sans ressaisie ; l'export n'est qu'un moyen. »</a:t>
                      </a:r>
                    </a:p>
                  </a:txBody>
                  <a:tcPr marL="73152" marR="73152" marT="36576" marB="36576">
                    <a:solidFill>
                      <a:srgbClr val="FFFFFF"/>
                    </a:solidFill>
                  </a:tcPr>
                </a:tc>
              </a:tr>
              <a:tr h="237744">
                <a:tc>
                  <a:txBody>
                    <a:bodyPr wrap="square"/>
                    <a:lstStyle/>
                    <a:p>
                      <a:r>
                        <a:rPr sz="1200" b="1">
                          <a:solidFill>
                            <a:srgbClr val="1B1B1B"/>
                          </a:solidFill>
                          <a:latin typeface="Calibri"/>
                        </a:rPr>
                        <a:t>IA · questions oubliées</a:t>
                      </a:r>
                    </a:p>
                  </a:txBody>
                  <a:tcPr marL="73152" marR="73152" marT="36576" marB="36576">
                    <a:solidFill>
                      <a:srgbClr val="F3F5F9"/>
                    </a:solidFill>
                  </a:tcPr>
                </a:tc>
                <a:tc>
                  <a:txBody>
                    <a:bodyPr wrap="square"/>
                    <a:lstStyle/>
                    <a:p>
                      <a:r>
                        <a:rPr sz="1200" b="0">
                          <a:solidFill>
                            <a:srgbClr val="1B1B1B"/>
                          </a:solidFill>
                          <a:latin typeface="Calibri"/>
                        </a:rPr>
                        <a:t>Souvent 1 à 3 (budget, contraintes de sécurité, qui accède aux données). Gardez celles qui servent la décision ; les questions génériques n'apportent rien.</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Proposer « on vous fait un export » dès la première minute : la solution précède le besoin.</a:t>
            </a:r>
          </a:p>
          <a:p>
            <a:pPr algn="l" marL="201168" indent="-201168">
              <a:spcAft>
                <a:spcPts val="110"/>
              </a:spcAft>
              <a:buChar char="•"/>
            </a:pPr>
            <a:r>
              <a:rPr sz="1100" b="0" i="0">
                <a:solidFill>
                  <a:srgbClr val="1B1B1B"/>
                </a:solidFill>
                <a:latin typeface="Calibri"/>
              </a:rPr>
              <a:t>Enchaîner des questions fermées : on obtient oui ou non, pas le contexte.</a:t>
            </a:r>
          </a:p>
          <a:p>
            <a:pPr algn="l" marL="201168" indent="-201168">
              <a:spcAft>
                <a:spcPts val="110"/>
              </a:spcAft>
              <a:buChar char="•"/>
            </a:pPr>
            <a:r>
              <a:rPr sz="1100" b="0" i="0">
                <a:solidFill>
                  <a:srgbClr val="1B1B1B"/>
                </a:solidFill>
                <a:latin typeface="Calibri"/>
              </a:rPr>
              <a:t>Oublier de chiffrer : sans 81 000 €, la demande ne passe pas l'arbitrage du budget.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C</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Chercher vite et bien : la boîte à outils</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Objectif O3 · défis chronométrés EX7, M1, EX8, EX9, M2, EX10 et V4 (veille)</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Écrire une requête qui marche, en français et en anglais</a:t>
            </a:r>
          </a:p>
          <a:p>
            <a:pPr algn="l" marL="201168" indent="-201168">
              <a:spcAft>
                <a:spcPts val="700"/>
              </a:spcAft>
              <a:buChar char="•"/>
            </a:pPr>
            <a:r>
              <a:rPr sz="2000" b="0" i="0">
                <a:solidFill>
                  <a:srgbClr val="FFFFFF"/>
                </a:solidFill>
                <a:latin typeface="Calibri"/>
              </a:rPr>
              <a:t>Retrouver un document officiel en 3 minutes</a:t>
            </a:r>
          </a:p>
          <a:p>
            <a:pPr algn="l" marL="201168" indent="-201168">
              <a:spcAft>
                <a:spcPts val="700"/>
              </a:spcAft>
              <a:buChar char="•"/>
            </a:pPr>
            <a:r>
              <a:rPr sz="2000" b="0" i="0">
                <a:solidFill>
                  <a:srgbClr val="FFFFFF"/>
                </a:solidFill>
                <a:latin typeface="Calibri"/>
              </a:rPr>
              <a:t>Utiliser Google Scholar, HAL, arXiv et Zotero</a:t>
            </a:r>
          </a:p>
          <a:p>
            <a:pPr algn="l" marL="201168" indent="-201168">
              <a:spcAft>
                <a:spcPts val="700"/>
              </a:spcAft>
              <a:buChar char="•"/>
            </a:pPr>
            <a:r>
              <a:rPr sz="2000" b="0" i="0">
                <a:solidFill>
                  <a:srgbClr val="FFFFFF"/>
                </a:solidFill>
                <a:latin typeface="Calibri"/>
              </a:rPr>
              <a:t>Monter sa veille en 15 minutes</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O3 · Chercher l'information, l'évaluer, la valider</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Chercher en cinq gestes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33</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1 · Question</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Une décision, 4 critères</a:t>
            </a:r>
          </a:p>
          <a:p>
            <a:pPr algn="l">
              <a:spcAft>
                <a:spcPts val="480"/>
              </a:spcAft>
            </a:pPr>
            <a:r>
              <a:rPr sz="1600" b="0" i="0">
                <a:solidFill>
                  <a:srgbClr val="1B1B1B"/>
                </a:solidFill>
                <a:latin typeface="Calibri"/>
              </a:rPr>
              <a:t>Ex. : « Faut-il des passkeys ? »</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2 · Mots-clés</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Synonymes français et anglais</a:t>
            </a:r>
          </a:p>
          <a:p>
            <a:pPr algn="l">
              <a:spcAft>
                <a:spcPts val="480"/>
              </a:spcAft>
            </a:pPr>
            <a:r>
              <a:rPr sz="1600" b="0" i="0">
                <a:solidFill>
                  <a:srgbClr val="1B1B1B"/>
                </a:solidFill>
                <a:latin typeface="Calibri"/>
              </a:rPr>
              <a:t>Outil : IA + moteur</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3 · Requête</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Guillemets, OR, site:, filetype:</a:t>
            </a:r>
          </a:p>
          <a:p>
            <a:pPr algn="l">
              <a:spcAft>
                <a:spcPts val="480"/>
              </a:spcAft>
            </a:pPr>
            <a:r>
              <a:rPr sz="1600" b="0" i="0">
                <a:solidFill>
                  <a:srgbClr val="1B1B1B"/>
                </a:solidFill>
                <a:latin typeface="Calibri"/>
              </a:rPr>
              <a:t>Outil : Google</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4 · Trois bases</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Une officielle, une scientifique, une experte</a:t>
            </a:r>
          </a:p>
          <a:p>
            <a:pPr algn="l">
              <a:spcAft>
                <a:spcPts val="480"/>
              </a:spcAft>
            </a:pPr>
            <a:r>
              <a:rPr sz="1600" b="0" i="0">
                <a:solidFill>
                  <a:srgbClr val="1B1B1B"/>
                </a:solidFill>
                <a:latin typeface="Calibri"/>
              </a:rPr>
              <a:t>Outil : Scholar, HAL, ANSSI</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5 · Noter</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Requête, date, nombre de résultats</a:t>
            </a:r>
          </a:p>
          <a:p>
            <a:pPr algn="l">
              <a:spcAft>
                <a:spcPts val="480"/>
              </a:spcAft>
            </a:pPr>
            <a:r>
              <a:rPr sz="1600" b="0" i="0">
                <a:solidFill>
                  <a:srgbClr val="1B1B1B"/>
                </a:solidFill>
                <a:latin typeface="Calibri"/>
              </a:rPr>
              <a:t>Outil : Zotero et carnet</a:t>
            </a:r>
          </a:p>
        </p:txBody>
      </p:sp>
      <p:sp>
        <p:nvSpPr>
          <p:cNvPr id="20" name="Rounded Rectangle 19"/>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Une recherche qu'on ne peut pas refaire n'est pas une recherche : notez toujours la requête et la date.</a:t>
            </a:r>
          </a:p>
        </p:txBody>
      </p:sp>
      <p:sp>
        <p:nvSpPr>
          <p:cNvPr id="21" name="Rounded Rectangle 20"/>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Question : … Donne 10 mots-clés FR et EN, des synonymes, et une requête avec guillemets et OR. » Testez-la dans le moteur.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Décomposer une question : pour un moteur et pour une IA</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34</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Concepts clés</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Question : « Faut-il activer les mises à jour automatiques ? »</a:t>
            </a:r>
          </a:p>
          <a:p>
            <a:pPr algn="l">
              <a:spcAft>
                <a:spcPts val="509"/>
              </a:spcAft>
            </a:pPr>
            <a:r>
              <a:rPr sz="1700" b="0" i="0">
                <a:solidFill>
                  <a:srgbClr val="1B1B1B"/>
                </a:solidFill>
                <a:latin typeface="Calibri"/>
              </a:rPr>
              <a:t>Concepts : mise à jour automatique, correctif, poste de travail.</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Synonymes et anglais</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mise à jour automatique OR automatic update OR auto-update</a:t>
            </a:r>
          </a:p>
          <a:p>
            <a:pPr algn="l">
              <a:spcAft>
                <a:spcPts val="509"/>
              </a:spcAft>
            </a:pPr>
            <a:r>
              <a:rPr sz="1700" b="0" i="0">
                <a:solidFill>
                  <a:srgbClr val="1B1B1B"/>
                </a:solidFill>
                <a:latin typeface="Calibri"/>
              </a:rPr>
              <a:t>La littérature technique est surtout en anglais.</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Sigles</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Développer les sigles : certaines sources les écrivent, d'autres non.</a:t>
            </a:r>
          </a:p>
          <a:p>
            <a:pPr algn="l">
              <a:spcAft>
                <a:spcPts val="509"/>
              </a:spcAft>
            </a:pPr>
            <a:r>
              <a:rPr sz="1700" b="0" i="0">
                <a:solidFill>
                  <a:srgbClr val="1B1B1B"/>
                </a:solidFill>
                <a:latin typeface="Calibri"/>
              </a:rPr>
              <a:t>Ex. : MFA, EDR, VPN</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Moteur ou IA ?</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 moteur cherche des mots-clés. Une IA comprend une consigne : donnez-lui contexte, question, langue et format.</a:t>
            </a:r>
          </a:p>
          <a:p>
            <a:pPr algn="l">
              <a:spcAft>
                <a:spcPts val="509"/>
              </a:spcAft>
            </a:pPr>
            <a:r>
              <a:rPr sz="1700" b="0" i="0">
                <a:solidFill>
                  <a:srgbClr val="1B1B1B"/>
                </a:solidFill>
                <a:latin typeface="Calibri"/>
              </a:rPr>
              <a:t>Ex. : « Tu es assistant de recherche. Donne 10 mots-clés FR et EN sur… »</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Dans les deux cas, notez la requête ou la consigne : on doit pouvoir la refaire. L'IA propose des mots-clés, elle peut en inventer : vous triez et vous testez.</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7</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Décomposer une question en mots-clés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EX7</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35</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  15 min  ·  Carnet · chapitre 3  ·  Outil : tableur ou carnet</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Passer d'une question en phrase à des mots-clés utilisables dans un moteur ou donnés à une IA, en français et en anglais, puis à une requête que l'on peut refaire.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70"/>
              </a:spcAft>
            </a:pPr>
            <a:r>
              <a:rPr sz="1900" b="0" i="0">
                <a:solidFill>
                  <a:srgbClr val="1B1B1B"/>
                </a:solidFill>
                <a:latin typeface="Calibri"/>
              </a:rPr>
              <a:t>Question d'exemple : « Faut-il activer les mises à jour automatiques sur tous les postes de TransLor ? »</a:t>
            </a:r>
          </a:p>
          <a:p>
            <a:pPr algn="l">
              <a:spcAft>
                <a:spcPts val="570"/>
              </a:spcAft>
            </a:pPr>
            <a:r>
              <a:rPr sz="1900" b="0" i="0">
                <a:solidFill>
                  <a:srgbClr val="1B1B1B"/>
                </a:solidFill>
                <a:latin typeface="Calibri"/>
              </a:rPr>
              <a:t>Aujourd'hui, beaucoup d'entre vous interrogent d'abord une IA. Elle comprend une phrase, mais vous devez pouvoir refaire et citer votre recherche : les mots-clés servent dans un moteur comme dans une IA (on les donne à l'IA pour qu'elle cherche mieux).</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50"/>
              </a:spcAft>
              <a:buAutoNum type="arabicPeriod"/>
            </a:pPr>
            <a:r>
              <a:rPr sz="1500" b="0" i="0">
                <a:solidFill>
                  <a:srgbClr val="1B1B1B"/>
                </a:solidFill>
                <a:latin typeface="Calibri"/>
              </a:rPr>
              <a:t>Soulignez les 3 concepts clés de la question.</a:t>
            </a:r>
          </a:p>
          <a:p>
            <a:pPr algn="l" marL="274320" indent="-274320">
              <a:spcAft>
                <a:spcPts val="450"/>
              </a:spcAft>
              <a:buAutoNum type="arabicPeriod"/>
            </a:pPr>
            <a:r>
              <a:rPr sz="1500" b="0" i="0">
                <a:solidFill>
                  <a:srgbClr val="1B1B1B"/>
                </a:solidFill>
                <a:latin typeface="Calibri"/>
              </a:rPr>
              <a:t>Écrivez les synonymes français et anglais de chaque concept.</a:t>
            </a:r>
          </a:p>
          <a:p>
            <a:pPr algn="l" marL="274320" indent="-274320">
              <a:spcAft>
                <a:spcPts val="450"/>
              </a:spcAft>
              <a:buAutoNum type="arabicPeriod"/>
            </a:pPr>
            <a:r>
              <a:rPr sz="1500" b="0" i="0">
                <a:solidFill>
                  <a:srgbClr val="1B1B1B"/>
                </a:solidFill>
                <a:latin typeface="Calibri"/>
              </a:rPr>
              <a:t>Demandez à une IA : « Propose-moi des mots-clés français et anglais et une requête de recherche pour : &lt;la question&gt; ». Combien de mots-clés proposés n'étaient pas dans votre liste ? Notez le nom de l'IA utilisée.</a:t>
            </a:r>
          </a:p>
          <a:p>
            <a:pPr algn="l" marL="274320" indent="-274320">
              <a:spcAft>
                <a:spcPts val="450"/>
              </a:spcAft>
              <a:buAutoNum type="arabicPeriod"/>
            </a:pPr>
            <a:r>
              <a:rPr sz="1500" b="0" i="0">
                <a:solidFill>
                  <a:srgbClr val="1B1B1B"/>
                </a:solidFill>
                <a:latin typeface="Calibri"/>
              </a:rPr>
              <a:t>Parmi les propositions de l'IA, combien sont hors sujet ou trompeurs ?</a:t>
            </a:r>
          </a:p>
          <a:p>
            <a:pPr algn="l" marL="274320" indent="-274320">
              <a:spcAft>
                <a:spcPts val="450"/>
              </a:spcAft>
              <a:buAutoNum type="arabicPeriod"/>
            </a:pPr>
            <a:r>
              <a:rPr sz="1500" b="0" i="0">
                <a:solidFill>
                  <a:srgbClr val="1B1B1B"/>
                </a:solidFill>
                <a:latin typeface="Calibri"/>
              </a:rPr>
              <a:t>Assemblez votre requête finale (guillemets, OR), puis faites de même pour votre question (EX1).</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Un tableau : concepts, synonymes français et anglais, requête. → Dossier, section 3.</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7.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7 — Décomposer une question en mots-clés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EX7</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36</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Un concept = un mot ou une expression.</a:t>
            </a:r>
          </a:p>
          <a:p>
            <a:pPr algn="l" marL="274320" indent="-274320">
              <a:spcAft>
                <a:spcPts val="375"/>
              </a:spcAft>
              <a:buAutoNum type="arabicPeriod"/>
            </a:pPr>
            <a:r>
              <a:rPr sz="1500" b="0" i="0">
                <a:solidFill>
                  <a:srgbClr val="1B1B1B"/>
                </a:solidFill>
                <a:latin typeface="Calibri"/>
              </a:rPr>
              <a:t>Un synonyme par ligne, en français et en anglais.</a:t>
            </a:r>
          </a:p>
          <a:p>
            <a:pPr algn="l" marL="274320" indent="-274320">
              <a:spcAft>
                <a:spcPts val="375"/>
              </a:spcAft>
              <a:buAutoNum type="arabicPeriod"/>
            </a:pPr>
            <a:r>
              <a:rPr sz="1500" b="0" i="0">
                <a:solidFill>
                  <a:srgbClr val="1B1B1B"/>
                </a:solidFill>
                <a:latin typeface="Calibri"/>
              </a:rPr>
              <a:t>Guillemets pour les expressions, OR entre synonymes.</a:t>
            </a:r>
          </a:p>
          <a:p>
            <a:pPr algn="l" marL="274320" indent="-274320">
              <a:spcAft>
                <a:spcPts val="375"/>
              </a:spcAft>
              <a:buAutoNum type="arabicPeriod"/>
            </a:pPr>
            <a:r>
              <a:rPr sz="1500" b="0" i="0">
                <a:solidFill>
                  <a:srgbClr val="1B1B1B"/>
                </a:solidFill>
                <a:latin typeface="Calibri"/>
              </a:rPr>
              <a:t>Donner à l'IA le contexte, la langue et le format attendu, puis trier ses propositions.</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2377440"/>
                <a:gridCol w="5669280"/>
              </a:tblGrid>
              <a:tr h="237744">
                <a:tc>
                  <a:txBody>
                    <a:bodyPr wrap="square"/>
                    <a:lstStyle/>
                    <a:p>
                      <a:r>
                        <a:rPr sz="1600" b="1">
                          <a:solidFill>
                            <a:srgbClr val="FFFFFF"/>
                          </a:solidFill>
                          <a:latin typeface="Calibri"/>
                        </a:rPr>
                        <a:t>Concept</a:t>
                      </a:r>
                    </a:p>
                  </a:txBody>
                  <a:tcPr marL="73152" marR="73152" marT="36576" marB="36576">
                    <a:solidFill>
                      <a:srgbClr val="1F2A5C"/>
                    </a:solidFill>
                  </a:tcPr>
                </a:tc>
                <a:tc>
                  <a:txBody>
                    <a:bodyPr wrap="square"/>
                    <a:lstStyle/>
                    <a:p>
                      <a:r>
                        <a:rPr sz="1600" b="1">
                          <a:solidFill>
                            <a:srgbClr val="FFFFFF"/>
                          </a:solidFill>
                          <a:latin typeface="Calibri"/>
                        </a:rPr>
                        <a:t>Synonymes (FR / EN)</a:t>
                      </a:r>
                    </a:p>
                  </a:txBody>
                  <a:tcPr marL="73152" marR="73152" marT="36576" marB="36576">
                    <a:solidFill>
                      <a:srgbClr val="1F2A5C"/>
                    </a:solidFill>
                  </a:tcPr>
                </a:tc>
              </a:tr>
              <a:tr h="237744">
                <a:tc>
                  <a:txBody>
                    <a:bodyPr wrap="square"/>
                    <a:lstStyle/>
                    <a:p>
                      <a:r>
                        <a:rPr sz="1600" b="1">
                          <a:solidFill>
                            <a:srgbClr val="1B1B1B"/>
                          </a:solidFill>
                          <a:latin typeface="Calibri"/>
                        </a:rPr>
                        <a:t>Mises à jour automatiques</a:t>
                      </a:r>
                    </a:p>
                  </a:txBody>
                  <a:tcPr marL="73152" marR="73152" marT="36576" marB="36576">
                    <a:solidFill>
                      <a:srgbClr val="FFFFFF"/>
                    </a:solidFill>
                  </a:tcPr>
                </a:tc>
                <a:tc>
                  <a:txBody>
                    <a:bodyPr wrap="square"/>
                    <a:lstStyle/>
                    <a:p>
                      <a:r>
                        <a:rPr sz="1600" b="0">
                          <a:solidFill>
                            <a:srgbClr val="1B1B1B"/>
                          </a:solidFill>
                          <a:latin typeface="Calibri"/>
                        </a:rPr>
                        <a:t>« mise à jour automatique » OR « automatic update » OR « auto-update »</a:t>
                      </a:r>
                    </a:p>
                  </a:txBody>
                  <a:tcPr marL="73152" marR="73152" marT="36576" marB="36576">
                    <a:solidFill>
                      <a:srgbClr val="FFFFFF"/>
                    </a:solidFill>
                  </a:tcPr>
                </a:tc>
              </a:tr>
              <a:tr h="237744">
                <a:tc>
                  <a:txBody>
                    <a:bodyPr wrap="square"/>
                    <a:lstStyle/>
                    <a:p>
                      <a:r>
                        <a:rPr sz="1600" b="1">
                          <a:solidFill>
                            <a:srgbClr val="1B1B1B"/>
                          </a:solidFill>
                          <a:latin typeface="Calibri"/>
                        </a:rPr>
                        <a:t>Correctifs de sécurité</a:t>
                      </a:r>
                    </a:p>
                  </a:txBody>
                  <a:tcPr marL="73152" marR="73152" marT="36576" marB="36576">
                    <a:solidFill>
                      <a:srgbClr val="F3F5F9"/>
                    </a:solidFill>
                  </a:tcPr>
                </a:tc>
                <a:tc>
                  <a:txBody>
                    <a:bodyPr wrap="square"/>
                    <a:lstStyle/>
                    <a:p>
                      <a:r>
                        <a:rPr sz="1600" b="0">
                          <a:solidFill>
                            <a:srgbClr val="1B1B1B"/>
                          </a:solidFill>
                          <a:latin typeface="Calibri"/>
                        </a:rPr>
                        <a:t>correctif OR « patch » OR « security update »</a:t>
                      </a:r>
                    </a:p>
                  </a:txBody>
                  <a:tcPr marL="73152" marR="73152" marT="36576" marB="36576">
                    <a:solidFill>
                      <a:srgbClr val="F3F5F9"/>
                    </a:solidFill>
                  </a:tcPr>
                </a:tc>
              </a:tr>
              <a:tr h="237744">
                <a:tc>
                  <a:txBody>
                    <a:bodyPr wrap="square"/>
                    <a:lstStyle/>
                    <a:p>
                      <a:r>
                        <a:rPr sz="1600" b="1">
                          <a:solidFill>
                            <a:srgbClr val="1B1B1B"/>
                          </a:solidFill>
                          <a:latin typeface="Calibri"/>
                        </a:rPr>
                        <a:t>Postes de travail</a:t>
                      </a:r>
                    </a:p>
                  </a:txBody>
                  <a:tcPr marL="73152" marR="73152" marT="36576" marB="36576">
                    <a:solidFill>
                      <a:srgbClr val="FFFFFF"/>
                    </a:solidFill>
                  </a:tcPr>
                </a:tc>
                <a:tc>
                  <a:txBody>
                    <a:bodyPr wrap="square"/>
                    <a:lstStyle/>
                    <a:p>
                      <a:r>
                        <a:rPr sz="1600" b="0">
                          <a:solidFill>
                            <a:srgbClr val="1B1B1B"/>
                          </a:solidFill>
                          <a:latin typeface="Calibri"/>
                        </a:rPr>
                        <a:t>« poste de travail » OR « endpoint » OR « workstation »</a:t>
                      </a:r>
                    </a:p>
                  </a:txBody>
                  <a:tcPr marL="73152" marR="73152" marT="36576" marB="36576">
                    <a:solidFill>
                      <a:srgbClr val="FFFFFF"/>
                    </a:solidFill>
                  </a:tcPr>
                </a:tc>
              </a:tr>
              <a:tr h="237744">
                <a:tc>
                  <a:txBody>
                    <a:bodyPr wrap="square"/>
                    <a:lstStyle/>
                    <a:p>
                      <a:r>
                        <a:rPr sz="1600" b="1">
                          <a:solidFill>
                            <a:srgbClr val="1B1B1B"/>
                          </a:solidFill>
                          <a:latin typeface="Calibri"/>
                        </a:rPr>
                        <a:t>Avec une IA</a:t>
                      </a:r>
                    </a:p>
                  </a:txBody>
                  <a:tcPr marL="73152" marR="73152" marT="36576" marB="36576">
                    <a:solidFill>
                      <a:srgbClr val="F3F5F9"/>
                    </a:solidFill>
                  </a:tcPr>
                </a:tc>
                <a:tc>
                  <a:txBody>
                    <a:bodyPr wrap="square"/>
                    <a:lstStyle/>
                    <a:p>
                      <a:r>
                        <a:rPr sz="1600" b="0">
                          <a:solidFill>
                            <a:srgbClr val="1B1B1B"/>
                          </a:solidFill>
                          <a:latin typeface="Calibri"/>
                        </a:rPr>
                        <a:t>L'IA propose en général 2 à 4 mots-clés de plus (par exemple « patch management », « endpoint ») et 1 à 2 hors sujet. Elle aide à élargir le vocabulaire ; c'est vous qui triez, puis la requête finale est testée dans un moteur ou une base : on peut la refaire et la citer, pas la conversation avec l'IA.</a:t>
                      </a:r>
                    </a:p>
                  </a:txBody>
                  <a:tcPr marL="73152" marR="73152" marT="36576" marB="36576">
                    <a:solidFill>
                      <a:srgbClr val="F3F5F9"/>
                    </a:solidFill>
                  </a:tcPr>
                </a:tc>
              </a:tr>
              <a:tr h="237744">
                <a:tc>
                  <a:txBody>
                    <a:bodyPr wrap="square"/>
                    <a:lstStyle/>
                    <a:p>
                      <a:r>
                        <a:rPr sz="1600" b="1">
                          <a:solidFill>
                            <a:srgbClr val="1B1B1B"/>
                          </a:solidFill>
                          <a:latin typeface="Calibri"/>
                        </a:rPr>
                        <a:t>Requête assemblée</a:t>
                      </a:r>
                    </a:p>
                  </a:txBody>
                  <a:tcPr marL="73152" marR="73152" marT="36576" marB="36576">
                    <a:solidFill>
                      <a:srgbClr val="FFFFFF"/>
                    </a:solidFill>
                  </a:tcPr>
                </a:tc>
                <a:tc>
                  <a:txBody>
                    <a:bodyPr wrap="square"/>
                    <a:lstStyle/>
                    <a:p>
                      <a:r>
                        <a:rPr sz="1600" b="0">
                          <a:solidFill>
                            <a:srgbClr val="1B1B1B"/>
                          </a:solidFill>
                          <a:latin typeface="Calibri"/>
                        </a:rPr>
                        <a:t>(« mise à jour automatique » OR « automatic update ») (« poste de travail » OR « endpoint ») sécurité OR security</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Taper la question entière : le moteur en tire des résultats flous.</a:t>
            </a:r>
          </a:p>
          <a:p>
            <a:pPr algn="l" marL="201168" indent="-201168">
              <a:spcAft>
                <a:spcPts val="110"/>
              </a:spcAft>
              <a:buChar char="•"/>
            </a:pPr>
            <a:r>
              <a:rPr sz="1100" b="0" i="0">
                <a:solidFill>
                  <a:srgbClr val="1B1B1B"/>
                </a:solidFill>
                <a:latin typeface="Calibri"/>
              </a:rPr>
              <a:t>Oublier l'anglais : on perd une grande part de la littérature technique.</a:t>
            </a:r>
          </a:p>
          <a:p>
            <a:pPr algn="l" marL="201168" indent="-201168">
              <a:spcAft>
                <a:spcPts val="110"/>
              </a:spcAft>
              <a:buChar char="•"/>
            </a:pPr>
            <a:r>
              <a:rPr sz="1100" b="0" i="0">
                <a:solidFill>
                  <a:srgbClr val="1B1B1B"/>
                </a:solidFill>
                <a:latin typeface="Calibri"/>
              </a:rPr>
              <a:t>Des mots trop généraux (« sécurité » seul).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Google : huit opérateurs à connaître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37</a:t>
            </a:r>
          </a:p>
        </p:txBody>
      </p:sp>
      <p:graphicFrame>
        <p:nvGraphicFramePr>
          <p:cNvPr id="6" name="Table 5"/>
          <p:cNvGraphicFramePr>
            <a:graphicFrameLocks noGrp="1"/>
          </p:cNvGraphicFramePr>
          <p:nvPr/>
        </p:nvGraphicFramePr>
        <p:xfrm>
          <a:off x="411480" y="1188720"/>
          <a:ext cx="11338560" cy="3291840"/>
        </p:xfrm>
        <a:graphic>
          <a:graphicData uri="http://schemas.openxmlformats.org/drawingml/2006/table">
            <a:tbl>
              <a:tblPr firstRow="0" bandRow="0">
                <a:tableStyleId>{5C22544A-7EE6-4342-B048-85BDC9FD1C3A}</a:tableStyleId>
              </a:tblPr>
              <a:tblGrid>
                <a:gridCol w="2267712"/>
                <a:gridCol w="3779520"/>
                <a:gridCol w="5291328"/>
              </a:tblGrid>
              <a:tr h="365760">
                <a:tc>
                  <a:txBody>
                    <a:bodyPr wrap="square"/>
                    <a:lstStyle/>
                    <a:p>
                      <a:r>
                        <a:rPr sz="1700" b="1">
                          <a:solidFill>
                            <a:srgbClr val="FFFFFF"/>
                          </a:solidFill>
                          <a:latin typeface="Calibri"/>
                        </a:rPr>
                        <a:t>Opérateur</a:t>
                      </a:r>
                    </a:p>
                  </a:txBody>
                  <a:tcPr marL="73152" marR="73152" marT="36576" marB="36576">
                    <a:solidFill>
                      <a:srgbClr val="1F2A5C"/>
                    </a:solidFill>
                  </a:tcPr>
                </a:tc>
                <a:tc>
                  <a:txBody>
                    <a:bodyPr wrap="square"/>
                    <a:lstStyle/>
                    <a:p>
                      <a:r>
                        <a:rPr sz="1700" b="1">
                          <a:solidFill>
                            <a:srgbClr val="FFFFFF"/>
                          </a:solidFill>
                          <a:latin typeface="Calibri"/>
                        </a:rPr>
                        <a:t>Effet</a:t>
                      </a:r>
                    </a:p>
                  </a:txBody>
                  <a:tcPr marL="73152" marR="73152" marT="36576" marB="36576">
                    <a:solidFill>
                      <a:srgbClr val="1F2A5C"/>
                    </a:solidFill>
                  </a:tcPr>
                </a:tc>
                <a:tc>
                  <a:txBody>
                    <a:bodyPr wrap="square"/>
                    <a:lstStyle/>
                    <a:p>
                      <a:r>
                        <a:rPr sz="1700" b="1">
                          <a:solidFill>
                            <a:srgbClr val="FFFFFF"/>
                          </a:solidFill>
                          <a:latin typeface="Calibri"/>
                        </a:rPr>
                        <a:t>Exemple concret</a:t>
                      </a:r>
                    </a:p>
                  </a:txBody>
                  <a:tcPr marL="73152" marR="73152" marT="36576" marB="36576">
                    <a:solidFill>
                      <a:srgbClr val="1F2A5C"/>
                    </a:solidFill>
                  </a:tcPr>
                </a:tc>
              </a:tr>
              <a:tr h="365760">
                <a:tc>
                  <a:txBody>
                    <a:bodyPr wrap="square"/>
                    <a:lstStyle/>
                    <a:p>
                      <a:r>
                        <a:rPr sz="1700" b="1">
                          <a:solidFill>
                            <a:srgbClr val="1B1B1B"/>
                          </a:solidFill>
                          <a:latin typeface="Calibri"/>
                        </a:rPr>
                        <a:t>« guillemets »</a:t>
                      </a:r>
                    </a:p>
                  </a:txBody>
                  <a:tcPr marL="73152" marR="73152" marT="36576" marB="36576">
                    <a:solidFill>
                      <a:srgbClr val="FFFFFF"/>
                    </a:solidFill>
                  </a:tcPr>
                </a:tc>
                <a:tc>
                  <a:txBody>
                    <a:bodyPr wrap="square"/>
                    <a:lstStyle/>
                    <a:p>
                      <a:r>
                        <a:rPr sz="1700" b="0">
                          <a:solidFill>
                            <a:srgbClr val="1B1B1B"/>
                          </a:solidFill>
                          <a:latin typeface="Calibri"/>
                        </a:rPr>
                        <a:t>Expression exacte</a:t>
                      </a:r>
                    </a:p>
                  </a:txBody>
                  <a:tcPr marL="73152" marR="73152" marT="36576" marB="36576">
                    <a:solidFill>
                      <a:srgbClr val="FFFFFF"/>
                    </a:solidFill>
                  </a:tcPr>
                </a:tc>
                <a:tc>
                  <a:txBody>
                    <a:bodyPr wrap="square"/>
                    <a:lstStyle/>
                    <a:p>
                      <a:r>
                        <a:rPr sz="1700" b="0">
                          <a:solidFill>
                            <a:srgbClr val="1B1B1B"/>
                          </a:solidFill>
                          <a:latin typeface="Calibri"/>
                        </a:rPr>
                        <a:t>« authentification multifacteur »</a:t>
                      </a:r>
                    </a:p>
                  </a:txBody>
                  <a:tcPr marL="73152" marR="73152" marT="36576" marB="36576">
                    <a:solidFill>
                      <a:srgbClr val="FFFFFF"/>
                    </a:solidFill>
                  </a:tcPr>
                </a:tc>
              </a:tr>
              <a:tr h="365760">
                <a:tc>
                  <a:txBody>
                    <a:bodyPr wrap="square"/>
                    <a:lstStyle/>
                    <a:p>
                      <a:r>
                        <a:rPr sz="1700" b="1">
                          <a:solidFill>
                            <a:srgbClr val="1B1B1B"/>
                          </a:solidFill>
                          <a:latin typeface="Calibri"/>
                        </a:rPr>
                        <a:t>OR</a:t>
                      </a:r>
                    </a:p>
                  </a:txBody>
                  <a:tcPr marL="73152" marR="73152" marT="36576" marB="36576">
                    <a:solidFill>
                      <a:srgbClr val="F3F5F9"/>
                    </a:solidFill>
                  </a:tcPr>
                </a:tc>
                <a:tc>
                  <a:txBody>
                    <a:bodyPr wrap="square"/>
                    <a:lstStyle/>
                    <a:p>
                      <a:r>
                        <a:rPr sz="1700" b="0">
                          <a:solidFill>
                            <a:srgbClr val="1B1B1B"/>
                          </a:solidFill>
                          <a:latin typeface="Calibri"/>
                        </a:rPr>
                        <a:t>L'un ou l'autre</a:t>
                      </a:r>
                    </a:p>
                  </a:txBody>
                  <a:tcPr marL="73152" marR="73152" marT="36576" marB="36576">
                    <a:solidFill>
                      <a:srgbClr val="F3F5F9"/>
                    </a:solidFill>
                  </a:tcPr>
                </a:tc>
                <a:tc>
                  <a:txBody>
                    <a:bodyPr wrap="square"/>
                    <a:lstStyle/>
                    <a:p>
                      <a:r>
                        <a:rPr sz="1700" b="0">
                          <a:solidFill>
                            <a:srgbClr val="1B1B1B"/>
                          </a:solidFill>
                          <a:latin typeface="Calibri"/>
                        </a:rPr>
                        <a:t>cloud OR nuage</a:t>
                      </a:r>
                    </a:p>
                  </a:txBody>
                  <a:tcPr marL="73152" marR="73152" marT="36576" marB="36576">
                    <a:solidFill>
                      <a:srgbClr val="F3F5F9"/>
                    </a:solidFill>
                  </a:tcPr>
                </a:tc>
              </a:tr>
              <a:tr h="365760">
                <a:tc>
                  <a:txBody>
                    <a:bodyPr wrap="square"/>
                    <a:lstStyle/>
                    <a:p>
                      <a:r>
                        <a:rPr sz="1700" b="1">
                          <a:solidFill>
                            <a:srgbClr val="1B1B1B"/>
                          </a:solidFill>
                          <a:latin typeface="Calibri"/>
                        </a:rPr>
                        <a:t>- (tiret)</a:t>
                      </a:r>
                    </a:p>
                  </a:txBody>
                  <a:tcPr marL="73152" marR="73152" marT="36576" marB="36576">
                    <a:solidFill>
                      <a:srgbClr val="FFFFFF"/>
                    </a:solidFill>
                  </a:tcPr>
                </a:tc>
                <a:tc>
                  <a:txBody>
                    <a:bodyPr wrap="square"/>
                    <a:lstStyle/>
                    <a:p>
                      <a:r>
                        <a:rPr sz="1700" b="0">
                          <a:solidFill>
                            <a:srgbClr val="1B1B1B"/>
                          </a:solidFill>
                          <a:latin typeface="Calibri"/>
                        </a:rPr>
                        <a:t>Exclut un mot</a:t>
                      </a:r>
                    </a:p>
                  </a:txBody>
                  <a:tcPr marL="73152" marR="73152" marT="36576" marB="36576">
                    <a:solidFill>
                      <a:srgbClr val="FFFFFF"/>
                    </a:solidFill>
                  </a:tcPr>
                </a:tc>
                <a:tc>
                  <a:txBody>
                    <a:bodyPr wrap="square"/>
                    <a:lstStyle/>
                    <a:p>
                      <a:r>
                        <a:rPr sz="1700" b="0">
                          <a:solidFill>
                            <a:srgbClr val="1B1B1B"/>
                          </a:solidFill>
                          <a:latin typeface="Calibri"/>
                        </a:rPr>
                        <a:t>sauvegarde -recette</a:t>
                      </a:r>
                    </a:p>
                  </a:txBody>
                  <a:tcPr marL="73152" marR="73152" marT="36576" marB="36576">
                    <a:solidFill>
                      <a:srgbClr val="FFFFFF"/>
                    </a:solidFill>
                  </a:tcPr>
                </a:tc>
              </a:tr>
              <a:tr h="365760">
                <a:tc>
                  <a:txBody>
                    <a:bodyPr wrap="square"/>
                    <a:lstStyle/>
                    <a:p>
                      <a:r>
                        <a:rPr sz="1700" b="1">
                          <a:solidFill>
                            <a:srgbClr val="1B1B1B"/>
                          </a:solidFill>
                          <a:latin typeface="Calibri"/>
                        </a:rPr>
                        <a:t>site:</a:t>
                      </a:r>
                    </a:p>
                  </a:txBody>
                  <a:tcPr marL="73152" marR="73152" marT="36576" marB="36576">
                    <a:solidFill>
                      <a:srgbClr val="F3F5F9"/>
                    </a:solidFill>
                  </a:tcPr>
                </a:tc>
                <a:tc>
                  <a:txBody>
                    <a:bodyPr wrap="square"/>
                    <a:lstStyle/>
                    <a:p>
                      <a:r>
                        <a:rPr sz="1700" b="0">
                          <a:solidFill>
                            <a:srgbClr val="1B1B1B"/>
                          </a:solidFill>
                          <a:latin typeface="Calibri"/>
                        </a:rPr>
                        <a:t>Limite à un site ou à un domaine</a:t>
                      </a:r>
                    </a:p>
                  </a:txBody>
                  <a:tcPr marL="73152" marR="73152" marT="36576" marB="36576">
                    <a:solidFill>
                      <a:srgbClr val="F3F5F9"/>
                    </a:solidFill>
                  </a:tcPr>
                </a:tc>
                <a:tc>
                  <a:txBody>
                    <a:bodyPr wrap="square"/>
                    <a:lstStyle/>
                    <a:p>
                      <a:r>
                        <a:rPr sz="1700" b="0">
                          <a:solidFill>
                            <a:srgbClr val="1B1B1B"/>
                          </a:solidFill>
                          <a:latin typeface="Calibri"/>
                        </a:rPr>
                        <a:t>site:cyber.gouv.fr « mots de passe »</a:t>
                      </a:r>
                    </a:p>
                  </a:txBody>
                  <a:tcPr marL="73152" marR="73152" marT="36576" marB="36576">
                    <a:solidFill>
                      <a:srgbClr val="F3F5F9"/>
                    </a:solidFill>
                  </a:tcPr>
                </a:tc>
              </a:tr>
              <a:tr h="365760">
                <a:tc>
                  <a:txBody>
                    <a:bodyPr wrap="square"/>
                    <a:lstStyle/>
                    <a:p>
                      <a:r>
                        <a:rPr sz="1700" b="1">
                          <a:solidFill>
                            <a:srgbClr val="1B1B1B"/>
                          </a:solidFill>
                          <a:latin typeface="Calibri"/>
                        </a:rPr>
                        <a:t>filetype:pdf</a:t>
                      </a:r>
                    </a:p>
                  </a:txBody>
                  <a:tcPr marL="73152" marR="73152" marT="36576" marB="36576">
                    <a:solidFill>
                      <a:srgbClr val="FFFFFF"/>
                    </a:solidFill>
                  </a:tcPr>
                </a:tc>
                <a:tc>
                  <a:txBody>
                    <a:bodyPr wrap="square"/>
                    <a:lstStyle/>
                    <a:p>
                      <a:r>
                        <a:rPr sz="1700" b="0">
                          <a:solidFill>
                            <a:srgbClr val="1B1B1B"/>
                          </a:solidFill>
                          <a:latin typeface="Calibri"/>
                        </a:rPr>
                        <a:t>Ne garde que les PDF</a:t>
                      </a:r>
                    </a:p>
                  </a:txBody>
                  <a:tcPr marL="73152" marR="73152" marT="36576" marB="36576">
                    <a:solidFill>
                      <a:srgbClr val="FFFFFF"/>
                    </a:solidFill>
                  </a:tcPr>
                </a:tc>
                <a:tc>
                  <a:txBody>
                    <a:bodyPr wrap="square"/>
                    <a:lstStyle/>
                    <a:p>
                      <a:r>
                        <a:rPr sz="1700" b="0">
                          <a:solidFill>
                            <a:srgbClr val="1B1B1B"/>
                          </a:solidFill>
                          <a:latin typeface="Calibri"/>
                        </a:rPr>
                        <a:t>« zero trust » filetype:pdf</a:t>
                      </a:r>
                    </a:p>
                  </a:txBody>
                  <a:tcPr marL="73152" marR="73152" marT="36576" marB="36576">
                    <a:solidFill>
                      <a:srgbClr val="FFFFFF"/>
                    </a:solidFill>
                  </a:tcPr>
                </a:tc>
              </a:tr>
              <a:tr h="365760">
                <a:tc>
                  <a:txBody>
                    <a:bodyPr wrap="square"/>
                    <a:lstStyle/>
                    <a:p>
                      <a:r>
                        <a:rPr sz="1700" b="1">
                          <a:solidFill>
                            <a:srgbClr val="1B1B1B"/>
                          </a:solidFill>
                          <a:latin typeface="Calibri"/>
                        </a:rPr>
                        <a:t>intitle:</a:t>
                      </a:r>
                    </a:p>
                  </a:txBody>
                  <a:tcPr marL="73152" marR="73152" marT="36576" marB="36576">
                    <a:solidFill>
                      <a:srgbClr val="F3F5F9"/>
                    </a:solidFill>
                  </a:tcPr>
                </a:tc>
                <a:tc>
                  <a:txBody>
                    <a:bodyPr wrap="square"/>
                    <a:lstStyle/>
                    <a:p>
                      <a:r>
                        <a:rPr sz="1700" b="0">
                          <a:solidFill>
                            <a:srgbClr val="1B1B1B"/>
                          </a:solidFill>
                          <a:latin typeface="Calibri"/>
                        </a:rPr>
                        <a:t>Mot dans le titre de la page</a:t>
                      </a:r>
                    </a:p>
                  </a:txBody>
                  <a:tcPr marL="73152" marR="73152" marT="36576" marB="36576">
                    <a:solidFill>
                      <a:srgbClr val="F3F5F9"/>
                    </a:solidFill>
                  </a:tcPr>
                </a:tc>
                <a:tc>
                  <a:txBody>
                    <a:bodyPr wrap="square"/>
                    <a:lstStyle/>
                    <a:p>
                      <a:r>
                        <a:rPr sz="1700" b="0">
                          <a:solidFill>
                            <a:srgbClr val="1B1B1B"/>
                          </a:solidFill>
                          <a:latin typeface="Calibri"/>
                        </a:rPr>
                        <a:t>intitle:passkeys</a:t>
                      </a:r>
                    </a:p>
                  </a:txBody>
                  <a:tcPr marL="73152" marR="73152" marT="36576" marB="36576">
                    <a:solidFill>
                      <a:srgbClr val="F3F5F9"/>
                    </a:solidFill>
                  </a:tcPr>
                </a:tc>
              </a:tr>
              <a:tr h="365760">
                <a:tc>
                  <a:txBody>
                    <a:bodyPr wrap="square"/>
                    <a:lstStyle/>
                    <a:p>
                      <a:r>
                        <a:rPr sz="1700" b="1">
                          <a:solidFill>
                            <a:srgbClr val="1B1B1B"/>
                          </a:solidFill>
                          <a:latin typeface="Calibri"/>
                        </a:rPr>
                        <a:t>after: / before:</a:t>
                      </a:r>
                    </a:p>
                  </a:txBody>
                  <a:tcPr marL="73152" marR="73152" marT="36576" marB="36576">
                    <a:solidFill>
                      <a:srgbClr val="FFFFFF"/>
                    </a:solidFill>
                  </a:tcPr>
                </a:tc>
                <a:tc>
                  <a:txBody>
                    <a:bodyPr wrap="square"/>
                    <a:lstStyle/>
                    <a:p>
                      <a:r>
                        <a:rPr sz="1700" b="0">
                          <a:solidFill>
                            <a:srgbClr val="1B1B1B"/>
                          </a:solidFill>
                          <a:latin typeface="Calibri"/>
                        </a:rPr>
                        <a:t>Limite par date</a:t>
                      </a:r>
                    </a:p>
                  </a:txBody>
                  <a:tcPr marL="73152" marR="73152" marT="36576" marB="36576">
                    <a:solidFill>
                      <a:srgbClr val="FFFFFF"/>
                    </a:solidFill>
                  </a:tcPr>
                </a:tc>
                <a:tc>
                  <a:txBody>
                    <a:bodyPr wrap="square"/>
                    <a:lstStyle/>
                    <a:p>
                      <a:r>
                        <a:rPr sz="1700" b="0">
                          <a:solidFill>
                            <a:srgbClr val="1B1B1B"/>
                          </a:solidFill>
                          <a:latin typeface="Calibri"/>
                        </a:rPr>
                        <a:t>passkeys after:2024-01-01</a:t>
                      </a:r>
                    </a:p>
                  </a:txBody>
                  <a:tcPr marL="73152" marR="73152" marT="36576" marB="36576">
                    <a:solidFill>
                      <a:srgbClr val="FFFFFF"/>
                    </a:solidFill>
                  </a:tcPr>
                </a:tc>
              </a:tr>
              <a:tr h="365760">
                <a:tc>
                  <a:txBody>
                    <a:bodyPr wrap="square"/>
                    <a:lstStyle/>
                    <a:p>
                      <a:r>
                        <a:rPr sz="1700" b="1">
                          <a:solidFill>
                            <a:srgbClr val="1B1B1B"/>
                          </a:solidFill>
                          <a:latin typeface="Calibri"/>
                        </a:rPr>
                        <a:t>* (étoile)</a:t>
                      </a:r>
                    </a:p>
                  </a:txBody>
                  <a:tcPr marL="73152" marR="73152" marT="36576" marB="36576">
                    <a:solidFill>
                      <a:srgbClr val="F3F5F9"/>
                    </a:solidFill>
                  </a:tcPr>
                </a:tc>
                <a:tc>
                  <a:txBody>
                    <a:bodyPr wrap="square"/>
                    <a:lstStyle/>
                    <a:p>
                      <a:r>
                        <a:rPr sz="1700" b="0">
                          <a:solidFill>
                            <a:srgbClr val="1B1B1B"/>
                          </a:solidFill>
                          <a:latin typeface="Calibri"/>
                        </a:rPr>
                        <a:t>Remplace un mot dans une expression</a:t>
                      </a:r>
                    </a:p>
                  </a:txBody>
                  <a:tcPr marL="73152" marR="73152" marT="36576" marB="36576">
                    <a:solidFill>
                      <a:srgbClr val="F3F5F9"/>
                    </a:solidFill>
                  </a:tcPr>
                </a:tc>
                <a:tc>
                  <a:txBody>
                    <a:bodyPr wrap="square"/>
                    <a:lstStyle/>
                    <a:p>
                      <a:r>
                        <a:rPr sz="1700" b="0">
                          <a:solidFill>
                            <a:srgbClr val="1B1B1B"/>
                          </a:solidFill>
                          <a:latin typeface="Calibri"/>
                        </a:rPr>
                        <a:t>« guide * mots de passe »</a:t>
                      </a:r>
                    </a:p>
                  </a:txBody>
                  <a:tcPr marL="73152" marR="73152" marT="36576" marB="36576">
                    <a:solidFill>
                      <a:srgbClr val="F3F5F9"/>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Combinez : « authentification multifacteur » site:cyber.gouv.fr filetype:pdf</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Écris une requête Google avec site: et filetype: pour trouver … » Essayez-la et comptez les résultats.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M1</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10"/>
              </a:spcAft>
            </a:pPr>
            <a:r>
              <a:rPr sz="2600" b="1" i="0">
                <a:solidFill>
                  <a:srgbClr val="FFFFFF"/>
                </a:solidFill>
                <a:latin typeface="Calibri"/>
              </a:rPr>
              <a:t>Défi chrono : retrouver le texte officiel en 3 minutes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M1</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38</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Binômes, ordinateur  ·  15 min  ·  Carnet · chapitre 3  ·  Outil : Google (site:, filetype:), sites officiels</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retrouver un document officiel en moins de 3 minutes avec les bons opérateurs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40"/>
              </a:spcAft>
            </a:pPr>
            <a:r>
              <a:rPr sz="1800" b="0" i="0">
                <a:solidFill>
                  <a:srgbClr val="1B1B1B"/>
                </a:solidFill>
                <a:latin typeface="Calibri"/>
              </a:rPr>
              <a:t>Trois documents à retrouver, 3 minutes chacun, avec une requête qui contient au moins un opérateur. Le lien final doit mener au site de l'organisme ou au journal officiel, pas à un blog qui le cite.</a:t>
            </a:r>
          </a:p>
          <a:p>
            <a:pPr algn="l">
              <a:spcAft>
                <a:spcPts val="540"/>
              </a:spcAft>
            </a:pPr>
            <a:r>
              <a:rPr sz="1800" b="0" i="0">
                <a:solidFill>
                  <a:srgbClr val="1B1B1B"/>
                </a:solidFill>
                <a:latin typeface="Calibri"/>
              </a:rPr>
              <a:t>① Le guide de l'ANSSI sur l'authentification multifacteur et les mots de passe (2021). ② La publication NIST SP 800-63B sur l'authentification. ③ Le texte officiel de la directive européenne NIS2 (directive (UE) 2022/2555).</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09"/>
              </a:spcAft>
              <a:buAutoNum type="arabicPeriod"/>
            </a:pPr>
            <a:r>
              <a:rPr sz="1700" b="0" i="0">
                <a:solidFill>
                  <a:srgbClr val="1B1B1B"/>
                </a:solidFill>
                <a:latin typeface="Calibri"/>
              </a:rPr>
              <a:t>Document ① : écrivez la requête gagnante et le nom de domaine du site trouvé.</a:t>
            </a:r>
          </a:p>
          <a:p>
            <a:pPr algn="l" marL="274320" indent="-274320">
              <a:spcAft>
                <a:spcPts val="509"/>
              </a:spcAft>
              <a:buAutoNum type="arabicPeriod"/>
            </a:pPr>
            <a:r>
              <a:rPr sz="1700" b="0" i="0">
                <a:solidFill>
                  <a:srgbClr val="1B1B1B"/>
                </a:solidFill>
                <a:latin typeface="Calibri"/>
              </a:rPr>
              <a:t>Document ② : même chose.</a:t>
            </a:r>
          </a:p>
          <a:p>
            <a:pPr algn="l" marL="274320" indent="-274320">
              <a:spcAft>
                <a:spcPts val="509"/>
              </a:spcAft>
              <a:buAutoNum type="arabicPeriod"/>
            </a:pPr>
            <a:r>
              <a:rPr sz="1700" b="0" i="0">
                <a:solidFill>
                  <a:srgbClr val="1B1B1B"/>
                </a:solidFill>
                <a:latin typeface="Calibri"/>
              </a:rPr>
              <a:t>Document ③ : même chose.</a:t>
            </a:r>
          </a:p>
          <a:p>
            <a:pPr algn="l" marL="274320" indent="-274320">
              <a:spcAft>
                <a:spcPts val="509"/>
              </a:spcAft>
              <a:buAutoNum type="arabicPeriod"/>
            </a:pPr>
            <a:r>
              <a:rPr sz="1700" b="0" i="0">
                <a:solidFill>
                  <a:srgbClr val="1B1B1B"/>
                </a:solidFill>
                <a:latin typeface="Calibri"/>
              </a:rPr>
              <a:t>Quel opérateur vous a fait gagner le plus de temps ?</a:t>
            </a:r>
          </a:p>
          <a:p>
            <a:pPr algn="l" marL="274320" indent="-274320">
              <a:spcAft>
                <a:spcPts val="509"/>
              </a:spcAft>
              <a:buAutoNum type="arabicPeriod"/>
            </a:pPr>
            <a:r>
              <a:rPr sz="1700" b="0" i="0">
                <a:solidFill>
                  <a:srgbClr val="1B1B1B"/>
                </a:solidFill>
                <a:latin typeface="Calibri"/>
              </a:rPr>
              <a:t>Avec ChatGPT ou une autre IA (notez laquelle) : demandez-lui l'adresse du document ③. L'adresse proposée s'ouvre-t-elle et mène-t-elle au bon texte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Trois requêtes gagnantes à copier dans votre carnet → Dossier, section 4.</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M1.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69"/>
              </a:spcAft>
            </a:pPr>
            <a:r>
              <a:rPr sz="2200" b="1" i="0">
                <a:solidFill>
                  <a:srgbClr val="FFFFFF"/>
                </a:solidFill>
                <a:latin typeface="Calibri"/>
              </a:rPr>
              <a:t>Correction · M1 — Défi chrono : retrouver le texte officiel en 3 minutes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M1</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39</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Écrire le titre exact entre guillemets (ou le numéro du texte).</a:t>
            </a:r>
          </a:p>
          <a:p>
            <a:pPr algn="l" marL="274320" indent="-274320">
              <a:spcAft>
                <a:spcPts val="375"/>
              </a:spcAft>
              <a:buAutoNum type="arabicPeriod"/>
            </a:pPr>
            <a:r>
              <a:rPr sz="1500" b="0" i="0">
                <a:solidFill>
                  <a:srgbClr val="1B1B1B"/>
                </a:solidFill>
                <a:latin typeface="Calibri"/>
              </a:rPr>
              <a:t>Limiter au bon site avec site: (cyber.gouv.fr, nist.gov, eur-lex.europa.eu).</a:t>
            </a:r>
          </a:p>
          <a:p>
            <a:pPr algn="l" marL="274320" indent="-274320">
              <a:spcAft>
                <a:spcPts val="375"/>
              </a:spcAft>
              <a:buAutoNum type="arabicPeriod"/>
            </a:pPr>
            <a:r>
              <a:rPr sz="1500" b="0" i="0">
                <a:solidFill>
                  <a:srgbClr val="1B1B1B"/>
                </a:solidFill>
                <a:latin typeface="Calibri"/>
              </a:rPr>
              <a:t>Ajouter filetype:pdf si vous voulez le document, puis l'ouvrir : titre, date, version.</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1408176"/>
                <a:gridCol w="3419856"/>
                <a:gridCol w="3218688"/>
              </a:tblGrid>
              <a:tr h="237744">
                <a:tc>
                  <a:txBody>
                    <a:bodyPr wrap="square"/>
                    <a:lstStyle/>
                    <a:p>
                      <a:r>
                        <a:rPr sz="1300" b="1">
                          <a:solidFill>
                            <a:srgbClr val="FFFFFF"/>
                          </a:solidFill>
                          <a:latin typeface="Calibri"/>
                        </a:rPr>
                        <a:t>Document</a:t>
                      </a:r>
                    </a:p>
                  </a:txBody>
                  <a:tcPr marL="73152" marR="73152" marT="36576" marB="36576">
                    <a:solidFill>
                      <a:srgbClr val="1F2A5C"/>
                    </a:solidFill>
                  </a:tcPr>
                </a:tc>
                <a:tc>
                  <a:txBody>
                    <a:bodyPr wrap="square"/>
                    <a:lstStyle/>
                    <a:p>
                      <a:r>
                        <a:rPr sz="1300" b="1">
                          <a:solidFill>
                            <a:srgbClr val="FFFFFF"/>
                          </a:solidFill>
                          <a:latin typeface="Calibri"/>
                        </a:rPr>
                        <a:t>Requête efficace (exemple)</a:t>
                      </a:r>
                    </a:p>
                  </a:txBody>
                  <a:tcPr marL="73152" marR="73152" marT="36576" marB="36576">
                    <a:solidFill>
                      <a:srgbClr val="1F2A5C"/>
                    </a:solidFill>
                  </a:tcPr>
                </a:tc>
                <a:tc>
                  <a:txBody>
                    <a:bodyPr wrap="square"/>
                    <a:lstStyle/>
                    <a:p>
                      <a:r>
                        <a:rPr sz="1300" b="1">
                          <a:solidFill>
                            <a:srgbClr val="FFFFFF"/>
                          </a:solidFill>
                          <a:latin typeface="Calibri"/>
                        </a:rPr>
                        <a:t>À contrôler</a:t>
                      </a:r>
                    </a:p>
                  </a:txBody>
                  <a:tcPr marL="73152" marR="73152" marT="36576" marB="36576">
                    <a:solidFill>
                      <a:srgbClr val="1F2A5C"/>
                    </a:solidFill>
                  </a:tcPr>
                </a:tc>
              </a:tr>
              <a:tr h="237744">
                <a:tc>
                  <a:txBody>
                    <a:bodyPr wrap="square"/>
                    <a:lstStyle/>
                    <a:p>
                      <a:r>
                        <a:rPr sz="1300" b="1">
                          <a:solidFill>
                            <a:srgbClr val="1B1B1B"/>
                          </a:solidFill>
                          <a:latin typeface="Calibri"/>
                        </a:rPr>
                        <a:t>① Guide ANSSI</a:t>
                      </a:r>
                    </a:p>
                  </a:txBody>
                  <a:tcPr marL="73152" marR="73152" marT="36576" marB="36576">
                    <a:solidFill>
                      <a:srgbClr val="FFFFFF"/>
                    </a:solidFill>
                  </a:tcPr>
                </a:tc>
                <a:tc>
                  <a:txBody>
                    <a:bodyPr wrap="square"/>
                    <a:lstStyle/>
                    <a:p>
                      <a:r>
                        <a:rPr sz="1300" b="0">
                          <a:solidFill>
                            <a:srgbClr val="1B1B1B"/>
                          </a:solidFill>
                          <a:latin typeface="Calibri"/>
                        </a:rPr>
                        <a:t>« authentification multifacteur » « mots de passe » site:cyber.gouv.fr filetype:pdf</a:t>
                      </a:r>
                    </a:p>
                  </a:txBody>
                  <a:tcPr marL="73152" marR="73152" marT="36576" marB="36576">
                    <a:solidFill>
                      <a:srgbClr val="FFFFFF"/>
                    </a:solidFill>
                  </a:tcPr>
                </a:tc>
                <a:tc>
                  <a:txBody>
                    <a:bodyPr wrap="square"/>
                    <a:lstStyle/>
                    <a:p>
                      <a:r>
                        <a:rPr sz="1300" b="0">
                          <a:solidFill>
                            <a:srgbClr val="1B1B1B"/>
                          </a:solidFill>
                          <a:latin typeface="Calibri"/>
                        </a:rPr>
                        <a:t>Titre exact « Recommandations relatives à l'authentification multifacteur et aux mots de passe », version de 2021 (ancien domaine : ssi.gouv.fr).</a:t>
                      </a:r>
                    </a:p>
                  </a:txBody>
                  <a:tcPr marL="73152" marR="73152" marT="36576" marB="36576">
                    <a:solidFill>
                      <a:srgbClr val="FFFFFF"/>
                    </a:solidFill>
                  </a:tcPr>
                </a:tc>
              </a:tr>
              <a:tr h="237744">
                <a:tc>
                  <a:txBody>
                    <a:bodyPr wrap="square"/>
                    <a:lstStyle/>
                    <a:p>
                      <a:r>
                        <a:rPr sz="1300" b="1">
                          <a:solidFill>
                            <a:srgbClr val="1B1B1B"/>
                          </a:solidFill>
                          <a:latin typeface="Calibri"/>
                        </a:rPr>
                        <a:t>② NIST</a:t>
                      </a:r>
                    </a:p>
                  </a:txBody>
                  <a:tcPr marL="73152" marR="73152" marT="36576" marB="36576">
                    <a:solidFill>
                      <a:srgbClr val="F3F5F9"/>
                    </a:solidFill>
                  </a:tcPr>
                </a:tc>
                <a:tc>
                  <a:txBody>
                    <a:bodyPr wrap="square"/>
                    <a:lstStyle/>
                    <a:p>
                      <a:r>
                        <a:rPr sz="1300" b="0">
                          <a:solidFill>
                            <a:srgbClr val="1B1B1B"/>
                          </a:solidFill>
                          <a:latin typeface="Calibri"/>
                        </a:rPr>
                        <a:t>« 800-63B » site:nist.gov</a:t>
                      </a:r>
                    </a:p>
                  </a:txBody>
                  <a:tcPr marL="73152" marR="73152" marT="36576" marB="36576">
                    <a:solidFill>
                      <a:srgbClr val="F3F5F9"/>
                    </a:solidFill>
                  </a:tcPr>
                </a:tc>
                <a:tc>
                  <a:txBody>
                    <a:bodyPr wrap="square"/>
                    <a:lstStyle/>
                    <a:p>
                      <a:r>
                        <a:rPr sz="1300" b="0">
                          <a:solidFill>
                            <a:srgbClr val="1B1B1B"/>
                          </a:solidFill>
                          <a:latin typeface="Calibri"/>
                        </a:rPr>
                        <a:t>Prendre la version la plus récente : SP 800-63B-4 (juillet 2025) ; les anciennes versions restent en ligne.</a:t>
                      </a:r>
                    </a:p>
                  </a:txBody>
                  <a:tcPr marL="73152" marR="73152" marT="36576" marB="36576">
                    <a:solidFill>
                      <a:srgbClr val="F3F5F9"/>
                    </a:solidFill>
                  </a:tcPr>
                </a:tc>
              </a:tr>
              <a:tr h="237744">
                <a:tc>
                  <a:txBody>
                    <a:bodyPr wrap="square"/>
                    <a:lstStyle/>
                    <a:p>
                      <a:r>
                        <a:rPr sz="1300" b="1">
                          <a:solidFill>
                            <a:srgbClr val="1B1B1B"/>
                          </a:solidFill>
                          <a:latin typeface="Calibri"/>
                        </a:rPr>
                        <a:t>③ NIS2</a:t>
                      </a:r>
                    </a:p>
                  </a:txBody>
                  <a:tcPr marL="73152" marR="73152" marT="36576" marB="36576">
                    <a:solidFill>
                      <a:srgbClr val="FFFFFF"/>
                    </a:solidFill>
                  </a:tcPr>
                </a:tc>
                <a:tc>
                  <a:txBody>
                    <a:bodyPr wrap="square"/>
                    <a:lstStyle/>
                    <a:p>
                      <a:r>
                        <a:rPr sz="1300" b="0">
                          <a:solidFill>
                            <a:srgbClr val="1B1B1B"/>
                          </a:solidFill>
                          <a:latin typeface="Calibri"/>
                        </a:rPr>
                        <a:t>directive 2022/2555 site:eur-lex.europa.eu</a:t>
                      </a:r>
                    </a:p>
                  </a:txBody>
                  <a:tcPr marL="73152" marR="73152" marT="36576" marB="36576">
                    <a:solidFill>
                      <a:srgbClr val="FFFFFF"/>
                    </a:solidFill>
                  </a:tcPr>
                </a:tc>
                <a:tc>
                  <a:txBody>
                    <a:bodyPr wrap="square"/>
                    <a:lstStyle/>
                    <a:p>
                      <a:r>
                        <a:rPr sz="1300" b="0">
                          <a:solidFill>
                            <a:srgbClr val="1B1B1B"/>
                          </a:solidFill>
                          <a:latin typeface="Calibri"/>
                        </a:rPr>
                        <a:t>Numéro (UE) 2022/2555 ; texte du Journal officiel de l'Union européenne ; choisir la langue française.</a:t>
                      </a:r>
                    </a:p>
                  </a:txBody>
                  <a:tcPr marL="73152" marR="73152" marT="36576" marB="36576">
                    <a:solidFill>
                      <a:srgbClr val="FFFFFF"/>
                    </a:solidFill>
                  </a:tcPr>
                </a:tc>
              </a:tr>
              <a:tr h="237744">
                <a:tc>
                  <a:txBody>
                    <a:bodyPr wrap="square"/>
                    <a:lstStyle/>
                    <a:p>
                      <a:r>
                        <a:rPr sz="1300" b="1">
                          <a:solidFill>
                            <a:srgbClr val="1B1B1B"/>
                          </a:solidFill>
                          <a:latin typeface="Calibri"/>
                        </a:rPr>
                        <a:t>Opérateur gagnant</a:t>
                      </a:r>
                    </a:p>
                  </a:txBody>
                  <a:tcPr marL="73152" marR="73152" marT="36576" marB="36576">
                    <a:solidFill>
                      <a:srgbClr val="F3F5F9"/>
                    </a:solidFill>
                  </a:tcPr>
                </a:tc>
                <a:tc>
                  <a:txBody>
                    <a:bodyPr wrap="square"/>
                    <a:lstStyle/>
                    <a:p>
                      <a:r>
                        <a:rPr sz="1300" b="0">
                          <a:solidFill>
                            <a:srgbClr val="1B1B1B"/>
                          </a:solidFill>
                          <a:latin typeface="Calibri"/>
                        </a:rPr>
                        <a:t>site: pour presque tous les cas ; filetype:pdf pour le guide.</a:t>
                      </a:r>
                    </a:p>
                  </a:txBody>
                  <a:tcPr marL="73152" marR="73152" marT="36576" marB="36576">
                    <a:solidFill>
                      <a:srgbClr val="F3F5F9"/>
                    </a:solidFill>
                  </a:tcPr>
                </a:tc>
                <a:tc>
                  <a:txBody>
                    <a:bodyPr wrap="square"/>
                    <a:lstStyle/>
                    <a:p>
                      <a:r>
                        <a:rPr sz="1300" b="0">
                          <a:solidFill>
                            <a:srgbClr val="1B1B1B"/>
                          </a:solidFill>
                          <a:latin typeface="Calibri"/>
                        </a:rPr>
                        <a:t>Sans site:, les premiers résultats sont souvent des blogs ou des résumés.</a:t>
                      </a:r>
                    </a:p>
                  </a:txBody>
                  <a:tcPr marL="73152" marR="73152" marT="36576" marB="36576">
                    <a:solidFill>
                      <a:srgbClr val="F3F5F9"/>
                    </a:solidFill>
                  </a:tcPr>
                </a:tc>
              </a:tr>
              <a:tr h="237744">
                <a:tc>
                  <a:txBody>
                    <a:bodyPr wrap="square"/>
                    <a:lstStyle/>
                    <a:p>
                      <a:r>
                        <a:rPr sz="1300" b="1">
                          <a:solidFill>
                            <a:srgbClr val="1B1B1B"/>
                          </a:solidFill>
                          <a:latin typeface="Calibri"/>
                        </a:rPr>
                        <a:t>IA · adresse proposée</a:t>
                      </a:r>
                    </a:p>
                  </a:txBody>
                  <a:tcPr marL="73152" marR="73152" marT="36576" marB="36576">
                    <a:solidFill>
                      <a:srgbClr val="FFFFFF"/>
                    </a:solidFill>
                  </a:tcPr>
                </a:tc>
                <a:tc>
                  <a:txBody>
                    <a:bodyPr wrap="square"/>
                    <a:lstStyle/>
                    <a:p>
                      <a:r>
                        <a:rPr sz="1300" b="0">
                          <a:solidFill>
                            <a:srgbClr val="1B1B1B"/>
                          </a:solidFill>
                          <a:latin typeface="Calibri"/>
                        </a:rPr>
                        <a:t>Souvent une adresse plausible mais fausse ou périmée (page déplacée, version ancienne).</a:t>
                      </a:r>
                    </a:p>
                  </a:txBody>
                  <a:tcPr marL="73152" marR="73152" marT="36576" marB="36576">
                    <a:solidFill>
                      <a:srgbClr val="FFFFFF"/>
                    </a:solidFill>
                  </a:tcPr>
                </a:tc>
                <a:tc>
                  <a:txBody>
                    <a:bodyPr wrap="square"/>
                    <a:lstStyle/>
                    <a:p>
                      <a:r>
                        <a:rPr sz="1300" b="0">
                          <a:solidFill>
                            <a:srgbClr val="1B1B1B"/>
                          </a:solidFill>
                          <a:latin typeface="Calibri"/>
                        </a:rPr>
                        <a:t>Ouvrez toujours l'adresse : une IA propose, le site officiel prouve.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Se contenter du premier résultat, un blog qui cite le guide : remontez au site de l'organisme.</a:t>
            </a:r>
          </a:p>
          <a:p>
            <a:pPr algn="l" marL="201168" indent="-201168">
              <a:spcAft>
                <a:spcPts val="110"/>
              </a:spcAft>
              <a:buChar char="•"/>
            </a:pPr>
            <a:r>
              <a:rPr sz="1100" b="0" i="0">
                <a:solidFill>
                  <a:srgbClr val="1B1B1B"/>
                </a:solidFill>
                <a:latin typeface="Calibri"/>
              </a:rPr>
              <a:t>Oublier la version et la date du document.</a:t>
            </a:r>
          </a:p>
          <a:p>
            <a:pPr algn="l" marL="201168" indent="-201168">
              <a:spcAft>
                <a:spcPts val="110"/>
              </a:spcAft>
              <a:buChar char="•"/>
            </a:pPr>
            <a:r>
              <a:rPr sz="1100" b="0" i="0">
                <a:solidFill>
                  <a:srgbClr val="1B1B1B"/>
                </a:solidFill>
                <a:latin typeface="Calibri"/>
              </a:rPr>
              <a:t>Taper la question entière au lieu des mots exacts du titre.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Google Scholar : six réglages qui font gagner vingt minutes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40</a:t>
            </a:r>
          </a:p>
        </p:txBody>
      </p:sp>
      <p:sp>
        <p:nvSpPr>
          <p:cNvPr id="6" name="Rounded Rectangle 5"/>
          <p:cNvSpPr/>
          <p:nvPr/>
        </p:nvSpPr>
        <p:spPr>
          <a:xfrm>
            <a:off x="41148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365760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Depuis 20XX</a:t>
            </a:r>
          </a:p>
        </p:txBody>
      </p:sp>
      <p:sp>
        <p:nvSpPr>
          <p:cNvPr id="8" name="TextBox 7"/>
          <p:cNvSpPr txBox="1"/>
          <p:nvPr/>
        </p:nvSpPr>
        <p:spPr>
          <a:xfrm>
            <a:off x="45720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Menu de gauche : garde les travaux récents.</a:t>
            </a:r>
          </a:p>
          <a:p>
            <a:pPr algn="l">
              <a:spcAft>
                <a:spcPts val="509"/>
              </a:spcAft>
            </a:pPr>
            <a:r>
              <a:rPr sz="1700" b="0" i="0">
                <a:solidFill>
                  <a:srgbClr val="1B1B1B"/>
                </a:solidFill>
                <a:latin typeface="Calibri"/>
              </a:rPr>
              <a:t>Ex. : depuis 2022</a:t>
            </a:r>
          </a:p>
        </p:txBody>
      </p:sp>
      <p:sp>
        <p:nvSpPr>
          <p:cNvPr id="9" name="Rounded Rectangle 8"/>
          <p:cNvSpPr/>
          <p:nvPr/>
        </p:nvSpPr>
        <p:spPr>
          <a:xfrm>
            <a:off x="425196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188720"/>
            <a:ext cx="365760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Trier par date</a:t>
            </a:r>
          </a:p>
        </p:txBody>
      </p:sp>
      <p:sp>
        <p:nvSpPr>
          <p:cNvPr id="11" name="TextBox 10"/>
          <p:cNvSpPr txBox="1"/>
          <p:nvPr/>
        </p:nvSpPr>
        <p:spPr>
          <a:xfrm>
            <a:off x="429768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Menu de gauche : du plus récent au plus ancien.</a:t>
            </a:r>
          </a:p>
          <a:p>
            <a:pPr algn="l">
              <a:spcAft>
                <a:spcPts val="509"/>
              </a:spcAft>
            </a:pPr>
            <a:r>
              <a:rPr sz="1700" b="0" i="0">
                <a:solidFill>
                  <a:srgbClr val="1B1B1B"/>
                </a:solidFill>
                <a:latin typeface="Calibri"/>
              </a:rPr>
              <a:t>Utile pour une technologie qui évolue vite</a:t>
            </a:r>
          </a:p>
        </p:txBody>
      </p:sp>
      <p:sp>
        <p:nvSpPr>
          <p:cNvPr id="12" name="Rounded Rectangle 11"/>
          <p:cNvSpPr/>
          <p:nvPr/>
        </p:nvSpPr>
        <p:spPr>
          <a:xfrm>
            <a:off x="809244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188720"/>
            <a:ext cx="36576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Cité par</a:t>
            </a:r>
          </a:p>
        </p:txBody>
      </p:sp>
      <p:sp>
        <p:nvSpPr>
          <p:cNvPr id="14" name="TextBox 13"/>
          <p:cNvSpPr txBox="1"/>
          <p:nvPr/>
        </p:nvSpPr>
        <p:spPr>
          <a:xfrm>
            <a:off x="813816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Qui reprend cet article ? Un article très cité compte, mais un article récent l'est peu.</a:t>
            </a:r>
          </a:p>
          <a:p>
            <a:pPr algn="l">
              <a:spcAft>
                <a:spcPts val="509"/>
              </a:spcAft>
            </a:pPr>
            <a:r>
              <a:rPr sz="1700" b="0" i="0">
                <a:solidFill>
                  <a:srgbClr val="1B1B1B"/>
                </a:solidFill>
                <a:latin typeface="Calibri"/>
              </a:rPr>
              <a:t>Ex. : « Cité par 120 »</a:t>
            </a:r>
          </a:p>
        </p:txBody>
      </p:sp>
      <p:sp>
        <p:nvSpPr>
          <p:cNvPr id="15" name="Rounded Rectangle 14"/>
          <p:cNvSpPr/>
          <p:nvPr/>
        </p:nvSpPr>
        <p:spPr>
          <a:xfrm>
            <a:off x="41148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43300"/>
            <a:ext cx="365760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Articles similaires</a:t>
            </a:r>
          </a:p>
        </p:txBody>
      </p:sp>
      <p:sp>
        <p:nvSpPr>
          <p:cNvPr id="17" name="TextBox 16"/>
          <p:cNvSpPr txBox="1"/>
          <p:nvPr/>
        </p:nvSpPr>
        <p:spPr>
          <a:xfrm>
            <a:off x="45720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Rebondir depuis un bon article vers d'autres du même sujet.</a:t>
            </a:r>
          </a:p>
        </p:txBody>
      </p:sp>
      <p:sp>
        <p:nvSpPr>
          <p:cNvPr id="18" name="Rounded Rectangle 17"/>
          <p:cNvSpPr/>
          <p:nvPr/>
        </p:nvSpPr>
        <p:spPr>
          <a:xfrm>
            <a:off x="425196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3543300"/>
            <a:ext cx="365760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Toutes les versions / [PDF]</a:t>
            </a:r>
          </a:p>
        </p:txBody>
      </p:sp>
      <p:sp>
        <p:nvSpPr>
          <p:cNvPr id="20" name="TextBox 19"/>
          <p:cNvSpPr txBox="1"/>
          <p:nvPr/>
        </p:nvSpPr>
        <p:spPr>
          <a:xfrm>
            <a:off x="429768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Trouver la version gratuite : lien [PDF] à droite du résultat.</a:t>
            </a:r>
          </a:p>
        </p:txBody>
      </p:sp>
      <p:sp>
        <p:nvSpPr>
          <p:cNvPr id="21" name="Rounded Rectangle 20"/>
          <p:cNvSpPr/>
          <p:nvPr/>
        </p:nvSpPr>
        <p:spPr>
          <a:xfrm>
            <a:off x="809244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543300"/>
            <a:ext cx="365760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Citer et alerte</a:t>
            </a:r>
          </a:p>
        </p:txBody>
      </p:sp>
      <p:sp>
        <p:nvSpPr>
          <p:cNvPr id="23" name="TextBox 22"/>
          <p:cNvSpPr txBox="1"/>
          <p:nvPr/>
        </p:nvSpPr>
        <p:spPr>
          <a:xfrm>
            <a:off x="813816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Citer » copie la référence ; « Créer une alerte » envoie un e-mail à chaque nouvel article.</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Notez la requête, la date et le nombre de résultats : c'est la preuve que votre recherche est refaisable.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8</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Chercher dans Google Scholar avec des opérateurs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EX8</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41</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20 min  ·  Carnet · chapitre 3  ·  Outil : Google Scholar ou Semantic Scholar</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Maîtriser les opérateurs de recherche dans Google Scholar et comparer avec ce que propose un assistant IA : trouver moins de résultats, mais de meilleurs, et garder la trace de la requête.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Ouvrez Google Scholar (ou Semantic Scholar) avec la requête de votre question (EX7).</a:t>
            </a:r>
          </a:p>
          <a:p>
            <a:pPr algn="l">
              <a:spcAft>
                <a:spcPts val="600"/>
              </a:spcAft>
            </a:pPr>
            <a:r>
              <a:rPr sz="2000" b="0" i="0">
                <a:solidFill>
                  <a:srgbClr val="1B1B1B"/>
                </a:solidFill>
                <a:latin typeface="Calibri"/>
              </a:rPr>
              <a:t>Une recherche doit pouvoir être refaite : notez la requête exacte et la date.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50"/>
              </a:spcAft>
              <a:buAutoNum type="arabicPeriod"/>
            </a:pPr>
            <a:r>
              <a:rPr sz="1500" b="0" i="0">
                <a:solidFill>
                  <a:srgbClr val="1B1B1B"/>
                </a:solidFill>
                <a:latin typeface="Calibri"/>
              </a:rPr>
              <a:t>Lancez une requête simple dans Google Scholar : combien de résultats ?</a:t>
            </a:r>
          </a:p>
          <a:p>
            <a:pPr algn="l" marL="274320" indent="-274320">
              <a:spcAft>
                <a:spcPts val="450"/>
              </a:spcAft>
              <a:buAutoNum type="arabicPeriod"/>
            </a:pPr>
            <a:r>
              <a:rPr sz="1500" b="0" i="0">
                <a:solidFill>
                  <a:srgbClr val="1B1B1B"/>
                </a:solidFill>
                <a:latin typeface="Calibri"/>
              </a:rPr>
              <a:t>Précisez avec guillemets, OR, tiret et filtre de dates (5 ans) : écrivez la requête finale.</a:t>
            </a:r>
          </a:p>
          <a:p>
            <a:pPr algn="l" marL="274320" indent="-274320">
              <a:spcAft>
                <a:spcPts val="450"/>
              </a:spcAft>
              <a:buAutoNum type="arabicPeriod"/>
            </a:pPr>
            <a:r>
              <a:rPr sz="1500" b="0" i="0">
                <a:solidFill>
                  <a:srgbClr val="1B1B1B"/>
                </a:solidFill>
                <a:latin typeface="Calibri"/>
              </a:rPr>
              <a:t>Combien de résultats après précision ?</a:t>
            </a:r>
          </a:p>
          <a:p>
            <a:pPr algn="l" marL="274320" indent="-274320">
              <a:spcAft>
                <a:spcPts val="450"/>
              </a:spcAft>
              <a:buAutoNum type="arabicPeriod"/>
            </a:pPr>
            <a:r>
              <a:rPr sz="1500" b="0" i="0">
                <a:solidFill>
                  <a:srgbClr val="1B1B1B"/>
                </a:solidFill>
                <a:latin typeface="Calibri"/>
              </a:rPr>
              <a:t>Relevez 5 résultats utiles : titre, auteurs, année, type de document.</a:t>
            </a:r>
          </a:p>
          <a:p>
            <a:pPr algn="l" marL="274320" indent="-274320">
              <a:spcAft>
                <a:spcPts val="450"/>
              </a:spcAft>
              <a:buAutoNum type="arabicPeriod"/>
            </a:pPr>
            <a:r>
              <a:rPr sz="1500" b="0" i="0">
                <a:solidFill>
                  <a:srgbClr val="1B1B1B"/>
                </a:solidFill>
                <a:latin typeface="Calibri"/>
              </a:rPr>
              <a:t>Posez la même question à un assistant de recherche IA (Semantic Scholar, Consensus, Elicit, Perplexity…) : combien de ses 5 références retrouvez-vous réellement dans Google Scholar ? Notez le nom de l'IA utilisée.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La requête finale, la date, et 5 résultats notés. → Dossier, section 3.</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8.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04"/>
              </a:spcAft>
            </a:pPr>
            <a:r>
              <a:rPr sz="2300" b="1" i="0">
                <a:solidFill>
                  <a:srgbClr val="FFFFFF"/>
                </a:solidFill>
                <a:latin typeface="Calibri"/>
              </a:rPr>
              <a:t>Correction · EX 8 — Chercher dans Google Scholar avec des opérateurs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EX8</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42</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Partir large, puis préciser.</a:t>
            </a:r>
          </a:p>
          <a:p>
            <a:pPr algn="l" marL="274320" indent="-274320">
              <a:spcAft>
                <a:spcPts val="375"/>
              </a:spcAft>
              <a:buAutoNum type="arabicPeriod"/>
            </a:pPr>
            <a:r>
              <a:rPr sz="1500" b="0" i="0">
                <a:solidFill>
                  <a:srgbClr val="1B1B1B"/>
                </a:solidFill>
                <a:latin typeface="Calibri"/>
              </a:rPr>
              <a:t>Comparer avant et après : une bonne requête réduit le nombre de résultats sans perdre l'essentiel.</a:t>
            </a:r>
          </a:p>
          <a:p>
            <a:pPr algn="l" marL="274320" indent="-274320">
              <a:spcAft>
                <a:spcPts val="375"/>
              </a:spcAft>
              <a:buAutoNum type="arabicPeriod"/>
            </a:pPr>
            <a:r>
              <a:rPr sz="1500" b="0" i="0">
                <a:solidFill>
                  <a:srgbClr val="1B1B1B"/>
                </a:solidFill>
                <a:latin typeface="Calibri"/>
              </a:rPr>
              <a:t>Noter la trace de la recherche.</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2011680"/>
                <a:gridCol w="6035040"/>
              </a:tblGrid>
              <a:tr h="237744">
                <a:tc>
                  <a:txBody>
                    <a:bodyPr wrap="square"/>
                    <a:lstStyle/>
                    <a:p>
                      <a:r>
                        <a:rPr sz="1600" b="1">
                          <a:solidFill>
                            <a:srgbClr val="FFFFFF"/>
                          </a:solidFill>
                          <a:latin typeface="Calibri"/>
                        </a:rPr>
                        <a:t>Étape</a:t>
                      </a:r>
                    </a:p>
                  </a:txBody>
                  <a:tcPr marL="73152" marR="73152" marT="36576" marB="36576">
                    <a:solidFill>
                      <a:srgbClr val="1F2A5C"/>
                    </a:solidFill>
                  </a:tcPr>
                </a:tc>
                <a:tc>
                  <a:txBody>
                    <a:bodyPr wrap="square"/>
                    <a:lstStyle/>
                    <a:p>
                      <a:r>
                        <a:rPr sz="1600" b="1">
                          <a:solidFill>
                            <a:srgbClr val="FFFFFF"/>
                          </a:solidFill>
                          <a:latin typeface="Calibri"/>
                        </a:rPr>
                        <a:t>Ce qui est attendu</a:t>
                      </a:r>
                    </a:p>
                  </a:txBody>
                  <a:tcPr marL="73152" marR="73152" marT="36576" marB="36576">
                    <a:solidFill>
                      <a:srgbClr val="1F2A5C"/>
                    </a:solidFill>
                  </a:tcPr>
                </a:tc>
              </a:tr>
              <a:tr h="237744">
                <a:tc>
                  <a:txBody>
                    <a:bodyPr wrap="square"/>
                    <a:lstStyle/>
                    <a:p>
                      <a:r>
                        <a:rPr sz="1600" b="1">
                          <a:solidFill>
                            <a:srgbClr val="1B1B1B"/>
                          </a:solidFill>
                          <a:latin typeface="Calibri"/>
                        </a:rPr>
                        <a:t>Requête simple</a:t>
                      </a:r>
                    </a:p>
                  </a:txBody>
                  <a:tcPr marL="73152" marR="73152" marT="36576" marB="36576">
                    <a:solidFill>
                      <a:srgbClr val="FFFFFF"/>
                    </a:solidFill>
                  </a:tcPr>
                </a:tc>
                <a:tc>
                  <a:txBody>
                    <a:bodyPr wrap="square"/>
                    <a:lstStyle/>
                    <a:p>
                      <a:r>
                        <a:rPr sz="1600" b="0">
                          <a:solidFill>
                            <a:srgbClr val="1B1B1B"/>
                          </a:solidFill>
                          <a:latin typeface="Calibri"/>
                        </a:rPr>
                        <a:t>Souvent des dizaines de milliers de résultats : inutilisable telle quelle</a:t>
                      </a:r>
                    </a:p>
                  </a:txBody>
                  <a:tcPr marL="73152" marR="73152" marT="36576" marB="36576">
                    <a:solidFill>
                      <a:srgbClr val="FFFFFF"/>
                    </a:solidFill>
                  </a:tcPr>
                </a:tc>
              </a:tr>
              <a:tr h="237744">
                <a:tc>
                  <a:txBody>
                    <a:bodyPr wrap="square"/>
                    <a:lstStyle/>
                    <a:p>
                      <a:r>
                        <a:rPr sz="1600" b="1">
                          <a:solidFill>
                            <a:srgbClr val="1B1B1B"/>
                          </a:solidFill>
                          <a:latin typeface="Calibri"/>
                        </a:rPr>
                        <a:t>Requête précisée</a:t>
                      </a:r>
                    </a:p>
                  </a:txBody>
                  <a:tcPr marL="73152" marR="73152" marT="36576" marB="36576">
                    <a:solidFill>
                      <a:srgbClr val="F3F5F9"/>
                    </a:solidFill>
                  </a:tcPr>
                </a:tc>
                <a:tc>
                  <a:txBody>
                    <a:bodyPr wrap="square"/>
                    <a:lstStyle/>
                    <a:p>
                      <a:r>
                        <a:rPr sz="1600" b="0">
                          <a:solidFill>
                            <a:srgbClr val="1B1B1B"/>
                          </a:solidFill>
                          <a:latin typeface="Calibri"/>
                        </a:rPr>
                        <a:t>Quelques centaines ou milliers : on peut lire les premières pages</a:t>
                      </a:r>
                    </a:p>
                  </a:txBody>
                  <a:tcPr marL="73152" marR="73152" marT="36576" marB="36576">
                    <a:solidFill>
                      <a:srgbClr val="F3F5F9"/>
                    </a:solidFill>
                  </a:tcPr>
                </a:tc>
              </a:tr>
              <a:tr h="237744">
                <a:tc>
                  <a:txBody>
                    <a:bodyPr wrap="square"/>
                    <a:lstStyle/>
                    <a:p>
                      <a:r>
                        <a:rPr sz="1600" b="1">
                          <a:solidFill>
                            <a:srgbClr val="1B1B1B"/>
                          </a:solidFill>
                          <a:latin typeface="Calibri"/>
                        </a:rPr>
                        <a:t>Exemple d'opérateurs</a:t>
                      </a:r>
                    </a:p>
                  </a:txBody>
                  <a:tcPr marL="73152" marR="73152" marT="36576" marB="36576">
                    <a:solidFill>
                      <a:srgbClr val="FFFFFF"/>
                    </a:solidFill>
                  </a:tcPr>
                </a:tc>
                <a:tc>
                  <a:txBody>
                    <a:bodyPr wrap="square"/>
                    <a:lstStyle/>
                    <a:p>
                      <a:r>
                        <a:rPr sz="1600" b="0">
                          <a:solidFill>
                            <a:srgbClr val="1B1B1B"/>
                          </a:solidFill>
                          <a:latin typeface="Calibri"/>
                        </a:rPr>
                        <a:t>« authentification forte » OR « multi-factor authentication » -banque, avec le filtre « depuis 2021 » (menu de gauche)</a:t>
                      </a:r>
                    </a:p>
                  </a:txBody>
                  <a:tcPr marL="73152" marR="73152" marT="36576" marB="36576">
                    <a:solidFill>
                      <a:srgbClr val="FFFFFF"/>
                    </a:solidFill>
                  </a:tcPr>
                </a:tc>
              </a:tr>
              <a:tr h="237744">
                <a:tc>
                  <a:txBody>
                    <a:bodyPr wrap="square"/>
                    <a:lstStyle/>
                    <a:p>
                      <a:r>
                        <a:rPr sz="1600" b="1">
                          <a:solidFill>
                            <a:srgbClr val="1B1B1B"/>
                          </a:solidFill>
                          <a:latin typeface="Calibri"/>
                        </a:rPr>
                        <a:t>Natures à repérer</a:t>
                      </a:r>
                    </a:p>
                  </a:txBody>
                  <a:tcPr marL="73152" marR="73152" marT="36576" marB="36576">
                    <a:solidFill>
                      <a:srgbClr val="F3F5F9"/>
                    </a:solidFill>
                  </a:tcPr>
                </a:tc>
                <a:tc>
                  <a:txBody>
                    <a:bodyPr wrap="square"/>
                    <a:lstStyle/>
                    <a:p>
                      <a:r>
                        <a:rPr sz="1600" b="0">
                          <a:solidFill>
                            <a:srgbClr val="1B1B1B"/>
                          </a:solidFill>
                          <a:latin typeface="Calibri"/>
                        </a:rPr>
                        <a:t>Article de revue, actes de conférence, rapport, thèse, page commerciale, presse</a:t>
                      </a:r>
                    </a:p>
                  </a:txBody>
                  <a:tcPr marL="73152" marR="73152" marT="36576" marB="36576">
                    <a:solidFill>
                      <a:srgbClr val="F3F5F9"/>
                    </a:solidFill>
                  </a:tcPr>
                </a:tc>
              </a:tr>
              <a:tr h="237744">
                <a:tc>
                  <a:txBody>
                    <a:bodyPr wrap="square"/>
                    <a:lstStyle/>
                    <a:p>
                      <a:r>
                        <a:rPr sz="1600" b="1">
                          <a:solidFill>
                            <a:srgbClr val="1B1B1B"/>
                          </a:solidFill>
                          <a:latin typeface="Calibri"/>
                        </a:rPr>
                        <a:t>Trace</a:t>
                      </a:r>
                    </a:p>
                  </a:txBody>
                  <a:tcPr marL="73152" marR="73152" marT="36576" marB="36576">
                    <a:solidFill>
                      <a:srgbClr val="FFFFFF"/>
                    </a:solidFill>
                  </a:tcPr>
                </a:tc>
                <a:tc>
                  <a:txBody>
                    <a:bodyPr wrap="square"/>
                    <a:lstStyle/>
                    <a:p>
                      <a:r>
                        <a:rPr sz="1600" b="0">
                          <a:solidFill>
                            <a:srgbClr val="1B1B1B"/>
                          </a:solidFill>
                          <a:latin typeface="Calibri"/>
                        </a:rPr>
                        <a:t>Requête, date, nombre de résultats : une recherche doit pouvoir être refaite</a:t>
                      </a:r>
                    </a:p>
                  </a:txBody>
                  <a:tcPr marL="73152" marR="73152" marT="36576" marB="36576">
                    <a:solidFill>
                      <a:srgbClr val="FFFFFF"/>
                    </a:solidFill>
                  </a:tcPr>
                </a:tc>
              </a:tr>
              <a:tr h="237744">
                <a:tc>
                  <a:txBody>
                    <a:bodyPr wrap="square"/>
                    <a:lstStyle/>
                    <a:p>
                      <a:r>
                        <a:rPr sz="1600" b="1">
                          <a:solidFill>
                            <a:srgbClr val="1B1B1B"/>
                          </a:solidFill>
                          <a:latin typeface="Calibri"/>
                        </a:rPr>
                        <a:t>IA · références retrouvées</a:t>
                      </a:r>
                    </a:p>
                  </a:txBody>
                  <a:tcPr marL="73152" marR="73152" marT="36576" marB="36576">
                    <a:solidFill>
                      <a:srgbClr val="F3F5F9"/>
                    </a:solidFill>
                  </a:tcPr>
                </a:tc>
                <a:tc>
                  <a:txBody>
                    <a:bodyPr wrap="square"/>
                    <a:lstStyle/>
                    <a:p>
                      <a:r>
                        <a:rPr sz="1600" b="0">
                          <a:solidFill>
                            <a:srgbClr val="1B1B1B"/>
                          </a:solidFill>
                          <a:latin typeface="Calibri"/>
                        </a:rPr>
                        <a:t>Souvent 3 ou 4 sur 5. Une référence qu'on ne retrouve pas par son titre exact est à écarter (voir EX15). L'IA donne des pistes, la base permet de refaire la recherche.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Ne lire que le premier résultat.</a:t>
            </a:r>
          </a:p>
          <a:p>
            <a:pPr algn="l" marL="201168" indent="-201168">
              <a:spcAft>
                <a:spcPts val="110"/>
              </a:spcAft>
              <a:buChar char="•"/>
            </a:pPr>
            <a:r>
              <a:rPr sz="1100" b="0" i="0">
                <a:solidFill>
                  <a:srgbClr val="1B1B1B"/>
                </a:solidFill>
                <a:latin typeface="Calibri"/>
              </a:rPr>
              <a:t>Ne pas noter la requête : impossible de la justifier ou de la refaire.</a:t>
            </a:r>
          </a:p>
          <a:p>
            <a:pPr algn="l" marL="201168" indent="-201168">
              <a:spcAft>
                <a:spcPts val="110"/>
              </a:spcAft>
              <a:buChar char="•"/>
            </a:pPr>
            <a:r>
              <a:rPr sz="1100" b="0" i="0">
                <a:solidFill>
                  <a:srgbClr val="1B1B1B"/>
                </a:solidFill>
                <a:latin typeface="Calibri"/>
              </a:rPr>
              <a:t>Tout garder sans regarder la nature du document.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Où chercher (1/2) : textes officiels, normes, chiffres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43</a:t>
            </a:r>
          </a:p>
        </p:txBody>
      </p:sp>
      <p:graphicFrame>
        <p:nvGraphicFramePr>
          <p:cNvPr id="6" name="Table 5"/>
          <p:cNvGraphicFramePr>
            <a:graphicFrameLocks noGrp="1"/>
          </p:cNvGraphicFramePr>
          <p:nvPr/>
        </p:nvGraphicFramePr>
        <p:xfrm>
          <a:off x="411480" y="1188720"/>
          <a:ext cx="11338559" cy="3291840"/>
        </p:xfrm>
        <a:graphic>
          <a:graphicData uri="http://schemas.openxmlformats.org/drawingml/2006/table">
            <a:tbl>
              <a:tblPr firstRow="0" bandRow="0">
                <a:tableStyleId>{5C22544A-7EE6-4342-B048-85BDC9FD1C3A}</a:tableStyleId>
              </a:tblPr>
              <a:tblGrid>
                <a:gridCol w="3685032"/>
                <a:gridCol w="3779520"/>
                <a:gridCol w="3874007"/>
              </a:tblGrid>
              <a:tr h="365760">
                <a:tc>
                  <a:txBody>
                    <a:bodyPr wrap="square"/>
                    <a:lstStyle/>
                    <a:p>
                      <a:r>
                        <a:rPr sz="1700" b="1">
                          <a:solidFill>
                            <a:srgbClr val="FFFFFF"/>
                          </a:solidFill>
                          <a:latin typeface="Calibri"/>
                        </a:rPr>
                        <a:t>Je cherche…</a:t>
                      </a:r>
                    </a:p>
                  </a:txBody>
                  <a:tcPr marL="73152" marR="73152" marT="36576" marB="36576">
                    <a:solidFill>
                      <a:srgbClr val="1F2A5C"/>
                    </a:solidFill>
                  </a:tcPr>
                </a:tc>
                <a:tc>
                  <a:txBody>
                    <a:bodyPr wrap="square"/>
                    <a:lstStyle/>
                    <a:p>
                      <a:r>
                        <a:rPr sz="1700" b="1">
                          <a:solidFill>
                            <a:srgbClr val="FFFFFF"/>
                          </a:solidFill>
                          <a:latin typeface="Calibri"/>
                        </a:rPr>
                        <a:t>Site</a:t>
                      </a:r>
                    </a:p>
                  </a:txBody>
                  <a:tcPr marL="73152" marR="73152" marT="36576" marB="36576">
                    <a:solidFill>
                      <a:srgbClr val="1F2A5C"/>
                    </a:solidFill>
                  </a:tcPr>
                </a:tc>
                <a:tc>
                  <a:txBody>
                    <a:bodyPr wrap="square"/>
                    <a:lstStyle/>
                    <a:p>
                      <a:r>
                        <a:rPr sz="1700" b="1">
                          <a:solidFill>
                            <a:srgbClr val="FFFFFF"/>
                          </a:solidFill>
                          <a:latin typeface="Calibri"/>
                        </a:rPr>
                        <a:t>Astuce</a:t>
                      </a:r>
                    </a:p>
                  </a:txBody>
                  <a:tcPr marL="73152" marR="73152" marT="36576" marB="36576">
                    <a:solidFill>
                      <a:srgbClr val="1F2A5C"/>
                    </a:solidFill>
                  </a:tcPr>
                </a:tc>
              </a:tr>
              <a:tr h="365760">
                <a:tc>
                  <a:txBody>
                    <a:bodyPr wrap="square"/>
                    <a:lstStyle/>
                    <a:p>
                      <a:r>
                        <a:rPr sz="1700" b="1">
                          <a:solidFill>
                            <a:srgbClr val="1B1B1B"/>
                          </a:solidFill>
                          <a:latin typeface="Calibri"/>
                        </a:rPr>
                        <a:t>Une loi ou un décret français</a:t>
                      </a:r>
                    </a:p>
                  </a:txBody>
                  <a:tcPr marL="73152" marR="73152" marT="36576" marB="36576">
                    <a:solidFill>
                      <a:srgbClr val="FFFFFF"/>
                    </a:solidFill>
                  </a:tcPr>
                </a:tc>
                <a:tc>
                  <a:txBody>
                    <a:bodyPr wrap="square"/>
                    <a:lstStyle/>
                    <a:p>
                      <a:r>
                        <a:rPr sz="1700" b="0">
                          <a:solidFill>
                            <a:srgbClr val="1B1B1B"/>
                          </a:solidFill>
                          <a:latin typeface="Calibri"/>
                        </a:rPr>
                        <a:t>legifrance.gouv.fr</a:t>
                      </a:r>
                    </a:p>
                  </a:txBody>
                  <a:tcPr marL="73152" marR="73152" marT="36576" marB="36576">
                    <a:solidFill>
                      <a:srgbClr val="FFFFFF"/>
                    </a:solidFill>
                  </a:tcPr>
                </a:tc>
                <a:tc>
                  <a:txBody>
                    <a:bodyPr wrap="square"/>
                    <a:lstStyle/>
                    <a:p>
                      <a:r>
                        <a:rPr sz="1700" b="0">
                          <a:solidFill>
                            <a:srgbClr val="1B1B1B"/>
                          </a:solidFill>
                          <a:latin typeface="Calibri"/>
                        </a:rPr>
                        <a:t>Vérifier que la version est « en vigueur »</a:t>
                      </a:r>
                    </a:p>
                  </a:txBody>
                  <a:tcPr marL="73152" marR="73152" marT="36576" marB="36576">
                    <a:solidFill>
                      <a:srgbClr val="FFFFFF"/>
                    </a:solidFill>
                  </a:tcPr>
                </a:tc>
              </a:tr>
              <a:tr h="365760">
                <a:tc>
                  <a:txBody>
                    <a:bodyPr wrap="square"/>
                    <a:lstStyle/>
                    <a:p>
                      <a:r>
                        <a:rPr sz="1700" b="1">
                          <a:solidFill>
                            <a:srgbClr val="1B1B1B"/>
                          </a:solidFill>
                          <a:latin typeface="Calibri"/>
                        </a:rPr>
                        <a:t>Un règlement ou une directive européenne</a:t>
                      </a:r>
                    </a:p>
                  </a:txBody>
                  <a:tcPr marL="73152" marR="73152" marT="36576" marB="36576">
                    <a:solidFill>
                      <a:srgbClr val="F3F5F9"/>
                    </a:solidFill>
                  </a:tcPr>
                </a:tc>
                <a:tc>
                  <a:txBody>
                    <a:bodyPr wrap="square"/>
                    <a:lstStyle/>
                    <a:p>
                      <a:r>
                        <a:rPr sz="1700" b="0">
                          <a:solidFill>
                            <a:srgbClr val="1B1B1B"/>
                          </a:solidFill>
                          <a:latin typeface="Calibri"/>
                        </a:rPr>
                        <a:t>eur-lex.europa.eu</a:t>
                      </a:r>
                    </a:p>
                  </a:txBody>
                  <a:tcPr marL="73152" marR="73152" marT="36576" marB="36576">
                    <a:solidFill>
                      <a:srgbClr val="F3F5F9"/>
                    </a:solidFill>
                  </a:tcPr>
                </a:tc>
                <a:tc>
                  <a:txBody>
                    <a:bodyPr wrap="square"/>
                    <a:lstStyle/>
                    <a:p>
                      <a:r>
                        <a:rPr sz="1700" b="0">
                          <a:solidFill>
                            <a:srgbClr val="1B1B1B"/>
                          </a:solidFill>
                          <a:latin typeface="Calibri"/>
                        </a:rPr>
                        <a:t>Chercher le numéro, par exemple 2022/2555</a:t>
                      </a:r>
                    </a:p>
                  </a:txBody>
                  <a:tcPr marL="73152" marR="73152" marT="36576" marB="36576">
                    <a:solidFill>
                      <a:srgbClr val="F3F5F9"/>
                    </a:solidFill>
                  </a:tcPr>
                </a:tc>
              </a:tr>
              <a:tr h="365760">
                <a:tc>
                  <a:txBody>
                    <a:bodyPr wrap="square"/>
                    <a:lstStyle/>
                    <a:p>
                      <a:r>
                        <a:rPr sz="1700" b="1">
                          <a:solidFill>
                            <a:srgbClr val="1B1B1B"/>
                          </a:solidFill>
                          <a:latin typeface="Calibri"/>
                        </a:rPr>
                        <a:t>Des recommandations de cybersécurité (France)</a:t>
                      </a:r>
                    </a:p>
                  </a:txBody>
                  <a:tcPr marL="73152" marR="73152" marT="36576" marB="36576">
                    <a:solidFill>
                      <a:srgbClr val="FFFFFF"/>
                    </a:solidFill>
                  </a:tcPr>
                </a:tc>
                <a:tc>
                  <a:txBody>
                    <a:bodyPr wrap="square"/>
                    <a:lstStyle/>
                    <a:p>
                      <a:r>
                        <a:rPr sz="1700" b="0">
                          <a:solidFill>
                            <a:srgbClr val="1B1B1B"/>
                          </a:solidFill>
                          <a:latin typeface="Calibri"/>
                        </a:rPr>
                        <a:t>cyber.gouv.fr (ANSSI), cert.cyber.gouv.fr (alertes)</a:t>
                      </a:r>
                    </a:p>
                  </a:txBody>
                  <a:tcPr marL="73152" marR="73152" marT="36576" marB="36576">
                    <a:solidFill>
                      <a:srgbClr val="FFFFFF"/>
                    </a:solidFill>
                  </a:tcPr>
                </a:tc>
                <a:tc>
                  <a:txBody>
                    <a:bodyPr wrap="square"/>
                    <a:lstStyle/>
                    <a:p>
                      <a:r>
                        <a:rPr sz="1700" b="0">
                          <a:solidFill>
                            <a:srgbClr val="1B1B1B"/>
                          </a:solidFill>
                          <a:latin typeface="Calibri"/>
                        </a:rPr>
                        <a:t>Guides en PDF, alertes datées</a:t>
                      </a:r>
                    </a:p>
                  </a:txBody>
                  <a:tcPr marL="73152" marR="73152" marT="36576" marB="36576">
                    <a:solidFill>
                      <a:srgbClr val="FFFFFF"/>
                    </a:solidFill>
                  </a:tcPr>
                </a:tc>
              </a:tr>
              <a:tr h="365760">
                <a:tc>
                  <a:txBody>
                    <a:bodyPr wrap="square"/>
                    <a:lstStyle/>
                    <a:p>
                      <a:r>
                        <a:rPr sz="1700" b="1">
                          <a:solidFill>
                            <a:srgbClr val="1B1B1B"/>
                          </a:solidFill>
                          <a:latin typeface="Calibri"/>
                        </a:rPr>
                        <a:t>Des règles sur les données personnelles</a:t>
                      </a:r>
                    </a:p>
                  </a:txBody>
                  <a:tcPr marL="73152" marR="73152" marT="36576" marB="36576">
                    <a:solidFill>
                      <a:srgbClr val="F3F5F9"/>
                    </a:solidFill>
                  </a:tcPr>
                </a:tc>
                <a:tc>
                  <a:txBody>
                    <a:bodyPr wrap="square"/>
                    <a:lstStyle/>
                    <a:p>
                      <a:r>
                        <a:rPr sz="1700" b="0">
                          <a:solidFill>
                            <a:srgbClr val="1B1B1B"/>
                          </a:solidFill>
                          <a:latin typeface="Calibri"/>
                        </a:rPr>
                        <a:t>cnil.fr</a:t>
                      </a:r>
                    </a:p>
                  </a:txBody>
                  <a:tcPr marL="73152" marR="73152" marT="36576" marB="36576">
                    <a:solidFill>
                      <a:srgbClr val="F3F5F9"/>
                    </a:solidFill>
                  </a:tcPr>
                </a:tc>
                <a:tc>
                  <a:txBody>
                    <a:bodyPr wrap="square"/>
                    <a:lstStyle/>
                    <a:p>
                      <a:r>
                        <a:rPr sz="1700" b="0">
                          <a:solidFill>
                            <a:srgbClr val="1B1B1B"/>
                          </a:solidFill>
                          <a:latin typeface="Calibri"/>
                        </a:rPr>
                        <a:t>Guides et référentiels</a:t>
                      </a:r>
                    </a:p>
                  </a:txBody>
                  <a:tcPr marL="73152" marR="73152" marT="36576" marB="36576">
                    <a:solidFill>
                      <a:srgbClr val="F3F5F9"/>
                    </a:solidFill>
                  </a:tcPr>
                </a:tc>
              </a:tr>
              <a:tr h="365760">
                <a:tc>
                  <a:txBody>
                    <a:bodyPr wrap="square"/>
                    <a:lstStyle/>
                    <a:p>
                      <a:r>
                        <a:rPr sz="1700" b="1">
                          <a:solidFill>
                            <a:srgbClr val="1B1B1B"/>
                          </a:solidFill>
                          <a:latin typeface="Calibri"/>
                        </a:rPr>
                        <a:t>Des rapports de cybersécurité (Europe)</a:t>
                      </a:r>
                    </a:p>
                  </a:txBody>
                  <a:tcPr marL="73152" marR="73152" marT="36576" marB="36576">
                    <a:solidFill>
                      <a:srgbClr val="FFFFFF"/>
                    </a:solidFill>
                  </a:tcPr>
                </a:tc>
                <a:tc>
                  <a:txBody>
                    <a:bodyPr wrap="square"/>
                    <a:lstStyle/>
                    <a:p>
                      <a:r>
                        <a:rPr sz="1700" b="0">
                          <a:solidFill>
                            <a:srgbClr val="1B1B1B"/>
                          </a:solidFill>
                          <a:latin typeface="Calibri"/>
                        </a:rPr>
                        <a:t>enisa.europa.eu</a:t>
                      </a:r>
                    </a:p>
                  </a:txBody>
                  <a:tcPr marL="73152" marR="73152" marT="36576" marB="36576">
                    <a:solidFill>
                      <a:srgbClr val="FFFFFF"/>
                    </a:solidFill>
                  </a:tcPr>
                </a:tc>
                <a:tc>
                  <a:txBody>
                    <a:bodyPr wrap="square"/>
                    <a:lstStyle/>
                    <a:p>
                      <a:r>
                        <a:rPr sz="1700" b="0">
                          <a:solidFill>
                            <a:srgbClr val="1B1B1B"/>
                          </a:solidFill>
                          <a:latin typeface="Calibri"/>
                        </a:rPr>
                        <a:t>Ex. : ENISA Threat Landscape</a:t>
                      </a:r>
                    </a:p>
                  </a:txBody>
                  <a:tcPr marL="73152" marR="73152" marT="36576" marB="36576">
                    <a:solidFill>
                      <a:srgbClr val="FFFFFF"/>
                    </a:solidFill>
                  </a:tcPr>
                </a:tc>
              </a:tr>
              <a:tr h="365760">
                <a:tc>
                  <a:txBody>
                    <a:bodyPr wrap="square"/>
                    <a:lstStyle/>
                    <a:p>
                      <a:r>
                        <a:rPr sz="1700" b="1">
                          <a:solidFill>
                            <a:srgbClr val="1B1B1B"/>
                          </a:solidFill>
                          <a:latin typeface="Calibri"/>
                        </a:rPr>
                        <a:t>Des normes techniques américaines</a:t>
                      </a:r>
                    </a:p>
                  </a:txBody>
                  <a:tcPr marL="73152" marR="73152" marT="36576" marB="36576">
                    <a:solidFill>
                      <a:srgbClr val="F3F5F9"/>
                    </a:solidFill>
                  </a:tcPr>
                </a:tc>
                <a:tc>
                  <a:txBody>
                    <a:bodyPr wrap="square"/>
                    <a:lstStyle/>
                    <a:p>
                      <a:r>
                        <a:rPr sz="1700" b="0">
                          <a:solidFill>
                            <a:srgbClr val="1B1B1B"/>
                          </a:solidFill>
                          <a:latin typeface="Calibri"/>
                        </a:rPr>
                        <a:t>nist.gov (csrc.nist.gov)</a:t>
                      </a:r>
                    </a:p>
                  </a:txBody>
                  <a:tcPr marL="73152" marR="73152" marT="36576" marB="36576">
                    <a:solidFill>
                      <a:srgbClr val="F3F5F9"/>
                    </a:solidFill>
                  </a:tcPr>
                </a:tc>
                <a:tc>
                  <a:txBody>
                    <a:bodyPr wrap="square"/>
                    <a:lstStyle/>
                    <a:p>
                      <a:r>
                        <a:rPr sz="1700" b="0">
                          <a:solidFill>
                            <a:srgbClr val="1B1B1B"/>
                          </a:solidFill>
                          <a:latin typeface="Calibri"/>
                        </a:rPr>
                        <a:t>Publications SP 800 : prendre la dernière version</a:t>
                      </a:r>
                    </a:p>
                  </a:txBody>
                  <a:tcPr marL="73152" marR="73152" marT="36576" marB="36576">
                    <a:solidFill>
                      <a:srgbClr val="F3F5F9"/>
                    </a:solidFill>
                  </a:tcPr>
                </a:tc>
              </a:tr>
              <a:tr h="365760">
                <a:tc>
                  <a:txBody>
                    <a:bodyPr wrap="square"/>
                    <a:lstStyle/>
                    <a:p>
                      <a:r>
                        <a:rPr sz="1700" b="1">
                          <a:solidFill>
                            <a:srgbClr val="1B1B1B"/>
                          </a:solidFill>
                          <a:latin typeface="Calibri"/>
                        </a:rPr>
                        <a:t>Des normes ISO ou AFNOR</a:t>
                      </a:r>
                    </a:p>
                  </a:txBody>
                  <a:tcPr marL="73152" marR="73152" marT="36576" marB="36576">
                    <a:solidFill>
                      <a:srgbClr val="FFFFFF"/>
                    </a:solidFill>
                  </a:tcPr>
                </a:tc>
                <a:tc>
                  <a:txBody>
                    <a:bodyPr wrap="square"/>
                    <a:lstStyle/>
                    <a:p>
                      <a:r>
                        <a:rPr sz="1700" b="0">
                          <a:solidFill>
                            <a:srgbClr val="1B1B1B"/>
                          </a:solidFill>
                          <a:latin typeface="Calibri"/>
                        </a:rPr>
                        <a:t>iso.org, afnor.org</a:t>
                      </a:r>
                    </a:p>
                  </a:txBody>
                  <a:tcPr marL="73152" marR="73152" marT="36576" marB="36576">
                    <a:solidFill>
                      <a:srgbClr val="FFFFFF"/>
                    </a:solidFill>
                  </a:tcPr>
                </a:tc>
                <a:tc>
                  <a:txBody>
                    <a:bodyPr wrap="square"/>
                    <a:lstStyle/>
                    <a:p>
                      <a:r>
                        <a:rPr sz="1700" b="0">
                          <a:solidFill>
                            <a:srgbClr val="1B1B1B"/>
                          </a:solidFill>
                          <a:latin typeface="Calibri"/>
                        </a:rPr>
                        <a:t>Résumé gratuit, texte complet payant</a:t>
                      </a:r>
                    </a:p>
                  </a:txBody>
                  <a:tcPr marL="73152" marR="73152" marT="36576" marB="36576">
                    <a:solidFill>
                      <a:srgbClr val="FFFFFF"/>
                    </a:solidFill>
                  </a:tcPr>
                </a:tc>
              </a:tr>
              <a:tr h="365760">
                <a:tc>
                  <a:txBody>
                    <a:bodyPr wrap="square"/>
                    <a:lstStyle/>
                    <a:p>
                      <a:r>
                        <a:rPr sz="1700" b="1">
                          <a:solidFill>
                            <a:srgbClr val="1B1B1B"/>
                          </a:solidFill>
                          <a:latin typeface="Calibri"/>
                        </a:rPr>
                        <a:t>Des statistiques</a:t>
                      </a:r>
                    </a:p>
                  </a:txBody>
                  <a:tcPr marL="73152" marR="73152" marT="36576" marB="36576">
                    <a:solidFill>
                      <a:srgbClr val="F3F5F9"/>
                    </a:solidFill>
                  </a:tcPr>
                </a:tc>
                <a:tc>
                  <a:txBody>
                    <a:bodyPr wrap="square"/>
                    <a:lstStyle/>
                    <a:p>
                      <a:r>
                        <a:rPr sz="1700" b="0">
                          <a:solidFill>
                            <a:srgbClr val="1B1B1B"/>
                          </a:solidFill>
                          <a:latin typeface="Calibri"/>
                        </a:rPr>
                        <a:t>insee.fr, ec.europa.eu/eurostat</a:t>
                      </a:r>
                    </a:p>
                  </a:txBody>
                  <a:tcPr marL="73152" marR="73152" marT="36576" marB="36576">
                    <a:solidFill>
                      <a:srgbClr val="F3F5F9"/>
                    </a:solidFill>
                  </a:tcPr>
                </a:tc>
                <a:tc>
                  <a:txBody>
                    <a:bodyPr wrap="square"/>
                    <a:lstStyle/>
                    <a:p>
                      <a:r>
                        <a:rPr sz="1700" b="0">
                          <a:solidFill>
                            <a:srgbClr val="1B1B1B"/>
                          </a:solidFill>
                          <a:latin typeface="Calibri"/>
                        </a:rPr>
                        <a:t>Noter la date de mise à jour</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1" i="0">
                <a:solidFill>
                  <a:srgbClr val="1B1B1B"/>
                </a:solidFill>
                <a:latin typeface="Calibri"/>
              </a:rPr>
              <a:t>Recommandation, norme et loi n'ont pas la même force : notez le type de document dans votre fiche.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Où chercher (2/2) : articles, brevets, pages, experts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44</a:t>
            </a:r>
          </a:p>
        </p:txBody>
      </p:sp>
      <p:graphicFrame>
        <p:nvGraphicFramePr>
          <p:cNvPr id="6" name="Table 5"/>
          <p:cNvGraphicFramePr>
            <a:graphicFrameLocks noGrp="1"/>
          </p:cNvGraphicFramePr>
          <p:nvPr/>
        </p:nvGraphicFramePr>
        <p:xfrm>
          <a:off x="411480" y="1188720"/>
          <a:ext cx="11338560" cy="3291840"/>
        </p:xfrm>
        <a:graphic>
          <a:graphicData uri="http://schemas.openxmlformats.org/drawingml/2006/table">
            <a:tbl>
              <a:tblPr firstRow="0" bandRow="0">
                <a:tableStyleId>{5C22544A-7EE6-4342-B048-85BDC9FD1C3A}</a:tableStyleId>
              </a:tblPr>
              <a:tblGrid>
                <a:gridCol w="3212592"/>
                <a:gridCol w="4346448"/>
                <a:gridCol w="3779520"/>
              </a:tblGrid>
              <a:tr h="365760">
                <a:tc>
                  <a:txBody>
                    <a:bodyPr wrap="square"/>
                    <a:lstStyle/>
                    <a:p>
                      <a:r>
                        <a:rPr sz="1600" b="1">
                          <a:solidFill>
                            <a:srgbClr val="FFFFFF"/>
                          </a:solidFill>
                          <a:latin typeface="Calibri"/>
                        </a:rPr>
                        <a:t>Je cherche…</a:t>
                      </a:r>
                    </a:p>
                  </a:txBody>
                  <a:tcPr marL="73152" marR="73152" marT="36576" marB="36576">
                    <a:solidFill>
                      <a:srgbClr val="1F2A5C"/>
                    </a:solidFill>
                  </a:tcPr>
                </a:tc>
                <a:tc>
                  <a:txBody>
                    <a:bodyPr wrap="square"/>
                    <a:lstStyle/>
                    <a:p>
                      <a:r>
                        <a:rPr sz="1600" b="1">
                          <a:solidFill>
                            <a:srgbClr val="FFFFFF"/>
                          </a:solidFill>
                          <a:latin typeface="Calibri"/>
                        </a:rPr>
                        <a:t>Site</a:t>
                      </a:r>
                    </a:p>
                  </a:txBody>
                  <a:tcPr marL="73152" marR="73152" marT="36576" marB="36576">
                    <a:solidFill>
                      <a:srgbClr val="1F2A5C"/>
                    </a:solidFill>
                  </a:tcPr>
                </a:tc>
                <a:tc>
                  <a:txBody>
                    <a:bodyPr wrap="square"/>
                    <a:lstStyle/>
                    <a:p>
                      <a:r>
                        <a:rPr sz="1600" b="1">
                          <a:solidFill>
                            <a:srgbClr val="FFFFFF"/>
                          </a:solidFill>
                          <a:latin typeface="Calibri"/>
                        </a:rPr>
                        <a:t>Astuce</a:t>
                      </a:r>
                    </a:p>
                  </a:txBody>
                  <a:tcPr marL="73152" marR="73152" marT="36576" marB="36576">
                    <a:solidFill>
                      <a:srgbClr val="1F2A5C"/>
                    </a:solidFill>
                  </a:tcPr>
                </a:tc>
              </a:tr>
              <a:tr h="365760">
                <a:tc>
                  <a:txBody>
                    <a:bodyPr wrap="square"/>
                    <a:lstStyle/>
                    <a:p>
                      <a:r>
                        <a:rPr sz="1600" b="1">
                          <a:solidFill>
                            <a:srgbClr val="1B1B1B"/>
                          </a:solidFill>
                          <a:latin typeface="Calibri"/>
                        </a:rPr>
                        <a:t>Des articles scientifiques</a:t>
                      </a:r>
                    </a:p>
                  </a:txBody>
                  <a:tcPr marL="73152" marR="73152" marT="36576" marB="36576">
                    <a:solidFill>
                      <a:srgbClr val="FFFFFF"/>
                    </a:solidFill>
                  </a:tcPr>
                </a:tc>
                <a:tc>
                  <a:txBody>
                    <a:bodyPr wrap="square"/>
                    <a:lstStyle/>
                    <a:p>
                      <a:r>
                        <a:rPr sz="1600" b="0">
                          <a:solidFill>
                            <a:srgbClr val="1B1B1B"/>
                          </a:solidFill>
                          <a:latin typeface="Calibri"/>
                        </a:rPr>
                        <a:t>scholar.google.com, semanticscholar.org, hal.science, arxiv.org</a:t>
                      </a:r>
                    </a:p>
                  </a:txBody>
                  <a:tcPr marL="73152" marR="73152" marT="36576" marB="36576">
                    <a:solidFill>
                      <a:srgbClr val="FFFFFF"/>
                    </a:solidFill>
                  </a:tcPr>
                </a:tc>
                <a:tc>
                  <a:txBody>
                    <a:bodyPr wrap="square"/>
                    <a:lstStyle/>
                    <a:p>
                      <a:r>
                        <a:rPr sz="1600" b="0">
                          <a:solidFill>
                            <a:srgbClr val="1B1B1B"/>
                          </a:solidFill>
                          <a:latin typeface="Calibri"/>
                        </a:rPr>
                        <a:t>HAL et arXiv donnent des PDF gratuits</a:t>
                      </a:r>
                    </a:p>
                  </a:txBody>
                  <a:tcPr marL="73152" marR="73152" marT="36576" marB="36576">
                    <a:solidFill>
                      <a:srgbClr val="FFFFFF"/>
                    </a:solidFill>
                  </a:tcPr>
                </a:tc>
              </a:tr>
              <a:tr h="365760">
                <a:tc>
                  <a:txBody>
                    <a:bodyPr wrap="square"/>
                    <a:lstStyle/>
                    <a:p>
                      <a:r>
                        <a:rPr sz="1600" b="1">
                          <a:solidFill>
                            <a:srgbClr val="1B1B1B"/>
                          </a:solidFill>
                          <a:latin typeface="Calibri"/>
                        </a:rPr>
                        <a:t>Des revues en accès libre</a:t>
                      </a:r>
                    </a:p>
                  </a:txBody>
                  <a:tcPr marL="73152" marR="73152" marT="36576" marB="36576">
                    <a:solidFill>
                      <a:srgbClr val="F3F5F9"/>
                    </a:solidFill>
                  </a:tcPr>
                </a:tc>
                <a:tc>
                  <a:txBody>
                    <a:bodyPr wrap="square"/>
                    <a:lstStyle/>
                    <a:p>
                      <a:r>
                        <a:rPr sz="1600" b="0">
                          <a:solidFill>
                            <a:srgbClr val="1B1B1B"/>
                          </a:solidFill>
                          <a:latin typeface="Calibri"/>
                        </a:rPr>
                        <a:t>doaj.org</a:t>
                      </a:r>
                    </a:p>
                  </a:txBody>
                  <a:tcPr marL="73152" marR="73152" marT="36576" marB="36576">
                    <a:solidFill>
                      <a:srgbClr val="F3F5F9"/>
                    </a:solidFill>
                  </a:tcPr>
                </a:tc>
                <a:tc>
                  <a:txBody>
                    <a:bodyPr wrap="square"/>
                    <a:lstStyle/>
                    <a:p>
                      <a:r>
                        <a:rPr sz="1600" b="0">
                          <a:solidFill>
                            <a:srgbClr val="1B1B1B"/>
                          </a:solidFill>
                          <a:latin typeface="Calibri"/>
                        </a:rPr>
                        <a:t>Annuaire de revues en accès ouvert</a:t>
                      </a:r>
                    </a:p>
                  </a:txBody>
                  <a:tcPr marL="73152" marR="73152" marT="36576" marB="36576">
                    <a:solidFill>
                      <a:srgbClr val="F3F5F9"/>
                    </a:solidFill>
                  </a:tcPr>
                </a:tc>
              </a:tr>
              <a:tr h="365760">
                <a:tc>
                  <a:txBody>
                    <a:bodyPr wrap="square"/>
                    <a:lstStyle/>
                    <a:p>
                      <a:r>
                        <a:rPr sz="1600" b="1">
                          <a:solidFill>
                            <a:srgbClr val="1B1B1B"/>
                          </a:solidFill>
                          <a:latin typeface="Calibri"/>
                        </a:rPr>
                        <a:t>La version gratuite d'un article payant</a:t>
                      </a:r>
                    </a:p>
                  </a:txBody>
                  <a:tcPr marL="73152" marR="73152" marT="36576" marB="36576">
                    <a:solidFill>
                      <a:srgbClr val="FFFFFF"/>
                    </a:solidFill>
                  </a:tcPr>
                </a:tc>
                <a:tc>
                  <a:txBody>
                    <a:bodyPr wrap="square"/>
                    <a:lstStyle/>
                    <a:p>
                      <a:r>
                        <a:rPr sz="1600" b="0">
                          <a:solidFill>
                            <a:srgbClr val="1B1B1B"/>
                          </a:solidFill>
                          <a:latin typeface="Calibri"/>
                        </a:rPr>
                        <a:t>unpaywall.org (extension), core.ac.uk</a:t>
                      </a:r>
                    </a:p>
                  </a:txBody>
                  <a:tcPr marL="73152" marR="73152" marT="36576" marB="36576">
                    <a:solidFill>
                      <a:srgbClr val="FFFFFF"/>
                    </a:solidFill>
                  </a:tcPr>
                </a:tc>
                <a:tc>
                  <a:txBody>
                    <a:bodyPr wrap="square"/>
                    <a:lstStyle/>
                    <a:p>
                      <a:r>
                        <a:rPr sz="1600" b="0">
                          <a:solidFill>
                            <a:srgbClr val="1B1B1B"/>
                          </a:solidFill>
                          <a:latin typeface="Calibri"/>
                        </a:rPr>
                        <a:t>Aussi « Toutes les versions » dans Scholar</a:t>
                      </a:r>
                    </a:p>
                  </a:txBody>
                  <a:tcPr marL="73152" marR="73152" marT="36576" marB="36576">
                    <a:solidFill>
                      <a:srgbClr val="FFFFFF"/>
                    </a:solidFill>
                  </a:tcPr>
                </a:tc>
              </a:tr>
              <a:tr h="365760">
                <a:tc>
                  <a:txBody>
                    <a:bodyPr wrap="square"/>
                    <a:lstStyle/>
                    <a:p>
                      <a:r>
                        <a:rPr sz="1600" b="1">
                          <a:solidFill>
                            <a:srgbClr val="1B1B1B"/>
                          </a:solidFill>
                          <a:latin typeface="Calibri"/>
                        </a:rPr>
                        <a:t>Des brevets (état de la technique)</a:t>
                      </a:r>
                    </a:p>
                  </a:txBody>
                  <a:tcPr marL="73152" marR="73152" marT="36576" marB="36576">
                    <a:solidFill>
                      <a:srgbClr val="F3F5F9"/>
                    </a:solidFill>
                  </a:tcPr>
                </a:tc>
                <a:tc>
                  <a:txBody>
                    <a:bodyPr wrap="square"/>
                    <a:lstStyle/>
                    <a:p>
                      <a:r>
                        <a:rPr sz="1600" b="0">
                          <a:solidFill>
                            <a:srgbClr val="1B1B1B"/>
                          </a:solidFill>
                          <a:latin typeface="Calibri"/>
                        </a:rPr>
                        <a:t>worldwide.espacenet.com, inpi.fr</a:t>
                      </a:r>
                    </a:p>
                  </a:txBody>
                  <a:tcPr marL="73152" marR="73152" marT="36576" marB="36576">
                    <a:solidFill>
                      <a:srgbClr val="F3F5F9"/>
                    </a:solidFill>
                  </a:tcPr>
                </a:tc>
                <a:tc>
                  <a:txBody>
                    <a:bodyPr wrap="square"/>
                    <a:lstStyle/>
                    <a:p>
                      <a:r>
                        <a:rPr sz="1600" b="0">
                          <a:solidFill>
                            <a:srgbClr val="1B1B1B"/>
                          </a:solidFill>
                          <a:latin typeface="Calibri"/>
                        </a:rPr>
                        <a:t>Mots-clés, puis classification</a:t>
                      </a:r>
                    </a:p>
                  </a:txBody>
                  <a:tcPr marL="73152" marR="73152" marT="36576" marB="36576">
                    <a:solidFill>
                      <a:srgbClr val="F3F5F9"/>
                    </a:solidFill>
                  </a:tcPr>
                </a:tc>
              </a:tr>
              <a:tr h="365760">
                <a:tc>
                  <a:txBody>
                    <a:bodyPr wrap="square"/>
                    <a:lstStyle/>
                    <a:p>
                      <a:r>
                        <a:rPr sz="1600" b="1">
                          <a:solidFill>
                            <a:srgbClr val="1B1B1B"/>
                          </a:solidFill>
                          <a:latin typeface="Calibri"/>
                        </a:rPr>
                        <a:t>Ce que disait une page avant</a:t>
                      </a:r>
                    </a:p>
                  </a:txBody>
                  <a:tcPr marL="73152" marR="73152" marT="36576" marB="36576">
                    <a:solidFill>
                      <a:srgbClr val="FFFFFF"/>
                    </a:solidFill>
                  </a:tcPr>
                </a:tc>
                <a:tc>
                  <a:txBody>
                    <a:bodyPr wrap="square"/>
                    <a:lstStyle/>
                    <a:p>
                      <a:r>
                        <a:rPr sz="1600" b="0">
                          <a:solidFill>
                            <a:srgbClr val="1B1B1B"/>
                          </a:solidFill>
                          <a:latin typeface="Calibri"/>
                        </a:rPr>
                        <a:t>web.archive.org</a:t>
                      </a:r>
                    </a:p>
                  </a:txBody>
                  <a:tcPr marL="73152" marR="73152" marT="36576" marB="36576">
                    <a:solidFill>
                      <a:srgbClr val="FFFFFF"/>
                    </a:solidFill>
                  </a:tcPr>
                </a:tc>
                <a:tc>
                  <a:txBody>
                    <a:bodyPr wrap="square"/>
                    <a:lstStyle/>
                    <a:p>
                      <a:r>
                        <a:rPr sz="1600" b="0">
                          <a:solidFill>
                            <a:srgbClr val="1B1B1B"/>
                          </a:solidFill>
                          <a:latin typeface="Calibri"/>
                        </a:rPr>
                        <a:t>Coller l'adresse, choisir une date</a:t>
                      </a:r>
                    </a:p>
                  </a:txBody>
                  <a:tcPr marL="73152" marR="73152" marT="36576" marB="36576">
                    <a:solidFill>
                      <a:srgbClr val="FFFFFF"/>
                    </a:solidFill>
                  </a:tcPr>
                </a:tc>
              </a:tr>
              <a:tr h="365760">
                <a:tc>
                  <a:txBody>
                    <a:bodyPr wrap="square"/>
                    <a:lstStyle/>
                    <a:p>
                      <a:r>
                        <a:rPr sz="1600" b="1">
                          <a:solidFill>
                            <a:srgbClr val="1B1B1B"/>
                          </a:solidFill>
                          <a:latin typeface="Calibri"/>
                        </a:rPr>
                        <a:t>Un article a-t-il été retiré ?</a:t>
                      </a:r>
                    </a:p>
                  </a:txBody>
                  <a:tcPr marL="73152" marR="73152" marT="36576" marB="36576">
                    <a:solidFill>
                      <a:srgbClr val="F3F5F9"/>
                    </a:solidFill>
                  </a:tcPr>
                </a:tc>
                <a:tc>
                  <a:txBody>
                    <a:bodyPr wrap="square"/>
                    <a:lstStyle/>
                    <a:p>
                      <a:r>
                        <a:rPr sz="1600" b="0">
                          <a:solidFill>
                            <a:srgbClr val="1B1B1B"/>
                          </a:solidFill>
                          <a:latin typeface="Calibri"/>
                        </a:rPr>
                        <a:t>retractiondatabase.org</a:t>
                      </a:r>
                    </a:p>
                  </a:txBody>
                  <a:tcPr marL="73152" marR="73152" marT="36576" marB="36576">
                    <a:solidFill>
                      <a:srgbClr val="F3F5F9"/>
                    </a:solidFill>
                  </a:tcPr>
                </a:tc>
                <a:tc>
                  <a:txBody>
                    <a:bodyPr wrap="square"/>
                    <a:lstStyle/>
                    <a:p>
                      <a:r>
                        <a:rPr sz="1600" b="0">
                          <a:solidFill>
                            <a:srgbClr val="1B1B1B"/>
                          </a:solidFill>
                          <a:latin typeface="Calibri"/>
                        </a:rPr>
                        <a:t>Base de Retraction Watch</a:t>
                      </a:r>
                    </a:p>
                  </a:txBody>
                  <a:tcPr marL="73152" marR="73152" marT="36576" marB="36576">
                    <a:solidFill>
                      <a:srgbClr val="F3F5F9"/>
                    </a:solidFill>
                  </a:tcPr>
                </a:tc>
              </a:tr>
              <a:tr h="365760">
                <a:tc>
                  <a:txBody>
                    <a:bodyPr wrap="square"/>
                    <a:lstStyle/>
                    <a:p>
                      <a:r>
                        <a:rPr sz="1600" b="1">
                          <a:solidFill>
                            <a:srgbClr val="1B1B1B"/>
                          </a:solidFill>
                          <a:latin typeface="Calibri"/>
                        </a:rPr>
                        <a:t>Une rumeur ou un chiffre viral</a:t>
                      </a:r>
                    </a:p>
                  </a:txBody>
                  <a:tcPr marL="73152" marR="73152" marT="36576" marB="36576">
                    <a:solidFill>
                      <a:srgbClr val="FFFFFF"/>
                    </a:solidFill>
                  </a:tcPr>
                </a:tc>
                <a:tc>
                  <a:txBody>
                    <a:bodyPr wrap="square"/>
                    <a:lstStyle/>
                    <a:p>
                      <a:r>
                        <a:rPr sz="1600" b="0">
                          <a:solidFill>
                            <a:srgbClr val="1B1B1B"/>
                          </a:solidFill>
                          <a:latin typeface="Calibri"/>
                        </a:rPr>
                        <a:t>toolbox.google.com/factcheck/explorer</a:t>
                      </a:r>
                    </a:p>
                  </a:txBody>
                  <a:tcPr marL="73152" marR="73152" marT="36576" marB="36576">
                    <a:solidFill>
                      <a:srgbClr val="FFFFFF"/>
                    </a:solidFill>
                  </a:tcPr>
                </a:tc>
                <a:tc>
                  <a:txBody>
                    <a:bodyPr wrap="square"/>
                    <a:lstStyle/>
                    <a:p>
                      <a:r>
                        <a:rPr sz="1600" b="0">
                          <a:solidFill>
                            <a:srgbClr val="1B1B1B"/>
                          </a:solidFill>
                          <a:latin typeface="Calibri"/>
                        </a:rPr>
                        <a:t>Moteur de vérifications publiées par des médias</a:t>
                      </a:r>
                    </a:p>
                  </a:txBody>
                  <a:tcPr marL="73152" marR="73152" marT="36576" marB="36576">
                    <a:solidFill>
                      <a:srgbClr val="FFFFFF"/>
                    </a:solidFill>
                  </a:tcPr>
                </a:tc>
              </a:tr>
              <a:tr h="365760">
                <a:tc>
                  <a:txBody>
                    <a:bodyPr wrap="square"/>
                    <a:lstStyle/>
                    <a:p>
                      <a:r>
                        <a:rPr sz="1600" b="1">
                          <a:solidFill>
                            <a:srgbClr val="1B1B1B"/>
                          </a:solidFill>
                          <a:latin typeface="Calibri"/>
                        </a:rPr>
                        <a:t>Des experts cyber reconnus</a:t>
                      </a:r>
                    </a:p>
                  </a:txBody>
                  <a:tcPr marL="73152" marR="73152" marT="36576" marB="36576">
                    <a:solidFill>
                      <a:srgbClr val="F3F5F9"/>
                    </a:solidFill>
                  </a:tcPr>
                </a:tc>
                <a:tc>
                  <a:txBody>
                    <a:bodyPr wrap="square"/>
                    <a:lstStyle/>
                    <a:p>
                      <a:r>
                        <a:rPr sz="1600" b="0">
                          <a:solidFill>
                            <a:srgbClr val="1B1B1B"/>
                          </a:solidFill>
                          <a:latin typeface="Calibri"/>
                        </a:rPr>
                        <a:t>Krebs on Security, Schneier on Security, SANS ISC, Project Zero</a:t>
                      </a:r>
                    </a:p>
                  </a:txBody>
                  <a:tcPr marL="73152" marR="73152" marT="36576" marB="36576">
                    <a:solidFill>
                      <a:srgbClr val="F3F5F9"/>
                    </a:solidFill>
                  </a:tcPr>
                </a:tc>
                <a:tc>
                  <a:txBody>
                    <a:bodyPr wrap="square"/>
                    <a:lstStyle/>
                    <a:p>
                      <a:r>
                        <a:rPr sz="1600" b="0">
                          <a:solidFill>
                            <a:srgbClr val="1B1B1B"/>
                          </a:solidFill>
                          <a:latin typeface="Calibri"/>
                        </a:rPr>
                        <a:t>Qui est-il ? qui le finance ? qui le recoupe ?</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Un expert éclaire et alerte mais n'est pas une institution : recoupez toujours avec une source officielle.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9</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Trouver deux sources institutionnelles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EX9</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45</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15 min  ·  Carnet · chapitre 3  ·  Outil : sites ANSSI, CNIL, ENISA, NIST</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Trouver des sources solides pour établir un fait : institutions, normes, et experts reconnus du domaine, et savoir dire ce que chacune vaut (recommandation, norme, loi, avis).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50"/>
              </a:spcAft>
            </a:pPr>
            <a:r>
              <a:rPr sz="1500" b="0" i="0">
                <a:solidFill>
                  <a:srgbClr val="1B1B1B"/>
                </a:solidFill>
                <a:latin typeface="Calibri"/>
              </a:rPr>
              <a:t>Pour votre question, cherchez deux documents : au moins un publié par un organisme public ou de normalisation ; l'autre peut venir d'un expert reconnu du domaine.</a:t>
            </a:r>
          </a:p>
          <a:p>
            <a:pPr algn="l">
              <a:spcAft>
                <a:spcPts val="450"/>
              </a:spcAft>
            </a:pPr>
            <a:r>
              <a:rPr sz="1500" b="0" i="0">
                <a:solidFill>
                  <a:srgbClr val="1B1B1B"/>
                </a:solidFill>
                <a:latin typeface="Calibri"/>
              </a:rPr>
              <a:t>Pistes institutionnelles : ANSSI et CNIL (France), ENISA (Europe), NIST (États-Unis), ISO et AFNOR (normes, parfois payantes).</a:t>
            </a:r>
          </a:p>
          <a:p>
            <a:pPr algn="l">
              <a:spcAft>
                <a:spcPts val="450"/>
              </a:spcAft>
            </a:pPr>
            <a:r>
              <a:rPr sz="1500" b="0" i="0">
                <a:solidFill>
                  <a:srgbClr val="1B1B1B"/>
                </a:solidFill>
                <a:latin typeface="Calibri"/>
              </a:rPr>
              <a:t>Pistes d'experts en cybersécurité : blogs et centres d'alerte tenus par des spécialistes reconnus (par exemple Krebs on Security, Schneier on Security, SANS Internet Storm Center, Google Project Zero). Un expert n'est pas une institution : regardez qui il est, qui le finance et si d'autres sources le recoupent.</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Trouvez deux documents utiles à votre question (au moins un d'un organisme public).</a:t>
            </a:r>
          </a:p>
          <a:p>
            <a:pPr algn="l" marL="274320" indent="-274320">
              <a:spcAft>
                <a:spcPts val="480"/>
              </a:spcAft>
              <a:buAutoNum type="arabicPeriod"/>
            </a:pPr>
            <a:r>
              <a:rPr sz="1600" b="0" i="0">
                <a:solidFill>
                  <a:srgbClr val="1B1B1B"/>
                </a:solidFill>
                <a:latin typeface="Calibri"/>
              </a:rPr>
              <a:t>Notez pour chacun : auteur ou organisme, titre, date, version, adresse.</a:t>
            </a:r>
          </a:p>
          <a:p>
            <a:pPr algn="l" marL="274320" indent="-274320">
              <a:spcAft>
                <a:spcPts val="480"/>
              </a:spcAft>
              <a:buAutoNum type="arabicPeriod"/>
            </a:pPr>
            <a:r>
              <a:rPr sz="1600" b="0" i="0">
                <a:solidFill>
                  <a:srgbClr val="1B1B1B"/>
                </a:solidFill>
                <a:latin typeface="Calibri"/>
              </a:rPr>
              <a:t>Recommandation, norme, loi, rapport ou avis d'expert ? Une phrase de synthèse par document.</a:t>
            </a:r>
          </a:p>
          <a:p>
            <a:pPr algn="l" marL="274320" indent="-274320">
              <a:spcAft>
                <a:spcPts val="480"/>
              </a:spcAft>
              <a:buAutoNum type="arabicPeriod"/>
            </a:pPr>
            <a:r>
              <a:rPr sz="1600" b="0" i="0">
                <a:solidFill>
                  <a:srgbClr val="1B1B1B"/>
                </a:solidFill>
                <a:latin typeface="Calibri"/>
              </a:rPr>
              <a:t>Avec Le Chat (Mistral) ou une autre IA (notez laquelle) : demandez les organismes et experts qui ont publié sur votre sujet. Combien de ses noms existent vraiment et ont publié sur le sujet (vérifiez sur leur site)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Deux références complètes avec une phrase de synthèse chacune. → Dossier, section 4.</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9.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9 — Trouver deux sources institutionnelles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EX9</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46</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Chercher d'abord sur le site de l'organisme.</a:t>
            </a:r>
          </a:p>
          <a:p>
            <a:pPr algn="l" marL="274320" indent="-274320">
              <a:spcAft>
                <a:spcPts val="375"/>
              </a:spcAft>
              <a:buAutoNum type="arabicPeriod"/>
            </a:pPr>
            <a:r>
              <a:rPr sz="1500" b="0" i="0">
                <a:solidFill>
                  <a:srgbClr val="1B1B1B"/>
                </a:solidFill>
                <a:latin typeface="Calibri"/>
              </a:rPr>
              <a:t>Noter date et version.</a:t>
            </a:r>
          </a:p>
          <a:p>
            <a:pPr algn="l" marL="274320" indent="-274320">
              <a:spcAft>
                <a:spcPts val="375"/>
              </a:spcAft>
              <a:buAutoNum type="arabicPeriod"/>
            </a:pPr>
            <a:r>
              <a:rPr sz="1500" b="0" i="0">
                <a:solidFill>
                  <a:srgbClr val="1B1B1B"/>
                </a:solidFill>
                <a:latin typeface="Calibri"/>
              </a:rPr>
              <a:t>Distinguer recommandation, norme et loi.</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2194560"/>
                <a:gridCol w="5852160"/>
              </a:tblGrid>
              <a:tr h="237744">
                <a:tc>
                  <a:txBody>
                    <a:bodyPr wrap="square"/>
                    <a:lstStyle/>
                    <a:p>
                      <a:r>
                        <a:rPr sz="1500" b="1">
                          <a:solidFill>
                            <a:srgbClr val="FFFFFF"/>
                          </a:solidFill>
                          <a:latin typeface="Calibri"/>
                        </a:rPr>
                        <a:t>Type</a:t>
                      </a:r>
                    </a:p>
                  </a:txBody>
                  <a:tcPr marL="73152" marR="73152" marT="36576" marB="36576">
                    <a:solidFill>
                      <a:srgbClr val="1F2A5C"/>
                    </a:solidFill>
                  </a:tcPr>
                </a:tc>
                <a:tc>
                  <a:txBody>
                    <a:bodyPr wrap="square"/>
                    <a:lstStyle/>
                    <a:p>
                      <a:r>
                        <a:rPr sz="1500" b="1">
                          <a:solidFill>
                            <a:srgbClr val="FFFFFF"/>
                          </a:solidFill>
                          <a:latin typeface="Calibri"/>
                        </a:rPr>
                        <a:t>Ce que c'est, et exemple</a:t>
                      </a:r>
                    </a:p>
                  </a:txBody>
                  <a:tcPr marL="73152" marR="73152" marT="36576" marB="36576">
                    <a:solidFill>
                      <a:srgbClr val="1F2A5C"/>
                    </a:solidFill>
                  </a:tcPr>
                </a:tc>
              </a:tr>
              <a:tr h="237744">
                <a:tc>
                  <a:txBody>
                    <a:bodyPr wrap="square"/>
                    <a:lstStyle/>
                    <a:p>
                      <a:r>
                        <a:rPr sz="1500" b="1">
                          <a:solidFill>
                            <a:srgbClr val="1B1B1B"/>
                          </a:solidFill>
                          <a:latin typeface="Calibri"/>
                        </a:rPr>
                        <a:t>Recommandation</a:t>
                      </a:r>
                    </a:p>
                  </a:txBody>
                  <a:tcPr marL="73152" marR="73152" marT="36576" marB="36576">
                    <a:solidFill>
                      <a:srgbClr val="FFFFFF"/>
                    </a:solidFill>
                  </a:tcPr>
                </a:tc>
                <a:tc>
                  <a:txBody>
                    <a:bodyPr wrap="square"/>
                    <a:lstStyle/>
                    <a:p>
                      <a:r>
                        <a:rPr sz="1500" b="0">
                          <a:solidFill>
                            <a:srgbClr val="1B1B1B"/>
                          </a:solidFill>
                          <a:latin typeface="Calibri"/>
                        </a:rPr>
                        <a:t>Guide de bonnes pratiques : pas obligatoire, mais fait référence (guides d'une agence nationale, par exemple)</a:t>
                      </a:r>
                    </a:p>
                  </a:txBody>
                  <a:tcPr marL="73152" marR="73152" marT="36576" marB="36576">
                    <a:solidFill>
                      <a:srgbClr val="FFFFFF"/>
                    </a:solidFill>
                  </a:tcPr>
                </a:tc>
              </a:tr>
              <a:tr h="237744">
                <a:tc>
                  <a:txBody>
                    <a:bodyPr wrap="square"/>
                    <a:lstStyle/>
                    <a:p>
                      <a:r>
                        <a:rPr sz="1500" b="1">
                          <a:solidFill>
                            <a:srgbClr val="1B1B1B"/>
                          </a:solidFill>
                          <a:latin typeface="Calibri"/>
                        </a:rPr>
                        <a:t>Norme</a:t>
                      </a:r>
                    </a:p>
                  </a:txBody>
                  <a:tcPr marL="73152" marR="73152" marT="36576" marB="36576">
                    <a:solidFill>
                      <a:srgbClr val="F3F5F9"/>
                    </a:solidFill>
                  </a:tcPr>
                </a:tc>
                <a:tc>
                  <a:txBody>
                    <a:bodyPr wrap="square"/>
                    <a:lstStyle/>
                    <a:p>
                      <a:r>
                        <a:rPr sz="1500" b="0">
                          <a:solidFill>
                            <a:srgbClr val="1B1B1B"/>
                          </a:solidFill>
                          <a:latin typeface="Calibri"/>
                        </a:rPr>
                        <a:t>Texte consensuel de normalisation (ISO, AFNOR) : applicable si on s'y engage, parfois payante</a:t>
                      </a:r>
                    </a:p>
                  </a:txBody>
                  <a:tcPr marL="73152" marR="73152" marT="36576" marB="36576">
                    <a:solidFill>
                      <a:srgbClr val="F3F5F9"/>
                    </a:solidFill>
                  </a:tcPr>
                </a:tc>
              </a:tr>
              <a:tr h="237744">
                <a:tc>
                  <a:txBody>
                    <a:bodyPr wrap="square"/>
                    <a:lstStyle/>
                    <a:p>
                      <a:r>
                        <a:rPr sz="1500" b="1">
                          <a:solidFill>
                            <a:srgbClr val="1B1B1B"/>
                          </a:solidFill>
                          <a:latin typeface="Calibri"/>
                        </a:rPr>
                        <a:t>Obligation légale</a:t>
                      </a:r>
                    </a:p>
                  </a:txBody>
                  <a:tcPr marL="73152" marR="73152" marT="36576" marB="36576">
                    <a:solidFill>
                      <a:srgbClr val="FFFFFF"/>
                    </a:solidFill>
                  </a:tcPr>
                </a:tc>
                <a:tc>
                  <a:txBody>
                    <a:bodyPr wrap="square"/>
                    <a:lstStyle/>
                    <a:p>
                      <a:r>
                        <a:rPr sz="1500" b="0">
                          <a:solidFill>
                            <a:srgbClr val="1B1B1B"/>
                          </a:solidFill>
                          <a:latin typeface="Calibri"/>
                        </a:rPr>
                        <a:t>Loi ou règlement : s'impose (par exemple le RGPD pour les données personnelles)</a:t>
                      </a:r>
                    </a:p>
                  </a:txBody>
                  <a:tcPr marL="73152" marR="73152" marT="36576" marB="36576">
                    <a:solidFill>
                      <a:srgbClr val="FFFFFF"/>
                    </a:solidFill>
                  </a:tcPr>
                </a:tc>
              </a:tr>
              <a:tr h="237744">
                <a:tc>
                  <a:txBody>
                    <a:bodyPr wrap="square"/>
                    <a:lstStyle/>
                    <a:p>
                      <a:r>
                        <a:rPr sz="1500" b="1">
                          <a:solidFill>
                            <a:srgbClr val="1B1B1B"/>
                          </a:solidFill>
                          <a:latin typeface="Calibri"/>
                        </a:rPr>
                        <a:t>Rapport d'étude</a:t>
                      </a:r>
                    </a:p>
                  </a:txBody>
                  <a:tcPr marL="73152" marR="73152" marT="36576" marB="36576">
                    <a:solidFill>
                      <a:srgbClr val="F3F5F9"/>
                    </a:solidFill>
                  </a:tcPr>
                </a:tc>
                <a:tc>
                  <a:txBody>
                    <a:bodyPr wrap="square"/>
                    <a:lstStyle/>
                    <a:p>
                      <a:r>
                        <a:rPr sz="1500" b="0">
                          <a:solidFill>
                            <a:srgbClr val="1B1B1B"/>
                          </a:solidFill>
                          <a:latin typeface="Calibri"/>
                        </a:rPr>
                        <a:t>Observations ou statistiques : à lire avec la méthode et la date</a:t>
                      </a:r>
                    </a:p>
                  </a:txBody>
                  <a:tcPr marL="73152" marR="73152" marT="36576" marB="36576">
                    <a:solidFill>
                      <a:srgbClr val="F3F5F9"/>
                    </a:solidFill>
                  </a:tcPr>
                </a:tc>
              </a:tr>
              <a:tr h="237744">
                <a:tc>
                  <a:txBody>
                    <a:bodyPr wrap="square"/>
                    <a:lstStyle/>
                    <a:p>
                      <a:r>
                        <a:rPr sz="1500" b="1">
                          <a:solidFill>
                            <a:srgbClr val="1B1B1B"/>
                          </a:solidFill>
                          <a:latin typeface="Calibri"/>
                        </a:rPr>
                        <a:t>Expert reconnu</a:t>
                      </a:r>
                    </a:p>
                  </a:txBody>
                  <a:tcPr marL="73152" marR="73152" marT="36576" marB="36576">
                    <a:solidFill>
                      <a:srgbClr val="FFFFFF"/>
                    </a:solidFill>
                  </a:tcPr>
                </a:tc>
                <a:tc>
                  <a:txBody>
                    <a:bodyPr wrap="square"/>
                    <a:lstStyle/>
                    <a:p>
                      <a:r>
                        <a:rPr sz="1500" b="0">
                          <a:solidFill>
                            <a:srgbClr val="1B1B1B"/>
                          </a:solidFill>
                          <a:latin typeface="Calibri"/>
                        </a:rPr>
                        <a:t>Spécialiste identifiable, travaux cités par d'autres : à lire avec la grille (qui le finance, lien avec un éditeur, recoupement). Il appuie un argument mais ne remplace pas un texte officiel pour établir un fait.</a:t>
                      </a:r>
                    </a:p>
                  </a:txBody>
                  <a:tcPr marL="73152" marR="73152" marT="36576" marB="36576">
                    <a:solidFill>
                      <a:srgbClr val="FFFFFF"/>
                    </a:solidFill>
                  </a:tcPr>
                </a:tc>
              </a:tr>
              <a:tr h="237744">
                <a:tc>
                  <a:txBody>
                    <a:bodyPr wrap="square"/>
                    <a:lstStyle/>
                    <a:p>
                      <a:r>
                        <a:rPr sz="1500" b="1">
                          <a:solidFill>
                            <a:srgbClr val="1B1B1B"/>
                          </a:solidFill>
                          <a:latin typeface="Calibri"/>
                        </a:rPr>
                        <a:t>IA · organismes cités</a:t>
                      </a:r>
                    </a:p>
                  </a:txBody>
                  <a:tcPr marL="73152" marR="73152" marT="36576" marB="36576">
                    <a:solidFill>
                      <a:srgbClr val="F3F5F9"/>
                    </a:solidFill>
                  </a:tcPr>
                </a:tc>
                <a:tc>
                  <a:txBody>
                    <a:bodyPr wrap="square"/>
                    <a:lstStyle/>
                    <a:p>
                      <a:r>
                        <a:rPr sz="1500" b="0">
                          <a:solidFill>
                            <a:srgbClr val="1B1B1B"/>
                          </a:solidFill>
                          <a:latin typeface="Calibri"/>
                        </a:rPr>
                        <a:t>L'IA cite souvent des organismes réels mais leur attribue parfois des documents qu'ils n'ont pas publiés : ouvrez le site de l'organisme et cherchez le titre.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Prendre une recommandation pour une obligation.</a:t>
            </a:r>
          </a:p>
          <a:p>
            <a:pPr algn="l" marL="201168" indent="-201168">
              <a:spcAft>
                <a:spcPts val="110"/>
              </a:spcAft>
              <a:buChar char="•"/>
            </a:pPr>
            <a:r>
              <a:rPr sz="1100" b="0" i="0">
                <a:solidFill>
                  <a:srgbClr val="1B1B1B"/>
                </a:solidFill>
                <a:latin typeface="Calibri"/>
              </a:rPr>
              <a:t>Citer sans date ni version : le document a peut-être été remplacé.</a:t>
            </a:r>
          </a:p>
          <a:p>
            <a:pPr algn="l" marL="201168" indent="-201168">
              <a:spcAft>
                <a:spcPts val="110"/>
              </a:spcAft>
              <a:buChar char="•"/>
            </a:pPr>
            <a:r>
              <a:rPr sz="1100" b="0" i="0">
                <a:solidFill>
                  <a:srgbClr val="1B1B1B"/>
                </a:solidFill>
                <a:latin typeface="Calibri"/>
              </a:rPr>
              <a:t>Citer un lien qui ne fonctionnera plus : enregistrer le document (Zotero).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M2</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Défi chrono : trouver l'article en accès libre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M2</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47</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Binômes, ordinateur  ·  15 min  ·  Carnet · chapitre 3  ·  Outil : Google Scholar, arXiv, HAL, Unpaywall, Zotero</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trouver la version gratuite et légale d'un article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70"/>
              </a:spcAft>
            </a:pPr>
            <a:r>
              <a:rPr sz="1900" b="0" i="0">
                <a:solidFill>
                  <a:srgbClr val="1B1B1B"/>
                </a:solidFill>
                <a:latin typeface="Calibri"/>
              </a:rPr>
              <a:t>Un article payant n'est pas un article inaccessible : l'auteur en dépose souvent une version gratuite (archive ouverte). Vous avez 5 minutes par article.</a:t>
            </a:r>
          </a:p>
          <a:p>
            <a:pPr algn="l">
              <a:spcAft>
                <a:spcPts val="570"/>
              </a:spcAft>
            </a:pPr>
            <a:r>
              <a:rPr sz="1900" b="0" i="0">
                <a:solidFill>
                  <a:srgbClr val="1B1B1B"/>
                </a:solidFill>
                <a:latin typeface="Calibri"/>
              </a:rPr>
              <a:t>Article 1 : Meyer L. A. et al. (2023), « How effective is multifactor authentication at deterring cyberattacks? ». Article 2 : un article payant de votre sujet, trouvé dans Google Scholar (ou, à défaut, tout article dont le PDF vous est refusé).</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90"/>
              </a:spcAft>
              <a:buAutoNum type="arabicPeriod"/>
            </a:pPr>
            <a:r>
              <a:rPr sz="1300" b="0" i="0">
                <a:solidFill>
                  <a:srgbClr val="1B1B1B"/>
                </a:solidFill>
                <a:latin typeface="Calibri"/>
              </a:rPr>
              <a:t>Article 1 : cherchez son titre exact entre guillemets dans Google Scholar. Combien de versions propose le lien « Toutes les versions » ?</a:t>
            </a:r>
          </a:p>
          <a:p>
            <a:pPr algn="l" marL="274320" indent="-274320">
              <a:spcAft>
                <a:spcPts val="390"/>
              </a:spcAft>
              <a:buAutoNum type="arabicPeriod"/>
            </a:pPr>
            <a:r>
              <a:rPr sz="1300" b="0" i="0">
                <a:solidFill>
                  <a:srgbClr val="1B1B1B"/>
                </a:solidFill>
                <a:latin typeface="Calibri"/>
              </a:rPr>
              <a:t>Article 1 : quelle est l'adresse de la version gratuite ?</a:t>
            </a:r>
          </a:p>
          <a:p>
            <a:pPr algn="l" marL="274320" indent="-274320">
              <a:spcAft>
                <a:spcPts val="390"/>
              </a:spcAft>
              <a:buAutoNum type="arabicPeriod"/>
            </a:pPr>
            <a:r>
              <a:rPr sz="1300" b="0" i="0">
                <a:solidFill>
                  <a:srgbClr val="1B1B1B"/>
                </a:solidFill>
                <a:latin typeface="Calibri"/>
              </a:rPr>
              <a:t>Article 2 : essayez dans l'ordre le lien [PDF] de Scholar, « Toutes les versions », HAL, arXiv, puis l'extension Unpaywall. Quelle voie a marché ?</a:t>
            </a:r>
          </a:p>
          <a:p>
            <a:pPr algn="l" marL="274320" indent="-274320">
              <a:spcAft>
                <a:spcPts val="390"/>
              </a:spcAft>
              <a:buAutoNum type="arabicPeriod"/>
            </a:pPr>
            <a:r>
              <a:rPr sz="1300" b="0" i="0">
                <a:solidFill>
                  <a:srgbClr val="1B1B1B"/>
                </a:solidFill>
                <a:latin typeface="Calibri"/>
              </a:rPr>
              <a:t>Si rien ne marche pour l'article 2 : notez la référence et le résumé, et indiquez « accès payant » dans votre fiche.</a:t>
            </a:r>
          </a:p>
          <a:p>
            <a:pPr algn="l" marL="274320" indent="-274320">
              <a:spcAft>
                <a:spcPts val="390"/>
              </a:spcAft>
              <a:buAutoNum type="arabicPeriod"/>
            </a:pPr>
            <a:r>
              <a:rPr sz="1300" b="0" i="0">
                <a:solidFill>
                  <a:srgbClr val="1B1B1B"/>
                </a:solidFill>
                <a:latin typeface="Calibri"/>
              </a:rPr>
              <a:t>Avec Gemini ou une autre IA (notez laquelle) : demandez le lien gratuit de l'article 2. Le lien proposé est-il réel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Livrable : Une référence avec son lien d'accès libre, enregistrée dans Zotero → Dossier, section 17.</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M2.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75"/>
              </a:spcAft>
            </a:pPr>
            <a:r>
              <a:rPr sz="2500" b="1" i="0">
                <a:solidFill>
                  <a:srgbClr val="FFFFFF"/>
                </a:solidFill>
                <a:latin typeface="Calibri"/>
              </a:rPr>
              <a:t>Correction · M2 — Défi chrono : trouver l'article en accès libre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M2</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48</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Chercher le titre exact entre guillemets.</a:t>
            </a:r>
          </a:p>
          <a:p>
            <a:pPr algn="l" marL="274320" indent="-274320">
              <a:spcAft>
                <a:spcPts val="375"/>
              </a:spcAft>
              <a:buAutoNum type="arabicPeriod"/>
            </a:pPr>
            <a:r>
              <a:rPr sz="1500" b="0" i="0">
                <a:solidFill>
                  <a:srgbClr val="1B1B1B"/>
                </a:solidFill>
                <a:latin typeface="Calibri"/>
              </a:rPr>
              <a:t>Ouvrir « Toutes les versions » avant de payer quoi que ce soit.</a:t>
            </a:r>
          </a:p>
          <a:p>
            <a:pPr algn="l" marL="274320" indent="-274320">
              <a:spcAft>
                <a:spcPts val="375"/>
              </a:spcAft>
              <a:buAutoNum type="arabicPeriod"/>
            </a:pPr>
            <a:r>
              <a:rPr sz="1500" b="0" i="0">
                <a:solidFill>
                  <a:srgbClr val="1B1B1B"/>
                </a:solidFill>
                <a:latin typeface="Calibri"/>
              </a:rPr>
              <a:t>Tester une archive ouverte (HAL, arXiv), puis Unpaywall ; sinon noter « accès payant ».</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1810512"/>
                <a:gridCol w="6236208"/>
              </a:tblGrid>
              <a:tr h="237744">
                <a:tc>
                  <a:txBody>
                    <a:bodyPr wrap="square"/>
                    <a:lstStyle/>
                    <a:p>
                      <a:r>
                        <a:rPr sz="1500" b="1">
                          <a:solidFill>
                            <a:srgbClr val="FFFFFF"/>
                          </a:solidFill>
                          <a:latin typeface="Calibri"/>
                        </a:rPr>
                        <a:t>Étape</a:t>
                      </a:r>
                    </a:p>
                  </a:txBody>
                  <a:tcPr marL="73152" marR="73152" marT="36576" marB="36576">
                    <a:solidFill>
                      <a:srgbClr val="1F2A5C"/>
                    </a:solidFill>
                  </a:tcPr>
                </a:tc>
                <a:tc>
                  <a:txBody>
                    <a:bodyPr wrap="square"/>
                    <a:lstStyle/>
                    <a:p>
                      <a:r>
                        <a:rPr sz="1500" b="1">
                          <a:solidFill>
                            <a:srgbClr val="FFFFFF"/>
                          </a:solidFill>
                          <a:latin typeface="Calibri"/>
                        </a:rPr>
                        <a:t>Résultat attendu (article 1)</a:t>
                      </a:r>
                    </a:p>
                  </a:txBody>
                  <a:tcPr marL="73152" marR="73152" marT="36576" marB="36576">
                    <a:solidFill>
                      <a:srgbClr val="1F2A5C"/>
                    </a:solidFill>
                  </a:tcPr>
                </a:tc>
              </a:tr>
              <a:tr h="237744">
                <a:tc>
                  <a:txBody>
                    <a:bodyPr wrap="square"/>
                    <a:lstStyle/>
                    <a:p>
                      <a:r>
                        <a:rPr sz="1500" b="1">
                          <a:solidFill>
                            <a:srgbClr val="1B1B1B"/>
                          </a:solidFill>
                          <a:latin typeface="Calibri"/>
                        </a:rPr>
                        <a:t>Recherche</a:t>
                      </a:r>
                    </a:p>
                  </a:txBody>
                  <a:tcPr marL="73152" marR="73152" marT="36576" marB="36576">
                    <a:solidFill>
                      <a:srgbClr val="FFFFFF"/>
                    </a:solidFill>
                  </a:tcPr>
                </a:tc>
                <a:tc>
                  <a:txBody>
                    <a:bodyPr wrap="square"/>
                    <a:lstStyle/>
                    <a:p>
                      <a:r>
                        <a:rPr sz="1500" b="0">
                          <a:solidFill>
                            <a:srgbClr val="1B1B1B"/>
                          </a:solidFill>
                          <a:latin typeface="Calibri"/>
                        </a:rPr>
                        <a:t>Titre exact entre guillemets dans Scholar : la page de résultats propose une version arXiv (arxiv.org/abs/2305.00945) et la page de l'éditeur.</a:t>
                      </a:r>
                    </a:p>
                  </a:txBody>
                  <a:tcPr marL="73152" marR="73152" marT="36576" marB="36576">
                    <a:solidFill>
                      <a:srgbClr val="FFFFFF"/>
                    </a:solidFill>
                  </a:tcPr>
                </a:tc>
              </a:tr>
              <a:tr h="237744">
                <a:tc>
                  <a:txBody>
                    <a:bodyPr wrap="square"/>
                    <a:lstStyle/>
                    <a:p>
                      <a:r>
                        <a:rPr sz="1500" b="1">
                          <a:solidFill>
                            <a:srgbClr val="1B1B1B"/>
                          </a:solidFill>
                          <a:latin typeface="Calibri"/>
                        </a:rPr>
                        <a:t>Version gratuite</a:t>
                      </a:r>
                    </a:p>
                  </a:txBody>
                  <a:tcPr marL="73152" marR="73152" marT="36576" marB="36576">
                    <a:solidFill>
                      <a:srgbClr val="F3F5F9"/>
                    </a:solidFill>
                  </a:tcPr>
                </a:tc>
                <a:tc>
                  <a:txBody>
                    <a:bodyPr wrap="square"/>
                    <a:lstStyle/>
                    <a:p>
                      <a:r>
                        <a:rPr sz="1500" b="0">
                          <a:solidFill>
                            <a:srgbClr val="1B1B1B"/>
                          </a:solidFill>
                          <a:latin typeface="Calibri"/>
                        </a:rPr>
                        <a:t>arXiv : arxiv.org/abs/2305.00945 (version 1 du 1er mai 2023), PDF libre.</a:t>
                      </a:r>
                    </a:p>
                  </a:txBody>
                  <a:tcPr marL="73152" marR="73152" marT="36576" marB="36576">
                    <a:solidFill>
                      <a:srgbClr val="F3F5F9"/>
                    </a:solidFill>
                  </a:tcPr>
                </a:tc>
              </a:tr>
              <a:tr h="237744">
                <a:tc>
                  <a:txBody>
                    <a:bodyPr wrap="square"/>
                    <a:lstStyle/>
                    <a:p>
                      <a:r>
                        <a:rPr sz="1500" b="1">
                          <a:solidFill>
                            <a:srgbClr val="1B1B1B"/>
                          </a:solidFill>
                          <a:latin typeface="Calibri"/>
                        </a:rPr>
                        <a:t>Voies pour l'article 2</a:t>
                      </a:r>
                    </a:p>
                  </a:txBody>
                  <a:tcPr marL="73152" marR="73152" marT="36576" marB="36576">
                    <a:solidFill>
                      <a:srgbClr val="FFFFFF"/>
                    </a:solidFill>
                  </a:tcPr>
                </a:tc>
                <a:tc>
                  <a:txBody>
                    <a:bodyPr wrap="square"/>
                    <a:lstStyle/>
                    <a:p>
                      <a:r>
                        <a:rPr sz="1500" b="0">
                          <a:solidFill>
                            <a:srgbClr val="1B1B1B"/>
                          </a:solidFill>
                          <a:latin typeface="Calibri"/>
                        </a:rPr>
                        <a:t>1. Lien [PDF] à droite du résultat. 2. « Toutes les versions ». 3. HAL (hal.science) pour les travaux français, arXiv en informatique. 4. L'extension Unpaywall (unpaywall.org) signale une version légale gratuite. 5. Le bouton « Find Available PDF » de Zotero fait la même recherche.</a:t>
                      </a:r>
                    </a:p>
                  </a:txBody>
                  <a:tcPr marL="73152" marR="73152" marT="36576" marB="36576">
                    <a:solidFill>
                      <a:srgbClr val="FFFFFF"/>
                    </a:solidFill>
                  </a:tcPr>
                </a:tc>
              </a:tr>
              <a:tr h="237744">
                <a:tc>
                  <a:txBody>
                    <a:bodyPr wrap="square"/>
                    <a:lstStyle/>
                    <a:p>
                      <a:r>
                        <a:rPr sz="1500" b="1">
                          <a:solidFill>
                            <a:srgbClr val="1B1B1B"/>
                          </a:solidFill>
                          <a:latin typeface="Calibri"/>
                        </a:rPr>
                        <a:t>Si aucune version</a:t>
                      </a:r>
                    </a:p>
                  </a:txBody>
                  <a:tcPr marL="73152" marR="73152" marT="36576" marB="36576">
                    <a:solidFill>
                      <a:srgbClr val="F3F5F9"/>
                    </a:solidFill>
                  </a:tcPr>
                </a:tc>
                <a:tc>
                  <a:txBody>
                    <a:bodyPr wrap="square"/>
                    <a:lstStyle/>
                    <a:p>
                      <a:r>
                        <a:rPr sz="1500" b="0">
                          <a:solidFill>
                            <a:srgbClr val="1B1B1B"/>
                          </a:solidFill>
                          <a:latin typeface="Calibri"/>
                        </a:rPr>
                        <a:t>Ne pas contourner l'accès payant : citer le résumé comme tel, ou demander l'article par la bibliothèque de l'école.</a:t>
                      </a:r>
                    </a:p>
                  </a:txBody>
                  <a:tcPr marL="73152" marR="73152" marT="36576" marB="36576">
                    <a:solidFill>
                      <a:srgbClr val="F3F5F9"/>
                    </a:solidFill>
                  </a:tcPr>
                </a:tc>
              </a:tr>
              <a:tr h="237744">
                <a:tc>
                  <a:txBody>
                    <a:bodyPr wrap="square"/>
                    <a:lstStyle/>
                    <a:p>
                      <a:r>
                        <a:rPr sz="1500" b="1">
                          <a:solidFill>
                            <a:srgbClr val="1B1B1B"/>
                          </a:solidFill>
                          <a:latin typeface="Calibri"/>
                        </a:rPr>
                        <a:t>IA · lien proposé</a:t>
                      </a:r>
                    </a:p>
                  </a:txBody>
                  <a:tcPr marL="73152" marR="73152" marT="36576" marB="36576">
                    <a:solidFill>
                      <a:srgbClr val="FFFFFF"/>
                    </a:solidFill>
                  </a:tcPr>
                </a:tc>
                <a:tc>
                  <a:txBody>
                    <a:bodyPr wrap="square"/>
                    <a:lstStyle/>
                    <a:p>
                      <a:r>
                        <a:rPr sz="1500" b="0">
                          <a:solidFill>
                            <a:srgbClr val="1B1B1B"/>
                          </a:solidFill>
                          <a:latin typeface="Calibri"/>
                        </a:rPr>
                        <a:t>Souvent un lien inventé ou un site pirate : n'ouvrez que des adresses d'éditeurs, d'archives ouvertes ou d'institutions.</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Payer un article sans avoir cherché une version gratuite.</a:t>
            </a:r>
          </a:p>
          <a:p>
            <a:pPr algn="l" marL="201168" indent="-201168">
              <a:spcAft>
                <a:spcPts val="110"/>
              </a:spcAft>
              <a:buChar char="•"/>
            </a:pPr>
            <a:r>
              <a:rPr sz="1100" b="0" i="0">
                <a:solidFill>
                  <a:srgbClr val="1B1B1B"/>
                </a:solidFill>
                <a:latin typeface="Calibri"/>
              </a:rPr>
              <a:t>Citer un article dont on n'a lu que le titre.</a:t>
            </a:r>
          </a:p>
          <a:p>
            <a:pPr algn="l" marL="201168" indent="-201168">
              <a:spcAft>
                <a:spcPts val="110"/>
              </a:spcAft>
              <a:buChar char="•"/>
            </a:pPr>
            <a:r>
              <a:rPr sz="1100" b="0" i="0">
                <a:solidFill>
                  <a:srgbClr val="1B1B1B"/>
                </a:solidFill>
                <a:latin typeface="Calibri"/>
              </a:rPr>
              <a:t>Utiliser un site pirate : illégal et risqué pour le poste.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Zotero en cinq gestes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49</a:t>
            </a:r>
          </a:p>
        </p:txBody>
      </p:sp>
      <p:sp>
        <p:nvSpPr>
          <p:cNvPr id="6" name="Rounded Rectangle 5"/>
          <p:cNvSpPr/>
          <p:nvPr/>
        </p:nvSpPr>
        <p:spPr>
          <a:xfrm>
            <a:off x="411480" y="1188720"/>
            <a:ext cx="2121408"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121408"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1 · Installer</a:t>
            </a:r>
          </a:p>
        </p:txBody>
      </p:sp>
      <p:sp>
        <p:nvSpPr>
          <p:cNvPr id="8" name="TextBox 7"/>
          <p:cNvSpPr txBox="1"/>
          <p:nvPr/>
        </p:nvSpPr>
        <p:spPr>
          <a:xfrm>
            <a:off x="457200" y="1783080"/>
            <a:ext cx="2029967" cy="3886200"/>
          </a:xfrm>
          <a:prstGeom prst="rect">
            <a:avLst/>
          </a:prstGeom>
          <a:noFill/>
        </p:spPr>
        <p:txBody>
          <a:bodyPr wrap="square" anchor="t">
            <a:spAutoFit/>
          </a:bodyPr>
          <a:lstStyle/>
          <a:p>
            <a:pPr algn="l">
              <a:spcAft>
                <a:spcPts val="509"/>
              </a:spcAft>
            </a:pPr>
            <a:r>
              <a:rPr sz="1700" b="0" i="0">
                <a:solidFill>
                  <a:srgbClr val="1B1B1B"/>
                </a:solidFill>
                <a:latin typeface="Calibri"/>
              </a:rPr>
              <a:t>Application de bureau gratuite et extension du navigateur.</a:t>
            </a:r>
          </a:p>
          <a:p>
            <a:pPr algn="l">
              <a:spcAft>
                <a:spcPts val="509"/>
              </a:spcAft>
            </a:pPr>
            <a:r>
              <a:rPr sz="1700" b="0" i="0">
                <a:solidFill>
                  <a:srgbClr val="1B1B1B"/>
                </a:solidFill>
                <a:latin typeface="Calibri"/>
              </a:rPr>
              <a:t>Ex. : Zotero + Zotero Connector</a:t>
            </a:r>
          </a:p>
        </p:txBody>
      </p:sp>
      <p:sp>
        <p:nvSpPr>
          <p:cNvPr id="9" name="Rounded Rectangle 8"/>
          <p:cNvSpPr/>
          <p:nvPr/>
        </p:nvSpPr>
        <p:spPr>
          <a:xfrm>
            <a:off x="2715768" y="1188720"/>
            <a:ext cx="2121408"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15768" y="1188720"/>
            <a:ext cx="2121408"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2 · Enregistrer</a:t>
            </a:r>
          </a:p>
        </p:txBody>
      </p:sp>
      <p:sp>
        <p:nvSpPr>
          <p:cNvPr id="11" name="TextBox 10"/>
          <p:cNvSpPr txBox="1"/>
          <p:nvPr/>
        </p:nvSpPr>
        <p:spPr>
          <a:xfrm>
            <a:off x="2761488" y="1783080"/>
            <a:ext cx="2029967" cy="3886200"/>
          </a:xfrm>
          <a:prstGeom prst="rect">
            <a:avLst/>
          </a:prstGeom>
          <a:noFill/>
        </p:spPr>
        <p:txBody>
          <a:bodyPr wrap="square" anchor="t">
            <a:spAutoFit/>
          </a:bodyPr>
          <a:lstStyle/>
          <a:p>
            <a:pPr algn="l">
              <a:spcAft>
                <a:spcPts val="509"/>
              </a:spcAft>
            </a:pPr>
            <a:r>
              <a:rPr sz="1700" b="0" i="0">
                <a:solidFill>
                  <a:srgbClr val="1B1B1B"/>
                </a:solidFill>
                <a:latin typeface="Calibri"/>
              </a:rPr>
              <a:t>Un clic sur l'icône depuis HAL, Semantic Scholar, arXiv ou un site.</a:t>
            </a:r>
          </a:p>
          <a:p>
            <a:pPr algn="l">
              <a:spcAft>
                <a:spcPts val="509"/>
              </a:spcAft>
            </a:pPr>
            <a:r>
              <a:rPr sz="1700" b="0" i="0">
                <a:solidFill>
                  <a:srgbClr val="1B1B1B"/>
                </a:solidFill>
                <a:latin typeface="Calibri"/>
              </a:rPr>
              <a:t>Ex. : un rapport d'agence</a:t>
            </a:r>
          </a:p>
        </p:txBody>
      </p:sp>
      <p:sp>
        <p:nvSpPr>
          <p:cNvPr id="12" name="Rounded Rectangle 11"/>
          <p:cNvSpPr/>
          <p:nvPr/>
        </p:nvSpPr>
        <p:spPr>
          <a:xfrm>
            <a:off x="5020056" y="1188720"/>
            <a:ext cx="2121408"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0056" y="1188720"/>
            <a:ext cx="2121408"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3 · Vérifier</a:t>
            </a:r>
          </a:p>
        </p:txBody>
      </p:sp>
      <p:sp>
        <p:nvSpPr>
          <p:cNvPr id="14" name="TextBox 13"/>
          <p:cNvSpPr txBox="1"/>
          <p:nvPr/>
        </p:nvSpPr>
        <p:spPr>
          <a:xfrm>
            <a:off x="5065776" y="1783080"/>
            <a:ext cx="2029967" cy="3886200"/>
          </a:xfrm>
          <a:prstGeom prst="rect">
            <a:avLst/>
          </a:prstGeom>
          <a:noFill/>
        </p:spPr>
        <p:txBody>
          <a:bodyPr wrap="square" anchor="t">
            <a:spAutoFit/>
          </a:bodyPr>
          <a:lstStyle/>
          <a:p>
            <a:pPr algn="l">
              <a:spcAft>
                <a:spcPts val="509"/>
              </a:spcAft>
            </a:pPr>
            <a:r>
              <a:rPr sz="1700" b="0" i="0">
                <a:solidFill>
                  <a:srgbClr val="1B1B1B"/>
                </a:solidFill>
                <a:latin typeface="Calibri"/>
              </a:rPr>
              <a:t>Auteurs, année, titre, adresse.</a:t>
            </a:r>
          </a:p>
          <a:p>
            <a:pPr algn="l">
              <a:spcAft>
                <a:spcPts val="509"/>
              </a:spcAft>
            </a:pPr>
            <a:r>
              <a:rPr sz="1700" b="0" i="0">
                <a:solidFill>
                  <a:srgbClr val="1B1B1B"/>
                </a:solidFill>
                <a:latin typeface="Calibri"/>
              </a:rPr>
              <a:t>Ex. : l'année manque : à compléter</a:t>
            </a:r>
          </a:p>
        </p:txBody>
      </p:sp>
      <p:sp>
        <p:nvSpPr>
          <p:cNvPr id="15" name="Rounded Rectangle 14"/>
          <p:cNvSpPr/>
          <p:nvPr/>
        </p:nvSpPr>
        <p:spPr>
          <a:xfrm>
            <a:off x="7324344" y="1188720"/>
            <a:ext cx="2121408"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24344" y="1188720"/>
            <a:ext cx="2121408"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4 · Classer</a:t>
            </a:r>
          </a:p>
        </p:txBody>
      </p:sp>
      <p:sp>
        <p:nvSpPr>
          <p:cNvPr id="17" name="TextBox 16"/>
          <p:cNvSpPr txBox="1"/>
          <p:nvPr/>
        </p:nvSpPr>
        <p:spPr>
          <a:xfrm>
            <a:off x="7370064" y="1783080"/>
            <a:ext cx="2029967" cy="3886200"/>
          </a:xfrm>
          <a:prstGeom prst="rect">
            <a:avLst/>
          </a:prstGeom>
          <a:noFill/>
        </p:spPr>
        <p:txBody>
          <a:bodyPr wrap="square" anchor="t">
            <a:spAutoFit/>
          </a:bodyPr>
          <a:lstStyle/>
          <a:p>
            <a:pPr algn="l">
              <a:spcAft>
                <a:spcPts val="509"/>
              </a:spcAft>
            </a:pPr>
            <a:r>
              <a:rPr sz="1700" b="0" i="0">
                <a:solidFill>
                  <a:srgbClr val="1B1B1B"/>
                </a:solidFill>
                <a:latin typeface="Calibri"/>
              </a:rPr>
              <a:t>Un dossier par question, des étiquettes.</a:t>
            </a:r>
          </a:p>
          <a:p>
            <a:pPr algn="l">
              <a:spcAft>
                <a:spcPts val="509"/>
              </a:spcAft>
            </a:pPr>
            <a:r>
              <a:rPr sz="1700" b="0" i="0">
                <a:solidFill>
                  <a:srgbClr val="1B1B1B"/>
                </a:solidFill>
                <a:latin typeface="Calibri"/>
              </a:rPr>
              <a:t>Ex. : « retenue », « à recouper »</a:t>
            </a:r>
          </a:p>
        </p:txBody>
      </p:sp>
      <p:sp>
        <p:nvSpPr>
          <p:cNvPr id="18" name="Rounded Rectangle 17"/>
          <p:cNvSpPr/>
          <p:nvPr/>
        </p:nvSpPr>
        <p:spPr>
          <a:xfrm>
            <a:off x="9628632" y="1188720"/>
            <a:ext cx="2121408"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28632" y="1188720"/>
            <a:ext cx="2121408"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5 · Citer</a:t>
            </a:r>
          </a:p>
        </p:txBody>
      </p:sp>
      <p:sp>
        <p:nvSpPr>
          <p:cNvPr id="20" name="TextBox 19"/>
          <p:cNvSpPr txBox="1"/>
          <p:nvPr/>
        </p:nvSpPr>
        <p:spPr>
          <a:xfrm>
            <a:off x="9674352" y="1783080"/>
            <a:ext cx="2029967" cy="3886200"/>
          </a:xfrm>
          <a:prstGeom prst="rect">
            <a:avLst/>
          </a:prstGeom>
          <a:noFill/>
        </p:spPr>
        <p:txBody>
          <a:bodyPr wrap="square" anchor="t">
            <a:spAutoFit/>
          </a:bodyPr>
          <a:lstStyle/>
          <a:p>
            <a:pPr algn="l">
              <a:spcAft>
                <a:spcPts val="509"/>
              </a:spcAft>
            </a:pPr>
            <a:r>
              <a:rPr sz="1700" b="0" i="0">
                <a:solidFill>
                  <a:srgbClr val="1B1B1B"/>
                </a:solidFill>
                <a:latin typeface="Calibri"/>
              </a:rPr>
              <a:t>Bibliographie dans le style demandé.</a:t>
            </a:r>
          </a:p>
          <a:p>
            <a:pPr algn="l">
              <a:spcAft>
                <a:spcPts val="509"/>
              </a:spcAft>
            </a:pPr>
            <a:r>
              <a:rPr sz="1700" b="0" i="0">
                <a:solidFill>
                  <a:srgbClr val="1B1B1B"/>
                </a:solidFill>
                <a:latin typeface="Calibri"/>
              </a:rPr>
              <a:t>Ex. : style IEEE ou auteur-date</a:t>
            </a:r>
          </a:p>
        </p:txBody>
      </p:sp>
      <p:sp>
        <p:nvSpPr>
          <p:cNvPr id="21" name="Rounded Rectangle 20"/>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Google Scholar peut bloquer l'extension (CAPTCHA). Alternatives avec Zotero : HAL, Semantic Scholar, arXiv, ou « Ajouter par identifiant » (DOI).</a:t>
            </a:r>
          </a:p>
        </p:txBody>
      </p:sp>
      <p:sp>
        <p:nvSpPr>
          <p:cNvPr id="22" name="Rounded Rectangle 21"/>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Conseil IA : « Donne 3 mots-clés anglais pour chercher … dans HAL. » Enregistrez ensuite avec Zotero.</a:t>
            </a:r>
          </a:p>
        </p:txBody>
      </p:sp>
      <p:sp>
        <p:nvSpPr>
          <p:cNvPr id="23" name="TextBox 22"/>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zotero.org (documentation officielle).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10</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Atelier Zotero : enregistrer et citer</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EX10</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50</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20 min  ·  Carnet · chapitre 3  ·  Outil : Zotero</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Enregistrer vos sources une fois pour toutes dans Zotero et générer une bibliographie sans erreur, au lieu de la saisir à la main.</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Zotero est un outil gratuit de gestion de références. Version de bureau avec extension de navigateur (Zotero Connector).</a:t>
            </a:r>
          </a:p>
          <a:p>
            <a:pPr algn="l">
              <a:spcAft>
                <a:spcPts val="480"/>
              </a:spcAft>
            </a:pPr>
            <a:r>
              <a:rPr sz="1600" b="0" i="0">
                <a:solidFill>
                  <a:srgbClr val="1B1B1B"/>
                </a:solidFill>
                <a:latin typeface="Calibri"/>
              </a:rPr>
              <a:t>Si l'installation est impossible sur votre poste, utilisez un tableur : auteur, année, titre, lien.</a:t>
            </a:r>
          </a:p>
          <a:p>
            <a:pPr algn="l">
              <a:spcAft>
                <a:spcPts val="480"/>
              </a:spcAft>
            </a:pPr>
            <a:r>
              <a:rPr sz="1600" b="0" i="0">
                <a:solidFill>
                  <a:srgbClr val="1B1B1B"/>
                </a:solidFill>
                <a:latin typeface="Calibri"/>
              </a:rPr>
              <a:t>Si Google Scholar se bloque (contrôle anti-robot déclenché par l'extension), changez de base : HAL (hal.science), Semantic Scholar (semanticscholar.org) ou arXiv (arxiv.org). Le bouton de l'extension Zotero y fonctionne. Dernier recours : « Ajouter par identifiant » dans Zotero (collez un DOI).</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Installez Zotero et son extension (ou ouvrez la version web).</a:t>
            </a:r>
          </a:p>
          <a:p>
            <a:pPr algn="l" marL="274320" indent="-274320">
              <a:spcAft>
                <a:spcPts val="480"/>
              </a:spcAft>
              <a:buAutoNum type="arabicPeriod"/>
            </a:pPr>
            <a:r>
              <a:rPr sz="1600" b="0" i="0">
                <a:solidFill>
                  <a:srgbClr val="1B1B1B"/>
                </a:solidFill>
                <a:latin typeface="Calibri"/>
              </a:rPr>
              <a:t>Enregistrez 5 références depuis HAL ou Semantic Scholar (ou Google Scholar si l'extension le permet) et vérifiez auteurs, année, titre.</a:t>
            </a:r>
          </a:p>
          <a:p>
            <a:pPr algn="l" marL="274320" indent="-274320">
              <a:spcAft>
                <a:spcPts val="480"/>
              </a:spcAft>
              <a:buAutoNum type="arabicPeriod"/>
            </a:pPr>
            <a:r>
              <a:rPr sz="1600" b="0" i="0">
                <a:solidFill>
                  <a:srgbClr val="1B1B1B"/>
                </a:solidFill>
                <a:latin typeface="Calibri"/>
              </a:rPr>
              <a:t>Générez une bibliographie dans un style au choix.</a:t>
            </a:r>
          </a:p>
          <a:p>
            <a:pPr algn="l" marL="274320" indent="-274320">
              <a:spcAft>
                <a:spcPts val="480"/>
              </a:spcAft>
              <a:buAutoNum type="arabicPeriod"/>
            </a:pPr>
            <a:r>
              <a:rPr sz="1600" b="0" i="0">
                <a:solidFill>
                  <a:srgbClr val="1B1B1B"/>
                </a:solidFill>
                <a:latin typeface="Calibri"/>
              </a:rPr>
              <a:t>Avec Perplexity ou une autre IA (notez laquelle) : demandez-lui de mettre vos 2 premières références au format APA. Comparez avec la bibliographie de Zotero : combien de différences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Votre bibliographie de 5 références générée par Zotero. → Dossier, section 17.</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0.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10 — Atelier Zotero : enregistrer et citer</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EX10</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51</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Un clic enregistre la référence.</a:t>
            </a:r>
          </a:p>
          <a:p>
            <a:pPr algn="l" marL="274320" indent="-274320">
              <a:spcAft>
                <a:spcPts val="375"/>
              </a:spcAft>
              <a:buAutoNum type="arabicPeriod"/>
            </a:pPr>
            <a:r>
              <a:rPr sz="1500" b="0" i="0">
                <a:solidFill>
                  <a:srgbClr val="1B1B1B"/>
                </a:solidFill>
                <a:latin typeface="Calibri"/>
              </a:rPr>
              <a:t>Toujours vérifier les champs importés.</a:t>
            </a:r>
          </a:p>
          <a:p>
            <a:pPr algn="l" marL="274320" indent="-274320">
              <a:spcAft>
                <a:spcPts val="375"/>
              </a:spcAft>
              <a:buAutoNum type="arabicPeriod"/>
            </a:pPr>
            <a:r>
              <a:rPr sz="1500" b="0" i="0">
                <a:solidFill>
                  <a:srgbClr val="1B1B1B"/>
                </a:solidFill>
                <a:latin typeface="Calibri"/>
              </a:rPr>
              <a:t>Classer dès l'enregistrement.</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2743200"/>
                <a:gridCol w="5303520"/>
              </a:tblGrid>
              <a:tr h="237744">
                <a:tc>
                  <a:txBody>
                    <a:bodyPr wrap="square"/>
                    <a:lstStyle/>
                    <a:p>
                      <a:r>
                        <a:rPr sz="1700" b="1">
                          <a:solidFill>
                            <a:srgbClr val="FFFFFF"/>
                          </a:solidFill>
                          <a:latin typeface="Calibri"/>
                        </a:rPr>
                        <a:t>Geste</a:t>
                      </a:r>
                    </a:p>
                  </a:txBody>
                  <a:tcPr marL="73152" marR="73152" marT="36576" marB="36576">
                    <a:solidFill>
                      <a:srgbClr val="1F2A5C"/>
                    </a:solidFill>
                  </a:tcPr>
                </a:tc>
                <a:tc>
                  <a:txBody>
                    <a:bodyPr wrap="square"/>
                    <a:lstStyle/>
                    <a:p>
                      <a:r>
                        <a:rPr sz="1700" b="1">
                          <a:solidFill>
                            <a:srgbClr val="FFFFFF"/>
                          </a:solidFill>
                          <a:latin typeface="Calibri"/>
                        </a:rPr>
                        <a:t>Résultat attendu</a:t>
                      </a:r>
                    </a:p>
                  </a:txBody>
                  <a:tcPr marL="73152" marR="73152" marT="36576" marB="36576">
                    <a:solidFill>
                      <a:srgbClr val="1F2A5C"/>
                    </a:solidFill>
                  </a:tcPr>
                </a:tc>
              </a:tr>
              <a:tr h="237744">
                <a:tc>
                  <a:txBody>
                    <a:bodyPr wrap="square"/>
                    <a:lstStyle/>
                    <a:p>
                      <a:r>
                        <a:rPr sz="1700" b="1">
                          <a:solidFill>
                            <a:srgbClr val="1B1B1B"/>
                          </a:solidFill>
                          <a:latin typeface="Calibri"/>
                        </a:rPr>
                        <a:t>Enregistrer</a:t>
                      </a:r>
                    </a:p>
                  </a:txBody>
                  <a:tcPr marL="73152" marR="73152" marT="36576" marB="36576">
                    <a:solidFill>
                      <a:srgbClr val="FFFFFF"/>
                    </a:solidFill>
                  </a:tcPr>
                </a:tc>
                <a:tc>
                  <a:txBody>
                    <a:bodyPr wrap="square"/>
                    <a:lstStyle/>
                    <a:p>
                      <a:r>
                        <a:rPr sz="1700" b="0">
                          <a:solidFill>
                            <a:srgbClr val="1B1B1B"/>
                          </a:solidFill>
                          <a:latin typeface="Calibri"/>
                        </a:rPr>
                        <a:t>Icône de l'extension dans le navigateur : la référence apparaît dans la bibliothèque</a:t>
                      </a:r>
                    </a:p>
                  </a:txBody>
                  <a:tcPr marL="73152" marR="73152" marT="36576" marB="36576">
                    <a:solidFill>
                      <a:srgbClr val="FFFFFF"/>
                    </a:solidFill>
                  </a:tcPr>
                </a:tc>
              </a:tr>
              <a:tr h="237744">
                <a:tc>
                  <a:txBody>
                    <a:bodyPr wrap="square"/>
                    <a:lstStyle/>
                    <a:p>
                      <a:r>
                        <a:rPr sz="1700" b="1">
                          <a:solidFill>
                            <a:srgbClr val="1B1B1B"/>
                          </a:solidFill>
                          <a:latin typeface="Calibri"/>
                        </a:rPr>
                        <a:t>Vérifier</a:t>
                      </a:r>
                    </a:p>
                  </a:txBody>
                  <a:tcPr marL="73152" marR="73152" marT="36576" marB="36576">
                    <a:solidFill>
                      <a:srgbClr val="F3F5F9"/>
                    </a:solidFill>
                  </a:tcPr>
                </a:tc>
                <a:tc>
                  <a:txBody>
                    <a:bodyPr wrap="square"/>
                    <a:lstStyle/>
                    <a:p>
                      <a:r>
                        <a:rPr sz="1700" b="0">
                          <a:solidFill>
                            <a:srgbClr val="1B1B1B"/>
                          </a:solidFill>
                          <a:latin typeface="Calibri"/>
                        </a:rPr>
                        <a:t>Les champs vides (année, auteurs) se complètent à la main</a:t>
                      </a:r>
                    </a:p>
                  </a:txBody>
                  <a:tcPr marL="73152" marR="73152" marT="36576" marB="36576">
                    <a:solidFill>
                      <a:srgbClr val="F3F5F9"/>
                    </a:solidFill>
                  </a:tcPr>
                </a:tc>
              </a:tr>
              <a:tr h="237744">
                <a:tc>
                  <a:txBody>
                    <a:bodyPr wrap="square"/>
                    <a:lstStyle/>
                    <a:p>
                      <a:r>
                        <a:rPr sz="1700" b="1">
                          <a:solidFill>
                            <a:srgbClr val="1B1B1B"/>
                          </a:solidFill>
                          <a:latin typeface="Calibri"/>
                        </a:rPr>
                        <a:t>Classer</a:t>
                      </a:r>
                    </a:p>
                  </a:txBody>
                  <a:tcPr marL="73152" marR="73152" marT="36576" marB="36576">
                    <a:solidFill>
                      <a:srgbClr val="FFFFFF"/>
                    </a:solidFill>
                  </a:tcPr>
                </a:tc>
                <a:tc>
                  <a:txBody>
                    <a:bodyPr wrap="square"/>
                    <a:lstStyle/>
                    <a:p>
                      <a:r>
                        <a:rPr sz="1700" b="0">
                          <a:solidFill>
                            <a:srgbClr val="1B1B1B"/>
                          </a:solidFill>
                          <a:latin typeface="Calibri"/>
                        </a:rPr>
                        <a:t>Un dossier par question, des étiquettes pour l'état (retenue, à recouper)</a:t>
                      </a:r>
                    </a:p>
                  </a:txBody>
                  <a:tcPr marL="73152" marR="73152" marT="36576" marB="36576">
                    <a:solidFill>
                      <a:srgbClr val="FFFFFF"/>
                    </a:solidFill>
                  </a:tcPr>
                </a:tc>
              </a:tr>
              <a:tr h="237744">
                <a:tc>
                  <a:txBody>
                    <a:bodyPr wrap="square"/>
                    <a:lstStyle/>
                    <a:p>
                      <a:r>
                        <a:rPr sz="1700" b="1">
                          <a:solidFill>
                            <a:srgbClr val="1B1B1B"/>
                          </a:solidFill>
                          <a:latin typeface="Calibri"/>
                        </a:rPr>
                        <a:t>Bibliographie</a:t>
                      </a:r>
                    </a:p>
                  </a:txBody>
                  <a:tcPr marL="73152" marR="73152" marT="36576" marB="36576">
                    <a:solidFill>
                      <a:srgbClr val="F3F5F9"/>
                    </a:solidFill>
                  </a:tcPr>
                </a:tc>
                <a:tc>
                  <a:txBody>
                    <a:bodyPr wrap="square"/>
                    <a:lstStyle/>
                    <a:p>
                      <a:r>
                        <a:rPr sz="1700" b="0">
                          <a:solidFill>
                            <a:srgbClr val="1B1B1B"/>
                          </a:solidFill>
                          <a:latin typeface="Calibri"/>
                        </a:rPr>
                        <a:t>Clic droit sur les références, puis « Créer une bibliographie » : style, format, copier</a:t>
                      </a:r>
                    </a:p>
                  </a:txBody>
                  <a:tcPr marL="73152" marR="73152" marT="36576" marB="36576">
                    <a:solidFill>
                      <a:srgbClr val="F3F5F9"/>
                    </a:solidFill>
                  </a:tcPr>
                </a:tc>
              </a:tr>
              <a:tr h="237744">
                <a:tc>
                  <a:txBody>
                    <a:bodyPr wrap="square"/>
                    <a:lstStyle/>
                    <a:p>
                      <a:r>
                        <a:rPr sz="1700" b="1">
                          <a:solidFill>
                            <a:srgbClr val="1B1B1B"/>
                          </a:solidFill>
                          <a:latin typeface="Calibri"/>
                        </a:rPr>
                        <a:t>Sans Zotero</a:t>
                      </a:r>
                    </a:p>
                  </a:txBody>
                  <a:tcPr marL="73152" marR="73152" marT="36576" marB="36576">
                    <a:solidFill>
                      <a:srgbClr val="FFFFFF"/>
                    </a:solidFill>
                  </a:tcPr>
                </a:tc>
                <a:tc>
                  <a:txBody>
                    <a:bodyPr wrap="square"/>
                    <a:lstStyle/>
                    <a:p>
                      <a:r>
                        <a:rPr sz="1700" b="0">
                          <a:solidFill>
                            <a:srgbClr val="1B1B1B"/>
                          </a:solidFill>
                          <a:latin typeface="Calibri"/>
                        </a:rPr>
                        <a:t>Tableur : auteur, année, titre, lien, note sur 12</a:t>
                      </a:r>
                    </a:p>
                  </a:txBody>
                  <a:tcPr marL="73152" marR="73152" marT="36576" marB="36576">
                    <a:solidFill>
                      <a:srgbClr val="FFFFFF"/>
                    </a:solidFill>
                  </a:tcPr>
                </a:tc>
              </a:tr>
              <a:tr h="237744">
                <a:tc>
                  <a:txBody>
                    <a:bodyPr wrap="square"/>
                    <a:lstStyle/>
                    <a:p>
                      <a:r>
                        <a:rPr sz="1700" b="1">
                          <a:solidFill>
                            <a:srgbClr val="1B1B1B"/>
                          </a:solidFill>
                          <a:latin typeface="Calibri"/>
                        </a:rPr>
                        <a:t>IA · mise en forme</a:t>
                      </a:r>
                    </a:p>
                  </a:txBody>
                  <a:tcPr marL="73152" marR="73152" marT="36576" marB="36576">
                    <a:solidFill>
                      <a:srgbClr val="F3F5F9"/>
                    </a:solidFill>
                  </a:tcPr>
                </a:tc>
                <a:tc>
                  <a:txBody>
                    <a:bodyPr wrap="square"/>
                    <a:lstStyle/>
                    <a:p>
                      <a:r>
                        <a:rPr sz="1700" b="0">
                          <a:solidFill>
                            <a:srgbClr val="1B1B1B"/>
                          </a:solidFill>
                          <a:latin typeface="Calibri"/>
                        </a:rPr>
                        <a:t>Quelques différences (ponctuation, initiales, majuscules). Zotero tire les données de la page ou du DOI : plus fiable qu'une IA, qui peut déformer un nom ou une année.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Importer sans vérifier : des champs manquent souvent.</a:t>
            </a:r>
          </a:p>
          <a:p>
            <a:pPr algn="l" marL="201168" indent="-201168">
              <a:spcAft>
                <a:spcPts val="110"/>
              </a:spcAft>
              <a:buChar char="•"/>
            </a:pPr>
            <a:r>
              <a:rPr sz="1100" b="0" i="0">
                <a:solidFill>
                  <a:srgbClr val="1B1B1B"/>
                </a:solidFill>
                <a:latin typeface="Calibri"/>
              </a:rPr>
              <a:t>Mélanger plusieurs styles de citation.</a:t>
            </a:r>
          </a:p>
          <a:p>
            <a:pPr algn="l" marL="201168" indent="-201168">
              <a:spcAft>
                <a:spcPts val="110"/>
              </a:spcAft>
              <a:buChar char="•"/>
            </a:pPr>
            <a:r>
              <a:rPr sz="1100" b="0" i="0">
                <a:solidFill>
                  <a:srgbClr val="1B1B1B"/>
                </a:solidFill>
                <a:latin typeface="Calibri"/>
              </a:rPr>
              <a:t>Ne pas classer : on retrouve mal ses sources le jour de la rédaction.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Outils de veille gratuits : quatre usages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52</a:t>
            </a:r>
          </a:p>
        </p:txBody>
      </p:sp>
      <p:graphicFrame>
        <p:nvGraphicFramePr>
          <p:cNvPr id="6" name="Table 5"/>
          <p:cNvGraphicFramePr>
            <a:graphicFrameLocks noGrp="1"/>
          </p:cNvGraphicFramePr>
          <p:nvPr/>
        </p:nvGraphicFramePr>
        <p:xfrm>
          <a:off x="411480" y="1188720"/>
          <a:ext cx="11338560" cy="1828800"/>
        </p:xfrm>
        <a:graphic>
          <a:graphicData uri="http://schemas.openxmlformats.org/drawingml/2006/table">
            <a:tbl>
              <a:tblPr firstRow="0" bandRow="0">
                <a:tableStyleId>{5C22544A-7EE6-4342-B048-85BDC9FD1C3A}</a:tableStyleId>
              </a:tblPr>
              <a:tblGrid>
                <a:gridCol w="2267712"/>
                <a:gridCol w="3779520"/>
                <a:gridCol w="5291328"/>
              </a:tblGrid>
              <a:tr h="365760">
                <a:tc>
                  <a:txBody>
                    <a:bodyPr wrap="square"/>
                    <a:lstStyle/>
                    <a:p>
                      <a:r>
                        <a:rPr sz="1700" b="1">
                          <a:solidFill>
                            <a:srgbClr val="FFFFFF"/>
                          </a:solidFill>
                          <a:latin typeface="Calibri"/>
                        </a:rPr>
                        <a:t>Besoin</a:t>
                      </a:r>
                    </a:p>
                  </a:txBody>
                  <a:tcPr marL="73152" marR="73152" marT="36576" marB="36576">
                    <a:solidFill>
                      <a:srgbClr val="1F2A5C"/>
                    </a:solidFill>
                  </a:tcPr>
                </a:tc>
                <a:tc>
                  <a:txBody>
                    <a:bodyPr wrap="square"/>
                    <a:lstStyle/>
                    <a:p>
                      <a:r>
                        <a:rPr sz="1700" b="1">
                          <a:solidFill>
                            <a:srgbClr val="FFFFFF"/>
                          </a:solidFill>
                          <a:latin typeface="Calibri"/>
                        </a:rPr>
                        <a:t>Outil (relevé du 23/10/2026)</a:t>
                      </a:r>
                    </a:p>
                  </a:txBody>
                  <a:tcPr marL="73152" marR="73152" marT="36576" marB="36576">
                    <a:solidFill>
                      <a:srgbClr val="1F2A5C"/>
                    </a:solidFill>
                  </a:tcPr>
                </a:tc>
                <a:tc>
                  <a:txBody>
                    <a:bodyPr wrap="square"/>
                    <a:lstStyle/>
                    <a:p>
                      <a:r>
                        <a:rPr sz="1700" b="1">
                          <a:solidFill>
                            <a:srgbClr val="FFFFFF"/>
                          </a:solidFill>
                          <a:latin typeface="Calibri"/>
                        </a:rPr>
                        <a:t>Ce qu'il fait, sa limite</a:t>
                      </a:r>
                    </a:p>
                  </a:txBody>
                  <a:tcPr marL="73152" marR="73152" marT="36576" marB="36576">
                    <a:solidFill>
                      <a:srgbClr val="1F2A5C"/>
                    </a:solidFill>
                  </a:tcPr>
                </a:tc>
              </a:tr>
              <a:tr h="365760">
                <a:tc>
                  <a:txBody>
                    <a:bodyPr wrap="square"/>
                    <a:lstStyle/>
                    <a:p>
                      <a:r>
                        <a:rPr sz="1700" b="1">
                          <a:solidFill>
                            <a:srgbClr val="1B1B1B"/>
                          </a:solidFill>
                          <a:latin typeface="Calibri"/>
                        </a:rPr>
                        <a:t>Alerte sur une requête</a:t>
                      </a:r>
                    </a:p>
                  </a:txBody>
                  <a:tcPr marL="73152" marR="73152" marT="36576" marB="36576">
                    <a:solidFill>
                      <a:srgbClr val="FFFFFF"/>
                    </a:solidFill>
                  </a:tcPr>
                </a:tc>
                <a:tc>
                  <a:txBody>
                    <a:bodyPr wrap="square"/>
                    <a:lstStyle/>
                    <a:p>
                      <a:r>
                        <a:rPr sz="1700" b="0">
                          <a:solidFill>
                            <a:srgbClr val="1B1B1B"/>
                          </a:solidFill>
                          <a:latin typeface="Calibri"/>
                        </a:rPr>
                        <a:t>Google Alerts (compte Google)</a:t>
                      </a:r>
                    </a:p>
                  </a:txBody>
                  <a:tcPr marL="73152" marR="73152" marT="36576" marB="36576">
                    <a:solidFill>
                      <a:srgbClr val="FFFFFF"/>
                    </a:solidFill>
                  </a:tcPr>
                </a:tc>
                <a:tc>
                  <a:txBody>
                    <a:bodyPr wrap="square"/>
                    <a:lstStyle/>
                    <a:p>
                      <a:r>
                        <a:rPr sz="1700" b="0">
                          <a:solidFill>
                            <a:srgbClr val="1B1B1B"/>
                          </a:solidFill>
                          <a:latin typeface="Calibri"/>
                        </a:rPr>
                        <a:t>Envoie les nouveaux résultats d'une requête par e-mail ou en flux RSS ; la qualité dépend de la requête</a:t>
                      </a:r>
                    </a:p>
                  </a:txBody>
                  <a:tcPr marL="73152" marR="73152" marT="36576" marB="36576">
                    <a:solidFill>
                      <a:srgbClr val="FFFFFF"/>
                    </a:solidFill>
                  </a:tcPr>
                </a:tc>
              </a:tr>
              <a:tr h="365760">
                <a:tc>
                  <a:txBody>
                    <a:bodyPr wrap="square"/>
                    <a:lstStyle/>
                    <a:p>
                      <a:r>
                        <a:rPr sz="1700" b="1">
                          <a:solidFill>
                            <a:srgbClr val="1B1B1B"/>
                          </a:solidFill>
                          <a:latin typeface="Calibri"/>
                        </a:rPr>
                        <a:t>Lecteur de flux RSS</a:t>
                      </a:r>
                    </a:p>
                  </a:txBody>
                  <a:tcPr marL="73152" marR="73152" marT="36576" marB="36576">
                    <a:solidFill>
                      <a:srgbClr val="F3F5F9"/>
                    </a:solidFill>
                  </a:tcPr>
                </a:tc>
                <a:tc>
                  <a:txBody>
                    <a:bodyPr wrap="square"/>
                    <a:lstStyle/>
                    <a:p>
                      <a:r>
                        <a:rPr sz="1700" b="0">
                          <a:solidFill>
                            <a:srgbClr val="1B1B1B"/>
                          </a:solidFill>
                          <a:latin typeface="Calibri"/>
                        </a:rPr>
                        <a:t>Inoreader (plan gratuit)</a:t>
                      </a:r>
                    </a:p>
                  </a:txBody>
                  <a:tcPr marL="73152" marR="73152" marT="36576" marB="36576">
                    <a:solidFill>
                      <a:srgbClr val="F3F5F9"/>
                    </a:solidFill>
                  </a:tcPr>
                </a:tc>
                <a:tc>
                  <a:txBody>
                    <a:bodyPr wrap="square"/>
                    <a:lstStyle/>
                    <a:p>
                      <a:r>
                        <a:rPr sz="1700" b="0">
                          <a:solidFill>
                            <a:srgbClr val="1B1B1B"/>
                          </a:solidFill>
                          <a:latin typeface="Calibri"/>
                        </a:rPr>
                        <a:t>150 abonnements, 30 règles et 50 filtres en gratuit d'après sa page tarifs ; export OPML</a:t>
                      </a:r>
                    </a:p>
                  </a:txBody>
                  <a:tcPr marL="73152" marR="73152" marT="36576" marB="36576">
                    <a:solidFill>
                      <a:srgbClr val="F3F5F9"/>
                    </a:solidFill>
                  </a:tcPr>
                </a:tc>
              </a:tr>
              <a:tr h="365760">
                <a:tc>
                  <a:txBody>
                    <a:bodyPr wrap="square"/>
                    <a:lstStyle/>
                    <a:p>
                      <a:r>
                        <a:rPr sz="1700" b="1">
                          <a:solidFill>
                            <a:srgbClr val="1B1B1B"/>
                          </a:solidFill>
                          <a:latin typeface="Calibri"/>
                        </a:rPr>
                        <a:t>Veille institutionnelle</a:t>
                      </a:r>
                    </a:p>
                  </a:txBody>
                  <a:tcPr marL="73152" marR="73152" marT="36576" marB="36576">
                    <a:solidFill>
                      <a:srgbClr val="FFFFFF"/>
                    </a:solidFill>
                  </a:tcPr>
                </a:tc>
                <a:tc>
                  <a:txBody>
                    <a:bodyPr wrap="square"/>
                    <a:lstStyle/>
                    <a:p>
                      <a:r>
                        <a:rPr sz="1700" b="0">
                          <a:solidFill>
                            <a:srgbClr val="1B1B1B"/>
                          </a:solidFill>
                          <a:latin typeface="Calibri"/>
                        </a:rPr>
                        <a:t>Flux RSS du CERT-FR : cert.cyber.gouv.fr/flux-rss/</a:t>
                      </a:r>
                    </a:p>
                  </a:txBody>
                  <a:tcPr marL="73152" marR="73152" marT="36576" marB="36576">
                    <a:solidFill>
                      <a:srgbClr val="FFFFFF"/>
                    </a:solidFill>
                  </a:tcPr>
                </a:tc>
                <a:tc>
                  <a:txBody>
                    <a:bodyPr wrap="square"/>
                    <a:lstStyle/>
                    <a:p>
                      <a:r>
                        <a:rPr sz="1700" b="0">
                          <a:solidFill>
                            <a:srgbClr val="1B1B1B"/>
                          </a:solidFill>
                          <a:latin typeface="Calibri"/>
                        </a:rPr>
                        <a:t>Alertes et avis de sécurité en français, à lire dans le lecteur de flux</a:t>
                      </a:r>
                    </a:p>
                  </a:txBody>
                  <a:tcPr marL="73152" marR="73152" marT="36576" marB="36576">
                    <a:solidFill>
                      <a:srgbClr val="FFFFFF"/>
                    </a:solidFill>
                  </a:tcPr>
                </a:tc>
              </a:tr>
              <a:tr h="365760">
                <a:tc>
                  <a:txBody>
                    <a:bodyPr wrap="square"/>
                    <a:lstStyle/>
                    <a:p>
                      <a:r>
                        <a:rPr sz="1700" b="1">
                          <a:solidFill>
                            <a:srgbClr val="1B1B1B"/>
                          </a:solidFill>
                          <a:latin typeface="Calibri"/>
                        </a:rPr>
                        <a:t>Garder et annoter</a:t>
                      </a:r>
                    </a:p>
                  </a:txBody>
                  <a:tcPr marL="73152" marR="73152" marT="36576" marB="36576">
                    <a:solidFill>
                      <a:srgbClr val="F3F5F9"/>
                    </a:solidFill>
                  </a:tcPr>
                </a:tc>
                <a:tc>
                  <a:txBody>
                    <a:bodyPr wrap="square"/>
                    <a:lstStyle/>
                    <a:p>
                      <a:r>
                        <a:rPr sz="1700" b="0">
                          <a:solidFill>
                            <a:srgbClr val="1B1B1B"/>
                          </a:solidFill>
                          <a:latin typeface="Calibri"/>
                        </a:rPr>
                        <a:t>Zotero</a:t>
                      </a:r>
                    </a:p>
                  </a:txBody>
                  <a:tcPr marL="73152" marR="73152" marT="36576" marB="36576">
                    <a:solidFill>
                      <a:srgbClr val="F3F5F9"/>
                    </a:solidFill>
                  </a:tcPr>
                </a:tc>
                <a:tc>
                  <a:txBody>
                    <a:bodyPr wrap="square"/>
                    <a:lstStyle/>
                    <a:p>
                      <a:r>
                        <a:rPr sz="1700" b="0">
                          <a:solidFill>
                            <a:srgbClr val="1B1B1B"/>
                          </a:solidFill>
                          <a:latin typeface="Calibri"/>
                        </a:rPr>
                        <a:t>Classe, annote et cite les sources retenues (EX10)</a:t>
                      </a:r>
                    </a:p>
                  </a:txBody>
                  <a:tcPr marL="73152" marR="73152" marT="36576" marB="36576">
                    <a:solidFill>
                      <a:srgbClr val="F3F5F9"/>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Règle d'ingénieur : préférer un format ouvert (RSS, OPML) à un outil. L'outil peut disparaître, le format reste.</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Quel outil gratuit pour surveiller … ? Donne l'adresse officielle. » Ouvrez le site : une IA cite parfois des outils disparus.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V4</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Monter sa veille en 15 minutes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V4</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53</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15 min  ·  Carnet · chapitre 3  ·  Outil : Google Alerts, lecteur RSS (Inoreader ou Feedly), flux du CERT-FR</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Mettre en place une veille minimale (une alerte, trois flux, un export) pour que votre question reste à jour pendant le projet, et distinguer signal fort et signal faible.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09"/>
              </a:spcAft>
            </a:pPr>
            <a:r>
              <a:rPr sz="1700" b="0" i="0">
                <a:solidFill>
                  <a:srgbClr val="1B1B1B"/>
                </a:solidFill>
                <a:latin typeface="Calibri"/>
              </a:rPr>
              <a:t>Votre question de décision (EX1) doit rester d'actualité pendant le projet. Vous mettez en place une veille minimale avec des outils gratuits.</a:t>
            </a:r>
          </a:p>
          <a:p>
            <a:pPr algn="l">
              <a:spcAft>
                <a:spcPts val="509"/>
              </a:spcAft>
            </a:pPr>
            <a:r>
              <a:rPr sz="1700" b="0" i="0">
                <a:solidFill>
                  <a:srgbClr val="1B1B1B"/>
                </a:solidFill>
                <a:latin typeface="Calibri"/>
              </a:rPr>
              <a:t>Outils proposés : Google Alerts (alerte sur une requête, reçue par e-mail ou en flux RSS) ; Inoreader (lecteur de flux RSS, plan gratuit de 150 abonnements) ; le flux RSS du CERT-FR (https://cert.cyber.gouv.fr/flux-rss/).</a:t>
            </a:r>
          </a:p>
          <a:p>
            <a:pPr algn="l">
              <a:spcAft>
                <a:spcPts val="509"/>
              </a:spcAft>
            </a:pPr>
            <a:r>
              <a:rPr sz="1700" b="0" i="0">
                <a:solidFill>
                  <a:srgbClr val="1B1B1B"/>
                </a:solidFill>
                <a:latin typeface="Calibri"/>
              </a:rPr>
              <a:t>Aucune donnée personnelle ou confidentielle dans ces outils. Si un compte est exigé, utilisez l'adresse de l'école.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59"/>
              </a:spcAft>
              <a:buAutoNum type="arabicPeriod"/>
            </a:pPr>
            <a:r>
              <a:rPr sz="1200" b="0" i="0">
                <a:solidFill>
                  <a:srgbClr val="1B1B1B"/>
                </a:solidFill>
                <a:latin typeface="Calibri"/>
              </a:rPr>
              <a:t>Écrivez la requête de votre alerte (guillemets, OR) et créez l'alerte : est-elle créée ?</a:t>
            </a:r>
          </a:p>
          <a:p>
            <a:pPr algn="l" marL="274320" indent="-274320">
              <a:spcAft>
                <a:spcPts val="359"/>
              </a:spcAft>
              <a:buAutoNum type="arabicPeriod"/>
            </a:pPr>
            <a:r>
              <a:rPr sz="1200" b="0" i="0">
                <a:solidFill>
                  <a:srgbClr val="1B1B1B"/>
                </a:solidFill>
                <a:latin typeface="Calibri"/>
              </a:rPr>
              <a:t>Dans un lecteur de flux, ajoutez trois sources de types différents (institutionnelle, scientifique, presse ou éditeur) : notez-les.</a:t>
            </a:r>
          </a:p>
          <a:p>
            <a:pPr algn="l" marL="274320" indent="-274320">
              <a:spcAft>
                <a:spcPts val="359"/>
              </a:spcAft>
              <a:buAutoNum type="arabicPeriod"/>
            </a:pPr>
            <a:r>
              <a:rPr sz="1200" b="0" i="0">
                <a:solidFill>
                  <a:srgbClr val="1B1B1B"/>
                </a:solidFill>
                <a:latin typeface="Calibri"/>
              </a:rPr>
              <a:t>Combien d'articles non lus apparaissent après 5 minutes ?</a:t>
            </a:r>
          </a:p>
          <a:p>
            <a:pPr algn="l" marL="274320" indent="-274320">
              <a:spcAft>
                <a:spcPts val="359"/>
              </a:spcAft>
              <a:buAutoNum type="arabicPeriod"/>
            </a:pPr>
            <a:r>
              <a:rPr sz="1200" b="0" i="0">
                <a:solidFill>
                  <a:srgbClr val="1B1B1B"/>
                </a:solidFill>
                <a:latin typeface="Calibri"/>
              </a:rPr>
              <a:t>Exportez votre liste au format OPML : l'export a-t-il réussi ?</a:t>
            </a:r>
          </a:p>
          <a:p>
            <a:pPr algn="l" marL="274320" indent="-274320">
              <a:spcAft>
                <a:spcPts val="359"/>
              </a:spcAft>
              <a:buAutoNum type="arabicPeriod"/>
            </a:pPr>
            <a:r>
              <a:rPr sz="1200" b="0" i="0">
                <a:solidFill>
                  <a:srgbClr val="1B1B1B"/>
                </a:solidFill>
                <a:latin typeface="Calibri"/>
              </a:rPr>
              <a:t>Parmi les articles, repérez un signal fort et un signal faible (peu cité mais important) : justifiez.</a:t>
            </a:r>
          </a:p>
          <a:p>
            <a:pPr algn="l" marL="274320" indent="-274320">
              <a:spcAft>
                <a:spcPts val="359"/>
              </a:spcAft>
              <a:buAutoNum type="arabicPeriod"/>
            </a:pPr>
            <a:r>
              <a:rPr sz="1200" b="0" i="0">
                <a:solidFill>
                  <a:srgbClr val="1B1B1B"/>
                </a:solidFill>
                <a:latin typeface="Calibri"/>
              </a:rPr>
              <a:t>Avec Claude ou une autre IA (notez laquelle) : demandez-lui 5 sources à suivre sur votre question. Combien existent, publient encore et sont utiles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55"/>
              </a:spcAft>
            </a:pPr>
            <a:r>
              <a:rPr sz="1300" b="1" i="0">
                <a:solidFill>
                  <a:srgbClr val="1B1B1B"/>
                </a:solidFill>
                <a:latin typeface="Calibri"/>
              </a:rPr>
              <a:t>Livrable : Votre plan de veille (requête, trois sources, fréquence) et votre journal de sources → Dossier, section 19.</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V4.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V4 — Monter sa veille en 15 minutes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V4</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54</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Écrire une requête précise (opérateurs vus en EX8).</a:t>
            </a:r>
          </a:p>
          <a:p>
            <a:pPr algn="l" marL="274320" indent="-274320">
              <a:spcAft>
                <a:spcPts val="375"/>
              </a:spcAft>
              <a:buAutoNum type="arabicPeriod"/>
            </a:pPr>
            <a:r>
              <a:rPr sz="1500" b="0" i="0">
                <a:solidFill>
                  <a:srgbClr val="1B1B1B"/>
                </a:solidFill>
                <a:latin typeface="Calibri"/>
              </a:rPr>
              <a:t>Créer l'alerte Google Alerts.</a:t>
            </a:r>
          </a:p>
          <a:p>
            <a:pPr algn="l" marL="274320" indent="-274320">
              <a:spcAft>
                <a:spcPts val="375"/>
              </a:spcAft>
              <a:buAutoNum type="arabicPeriod"/>
            </a:pPr>
            <a:r>
              <a:rPr sz="1500" b="0" i="0">
                <a:solidFill>
                  <a:srgbClr val="1B1B1B"/>
                </a:solidFill>
                <a:latin typeface="Calibri"/>
              </a:rPr>
              <a:t>Abonner un lecteur de flux à trois sources de types différents.</a:t>
            </a:r>
          </a:p>
          <a:p>
            <a:pPr algn="l" marL="274320" indent="-274320">
              <a:spcAft>
                <a:spcPts val="375"/>
              </a:spcAft>
              <a:buAutoNum type="arabicPeriod"/>
            </a:pPr>
            <a:r>
              <a:rPr sz="1500" b="0" i="0">
                <a:solidFill>
                  <a:srgbClr val="1B1B1B"/>
                </a:solidFill>
                <a:latin typeface="Calibri"/>
              </a:rPr>
              <a:t>Exporter en OPML pour ne pas dépendre d'un outil.</a:t>
            </a:r>
          </a:p>
          <a:p>
            <a:pPr algn="l" marL="274320" indent="-274320">
              <a:spcAft>
                <a:spcPts val="375"/>
              </a:spcAft>
              <a:buAutoNum type="arabicPeriod"/>
            </a:pPr>
            <a:r>
              <a:rPr sz="1500" b="0" i="0">
                <a:solidFill>
                  <a:srgbClr val="1B1B1B"/>
                </a:solidFill>
                <a:latin typeface="Calibri"/>
              </a:rPr>
              <a:t>Trier : signal fort ou faible, puis noter date et action.</a:t>
            </a:r>
          </a:p>
        </p:txBody>
      </p:sp>
      <p:graphicFrame>
        <p:nvGraphicFramePr>
          <p:cNvPr id="9" name="Table 8"/>
          <p:cNvGraphicFramePr>
            <a:graphicFrameLocks noGrp="1"/>
          </p:cNvGraphicFramePr>
          <p:nvPr/>
        </p:nvGraphicFramePr>
        <p:xfrm>
          <a:off x="3703320" y="1097280"/>
          <a:ext cx="8046720" cy="2139696"/>
        </p:xfrm>
        <a:graphic>
          <a:graphicData uri="http://schemas.openxmlformats.org/drawingml/2006/table">
            <a:tbl>
              <a:tblPr firstRow="0" bandRow="0">
                <a:tableStyleId>{5C22544A-7EE6-4342-B048-85BDC9FD1C3A}</a:tableStyleId>
              </a:tblPr>
              <a:tblGrid>
                <a:gridCol w="2194560"/>
                <a:gridCol w="5852160"/>
              </a:tblGrid>
              <a:tr h="237744">
                <a:tc>
                  <a:txBody>
                    <a:bodyPr wrap="square"/>
                    <a:lstStyle/>
                    <a:p>
                      <a:r>
                        <a:rPr sz="1100" b="1">
                          <a:solidFill>
                            <a:srgbClr val="FFFFFF"/>
                          </a:solidFill>
                          <a:latin typeface="Calibri"/>
                        </a:rPr>
                        <a:t>Point</a:t>
                      </a:r>
                    </a:p>
                  </a:txBody>
                  <a:tcPr marL="73152" marR="73152" marT="36576" marB="36576">
                    <a:solidFill>
                      <a:srgbClr val="1F2A5C"/>
                    </a:solidFill>
                  </a:tcPr>
                </a:tc>
                <a:tc>
                  <a:txBody>
                    <a:bodyPr wrap="square"/>
                    <a:lstStyle/>
                    <a:p>
                      <a:r>
                        <a:rPr sz="1100" b="1">
                          <a:solidFill>
                            <a:srgbClr val="FFFFFF"/>
                          </a:solidFill>
                          <a:latin typeface="Calibri"/>
                        </a:rPr>
                        <a:t>À retenir</a:t>
                      </a:r>
                    </a:p>
                  </a:txBody>
                  <a:tcPr marL="73152" marR="73152" marT="36576" marB="36576">
                    <a:solidFill>
                      <a:srgbClr val="1F2A5C"/>
                    </a:solidFill>
                  </a:tcPr>
                </a:tc>
              </a:tr>
              <a:tr h="237744">
                <a:tc>
                  <a:txBody>
                    <a:bodyPr wrap="square"/>
                    <a:lstStyle/>
                    <a:p>
                      <a:r>
                        <a:rPr sz="1100" b="1">
                          <a:solidFill>
                            <a:srgbClr val="1B1B1B"/>
                          </a:solidFill>
                          <a:latin typeface="Calibri"/>
                        </a:rPr>
                        <a:t>1 · Requête</a:t>
                      </a:r>
                    </a:p>
                  </a:txBody>
                  <a:tcPr marL="73152" marR="73152" marT="36576" marB="36576">
                    <a:solidFill>
                      <a:srgbClr val="FFFFFF"/>
                    </a:solidFill>
                  </a:tcPr>
                </a:tc>
                <a:tc>
                  <a:txBody>
                    <a:bodyPr wrap="square"/>
                    <a:lstStyle/>
                    <a:p>
                      <a:r>
                        <a:rPr sz="1100" b="0">
                          <a:solidFill>
                            <a:srgbClr val="1B1B1B"/>
                          </a:solidFill>
                          <a:latin typeface="Calibri"/>
                        </a:rPr>
                        <a:t>Écrivez la requête comme à l'EX8 : passkeys OR « passwordless authentication » -banque. Trop large = du bruit ; trop étroite = rien.</a:t>
                      </a:r>
                    </a:p>
                  </a:txBody>
                  <a:tcPr marL="73152" marR="73152" marT="36576" marB="36576">
                    <a:solidFill>
                      <a:srgbClr val="FFFFFF"/>
                    </a:solidFill>
                  </a:tcPr>
                </a:tc>
              </a:tr>
              <a:tr h="237744">
                <a:tc>
                  <a:txBody>
                    <a:bodyPr wrap="square"/>
                    <a:lstStyle/>
                    <a:p>
                      <a:r>
                        <a:rPr sz="1100" b="1">
                          <a:solidFill>
                            <a:srgbClr val="1B1B1B"/>
                          </a:solidFill>
                          <a:latin typeface="Calibri"/>
                        </a:rPr>
                        <a:t>2 · Google Alerts</a:t>
                      </a:r>
                    </a:p>
                  </a:txBody>
                  <a:tcPr marL="73152" marR="73152" marT="36576" marB="36576">
                    <a:solidFill>
                      <a:srgbClr val="F3F5F9"/>
                    </a:solidFill>
                  </a:tcPr>
                </a:tc>
                <a:tc>
                  <a:txBody>
                    <a:bodyPr wrap="square"/>
                    <a:lstStyle/>
                    <a:p>
                      <a:r>
                        <a:rPr sz="1100" b="0">
                          <a:solidFill>
                            <a:srgbClr val="1B1B1B"/>
                          </a:solidFill>
                          <a:latin typeface="Calibri"/>
                        </a:rPr>
                        <a:t>Ouvrir google.com/alerts avec un compte Google ; saisir la requête ; « Afficher les options » : choisir la fréquence et l'envoi par e-mail ou par flux RSS ; créer l'alerte. Elle apparaît dans la liste de vos alertes.</a:t>
                      </a:r>
                    </a:p>
                  </a:txBody>
                  <a:tcPr marL="73152" marR="73152" marT="36576" marB="36576">
                    <a:solidFill>
                      <a:srgbClr val="F3F5F9"/>
                    </a:solidFill>
                  </a:tcPr>
                </a:tc>
              </a:tr>
              <a:tr h="237744">
                <a:tc>
                  <a:txBody>
                    <a:bodyPr wrap="square"/>
                    <a:lstStyle/>
                    <a:p>
                      <a:r>
                        <a:rPr sz="1100" b="1">
                          <a:solidFill>
                            <a:srgbClr val="1B1B1B"/>
                          </a:solidFill>
                          <a:latin typeface="Calibri"/>
                        </a:rPr>
                        <a:t>3 · Lecteur de flux</a:t>
                      </a:r>
                    </a:p>
                  </a:txBody>
                  <a:tcPr marL="73152" marR="73152" marT="36576" marB="36576">
                    <a:solidFill>
                      <a:srgbClr val="FFFFFF"/>
                    </a:solidFill>
                  </a:tcPr>
                </a:tc>
                <a:tc>
                  <a:txBody>
                    <a:bodyPr wrap="square"/>
                    <a:lstStyle/>
                    <a:p>
                      <a:r>
                        <a:rPr sz="1100" b="0">
                          <a:solidFill>
                            <a:srgbClr val="1B1B1B"/>
                          </a:solidFill>
                          <a:latin typeface="Calibri"/>
                        </a:rPr>
                        <a:t>Créer un compte gratuit Inoreader ; ajouter trois flux de types différents : une institutionnelle (CERT-FR : https://cert.cyber.gouv.fr/flux-rss/), une scientifique (flux d'un dépôt d'articles), une presse ou éditeur (à pondérer).</a:t>
                      </a:r>
                    </a:p>
                  </a:txBody>
                  <a:tcPr marL="73152" marR="73152" marT="36576" marB="36576">
                    <a:solidFill>
                      <a:srgbClr val="FFFFFF"/>
                    </a:solidFill>
                  </a:tcPr>
                </a:tc>
              </a:tr>
              <a:tr h="237744">
                <a:tc>
                  <a:txBody>
                    <a:bodyPr wrap="square"/>
                    <a:lstStyle/>
                    <a:p>
                      <a:r>
                        <a:rPr sz="1100" b="1">
                          <a:solidFill>
                            <a:srgbClr val="1B1B1B"/>
                          </a:solidFill>
                          <a:latin typeface="Calibri"/>
                        </a:rPr>
                        <a:t>4 · Plan gratuit</a:t>
                      </a:r>
                    </a:p>
                  </a:txBody>
                  <a:tcPr marL="73152" marR="73152" marT="36576" marB="36576">
                    <a:solidFill>
                      <a:srgbClr val="F3F5F9"/>
                    </a:solidFill>
                  </a:tcPr>
                </a:tc>
                <a:tc>
                  <a:txBody>
                    <a:bodyPr wrap="square"/>
                    <a:lstStyle/>
                    <a:p>
                      <a:r>
                        <a:rPr sz="1100" b="0">
                          <a:solidFill>
                            <a:srgbClr val="1B1B1B"/>
                          </a:solidFill>
                          <a:latin typeface="Calibri"/>
                        </a:rPr>
                        <a:t>Inoreader : 150 abonnements, 30 règles, 50 filtres en gratuit d'après sa page tarifs (consultée le 23/10/2026) : largement suffisant ici.</a:t>
                      </a:r>
                    </a:p>
                  </a:txBody>
                  <a:tcPr marL="73152" marR="73152" marT="36576" marB="36576">
                    <a:solidFill>
                      <a:srgbClr val="F3F5F9"/>
                    </a:solidFill>
                  </a:tcPr>
                </a:tc>
              </a:tr>
              <a:tr h="237744">
                <a:tc>
                  <a:txBody>
                    <a:bodyPr wrap="square"/>
                    <a:lstStyle/>
                    <a:p>
                      <a:r>
                        <a:rPr sz="1100" b="1">
                          <a:solidFill>
                            <a:srgbClr val="1B1B1B"/>
                          </a:solidFill>
                          <a:latin typeface="Calibri"/>
                        </a:rPr>
                        <a:t>5 · Lecture après 5 minutes</a:t>
                      </a:r>
                    </a:p>
                  </a:txBody>
                  <a:tcPr marL="73152" marR="73152" marT="36576" marB="36576">
                    <a:solidFill>
                      <a:srgbClr val="FFFFFF"/>
                    </a:solidFill>
                  </a:tcPr>
                </a:tc>
                <a:tc>
                  <a:txBody>
                    <a:bodyPr wrap="square"/>
                    <a:lstStyle/>
                    <a:p>
                      <a:r>
                        <a:rPr sz="1100" b="0">
                          <a:solidFill>
                            <a:srgbClr val="1B1B1B"/>
                          </a:solidFill>
                          <a:latin typeface="Calibri"/>
                        </a:rPr>
                        <a:t>Le nombre d'articles non lus dépend des flux (de quelques dizaines à quelques centaines) ; ne pas tout lire : trier.</a:t>
                      </a:r>
                    </a:p>
                  </a:txBody>
                  <a:tcPr marL="73152" marR="73152" marT="36576" marB="36576">
                    <a:solidFill>
                      <a:srgbClr val="FFFFFF"/>
                    </a:solidFill>
                  </a:tcPr>
                </a:tc>
              </a:tr>
              <a:tr h="237744">
                <a:tc>
                  <a:txBody>
                    <a:bodyPr wrap="square"/>
                    <a:lstStyle/>
                    <a:p>
                      <a:r>
                        <a:rPr sz="1100" b="1">
                          <a:solidFill>
                            <a:srgbClr val="1B1B1B"/>
                          </a:solidFill>
                          <a:latin typeface="Calibri"/>
                        </a:rPr>
                        <a:t>6 · Export OPML</a:t>
                      </a:r>
                    </a:p>
                  </a:txBody>
                  <a:tcPr marL="73152" marR="73152" marT="36576" marB="36576">
                    <a:solidFill>
                      <a:srgbClr val="F3F5F9"/>
                    </a:solidFill>
                  </a:tcPr>
                </a:tc>
                <a:tc>
                  <a:txBody>
                    <a:bodyPr wrap="square"/>
                    <a:lstStyle/>
                    <a:p>
                      <a:r>
                        <a:rPr sz="1100" b="0">
                          <a:solidFill>
                            <a:srgbClr val="1B1B1B"/>
                          </a:solidFill>
                          <a:latin typeface="Calibri"/>
                        </a:rPr>
                        <a:t>L'export OPML (menu des préférences ou de l'import/export du lecteur) donne un fichier de votre liste de flux. Un outil peut disparaître (Pocket a fermé le 8 juillet 2025, Netvibes le 2 juin 2025) ; le format reste.</a:t>
                      </a:r>
                    </a:p>
                  </a:txBody>
                  <a:tcPr marL="73152" marR="73152" marT="36576" marB="36576">
                    <a:solidFill>
                      <a:srgbClr val="F3F5F9"/>
                    </a:solidFill>
                  </a:tcPr>
                </a:tc>
              </a:tr>
              <a:tr h="237744">
                <a:tc>
                  <a:txBody>
                    <a:bodyPr wrap="square"/>
                    <a:lstStyle/>
                    <a:p>
                      <a:r>
                        <a:rPr sz="1100" b="1">
                          <a:solidFill>
                            <a:srgbClr val="1B1B1B"/>
                          </a:solidFill>
                          <a:latin typeface="Calibri"/>
                        </a:rPr>
                        <a:t>7 · Signal fort ou faible</a:t>
                      </a:r>
                    </a:p>
                  </a:txBody>
                  <a:tcPr marL="73152" marR="73152" marT="36576" marB="36576">
                    <a:solidFill>
                      <a:srgbClr val="FFFFFF"/>
                    </a:solidFill>
                  </a:tcPr>
                </a:tc>
                <a:tc>
                  <a:txBody>
                    <a:bodyPr wrap="square"/>
                    <a:lstStyle/>
                    <a:p>
                      <a:r>
                        <a:rPr sz="1100" b="0">
                          <a:solidFill>
                            <a:srgbClr val="1B1B1B"/>
                          </a:solidFill>
                          <a:latin typeface="Calibri"/>
                        </a:rPr>
                        <a:t>Fort : cité par plusieurs sources indépendantes. Faible : rare, ambigu, mais qui pourrait changer la décision. Un signal faible se vérifie avant de s'y fier : on cherche une deuxième source.</a:t>
                      </a:r>
                    </a:p>
                  </a:txBody>
                  <a:tcPr marL="73152" marR="73152" marT="36576" marB="36576">
                    <a:solidFill>
                      <a:srgbClr val="FFFFFF"/>
                    </a:solidFill>
                  </a:tcPr>
                </a:tc>
              </a:tr>
              <a:tr h="237744">
                <a:tc>
                  <a:txBody>
                    <a:bodyPr wrap="square"/>
                    <a:lstStyle/>
                    <a:p>
                      <a:r>
                        <a:rPr sz="1100" b="1">
                          <a:solidFill>
                            <a:srgbClr val="1B1B1B"/>
                          </a:solidFill>
                          <a:latin typeface="Calibri"/>
                        </a:rPr>
                        <a:t>8 · Carnet de veille</a:t>
                      </a:r>
                    </a:p>
                  </a:txBody>
                  <a:tcPr marL="73152" marR="73152" marT="36576" marB="36576">
                    <a:solidFill>
                      <a:srgbClr val="F3F5F9"/>
                    </a:solidFill>
                  </a:tcPr>
                </a:tc>
                <a:tc>
                  <a:txBody>
                    <a:bodyPr wrap="square"/>
                    <a:lstStyle/>
                    <a:p>
                      <a:r>
                        <a:rPr sz="1100" b="0">
                          <a:solidFill>
                            <a:srgbClr val="1B1B1B"/>
                          </a:solidFill>
                          <a:latin typeface="Calibri"/>
                        </a:rPr>
                        <a:t>Notez date de lecture, source, une ligne de résumé et l'action (garder, recouper, écarter) : une veille se refait et se date.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S'abonner à trente sources et ne rien lire.</a:t>
            </a:r>
          </a:p>
          <a:p>
            <a:pPr algn="l" marL="201168" indent="-201168">
              <a:spcAft>
                <a:spcPts val="110"/>
              </a:spcAft>
              <a:buChar char="•"/>
            </a:pPr>
            <a:r>
              <a:rPr sz="1100" b="0" i="0">
                <a:solidFill>
                  <a:srgbClr val="1B1B1B"/>
                </a:solidFill>
                <a:latin typeface="Calibri"/>
              </a:rPr>
              <a:t>Une seule source, ou trois sources du même éditeur.</a:t>
            </a:r>
          </a:p>
          <a:p>
            <a:pPr algn="l" marL="201168" indent="-201168">
              <a:spcAft>
                <a:spcPts val="110"/>
              </a:spcAft>
              <a:buChar char="•"/>
            </a:pPr>
            <a:r>
              <a:rPr sz="1100" b="0" i="0">
                <a:solidFill>
                  <a:srgbClr val="1B1B1B"/>
                </a:solidFill>
                <a:latin typeface="Calibri"/>
              </a:rPr>
              <a:t>Ne pas noter la date de lecture : une veille se refait et se date.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D1</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Vérifier une source en deux minutes</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Objectif O3 · exercices EX11b, EX12, EX13, M4</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Noter une source avec 6 questions</a:t>
            </a:r>
          </a:p>
          <a:p>
            <a:pPr algn="l" marL="201168" indent="-201168">
              <a:spcAft>
                <a:spcPts val="700"/>
              </a:spcAft>
              <a:buChar char="•"/>
            </a:pPr>
            <a:r>
              <a:rPr sz="2000" b="0" i="0">
                <a:solidFill>
                  <a:srgbClr val="FFFFFF"/>
                </a:solidFill>
                <a:latin typeface="Calibri"/>
              </a:rPr>
              <a:t>Remonter à l'origine d'un chiffre</a:t>
            </a:r>
          </a:p>
          <a:p>
            <a:pPr algn="l" marL="201168" indent="-201168">
              <a:spcAft>
                <a:spcPts val="700"/>
              </a:spcAft>
              <a:buChar char="•"/>
            </a:pPr>
            <a:r>
              <a:rPr sz="2000" b="0" i="0">
                <a:solidFill>
                  <a:srgbClr val="FFFFFF"/>
                </a:solidFill>
                <a:latin typeface="Calibri"/>
              </a:rPr>
              <a:t>Voir ce qu'une page disait avant</a:t>
            </a:r>
          </a:p>
          <a:p>
            <a:pPr algn="l" marL="201168" indent="-201168">
              <a:spcAft>
                <a:spcPts val="700"/>
              </a:spcAft>
              <a:buChar char="•"/>
            </a:pPr>
            <a:r>
              <a:rPr sz="2000" b="0" i="0">
                <a:solidFill>
                  <a:srgbClr val="FFFFFF"/>
                </a:solidFill>
                <a:latin typeface="Calibri"/>
              </a:rPr>
              <a:t>Repérer une référence inventée par une IA</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O3 · Chercher l'information, l'évaluer, la valider</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Évaluer une source : six questions, 0 à 2 points chacune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56</a:t>
            </a:r>
          </a:p>
        </p:txBody>
      </p:sp>
      <p:graphicFrame>
        <p:nvGraphicFramePr>
          <p:cNvPr id="6" name="Table 5"/>
          <p:cNvGraphicFramePr>
            <a:graphicFrameLocks noGrp="1"/>
          </p:cNvGraphicFramePr>
          <p:nvPr/>
        </p:nvGraphicFramePr>
        <p:xfrm>
          <a:off x="411480" y="1188720"/>
          <a:ext cx="11338560" cy="2560320"/>
        </p:xfrm>
        <a:graphic>
          <a:graphicData uri="http://schemas.openxmlformats.org/drawingml/2006/table">
            <a:tbl>
              <a:tblPr firstRow="0" bandRow="0">
                <a:tableStyleId>{5C22544A-7EE6-4342-B048-85BDC9FD1C3A}</a:tableStyleId>
              </a:tblPr>
              <a:tblGrid>
                <a:gridCol w="1700784"/>
                <a:gridCol w="3779520"/>
                <a:gridCol w="5858256"/>
              </a:tblGrid>
              <a:tr h="365760">
                <a:tc>
                  <a:txBody>
                    <a:bodyPr wrap="square"/>
                    <a:lstStyle/>
                    <a:p>
                      <a:r>
                        <a:rPr sz="1700" b="1">
                          <a:solidFill>
                            <a:srgbClr val="FFFFFF"/>
                          </a:solidFill>
                          <a:latin typeface="Calibri"/>
                        </a:rPr>
                        <a:t>Question</a:t>
                      </a:r>
                    </a:p>
                  </a:txBody>
                  <a:tcPr marL="73152" marR="73152" marT="36576" marB="36576">
                    <a:solidFill>
                      <a:srgbClr val="1F2A5C"/>
                    </a:solidFill>
                  </a:tcPr>
                </a:tc>
                <a:tc>
                  <a:txBody>
                    <a:bodyPr wrap="square"/>
                    <a:lstStyle/>
                    <a:p>
                      <a:r>
                        <a:rPr sz="1700" b="1">
                          <a:solidFill>
                            <a:srgbClr val="FFFFFF"/>
                          </a:solidFill>
                          <a:latin typeface="Calibri"/>
                        </a:rPr>
                        <a:t>Ce qu'on vérifie</a:t>
                      </a:r>
                    </a:p>
                  </a:txBody>
                  <a:tcPr marL="73152" marR="73152" marT="36576" marB="36576">
                    <a:solidFill>
                      <a:srgbClr val="1F2A5C"/>
                    </a:solidFill>
                  </a:tcPr>
                </a:tc>
                <a:tc>
                  <a:txBody>
                    <a:bodyPr wrap="square"/>
                    <a:lstStyle/>
                    <a:p>
                      <a:r>
                        <a:rPr sz="1700" b="1">
                          <a:solidFill>
                            <a:srgbClr val="FFFFFF"/>
                          </a:solidFill>
                          <a:latin typeface="Calibri"/>
                        </a:rPr>
                        <a:t>Appliqué à la phrase « L'authentification multifacteur bloque 99,9 % des attaques »</a:t>
                      </a:r>
                    </a:p>
                  </a:txBody>
                  <a:tcPr marL="73152" marR="73152" marT="36576" marB="36576">
                    <a:solidFill>
                      <a:srgbClr val="1F2A5C"/>
                    </a:solidFill>
                  </a:tcPr>
                </a:tc>
              </a:tr>
              <a:tr h="365760">
                <a:tc>
                  <a:txBody>
                    <a:bodyPr wrap="square"/>
                    <a:lstStyle/>
                    <a:p>
                      <a:r>
                        <a:rPr sz="1700" b="1">
                          <a:solidFill>
                            <a:srgbClr val="1B1B1B"/>
                          </a:solidFill>
                          <a:latin typeface="Calibri"/>
                        </a:rPr>
                        <a:t>Qui ?</a:t>
                      </a:r>
                    </a:p>
                  </a:txBody>
                  <a:tcPr marL="73152" marR="73152" marT="36576" marB="36576">
                    <a:solidFill>
                      <a:srgbClr val="FFFFFF"/>
                    </a:solidFill>
                  </a:tcPr>
                </a:tc>
                <a:tc>
                  <a:txBody>
                    <a:bodyPr wrap="square"/>
                    <a:lstStyle/>
                    <a:p>
                      <a:r>
                        <a:rPr sz="1700" b="0">
                          <a:solidFill>
                            <a:srgbClr val="1B1B1B"/>
                          </a:solidFill>
                          <a:latin typeface="Calibri"/>
                        </a:rPr>
                        <a:t>Auteur identifié, compétent, indépendant</a:t>
                      </a:r>
                    </a:p>
                  </a:txBody>
                  <a:tcPr marL="73152" marR="73152" marT="36576" marB="36576">
                    <a:solidFill>
                      <a:srgbClr val="FFFFFF"/>
                    </a:solidFill>
                  </a:tcPr>
                </a:tc>
                <a:tc>
                  <a:txBody>
                    <a:bodyPr wrap="square"/>
                    <a:lstStyle/>
                    <a:p>
                      <a:r>
                        <a:rPr sz="1700" b="0">
                          <a:solidFill>
                            <a:srgbClr val="1B1B1B"/>
                          </a:solidFill>
                          <a:latin typeface="Calibri"/>
                        </a:rPr>
                        <a:t>Annonce d'un fournisseur (Microsoft, 2019) relayée par un site : celui qui annonce le chiffre vend des produits</a:t>
                      </a:r>
                    </a:p>
                  </a:txBody>
                  <a:tcPr marL="73152" marR="73152" marT="36576" marB="36576">
                    <a:solidFill>
                      <a:srgbClr val="FFFFFF"/>
                    </a:solidFill>
                  </a:tcPr>
                </a:tc>
              </a:tr>
              <a:tr h="365760">
                <a:tc>
                  <a:txBody>
                    <a:bodyPr wrap="square"/>
                    <a:lstStyle/>
                    <a:p>
                      <a:r>
                        <a:rPr sz="1700" b="1">
                          <a:solidFill>
                            <a:srgbClr val="1B1B1B"/>
                          </a:solidFill>
                          <a:latin typeface="Calibri"/>
                        </a:rPr>
                        <a:t>Quand ?</a:t>
                      </a:r>
                    </a:p>
                  </a:txBody>
                  <a:tcPr marL="73152" marR="73152" marT="36576" marB="36576">
                    <a:solidFill>
                      <a:srgbClr val="F3F5F9"/>
                    </a:solidFill>
                  </a:tcPr>
                </a:tc>
                <a:tc>
                  <a:txBody>
                    <a:bodyPr wrap="square"/>
                    <a:lstStyle/>
                    <a:p>
                      <a:r>
                        <a:rPr sz="1700" b="0">
                          <a:solidFill>
                            <a:srgbClr val="1B1B1B"/>
                          </a:solidFill>
                          <a:latin typeface="Calibri"/>
                        </a:rPr>
                        <a:t>Date adaptée au sujet</a:t>
                      </a:r>
                    </a:p>
                  </a:txBody>
                  <a:tcPr marL="73152" marR="73152" marT="36576" marB="36576">
                    <a:solidFill>
                      <a:srgbClr val="F3F5F9"/>
                    </a:solidFill>
                  </a:tcPr>
                </a:tc>
                <a:tc>
                  <a:txBody>
                    <a:bodyPr wrap="square"/>
                    <a:lstStyle/>
                    <a:p>
                      <a:r>
                        <a:rPr sz="1700" b="0">
                          <a:solidFill>
                            <a:srgbClr val="1B1B1B"/>
                          </a:solidFill>
                          <a:latin typeface="Calibri"/>
                        </a:rPr>
                        <a:t>2019 : les attaques ont évolué depuis</a:t>
                      </a:r>
                    </a:p>
                  </a:txBody>
                  <a:tcPr marL="73152" marR="73152" marT="36576" marB="36576">
                    <a:solidFill>
                      <a:srgbClr val="F3F5F9"/>
                    </a:solidFill>
                  </a:tcPr>
                </a:tc>
              </a:tr>
              <a:tr h="365760">
                <a:tc>
                  <a:txBody>
                    <a:bodyPr wrap="square"/>
                    <a:lstStyle/>
                    <a:p>
                      <a:r>
                        <a:rPr sz="1700" b="1">
                          <a:solidFill>
                            <a:srgbClr val="1B1B1B"/>
                          </a:solidFill>
                          <a:latin typeface="Calibri"/>
                        </a:rPr>
                        <a:t>Pourquoi ?</a:t>
                      </a:r>
                    </a:p>
                  </a:txBody>
                  <a:tcPr marL="73152" marR="73152" marT="36576" marB="36576">
                    <a:solidFill>
                      <a:srgbClr val="FFFFFF"/>
                    </a:solidFill>
                  </a:tcPr>
                </a:tc>
                <a:tc>
                  <a:txBody>
                    <a:bodyPr wrap="square"/>
                    <a:lstStyle/>
                    <a:p>
                      <a:r>
                        <a:rPr sz="1700" b="0">
                          <a:solidFill>
                            <a:srgbClr val="1B1B1B"/>
                          </a:solidFill>
                          <a:latin typeface="Calibri"/>
                        </a:rPr>
                        <a:t>Informer, convaincre ou vendre</a:t>
                      </a:r>
                    </a:p>
                  </a:txBody>
                  <a:tcPr marL="73152" marR="73152" marT="36576" marB="36576">
                    <a:solidFill>
                      <a:srgbClr val="FFFFFF"/>
                    </a:solidFill>
                  </a:tcPr>
                </a:tc>
                <a:tc>
                  <a:txBody>
                    <a:bodyPr wrap="square"/>
                    <a:lstStyle/>
                    <a:p>
                      <a:r>
                        <a:rPr sz="1700" b="0">
                          <a:solidFill>
                            <a:srgbClr val="1B1B1B"/>
                          </a:solidFill>
                          <a:latin typeface="Calibri"/>
                        </a:rPr>
                        <a:t>Promouvoir l'authentification multifacteur de l'éditeur</a:t>
                      </a:r>
                    </a:p>
                  </a:txBody>
                  <a:tcPr marL="73152" marR="73152" marT="36576" marB="36576">
                    <a:solidFill>
                      <a:srgbClr val="FFFFFF"/>
                    </a:solidFill>
                  </a:tcPr>
                </a:tc>
              </a:tr>
              <a:tr h="365760">
                <a:tc>
                  <a:txBody>
                    <a:bodyPr wrap="square"/>
                    <a:lstStyle/>
                    <a:p>
                      <a:r>
                        <a:rPr sz="1700" b="1">
                          <a:solidFill>
                            <a:srgbClr val="1B1B1B"/>
                          </a:solidFill>
                          <a:latin typeface="Calibri"/>
                        </a:rPr>
                        <a:t>Sur quoi ?</a:t>
                      </a:r>
                    </a:p>
                  </a:txBody>
                  <a:tcPr marL="73152" marR="73152" marT="36576" marB="36576">
                    <a:solidFill>
                      <a:srgbClr val="F3F5F9"/>
                    </a:solidFill>
                  </a:tcPr>
                </a:tc>
                <a:tc>
                  <a:txBody>
                    <a:bodyPr wrap="square"/>
                    <a:lstStyle/>
                    <a:p>
                      <a:r>
                        <a:rPr sz="1700" b="0">
                          <a:solidFill>
                            <a:srgbClr val="1B1B1B"/>
                          </a:solidFill>
                          <a:latin typeface="Calibri"/>
                        </a:rPr>
                        <a:t>Données et méthode visibles</a:t>
                      </a:r>
                    </a:p>
                  </a:txBody>
                  <a:tcPr marL="73152" marR="73152" marT="36576" marB="36576">
                    <a:solidFill>
                      <a:srgbClr val="F3F5F9"/>
                    </a:solidFill>
                  </a:tcPr>
                </a:tc>
                <a:tc>
                  <a:txBody>
                    <a:bodyPr wrap="square"/>
                    <a:lstStyle/>
                    <a:p>
                      <a:r>
                        <a:rPr sz="1700" b="0">
                          <a:solidFill>
                            <a:srgbClr val="1B1B1B"/>
                          </a:solidFill>
                          <a:latin typeface="Calibri"/>
                        </a:rPr>
                        <a:t>Des « études » non nommées : aucune méthode visible</a:t>
                      </a:r>
                    </a:p>
                  </a:txBody>
                  <a:tcPr marL="73152" marR="73152" marT="36576" marB="36576">
                    <a:solidFill>
                      <a:srgbClr val="F3F5F9"/>
                    </a:solidFill>
                  </a:tcPr>
                </a:tc>
              </a:tr>
              <a:tr h="365760">
                <a:tc>
                  <a:txBody>
                    <a:bodyPr wrap="square"/>
                    <a:lstStyle/>
                    <a:p>
                      <a:r>
                        <a:rPr sz="1700" b="1">
                          <a:solidFill>
                            <a:srgbClr val="1B1B1B"/>
                          </a:solidFill>
                          <a:latin typeface="Calibri"/>
                        </a:rPr>
                        <a:t>Recoupé ?</a:t>
                      </a:r>
                    </a:p>
                  </a:txBody>
                  <a:tcPr marL="73152" marR="73152" marT="36576" marB="36576">
                    <a:solidFill>
                      <a:srgbClr val="FFFFFF"/>
                    </a:solidFill>
                  </a:tcPr>
                </a:tc>
                <a:tc>
                  <a:txBody>
                    <a:bodyPr wrap="square"/>
                    <a:lstStyle/>
                    <a:p>
                      <a:r>
                        <a:rPr sz="1700" b="0">
                          <a:solidFill>
                            <a:srgbClr val="1B1B1B"/>
                          </a:solidFill>
                          <a:latin typeface="Calibri"/>
                        </a:rPr>
                        <a:t>D'autres sources indépendantes concordent</a:t>
                      </a:r>
                    </a:p>
                  </a:txBody>
                  <a:tcPr marL="73152" marR="73152" marT="36576" marB="36576">
                    <a:solidFill>
                      <a:srgbClr val="FFFFFF"/>
                    </a:solidFill>
                  </a:tcPr>
                </a:tc>
                <a:tc>
                  <a:txBody>
                    <a:bodyPr wrap="square"/>
                    <a:lstStyle/>
                    <a:p>
                      <a:r>
                        <a:rPr sz="1700" b="0">
                          <a:solidFill>
                            <a:srgbClr val="1B1B1B"/>
                          </a:solidFill>
                          <a:latin typeface="Calibri"/>
                        </a:rPr>
                        <a:t>Chiffre repris par d'autres sites, sans étude indépendante</a:t>
                      </a:r>
                    </a:p>
                  </a:txBody>
                  <a:tcPr marL="73152" marR="73152" marT="36576" marB="36576">
                    <a:solidFill>
                      <a:srgbClr val="FFFFFF"/>
                    </a:solidFill>
                  </a:tcPr>
                </a:tc>
              </a:tr>
              <a:tr h="365760">
                <a:tc>
                  <a:txBody>
                    <a:bodyPr wrap="square"/>
                    <a:lstStyle/>
                    <a:p>
                      <a:r>
                        <a:rPr sz="1700" b="1">
                          <a:solidFill>
                            <a:srgbClr val="1B1B1B"/>
                          </a:solidFill>
                          <a:latin typeface="Calibri"/>
                        </a:rPr>
                        <a:t>Reproductible ?</a:t>
                      </a:r>
                    </a:p>
                  </a:txBody>
                  <a:tcPr marL="73152" marR="73152" marT="36576" marB="36576">
                    <a:solidFill>
                      <a:srgbClr val="F3F5F9"/>
                    </a:solidFill>
                  </a:tcPr>
                </a:tc>
                <a:tc>
                  <a:txBody>
                    <a:bodyPr wrap="square"/>
                    <a:lstStyle/>
                    <a:p>
                      <a:r>
                        <a:rPr sz="1700" b="0">
                          <a:solidFill>
                            <a:srgbClr val="1B1B1B"/>
                          </a:solidFill>
                          <a:latin typeface="Calibri"/>
                        </a:rPr>
                        <a:t>La méthode peut être refaite</a:t>
                      </a:r>
                    </a:p>
                  </a:txBody>
                  <a:tcPr marL="73152" marR="73152" marT="36576" marB="36576">
                    <a:solidFill>
                      <a:srgbClr val="F3F5F9"/>
                    </a:solidFill>
                  </a:tcPr>
                </a:tc>
                <a:tc>
                  <a:txBody>
                    <a:bodyPr wrap="square"/>
                    <a:lstStyle/>
                    <a:p>
                      <a:r>
                        <a:rPr sz="1700" b="0">
                          <a:solidFill>
                            <a:srgbClr val="1B1B1B"/>
                          </a:solidFill>
                          <a:latin typeface="Calibri"/>
                        </a:rPr>
                        <a:t>Non : ni données ni protocole</a:t>
                      </a:r>
                    </a:p>
                  </a:txBody>
                  <a:tcPr marL="73152" marR="73152" marT="36576" marB="36576">
                    <a:solidFill>
                      <a:srgbClr val="F3F5F9"/>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1" i="0">
                <a:solidFill>
                  <a:srgbClr val="1B1B1B"/>
                </a:solidFill>
                <a:latin typeface="Calibri"/>
              </a:rPr>
              <a:t>Total sur 12 : 9 et plus fiable ; 5 à 8 à recouper ; 4 et moins à écarter ou citer avec prudence (seuils pédagogiques). Ici environ 4 sur 12 : « selon Microsoft (2019), non sourcé ».</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15"/>
              </a:spcAft>
            </a:pPr>
            <a:r>
              <a:rPr sz="900" b="0" i="0">
                <a:solidFill>
                  <a:srgbClr val="1B1B1B"/>
                </a:solidFill>
                <a:latin typeface="Calibri"/>
              </a:rPr>
              <a:t>Conseil IA : « Voici le texte d'une page : réponds aux six questions (qui, quand, pourquoi, sur quoi, recoupé, reproductible). » Le financement se contrôle à la source.</a:t>
            </a:r>
          </a:p>
        </p:txBody>
      </p:sp>
      <p:sp>
        <p:nvSpPr>
          <p:cNvPr id="9" name="TextBox 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Grille inspirée du test CRAAP (S. Blakeslee, Meriam Library, CSU Chico, 2004) ; six questions et seuils : synthèse pédagogique de l'enseignant, sans validation scientifique.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11b</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Évaluer de vrais documents sur l'authentification</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EX11b</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57</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ordinateur  ·  15 min  ·  Carnet · chapitre 4  ·  Outil : navigateur, 5 vrais documents, grille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Évaluer de vrais documents avec la grille en six questions, et distinguer la source d'origine du relais qui la commente : c'est l'origine que l'on cite.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00"/>
              </a:spcAft>
            </a:pPr>
            <a:r>
              <a:rPr sz="1000" b="0" i="0">
                <a:solidFill>
                  <a:srgbClr val="1B1B1B"/>
                </a:solidFill>
                <a:latin typeface="Calibri"/>
              </a:rPr>
              <a:t>Cinq vrais documents (relevés en octobre 2026). Retrouvez-les avec leur titre dans un moteur de recherche :</a:t>
            </a:r>
          </a:p>
          <a:p>
            <a:pPr algn="l">
              <a:spcAft>
                <a:spcPts val="300"/>
              </a:spcAft>
            </a:pPr>
            <a:r>
              <a:rPr sz="1000" b="0" i="0">
                <a:solidFill>
                  <a:srgbClr val="1B1B1B"/>
                </a:solidFill>
                <a:latin typeface="Calibri"/>
              </a:rPr>
              <a:t>D1 · NIST, SP 800-63B-4, Digital Identity Guidelines: Authentication and Authenticator Management (juillet 2025).</a:t>
            </a:r>
          </a:p>
          <a:p>
            <a:pPr algn="l">
              <a:spcAft>
                <a:spcPts val="300"/>
              </a:spcAft>
            </a:pPr>
            <a:r>
              <a:rPr sz="1000" b="0" i="0">
                <a:solidFill>
                  <a:srgbClr val="1B1B1B"/>
                </a:solidFill>
                <a:latin typeface="Calibri"/>
              </a:rPr>
              <a:t>D2 · ANSSI, Recommandations relatives à l'authentification multifacteur et aux mots de passe (2021).</a:t>
            </a:r>
          </a:p>
          <a:p>
            <a:pPr algn="l">
              <a:spcAft>
                <a:spcPts val="300"/>
              </a:spcAft>
            </a:pPr>
            <a:r>
              <a:rPr sz="1000" b="0" i="0">
                <a:solidFill>
                  <a:srgbClr val="1B1B1B"/>
                </a:solidFill>
                <a:latin typeface="Calibri"/>
              </a:rPr>
              <a:t>D3 · IT-Connect, « Nouveau guide ANSSI sur les mots de passe et l'authentification multifacteur » (11 octobre 2021).</a:t>
            </a:r>
          </a:p>
          <a:p>
            <a:pPr algn="l">
              <a:spcAft>
                <a:spcPts val="300"/>
              </a:spcAft>
            </a:pPr>
            <a:r>
              <a:rPr sz="1000" b="0" i="0">
                <a:solidFill>
                  <a:srgbClr val="1B1B1B"/>
                </a:solidFill>
                <a:latin typeface="Calibri"/>
              </a:rPr>
              <a:t>D4 · Slaw.ca, « Using multi-factor authentication blocks 99.9 % of account takeover attacks » (27 septembre 2019).</a:t>
            </a:r>
          </a:p>
          <a:p>
            <a:pPr algn="l">
              <a:spcAft>
                <a:spcPts val="300"/>
              </a:spcAft>
            </a:pPr>
            <a:r>
              <a:rPr sz="1000" b="0" i="0">
                <a:solidFill>
                  <a:srgbClr val="1B1B1B"/>
                </a:solidFill>
                <a:latin typeface="Calibri"/>
              </a:rPr>
              <a:t>D5 · ENISA, ENISA Threat Landscape 2025 (plusieurs versions).</a:t>
            </a:r>
          </a:p>
          <a:p>
            <a:pPr algn="l">
              <a:spcAft>
                <a:spcPts val="300"/>
              </a:spcAft>
            </a:pPr>
            <a:r>
              <a:rPr sz="1000" b="0" i="0">
                <a:solidFill>
                  <a:srgbClr val="1B1B1B"/>
                </a:solidFill>
                <a:latin typeface="Calibri"/>
              </a:rPr>
              <a:t>Grille en six questions, chacune notée 0 (non), 1 (en partie) ou 2 (oui) : Qui ? auteur identifié, compétent, indépendant. Quand ? date adaptée au sujet. Pourquoi ? informer plutôt que vendre. Sur quoi ? données et méthode visibles. Recoupé ? d'autres sources indépendantes concordent. Reproductible ? la méthode peut être refaite.</a:t>
            </a:r>
          </a:p>
          <a:p>
            <a:pPr algn="l">
              <a:spcAft>
                <a:spcPts val="300"/>
              </a:spcAft>
            </a:pPr>
            <a:r>
              <a:rPr sz="1000" b="0" i="0">
                <a:solidFill>
                  <a:srgbClr val="1B1B1B"/>
                </a:solidFill>
                <a:latin typeface="Calibri"/>
              </a:rPr>
              <a:t>Total sur 12 : 9 et plus = fiable ; 5 à 8 = à recouper ; 4 et moins = à écarter ou à citer avec prudence.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90"/>
              </a:spcAft>
              <a:buAutoNum type="arabicPeriod"/>
            </a:pPr>
            <a:r>
              <a:rPr sz="1300" b="0" i="0">
                <a:solidFill>
                  <a:srgbClr val="1B1B1B"/>
                </a:solidFill>
                <a:latin typeface="Calibri"/>
              </a:rPr>
              <a:t>Appliquez la grille de six questions à chaque document (brouillon ou dossier, section 5). D1 : quel verdict ?</a:t>
            </a:r>
          </a:p>
          <a:p>
            <a:pPr algn="l" marL="274320" indent="-274320">
              <a:spcAft>
                <a:spcPts val="390"/>
              </a:spcAft>
              <a:buAutoNum type="arabicPeriod"/>
            </a:pPr>
            <a:r>
              <a:rPr sz="1300" b="0" i="0">
                <a:solidFill>
                  <a:srgbClr val="1B1B1B"/>
                </a:solidFill>
                <a:latin typeface="Calibri"/>
              </a:rPr>
              <a:t>D2 : quel verdict ?</a:t>
            </a:r>
          </a:p>
          <a:p>
            <a:pPr algn="l" marL="274320" indent="-274320">
              <a:spcAft>
                <a:spcPts val="390"/>
              </a:spcAft>
              <a:buAutoNum type="arabicPeriod"/>
            </a:pPr>
            <a:r>
              <a:rPr sz="1300" b="0" i="0">
                <a:solidFill>
                  <a:srgbClr val="1B1B1B"/>
                </a:solidFill>
                <a:latin typeface="Calibri"/>
              </a:rPr>
              <a:t>D3 : quel verdict ?</a:t>
            </a:r>
          </a:p>
          <a:p>
            <a:pPr algn="l" marL="274320" indent="-274320">
              <a:spcAft>
                <a:spcPts val="390"/>
              </a:spcAft>
              <a:buAutoNum type="arabicPeriod"/>
            </a:pPr>
            <a:r>
              <a:rPr sz="1300" b="0" i="0">
                <a:solidFill>
                  <a:srgbClr val="1B1B1B"/>
                </a:solidFill>
                <a:latin typeface="Calibri"/>
              </a:rPr>
              <a:t>D4 : quel verdict ?</a:t>
            </a:r>
          </a:p>
          <a:p>
            <a:pPr algn="l" marL="274320" indent="-274320">
              <a:spcAft>
                <a:spcPts val="390"/>
              </a:spcAft>
              <a:buAutoNum type="arabicPeriod"/>
            </a:pPr>
            <a:r>
              <a:rPr sz="1300" b="0" i="0">
                <a:solidFill>
                  <a:srgbClr val="1B1B1B"/>
                </a:solidFill>
                <a:latin typeface="Calibri"/>
              </a:rPr>
              <a:t>D5 : quel verdict ?</a:t>
            </a:r>
          </a:p>
          <a:p>
            <a:pPr algn="l" marL="274320" indent="-274320">
              <a:spcAft>
                <a:spcPts val="390"/>
              </a:spcAft>
              <a:buAutoNum type="arabicPeriod"/>
            </a:pPr>
            <a:r>
              <a:rPr sz="1300" b="0" i="0">
                <a:solidFill>
                  <a:srgbClr val="1B1B1B"/>
                </a:solidFill>
                <a:latin typeface="Calibri"/>
              </a:rPr>
              <a:t>D4 : le chiffre « 99,9 % » renvoie-t-il à une étude précise nommée dans l'article ?</a:t>
            </a:r>
          </a:p>
          <a:p>
            <a:pPr algn="l" marL="274320" indent="-274320">
              <a:spcAft>
                <a:spcPts val="390"/>
              </a:spcAft>
              <a:buAutoNum type="arabicPeriod"/>
            </a:pPr>
            <a:r>
              <a:rPr sz="1300" b="0" i="0">
                <a:solidFill>
                  <a:srgbClr val="1B1B1B"/>
                </a:solidFill>
                <a:latin typeface="Calibri"/>
              </a:rPr>
              <a:t>Quel document est un relais à ne pas citer à la place du guide d'origine ?</a:t>
            </a:r>
          </a:p>
          <a:p>
            <a:pPr algn="l" marL="274320" indent="-274320">
              <a:spcAft>
                <a:spcPts val="390"/>
              </a:spcAft>
              <a:buAutoNum type="arabicPeriod"/>
            </a:pPr>
            <a:r>
              <a:rPr sz="1300" b="0" i="0">
                <a:solidFill>
                  <a:srgbClr val="1B1B1B"/>
                </a:solidFill>
                <a:latin typeface="Calibri"/>
              </a:rPr>
              <a:t>Avec Perplexity ou une autre IA (notez laquelle) : demandez-lui de noter D4 avec la grille. Est-elle d'accord avec vous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Le tableau de notation de 5 documents réels → Dossier, section 5.</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1b.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69"/>
              </a:spcAft>
            </a:pPr>
            <a:r>
              <a:rPr sz="2200" b="1" i="0">
                <a:solidFill>
                  <a:srgbClr val="FFFFFF"/>
                </a:solidFill>
                <a:latin typeface="Calibri"/>
              </a:rPr>
              <a:t>Correction · EX 11b — Évaluer de vrais documents sur l'authentification</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EX11b</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58</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Remonter de chaque document à son auteur et à sa date.</a:t>
            </a:r>
          </a:p>
          <a:p>
            <a:pPr algn="l" marL="274320" indent="-274320">
              <a:spcAft>
                <a:spcPts val="375"/>
              </a:spcAft>
              <a:buAutoNum type="arabicPeriod"/>
            </a:pPr>
            <a:r>
              <a:rPr sz="1500" b="0" i="0">
                <a:solidFill>
                  <a:srgbClr val="1B1B1B"/>
                </a:solidFill>
                <a:latin typeface="Calibri"/>
              </a:rPr>
              <a:t>Distinguer la source d'origine du relais (article qui commente).</a:t>
            </a:r>
          </a:p>
          <a:p>
            <a:pPr algn="l" marL="274320" indent="-274320">
              <a:spcAft>
                <a:spcPts val="375"/>
              </a:spcAft>
              <a:buAutoNum type="arabicPeriod"/>
            </a:pPr>
            <a:r>
              <a:rPr sz="1500" b="0" i="0">
                <a:solidFill>
                  <a:srgbClr val="1B1B1B"/>
                </a:solidFill>
                <a:latin typeface="Calibri"/>
              </a:rPr>
              <a:t>Noter avec la grille, puis décider : garder, citer avec prudence, écarter.</a:t>
            </a:r>
          </a:p>
        </p:txBody>
      </p:sp>
      <p:graphicFrame>
        <p:nvGraphicFramePr>
          <p:cNvPr id="9" name="Table 8"/>
          <p:cNvGraphicFramePr>
            <a:graphicFrameLocks noGrp="1"/>
          </p:cNvGraphicFramePr>
          <p:nvPr/>
        </p:nvGraphicFramePr>
        <p:xfrm>
          <a:off x="3703320" y="1097280"/>
          <a:ext cx="8046720" cy="2139696"/>
        </p:xfrm>
        <a:graphic>
          <a:graphicData uri="http://schemas.openxmlformats.org/drawingml/2006/table">
            <a:tbl>
              <a:tblPr firstRow="0" bandRow="0">
                <a:tableStyleId>{5C22544A-7EE6-4342-B048-85BDC9FD1C3A}</a:tableStyleId>
              </a:tblPr>
              <a:tblGrid>
                <a:gridCol w="731520"/>
                <a:gridCol w="7315200"/>
              </a:tblGrid>
              <a:tr h="237744">
                <a:tc>
                  <a:txBody>
                    <a:bodyPr wrap="square"/>
                    <a:lstStyle/>
                    <a:p>
                      <a:r>
                        <a:rPr sz="1100" b="1">
                          <a:solidFill>
                            <a:srgbClr val="FFFFFF"/>
                          </a:solidFill>
                          <a:latin typeface="Calibri"/>
                        </a:rPr>
                        <a:t>Doc.</a:t>
                      </a:r>
                    </a:p>
                  </a:txBody>
                  <a:tcPr marL="73152" marR="73152" marT="36576" marB="36576">
                    <a:solidFill>
                      <a:srgbClr val="1F2A5C"/>
                    </a:solidFill>
                  </a:tcPr>
                </a:tc>
                <a:tc>
                  <a:txBody>
                    <a:bodyPr wrap="square"/>
                    <a:lstStyle/>
                    <a:p>
                      <a:r>
                        <a:rPr sz="1100" b="1">
                          <a:solidFill>
                            <a:srgbClr val="FFFFFF"/>
                          </a:solidFill>
                          <a:latin typeface="Calibri"/>
                        </a:rPr>
                        <a:t>Ce qu'on peut dire (notation indicative, discutable)</a:t>
                      </a:r>
                    </a:p>
                  </a:txBody>
                  <a:tcPr marL="73152" marR="73152" marT="36576" marB="36576">
                    <a:solidFill>
                      <a:srgbClr val="1F2A5C"/>
                    </a:solidFill>
                  </a:tcPr>
                </a:tc>
              </a:tr>
              <a:tr h="237744">
                <a:tc>
                  <a:txBody>
                    <a:bodyPr wrap="square"/>
                    <a:lstStyle/>
                    <a:p>
                      <a:r>
                        <a:rPr sz="1100" b="1">
                          <a:solidFill>
                            <a:srgbClr val="1B1B1B"/>
                          </a:solidFill>
                          <a:latin typeface="Calibri"/>
                        </a:rPr>
                        <a:t>Verdicts attendus</a:t>
                      </a:r>
                    </a:p>
                  </a:txBody>
                  <a:tcPr marL="73152" marR="73152" marT="36576" marB="36576">
                    <a:solidFill>
                      <a:srgbClr val="FFFFFF"/>
                    </a:solidFill>
                  </a:tcPr>
                </a:tc>
                <a:tc>
                  <a:txBody>
                    <a:bodyPr wrap="square"/>
                    <a:lstStyle/>
                    <a:p>
                      <a:r>
                        <a:rPr sz="1100" b="0">
                          <a:solidFill>
                            <a:srgbClr val="1B1B1B"/>
                          </a:solidFill>
                          <a:latin typeface="Calibri"/>
                        </a:rPr>
                        <a:t>D1 origine, à retenir · D2 origine, à retenir · D3 relais : citer le guide D2 · D4 position d'un acteur, à citer avec réserve · D5 origine, à retenir (noter version et date)</a:t>
                      </a:r>
                    </a:p>
                  </a:txBody>
                  <a:tcPr marL="73152" marR="73152" marT="36576" marB="36576">
                    <a:solidFill>
                      <a:srgbClr val="FFFFFF"/>
                    </a:solidFill>
                  </a:tcPr>
                </a:tc>
              </a:tr>
              <a:tr h="237744">
                <a:tc>
                  <a:txBody>
                    <a:bodyPr wrap="square"/>
                    <a:lstStyle/>
                    <a:p>
                      <a:r>
                        <a:rPr sz="1100" b="1">
                          <a:solidFill>
                            <a:srgbClr val="1B1B1B"/>
                          </a:solidFill>
                          <a:latin typeface="Calibri"/>
                        </a:rPr>
                        <a:t>D1</a:t>
                      </a:r>
                    </a:p>
                  </a:txBody>
                  <a:tcPr marL="73152" marR="73152" marT="36576" marB="36576">
                    <a:solidFill>
                      <a:srgbClr val="F3F5F9"/>
                    </a:solidFill>
                  </a:tcPr>
                </a:tc>
                <a:tc>
                  <a:txBody>
                    <a:bodyPr wrap="square"/>
                    <a:lstStyle/>
                    <a:p>
                      <a:r>
                        <a:rPr sz="1100" b="0">
                          <a:solidFill>
                            <a:srgbClr val="1B1B1B"/>
                          </a:solidFill>
                          <a:latin typeface="Calibri"/>
                        </a:rPr>
                        <a:t>Source d'origine : organisme américain de normalisation, version finale (juillet 2025) qui remplace celle de mars 2020. Périmètre : systèmes d'identité de l'administration américaine ; référence technique mondiale. Indicatif : 10 à 11 / 12.</a:t>
                      </a:r>
                    </a:p>
                  </a:txBody>
                  <a:tcPr marL="73152" marR="73152" marT="36576" marB="36576">
                    <a:solidFill>
                      <a:srgbClr val="F3F5F9"/>
                    </a:solidFill>
                  </a:tcPr>
                </a:tc>
              </a:tr>
              <a:tr h="237744">
                <a:tc>
                  <a:txBody>
                    <a:bodyPr wrap="square"/>
                    <a:lstStyle/>
                    <a:p>
                      <a:r>
                        <a:rPr sz="1100" b="1">
                          <a:solidFill>
                            <a:srgbClr val="1B1B1B"/>
                          </a:solidFill>
                          <a:latin typeface="Calibri"/>
                        </a:rPr>
                        <a:t>D2</a:t>
                      </a:r>
                    </a:p>
                  </a:txBody>
                  <a:tcPr marL="73152" marR="73152" marT="36576" marB="36576">
                    <a:solidFill>
                      <a:srgbClr val="FFFFFF"/>
                    </a:solidFill>
                  </a:tcPr>
                </a:tc>
                <a:tc>
                  <a:txBody>
                    <a:bodyPr wrap="square"/>
                    <a:lstStyle/>
                    <a:p>
                      <a:r>
                        <a:rPr sz="1100" b="0">
                          <a:solidFill>
                            <a:srgbClr val="1B1B1B"/>
                          </a:solidFill>
                          <a:latin typeface="Calibri"/>
                        </a:rPr>
                        <a:t>Source d'origine : agence nationale française ; guide de 2021 (42 recommandations selon IT-Connect) qui recommande l'authentification multifacteur et déconseille le SMS comme second facteur (attaque par échange de carte SIM). Vérifier qu'une version plus récente n'existe pas. Indicatif : 10 / 12.</a:t>
                      </a:r>
                    </a:p>
                  </a:txBody>
                  <a:tcPr marL="73152" marR="73152" marT="36576" marB="36576">
                    <a:solidFill>
                      <a:srgbClr val="FFFFFF"/>
                    </a:solidFill>
                  </a:tcPr>
                </a:tc>
              </a:tr>
              <a:tr h="237744">
                <a:tc>
                  <a:txBody>
                    <a:bodyPr wrap="square"/>
                    <a:lstStyle/>
                    <a:p>
                      <a:r>
                        <a:rPr sz="1100" b="1">
                          <a:solidFill>
                            <a:srgbClr val="1B1B1B"/>
                          </a:solidFill>
                          <a:latin typeface="Calibri"/>
                        </a:rPr>
                        <a:t>D3</a:t>
                      </a:r>
                    </a:p>
                  </a:txBody>
                  <a:tcPr marL="73152" marR="73152" marT="36576" marB="36576">
                    <a:solidFill>
                      <a:srgbClr val="F3F5F9"/>
                    </a:solidFill>
                  </a:tcPr>
                </a:tc>
                <a:tc>
                  <a:txBody>
                    <a:bodyPr wrap="square"/>
                    <a:lstStyle/>
                    <a:p>
                      <a:r>
                        <a:rPr sz="1100" b="0">
                          <a:solidFill>
                            <a:srgbClr val="1B1B1B"/>
                          </a:solidFill>
                          <a:latin typeface="Calibri"/>
                        </a:rPr>
                        <a:t>Source secondaire : article qui relaie le guide D2. Utile pour le trouver, à ne pas citer à sa place : citer le guide. Indicatif : 6 / 12.</a:t>
                      </a:r>
                    </a:p>
                  </a:txBody>
                  <a:tcPr marL="73152" marR="73152" marT="36576" marB="36576">
                    <a:solidFill>
                      <a:srgbClr val="F3F5F9"/>
                    </a:solidFill>
                  </a:tcPr>
                </a:tc>
              </a:tr>
              <a:tr h="237744">
                <a:tc>
                  <a:txBody>
                    <a:bodyPr wrap="square"/>
                    <a:lstStyle/>
                    <a:p>
                      <a:r>
                        <a:rPr sz="1100" b="1">
                          <a:solidFill>
                            <a:srgbClr val="1B1B1B"/>
                          </a:solidFill>
                          <a:latin typeface="Calibri"/>
                        </a:rPr>
                        <a:t>D4</a:t>
                      </a:r>
                    </a:p>
                  </a:txBody>
                  <a:tcPr marL="73152" marR="73152" marT="36576" marB="36576">
                    <a:solidFill>
                      <a:srgbClr val="FFFFFF"/>
                    </a:solidFill>
                  </a:tcPr>
                </a:tc>
                <a:tc>
                  <a:txBody>
                    <a:bodyPr wrap="square"/>
                    <a:lstStyle/>
                    <a:p>
                      <a:r>
                        <a:rPr sz="1100" b="0">
                          <a:solidFill>
                            <a:srgbClr val="1B1B1B"/>
                          </a:solidFill>
                          <a:latin typeface="Calibri"/>
                        </a:rPr>
                        <a:t>Relais d'une annonce de Microsoft (2019) : le chiffre est attribué à des « études » non nommées ; l'article précise qu'il vise surtout des attaques automatisées mais son titre généralise. À citer comme « selon Microsoft (2019), non sourcé » ou à écarter. Indicatif : 4 / 12.</a:t>
                      </a:r>
                    </a:p>
                  </a:txBody>
                  <a:tcPr marL="73152" marR="73152" marT="36576" marB="36576">
                    <a:solidFill>
                      <a:srgbClr val="FFFFFF"/>
                    </a:solidFill>
                  </a:tcPr>
                </a:tc>
              </a:tr>
              <a:tr h="237744">
                <a:tc>
                  <a:txBody>
                    <a:bodyPr wrap="square"/>
                    <a:lstStyle/>
                    <a:p>
                      <a:r>
                        <a:rPr sz="1100" b="1">
                          <a:solidFill>
                            <a:srgbClr val="1B1B1B"/>
                          </a:solidFill>
                          <a:latin typeface="Calibri"/>
                        </a:rPr>
                        <a:t>D5</a:t>
                      </a:r>
                    </a:p>
                  </a:txBody>
                  <a:tcPr marL="73152" marR="73152" marT="36576" marB="36576">
                    <a:solidFill>
                      <a:srgbClr val="F3F5F9"/>
                    </a:solidFill>
                  </a:tcPr>
                </a:tc>
                <a:tc>
                  <a:txBody>
                    <a:bodyPr wrap="square"/>
                    <a:lstStyle/>
                    <a:p>
                      <a:r>
                        <a:rPr sz="1100" b="0">
                          <a:solidFill>
                            <a:srgbClr val="1B1B1B"/>
                          </a:solidFill>
                          <a:latin typeface="Calibri"/>
                        </a:rPr>
                        <a:t>Source d'origine (agence européenne, période du 1er juillet 2024 au 30 juin 2025 d'après sa page de présentation) : relever la version et la date, car plusieurs versions existent.</a:t>
                      </a:r>
                    </a:p>
                  </a:txBody>
                  <a:tcPr marL="73152" marR="73152" marT="36576" marB="36576">
                    <a:solidFill>
                      <a:srgbClr val="F3F5F9"/>
                    </a:solidFill>
                  </a:tcPr>
                </a:tc>
              </a:tr>
              <a:tr h="237744">
                <a:tc>
                  <a:txBody>
                    <a:bodyPr wrap="square"/>
                    <a:lstStyle/>
                    <a:p>
                      <a:r>
                        <a:rPr sz="1100" b="1">
                          <a:solidFill>
                            <a:srgbClr val="1B1B1B"/>
                          </a:solidFill>
                          <a:latin typeface="Calibri"/>
                        </a:rPr>
                        <a:t>Décision</a:t>
                      </a:r>
                    </a:p>
                  </a:txBody>
                  <a:tcPr marL="73152" marR="73152" marT="36576" marB="36576">
                    <a:solidFill>
                      <a:srgbClr val="FFFFFF"/>
                    </a:solidFill>
                  </a:tcPr>
                </a:tc>
                <a:tc>
                  <a:txBody>
                    <a:bodyPr wrap="square"/>
                    <a:lstStyle/>
                    <a:p>
                      <a:r>
                        <a:rPr sz="1100" b="0">
                          <a:solidFill>
                            <a:srgbClr val="1B1B1B"/>
                          </a:solidFill>
                          <a:latin typeface="Calibri"/>
                        </a:rPr>
                        <a:t>Fait : citer D1 ou D2 (d'origine). Position d'un acteur : D4, avec réserve. D3 : piste, pas une preuve.</a:t>
                      </a:r>
                    </a:p>
                  </a:txBody>
                  <a:tcPr marL="73152" marR="73152" marT="36576" marB="36576">
                    <a:solidFill>
                      <a:srgbClr val="FFFFFF"/>
                    </a:solidFill>
                  </a:tcPr>
                </a:tc>
              </a:tr>
              <a:tr h="237744">
                <a:tc>
                  <a:txBody>
                    <a:bodyPr wrap="square"/>
                    <a:lstStyle/>
                    <a:p>
                      <a:r>
                        <a:rPr sz="1100" b="1">
                          <a:solidFill>
                            <a:srgbClr val="1B1B1B"/>
                          </a:solidFill>
                          <a:latin typeface="Calibri"/>
                        </a:rPr>
                        <a:t>IA · note de D4</a:t>
                      </a:r>
                    </a:p>
                  </a:txBody>
                  <a:tcPr marL="73152" marR="73152" marT="36576" marB="36576">
                    <a:solidFill>
                      <a:srgbClr val="F3F5F9"/>
                    </a:solidFill>
                  </a:tcPr>
                </a:tc>
                <a:tc>
                  <a:txBody>
                    <a:bodyPr wrap="square"/>
                    <a:lstStyle/>
                    <a:p>
                      <a:r>
                        <a:rPr sz="1100" b="0">
                          <a:solidFill>
                            <a:srgbClr val="1B1B1B"/>
                          </a:solidFill>
                          <a:latin typeface="Calibri"/>
                        </a:rPr>
                        <a:t>Une IA note souvent D4 plus haut que vous : elle voit le titre et la date, pas l'absence d'étude nommée ni le financement. Elle résume ; vérifier la source reste votre travail.</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Citer l'article qui relaie au lieu du document d'origine.</a:t>
            </a:r>
          </a:p>
          <a:p>
            <a:pPr algn="l" marL="201168" indent="-201168">
              <a:spcAft>
                <a:spcPts val="110"/>
              </a:spcAft>
              <a:buChar char="•"/>
            </a:pPr>
            <a:r>
              <a:rPr sz="1100" b="0" i="0">
                <a:solidFill>
                  <a:srgbClr val="1B1B1B"/>
                </a:solidFill>
                <a:latin typeface="Calibri"/>
              </a:rPr>
              <a:t>Croire un chiffre parce qu'il vient d'une grande entreprise.</a:t>
            </a:r>
          </a:p>
          <a:p>
            <a:pPr algn="l" marL="201168" indent="-201168">
              <a:spcAft>
                <a:spcPts val="110"/>
              </a:spcAft>
              <a:buChar char="•"/>
            </a:pPr>
            <a:r>
              <a:rPr sz="1100" b="0" i="0">
                <a:solidFill>
                  <a:srgbClr val="1B1B1B"/>
                </a:solidFill>
                <a:latin typeface="Calibri"/>
              </a:rPr>
              <a:t>Citer sans version ni date : ces documents sont mis à jour.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12</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Évaluer vos propres sources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EX12</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59</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30 min  ·  Carnet · chapitre 4  ·  Outil : Zotero + grille (application)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Appliquer la grille à vos propres sources et décider ce que vous gardez, citez avec prudence ou écartez : vos choix seront défendus devant le jury.</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50"/>
              </a:spcAft>
            </a:pPr>
            <a:r>
              <a:rPr sz="1500" b="0" i="0">
                <a:solidFill>
                  <a:srgbClr val="1B1B1B"/>
                </a:solidFill>
                <a:latin typeface="Calibri"/>
              </a:rPr>
              <a:t>Reprenez les résultats de vos recherches (EX8, EX9) dans Zotero.</a:t>
            </a:r>
          </a:p>
          <a:p>
            <a:pPr algn="l">
              <a:spcAft>
                <a:spcPts val="450"/>
              </a:spcAft>
            </a:pPr>
            <a:r>
              <a:rPr sz="1500" b="0" i="0">
                <a:solidFill>
                  <a:srgbClr val="1B1B1B"/>
                </a:solidFill>
                <a:latin typeface="Calibri"/>
              </a:rPr>
              <a:t>Grille en six questions, chacune notée 0 (non), 1 (en partie) ou 2 (oui) : Qui ? auteur identifié, compétent, indépendant. Quand ? date adaptée au sujet. Pourquoi ? informer plutôt que vendre. Sur quoi ? données et méthode visibles. Recoupé ? d'autres sources indépendantes concordent. Reproductible ? la méthode peut être refaite.</a:t>
            </a:r>
          </a:p>
          <a:p>
            <a:pPr algn="l">
              <a:spcAft>
                <a:spcPts val="450"/>
              </a:spcAft>
            </a:pPr>
            <a:r>
              <a:rPr sz="1500" b="0" i="0">
                <a:solidFill>
                  <a:srgbClr val="1B1B1B"/>
                </a:solidFill>
                <a:latin typeface="Calibri"/>
              </a:rPr>
              <a:t>Total sur 12 : 9 et plus = fiable ; 5 à 8 = à recouper ; 4 et moins = à écarter ou à citer avec prudence.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Choisissez 5 sources de votre question et notez-les avec la grille.</a:t>
            </a:r>
          </a:p>
          <a:p>
            <a:pPr algn="l" marL="274320" indent="-274320">
              <a:spcAft>
                <a:spcPts val="540"/>
              </a:spcAft>
              <a:buAutoNum type="arabicPeriod"/>
            </a:pPr>
            <a:r>
              <a:rPr sz="1800" b="0" i="0">
                <a:solidFill>
                  <a:srgbClr val="1B1B1B"/>
                </a:solidFill>
                <a:latin typeface="Calibri"/>
              </a:rPr>
              <a:t>Gardez-en 3 au moins et justifiez chaque décision en une phrase.</a:t>
            </a:r>
          </a:p>
          <a:p>
            <a:pPr algn="l" marL="274320" indent="-274320">
              <a:spcAft>
                <a:spcPts val="540"/>
              </a:spcAft>
              <a:buAutoNum type="arabicPeriod"/>
            </a:pPr>
            <a:r>
              <a:rPr sz="1800" b="0" i="0">
                <a:solidFill>
                  <a:srgbClr val="1B1B1B"/>
                </a:solidFill>
                <a:latin typeface="Calibri"/>
              </a:rPr>
              <a:t>Dans Zotero, étiquetez-les « retenue » ou « écartée ».</a:t>
            </a:r>
          </a:p>
          <a:p>
            <a:pPr algn="l" marL="274320" indent="-274320">
              <a:spcAft>
                <a:spcPts val="540"/>
              </a:spcAft>
              <a:buAutoNum type="arabicPeriod"/>
            </a:pPr>
            <a:r>
              <a:rPr sz="1800" b="0" i="0">
                <a:solidFill>
                  <a:srgbClr val="1B1B1B"/>
                </a:solidFill>
                <a:latin typeface="Calibri"/>
              </a:rPr>
              <a:t>Avec ChatGPT ou une autre IA (notez laquelle) : donnez-lui une de vos sources et la grille, demandez une note sur 12. Quel écart avec votre note, en points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Livrable : La grille de 5 sources remplie et 3 sources retenues dans Zotero. → Dossier, section 5.</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2.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12 — Évaluer vos propres sources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EX12</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60</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Noter chaque critère sans regarder le total.</a:t>
            </a:r>
          </a:p>
          <a:p>
            <a:pPr algn="l" marL="274320" indent="-274320">
              <a:spcAft>
                <a:spcPts val="375"/>
              </a:spcAft>
              <a:buAutoNum type="arabicPeriod"/>
            </a:pPr>
            <a:r>
              <a:rPr sz="1500" b="0" i="0">
                <a:solidFill>
                  <a:srgbClr val="1B1B1B"/>
                </a:solidFill>
                <a:latin typeface="Calibri"/>
              </a:rPr>
              <a:t>Appliquer les seuils : 9 et plus, 5 à 8, 4 et moins.</a:t>
            </a:r>
          </a:p>
          <a:p>
            <a:pPr algn="l" marL="274320" indent="-274320">
              <a:spcAft>
                <a:spcPts val="375"/>
              </a:spcAft>
              <a:buAutoNum type="arabicPeriod"/>
            </a:pPr>
            <a:r>
              <a:rPr sz="1500" b="0" i="0">
                <a:solidFill>
                  <a:srgbClr val="1B1B1B"/>
                </a:solidFill>
                <a:latin typeface="Calibri"/>
              </a:rPr>
              <a:t>Justifier : une phrase, un fait.</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2743200"/>
                <a:gridCol w="5303520"/>
              </a:tblGrid>
              <a:tr h="237744">
                <a:tc>
                  <a:txBody>
                    <a:bodyPr wrap="square"/>
                    <a:lstStyle/>
                    <a:p>
                      <a:r>
                        <a:rPr sz="1700" b="1">
                          <a:solidFill>
                            <a:srgbClr val="FFFFFF"/>
                          </a:solidFill>
                          <a:latin typeface="Calibri"/>
                        </a:rPr>
                        <a:t>Cas (fictif)</a:t>
                      </a:r>
                    </a:p>
                  </a:txBody>
                  <a:tcPr marL="73152" marR="73152" marT="36576" marB="36576">
                    <a:solidFill>
                      <a:srgbClr val="1F2A5C"/>
                    </a:solidFill>
                  </a:tcPr>
                </a:tc>
                <a:tc>
                  <a:txBody>
                    <a:bodyPr wrap="square"/>
                    <a:lstStyle/>
                    <a:p>
                      <a:r>
                        <a:rPr sz="1700" b="1">
                          <a:solidFill>
                            <a:srgbClr val="FFFFFF"/>
                          </a:solidFill>
                          <a:latin typeface="Calibri"/>
                        </a:rPr>
                        <a:t>Notation et décision</a:t>
                      </a:r>
                    </a:p>
                  </a:txBody>
                  <a:tcPr marL="73152" marR="73152" marT="36576" marB="36576">
                    <a:solidFill>
                      <a:srgbClr val="1F2A5C"/>
                    </a:solidFill>
                  </a:tcPr>
                </a:tc>
              </a:tr>
              <a:tr h="237744">
                <a:tc>
                  <a:txBody>
                    <a:bodyPr wrap="square"/>
                    <a:lstStyle/>
                    <a:p>
                      <a:r>
                        <a:rPr sz="1700" b="1">
                          <a:solidFill>
                            <a:srgbClr val="1B1B1B"/>
                          </a:solidFill>
                          <a:latin typeface="Calibri"/>
                        </a:rPr>
                        <a:t>Rapport d'agence, 2023, méthode publiée</a:t>
                      </a:r>
                    </a:p>
                  </a:txBody>
                  <a:tcPr marL="73152" marR="73152" marT="36576" marB="36576">
                    <a:solidFill>
                      <a:srgbClr val="FFFFFF"/>
                    </a:solidFill>
                  </a:tcPr>
                </a:tc>
                <a:tc>
                  <a:txBody>
                    <a:bodyPr wrap="square"/>
                    <a:lstStyle/>
                    <a:p>
                      <a:r>
                        <a:rPr sz="1700" b="0">
                          <a:solidFill>
                            <a:srgbClr val="1B1B1B"/>
                          </a:solidFill>
                          <a:latin typeface="Calibri"/>
                        </a:rPr>
                        <a:t>2 / 1 / 2 / 2 / 1 / 2 = 10 : fiable, retenue</a:t>
                      </a:r>
                    </a:p>
                  </a:txBody>
                  <a:tcPr marL="73152" marR="73152" marT="36576" marB="36576">
                    <a:solidFill>
                      <a:srgbClr val="FFFFFF"/>
                    </a:solidFill>
                  </a:tcPr>
                </a:tc>
              </a:tr>
              <a:tr h="237744">
                <a:tc>
                  <a:txBody>
                    <a:bodyPr wrap="square"/>
                    <a:lstStyle/>
                    <a:p>
                      <a:r>
                        <a:rPr sz="1700" b="1">
                          <a:solidFill>
                            <a:srgbClr val="1B1B1B"/>
                          </a:solidFill>
                          <a:latin typeface="Calibri"/>
                        </a:rPr>
                        <a:t>Brochure d'éditeur, 2025, sans méthode</a:t>
                      </a:r>
                    </a:p>
                  </a:txBody>
                  <a:tcPr marL="73152" marR="73152" marT="36576" marB="36576">
                    <a:solidFill>
                      <a:srgbClr val="F3F5F9"/>
                    </a:solidFill>
                  </a:tcPr>
                </a:tc>
                <a:tc>
                  <a:txBody>
                    <a:bodyPr wrap="square"/>
                    <a:lstStyle/>
                    <a:p>
                      <a:r>
                        <a:rPr sz="1700" b="0">
                          <a:solidFill>
                            <a:srgbClr val="1B1B1B"/>
                          </a:solidFill>
                          <a:latin typeface="Calibri"/>
                        </a:rPr>
                        <a:t>1 / 2 / 0 / 0 / 0 / 0 = 3 : citer comme position de l'éditeur</a:t>
                      </a:r>
                    </a:p>
                  </a:txBody>
                  <a:tcPr marL="73152" marR="73152" marT="36576" marB="36576">
                    <a:solidFill>
                      <a:srgbClr val="F3F5F9"/>
                    </a:solidFill>
                  </a:tcPr>
                </a:tc>
              </a:tr>
              <a:tr h="237744">
                <a:tc>
                  <a:txBody>
                    <a:bodyPr wrap="square"/>
                    <a:lstStyle/>
                    <a:p>
                      <a:r>
                        <a:rPr sz="1700" b="1">
                          <a:solidFill>
                            <a:srgbClr val="1B1B1B"/>
                          </a:solidFill>
                          <a:latin typeface="Calibri"/>
                        </a:rPr>
                        <a:t>Article de revue relue, 2021, 3 organisations</a:t>
                      </a:r>
                    </a:p>
                  </a:txBody>
                  <a:tcPr marL="73152" marR="73152" marT="36576" marB="36576">
                    <a:solidFill>
                      <a:srgbClr val="FFFFFF"/>
                    </a:solidFill>
                  </a:tcPr>
                </a:tc>
                <a:tc>
                  <a:txBody>
                    <a:bodyPr wrap="square"/>
                    <a:lstStyle/>
                    <a:p>
                      <a:r>
                        <a:rPr sz="1700" b="0">
                          <a:solidFill>
                            <a:srgbClr val="1B1B1B"/>
                          </a:solidFill>
                          <a:latin typeface="Calibri"/>
                        </a:rPr>
                        <a:t>2 / 1 / 2 / 2 / 1 / 2 = 10 : retenue ; date à discuter selon le sujet</a:t>
                      </a:r>
                    </a:p>
                  </a:txBody>
                  <a:tcPr marL="73152" marR="73152" marT="36576" marB="36576">
                    <a:solidFill>
                      <a:srgbClr val="FFFFFF"/>
                    </a:solidFill>
                  </a:tcPr>
                </a:tc>
              </a:tr>
              <a:tr h="237744">
                <a:tc>
                  <a:txBody>
                    <a:bodyPr wrap="square"/>
                    <a:lstStyle/>
                    <a:p>
                      <a:r>
                        <a:rPr sz="1700" b="1">
                          <a:solidFill>
                            <a:srgbClr val="1B1B1B"/>
                          </a:solidFill>
                          <a:latin typeface="Calibri"/>
                        </a:rPr>
                        <a:t>Page de presse reprenant la brochure</a:t>
                      </a:r>
                    </a:p>
                  </a:txBody>
                  <a:tcPr marL="73152" marR="73152" marT="36576" marB="36576">
                    <a:solidFill>
                      <a:srgbClr val="F3F5F9"/>
                    </a:solidFill>
                  </a:tcPr>
                </a:tc>
                <a:tc>
                  <a:txBody>
                    <a:bodyPr wrap="square"/>
                    <a:lstStyle/>
                    <a:p>
                      <a:r>
                        <a:rPr sz="1700" b="0">
                          <a:solidFill>
                            <a:srgbClr val="1B1B1B"/>
                          </a:solidFill>
                          <a:latin typeface="Calibri"/>
                        </a:rPr>
                        <a:t>1 / 2 / 1 / 0 / 0 / 0 = 4 : écartée (source circulaire)</a:t>
                      </a:r>
                    </a:p>
                  </a:txBody>
                  <a:tcPr marL="73152" marR="73152" marT="36576" marB="36576">
                    <a:solidFill>
                      <a:srgbClr val="F3F5F9"/>
                    </a:solidFill>
                  </a:tcPr>
                </a:tc>
              </a:tr>
              <a:tr h="237744">
                <a:tc>
                  <a:txBody>
                    <a:bodyPr wrap="square"/>
                    <a:lstStyle/>
                    <a:p>
                      <a:r>
                        <a:rPr sz="1700" b="1">
                          <a:solidFill>
                            <a:srgbClr val="1B1B1B"/>
                          </a:solidFill>
                          <a:latin typeface="Calibri"/>
                        </a:rPr>
                        <a:t>IA · écart de notation</a:t>
                      </a:r>
                    </a:p>
                  </a:txBody>
                  <a:tcPr marL="73152" marR="73152" marT="36576" marB="36576">
                    <a:solidFill>
                      <a:srgbClr val="FFFFFF"/>
                    </a:solidFill>
                  </a:tcPr>
                </a:tc>
                <a:tc>
                  <a:txBody>
                    <a:bodyPr wrap="square"/>
                    <a:lstStyle/>
                    <a:p>
                      <a:r>
                        <a:rPr sz="1700" b="0">
                          <a:solidFill>
                            <a:srgbClr val="1B1B1B"/>
                          </a:solidFill>
                          <a:latin typeface="Calibri"/>
                        </a:rPr>
                        <a:t>Souvent 2 à 4 points : l'IA surestime « Recoupé » et « Reproductible » qu'elle ne peut pas vérifier. Votre note, sourcée, fait foi.</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Noter « Recoupé » sans avoir cherché une autre source indépendante.</a:t>
            </a:r>
          </a:p>
          <a:p>
            <a:pPr algn="l" marL="201168" indent="-201168">
              <a:spcAft>
                <a:spcPts val="110"/>
              </a:spcAft>
              <a:buChar char="•"/>
            </a:pPr>
            <a:r>
              <a:rPr sz="1100" b="0" i="0">
                <a:solidFill>
                  <a:srgbClr val="1B1B1B"/>
                </a:solidFill>
                <a:latin typeface="Calibri"/>
              </a:rPr>
              <a:t>Retenir cinq sources du même éditeur : elles ne se recoupent pas.</a:t>
            </a:r>
          </a:p>
          <a:p>
            <a:pPr algn="l" marL="201168" indent="-201168">
              <a:spcAft>
                <a:spcPts val="110"/>
              </a:spcAft>
              <a:buChar char="•"/>
            </a:pPr>
            <a:r>
              <a:rPr sz="1100" b="0" i="0">
                <a:solidFill>
                  <a:srgbClr val="1B1B1B"/>
                </a:solidFill>
                <a:latin typeface="Calibri"/>
              </a:rPr>
              <a:t>Écarter sans justifier : le jury demandera pourquoi.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Remonter à la source d'un chiffre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61</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Le chiffre</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Dans un article</a:t>
            </a:r>
          </a:p>
          <a:p>
            <a:pPr algn="l">
              <a:spcAft>
                <a:spcPts val="480"/>
              </a:spcAft>
            </a:pPr>
            <a:r>
              <a:rPr sz="1600" b="0" i="0">
                <a:solidFill>
                  <a:srgbClr val="1B1B1B"/>
                </a:solidFill>
                <a:latin typeface="Calibri"/>
              </a:rPr>
              <a:t>Ex. : « 99,9 % »</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La citation</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Qui est cité ?</a:t>
            </a:r>
          </a:p>
          <a:p>
            <a:pPr algn="l">
              <a:spcAft>
                <a:spcPts val="480"/>
              </a:spcAft>
            </a:pPr>
            <a:r>
              <a:rPr sz="1600" b="0" i="0">
                <a:solidFill>
                  <a:srgbClr val="1B1B1B"/>
                </a:solidFill>
                <a:latin typeface="Calibri"/>
              </a:rPr>
              <a:t>Ex. : « selon Microsoft »</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L'origine</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Document primaire ?</a:t>
            </a:r>
          </a:p>
          <a:p>
            <a:pPr algn="l">
              <a:spcAft>
                <a:spcPts val="480"/>
              </a:spcAft>
            </a:pPr>
            <a:r>
              <a:rPr sz="1600" b="0" i="0">
                <a:solidFill>
                  <a:srgbClr val="1B1B1B"/>
                </a:solidFill>
                <a:latin typeface="Calibri"/>
              </a:rPr>
              <a:t>Ex. : ses « études » : lesquelles ?</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Ce qu'il mesure</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Sur qui, quand, comment ?</a:t>
            </a:r>
          </a:p>
          <a:p>
            <a:pPr algn="l">
              <a:spcAft>
                <a:spcPts val="480"/>
              </a:spcAft>
            </a:pPr>
            <a:r>
              <a:rPr sz="1600" b="0" i="0">
                <a:solidFill>
                  <a:srgbClr val="1B1B1B"/>
                </a:solidFill>
                <a:latin typeface="Calibri"/>
              </a:rPr>
              <a:t>Ex. : attaques automatisées</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Ma phrase</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Citer, nuancer ou écarter</a:t>
            </a:r>
          </a:p>
          <a:p>
            <a:pPr algn="l">
              <a:spcAft>
                <a:spcPts val="480"/>
              </a:spcAft>
            </a:pPr>
            <a:r>
              <a:rPr sz="1600" b="0" i="0">
                <a:solidFill>
                  <a:srgbClr val="1B1B1B"/>
                </a:solidFill>
                <a:latin typeface="Calibri"/>
              </a:rPr>
              <a:t>Ex. : « selon Microsoft (2019), non sourcé »</a:t>
            </a:r>
          </a:p>
        </p:txBody>
      </p:sp>
      <p:sp>
        <p:nvSpPr>
          <p:cNvPr id="20" name="Rounded Rectangle 19"/>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Pas de source d'origine : ne pas citer comme un fait. Cas réel étudié en EX11b et EX18.</a:t>
            </a:r>
          </a:p>
        </p:txBody>
      </p:sp>
      <p:sp>
        <p:nvSpPr>
          <p:cNvPr id="21" name="TextBox 20"/>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Cas réel : Slaw.ca, 27 septembre 2019, article relayant Microsoft (lu en octobre 2026) ; remonter à l'origine reste à faire en EX11b et EX18.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13</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Remonter à la source d'un chiffre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EX13</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62</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ordinateur  ·  20 min  ·  Carnet · chapitre 4  ·  Outil : moteur de recherche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Remonter à l'origine d'un chiffre répété partout : s'il n'a pas d'origine retrouvable, il ne se cite pas comme un fait.</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Un article de presse (fictif) écrit : « 60 % des PME victimes d'une cyberattaque disparaissent dans les six mois. »</a:t>
            </a:r>
          </a:p>
          <a:p>
            <a:pPr algn="l">
              <a:spcAft>
                <a:spcPts val="600"/>
              </a:spcAft>
            </a:pPr>
            <a:r>
              <a:rPr sz="2000" b="0" i="0">
                <a:solidFill>
                  <a:srgbClr val="1B1B1B"/>
                </a:solidFill>
                <a:latin typeface="Calibri"/>
              </a:rPr>
              <a:t>Ce chiffre est souvent répété ; sa source n'est pas indiquée dans l'article. Retrouvez son origine par vos recherches.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Cherchez l'origine du chiffre et notez le chemin : article, article, origine.</a:t>
            </a:r>
          </a:p>
          <a:p>
            <a:pPr algn="l" marL="274320" indent="-274320">
              <a:spcAft>
                <a:spcPts val="540"/>
              </a:spcAft>
              <a:buAutoNum type="arabicPeriod"/>
            </a:pPr>
            <a:r>
              <a:rPr sz="1800" b="0" i="0">
                <a:solidFill>
                  <a:srgbClr val="1B1B1B"/>
                </a:solidFill>
                <a:latin typeface="Calibri"/>
              </a:rPr>
              <a:t>La source d'origine existe-t-elle ? Que mesure-t-elle exactement ?</a:t>
            </a:r>
          </a:p>
          <a:p>
            <a:pPr algn="l" marL="274320" indent="-274320">
              <a:spcAft>
                <a:spcPts val="540"/>
              </a:spcAft>
              <a:buAutoNum type="arabicPeriod"/>
            </a:pPr>
            <a:r>
              <a:rPr sz="1800" b="0" i="0">
                <a:solidFill>
                  <a:srgbClr val="1B1B1B"/>
                </a:solidFill>
                <a:latin typeface="Calibri"/>
              </a:rPr>
              <a:t>Que répondez-vous à la directrice qui veut le citer ?</a:t>
            </a:r>
          </a:p>
          <a:p>
            <a:pPr algn="l" marL="274320" indent="-274320">
              <a:spcAft>
                <a:spcPts val="540"/>
              </a:spcAft>
              <a:buAutoNum type="arabicPeriod"/>
            </a:pPr>
            <a:r>
              <a:rPr sz="1800" b="0" i="0">
                <a:solidFill>
                  <a:srgbClr val="1B1B1B"/>
                </a:solidFill>
                <a:latin typeface="Calibri"/>
              </a:rPr>
              <a:t>Avec Claude ou une autre IA (notez laquelle) : demandez l'origine du chiffre « 60 % ». Donne-t-elle une source que vous retrouvez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Le chemin de vos recherches et votre phrase de réponse. → Dossier, section 6.</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3.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13 — Remonter à la source d'un chiffre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EX13</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63</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Chaque article cite un autre article : remonter jusqu'au document primaire.</a:t>
            </a:r>
          </a:p>
          <a:p>
            <a:pPr algn="l" marL="274320" indent="-274320">
              <a:spcAft>
                <a:spcPts val="375"/>
              </a:spcAft>
              <a:buAutoNum type="arabicPeriod"/>
            </a:pPr>
            <a:r>
              <a:rPr sz="1500" b="0" i="0">
                <a:solidFill>
                  <a:srgbClr val="1B1B1B"/>
                </a:solidFill>
                <a:latin typeface="Calibri"/>
              </a:rPr>
              <a:t>Lire ce que la source mesure, sur qui, quand.</a:t>
            </a:r>
          </a:p>
          <a:p>
            <a:pPr algn="l" marL="274320" indent="-274320">
              <a:spcAft>
                <a:spcPts val="375"/>
              </a:spcAft>
              <a:buAutoNum type="arabicPeriod"/>
            </a:pPr>
            <a:r>
              <a:rPr sz="1500" b="0" i="0">
                <a:solidFill>
                  <a:srgbClr val="1B1B1B"/>
                </a:solidFill>
                <a:latin typeface="Calibri"/>
              </a:rPr>
              <a:t>À défaut de source primaire : ne pas citer comme un fait.</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2926080"/>
                <a:gridCol w="5120640"/>
              </a:tblGrid>
              <a:tr h="237744">
                <a:tc>
                  <a:txBody>
                    <a:bodyPr wrap="square"/>
                    <a:lstStyle/>
                    <a:p>
                      <a:r>
                        <a:rPr sz="1700" b="1">
                          <a:solidFill>
                            <a:srgbClr val="FFFFFF"/>
                          </a:solidFill>
                          <a:latin typeface="Calibri"/>
                        </a:rPr>
                        <a:t>Situation trouvée</a:t>
                      </a:r>
                    </a:p>
                  </a:txBody>
                  <a:tcPr marL="73152" marR="73152" marT="36576" marB="36576">
                    <a:solidFill>
                      <a:srgbClr val="1F2A5C"/>
                    </a:solidFill>
                  </a:tcPr>
                </a:tc>
                <a:tc>
                  <a:txBody>
                    <a:bodyPr wrap="square"/>
                    <a:lstStyle/>
                    <a:p>
                      <a:r>
                        <a:rPr sz="1700" b="1">
                          <a:solidFill>
                            <a:srgbClr val="FFFFFF"/>
                          </a:solidFill>
                          <a:latin typeface="Calibri"/>
                        </a:rPr>
                        <a:t>Que faire ?</a:t>
                      </a:r>
                    </a:p>
                  </a:txBody>
                  <a:tcPr marL="73152" marR="73152" marT="36576" marB="36576">
                    <a:solidFill>
                      <a:srgbClr val="1F2A5C"/>
                    </a:solidFill>
                  </a:tcPr>
                </a:tc>
              </a:tr>
              <a:tr h="237744">
                <a:tc>
                  <a:txBody>
                    <a:bodyPr wrap="square"/>
                    <a:lstStyle/>
                    <a:p>
                      <a:r>
                        <a:rPr sz="1700" b="1">
                          <a:solidFill>
                            <a:srgbClr val="1B1B1B"/>
                          </a:solidFill>
                          <a:latin typeface="Calibri"/>
                        </a:rPr>
                        <a:t>Source d'origine trouvée et claire</a:t>
                      </a:r>
                    </a:p>
                  </a:txBody>
                  <a:tcPr marL="73152" marR="73152" marT="36576" marB="36576">
                    <a:solidFill>
                      <a:srgbClr val="FFFFFF"/>
                    </a:solidFill>
                  </a:tcPr>
                </a:tc>
                <a:tc>
                  <a:txBody>
                    <a:bodyPr wrap="square"/>
                    <a:lstStyle/>
                    <a:p>
                      <a:r>
                        <a:rPr sz="1700" b="0">
                          <a:solidFill>
                            <a:srgbClr val="1B1B1B"/>
                          </a:solidFill>
                          <a:latin typeface="Calibri"/>
                        </a:rPr>
                        <a:t>Citer la source d'origine, avec ce qu'elle mesure vraiment</a:t>
                      </a:r>
                    </a:p>
                  </a:txBody>
                  <a:tcPr marL="73152" marR="73152" marT="36576" marB="36576">
                    <a:solidFill>
                      <a:srgbClr val="FFFFFF"/>
                    </a:solidFill>
                  </a:tcPr>
                </a:tc>
              </a:tr>
              <a:tr h="237744">
                <a:tc>
                  <a:txBody>
                    <a:bodyPr wrap="square"/>
                    <a:lstStyle/>
                    <a:p>
                      <a:r>
                        <a:rPr sz="1700" b="1">
                          <a:solidFill>
                            <a:srgbClr val="1B1B1B"/>
                          </a:solidFill>
                          <a:latin typeface="Calibri"/>
                        </a:rPr>
                        <a:t>Source d'origine trouvée mais différente de l'affirmation</a:t>
                      </a:r>
                    </a:p>
                  </a:txBody>
                  <a:tcPr marL="73152" marR="73152" marT="36576" marB="36576">
                    <a:solidFill>
                      <a:srgbClr val="F3F5F9"/>
                    </a:solidFill>
                  </a:tcPr>
                </a:tc>
                <a:tc>
                  <a:txBody>
                    <a:bodyPr wrap="square"/>
                    <a:lstStyle/>
                    <a:p>
                      <a:r>
                        <a:rPr sz="1700" b="0">
                          <a:solidFill>
                            <a:srgbClr val="1B1B1B"/>
                          </a:solidFill>
                          <a:latin typeface="Calibri"/>
                        </a:rPr>
                        <a:t>Corriger la formulation : citer ce qui est réellement mesuré</a:t>
                      </a:r>
                    </a:p>
                  </a:txBody>
                  <a:tcPr marL="73152" marR="73152" marT="36576" marB="36576">
                    <a:solidFill>
                      <a:srgbClr val="F3F5F9"/>
                    </a:solidFill>
                  </a:tcPr>
                </a:tc>
              </a:tr>
              <a:tr h="237744">
                <a:tc>
                  <a:txBody>
                    <a:bodyPr wrap="square"/>
                    <a:lstStyle/>
                    <a:p>
                      <a:r>
                        <a:rPr sz="1700" b="1">
                          <a:solidFill>
                            <a:srgbClr val="1B1B1B"/>
                          </a:solidFill>
                          <a:latin typeface="Calibri"/>
                        </a:rPr>
                        <a:t>Aucune source primaire trouvée</a:t>
                      </a:r>
                    </a:p>
                  </a:txBody>
                  <a:tcPr marL="73152" marR="73152" marT="36576" marB="36576">
                    <a:solidFill>
                      <a:srgbClr val="FFFFFF"/>
                    </a:solidFill>
                  </a:tcPr>
                </a:tc>
                <a:tc>
                  <a:txBody>
                    <a:bodyPr wrap="square"/>
                    <a:lstStyle/>
                    <a:p>
                      <a:r>
                        <a:rPr sz="1700" b="0">
                          <a:solidFill>
                            <a:srgbClr val="1B1B1B"/>
                          </a:solidFill>
                          <a:latin typeface="Calibri"/>
                        </a:rPr>
                        <a:t>Écrire « chiffre fréquemment cité, sans source d'origine vérifiable » ou l'écarter</a:t>
                      </a:r>
                    </a:p>
                  </a:txBody>
                  <a:tcPr marL="73152" marR="73152" marT="36576" marB="36576">
                    <a:solidFill>
                      <a:srgbClr val="FFFFFF"/>
                    </a:solidFill>
                  </a:tcPr>
                </a:tc>
              </a:tr>
              <a:tr h="237744">
                <a:tc>
                  <a:txBody>
                    <a:bodyPr wrap="square"/>
                    <a:lstStyle/>
                    <a:p>
                      <a:r>
                        <a:rPr sz="1700" b="1">
                          <a:solidFill>
                            <a:srgbClr val="1B1B1B"/>
                          </a:solidFill>
                          <a:latin typeface="Calibri"/>
                        </a:rPr>
                        <a:t>Phrase de réponse à la directrice</a:t>
                      </a:r>
                    </a:p>
                  </a:txBody>
                  <a:tcPr marL="73152" marR="73152" marT="36576" marB="36576">
                    <a:solidFill>
                      <a:srgbClr val="F3F5F9"/>
                    </a:solidFill>
                  </a:tcPr>
                </a:tc>
                <a:tc>
                  <a:txBody>
                    <a:bodyPr wrap="square"/>
                    <a:lstStyle/>
                    <a:p>
                      <a:r>
                        <a:rPr sz="1700" b="0">
                          <a:solidFill>
                            <a:srgbClr val="1B1B1B"/>
                          </a:solidFill>
                          <a:latin typeface="Calibri"/>
                        </a:rPr>
                        <a:t>« Je n'ai pas pu retrouver l'étude d'origine : je propose de citer le chiffre comme non sourcé, ou de ne pas l'utiliser. »</a:t>
                      </a:r>
                    </a:p>
                  </a:txBody>
                  <a:tcPr marL="73152" marR="73152" marT="36576" marB="36576">
                    <a:solidFill>
                      <a:srgbClr val="F3F5F9"/>
                    </a:solidFill>
                  </a:tcPr>
                </a:tc>
              </a:tr>
              <a:tr h="237744">
                <a:tc>
                  <a:txBody>
                    <a:bodyPr wrap="square"/>
                    <a:lstStyle/>
                    <a:p>
                      <a:r>
                        <a:rPr sz="1700" b="1">
                          <a:solidFill>
                            <a:srgbClr val="1B1B1B"/>
                          </a:solidFill>
                          <a:latin typeface="Calibri"/>
                        </a:rPr>
                        <a:t>IA · origine du chiffre</a:t>
                      </a:r>
                    </a:p>
                  </a:txBody>
                  <a:tcPr marL="73152" marR="73152" marT="36576" marB="36576">
                    <a:solidFill>
                      <a:srgbClr val="FFFFFF"/>
                    </a:solidFill>
                  </a:tcPr>
                </a:tc>
                <a:tc>
                  <a:txBody>
                    <a:bodyPr wrap="square"/>
                    <a:lstStyle/>
                    <a:p>
                      <a:r>
                        <a:rPr sz="1700" b="0">
                          <a:solidFill>
                            <a:srgbClr val="1B1B1B"/>
                          </a:solidFill>
                          <a:latin typeface="Calibri"/>
                        </a:rPr>
                        <a:t>Souvent non : l'IA cite une étude plausible mais introuvable. Un chiffre sans source retrouvable ne se cite pas comme un fait.</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S'arrêter au deuxième article qui répète le chiffre.</a:t>
            </a:r>
          </a:p>
          <a:p>
            <a:pPr algn="l" marL="201168" indent="-201168">
              <a:spcAft>
                <a:spcPts val="110"/>
              </a:spcAft>
              <a:buChar char="•"/>
            </a:pPr>
            <a:r>
              <a:rPr sz="1100" b="0" i="0">
                <a:solidFill>
                  <a:srgbClr val="1B1B1B"/>
                </a:solidFill>
                <a:latin typeface="Calibri"/>
              </a:rPr>
              <a:t>Citer le chiffre parce qu'il est « connu ».</a:t>
            </a:r>
          </a:p>
          <a:p>
            <a:pPr algn="l" marL="201168" indent="-201168">
              <a:spcAft>
                <a:spcPts val="110"/>
              </a:spcAft>
              <a:buChar char="•"/>
            </a:pPr>
            <a:r>
              <a:rPr sz="1100" b="0" i="0">
                <a:solidFill>
                  <a:srgbClr val="1B1B1B"/>
                </a:solidFill>
                <a:latin typeface="Calibri"/>
              </a:rPr>
              <a:t>Conclure qu'il est faux sans preuve : l'absence de source n'est pas une preuve du contraire.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M4</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Défi chrono : que disait la page avant ?</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M4</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64</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Binômes, ordinateur  ·  10 min  ·  Carnet · chapitre 4  ·  Outil : Wayback Machine (web.archive.org)</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voir comment une page a changé et citer avec une date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Une page peut être modifiée ou supprimée sans prévenir : le chiffre que vous avez cité a peut-être changé. La Wayback Machine (web.archive.org) conserve des copies datées de pages web.</a:t>
            </a:r>
          </a:p>
          <a:p>
            <a:pPr algn="l">
              <a:spcAft>
                <a:spcPts val="600"/>
              </a:spcAft>
            </a:pPr>
            <a:r>
              <a:rPr sz="2000" b="0" i="0">
                <a:solidFill>
                  <a:srgbClr val="1B1B1B"/>
                </a:solidFill>
                <a:latin typeface="Calibri"/>
              </a:rPr>
              <a:t>Prenez l'adresse d'une page de vos sources (EX12), ou à défaut la page d'accueil d'un fournisseur de sauvegarde.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Collez l'adresse dans web.archive.org. Combien de copies datées existent ? (ordre de grandeur : aucune, quelques-unes, des centaines)</a:t>
            </a:r>
          </a:p>
          <a:p>
            <a:pPr algn="l" marL="274320" indent="-274320">
              <a:spcAft>
                <a:spcPts val="480"/>
              </a:spcAft>
              <a:buAutoNum type="arabicPeriod"/>
            </a:pPr>
            <a:r>
              <a:rPr sz="1600" b="0" i="0">
                <a:solidFill>
                  <a:srgbClr val="1B1B1B"/>
                </a:solidFill>
                <a:latin typeface="Calibri"/>
              </a:rPr>
              <a:t>Ouvrez la copie la plus ancienne et la plus récente : qu'est-ce qui a changé (chiffre, offre, texte) ?</a:t>
            </a:r>
          </a:p>
          <a:p>
            <a:pPr algn="l" marL="274320" indent="-274320">
              <a:spcAft>
                <a:spcPts val="480"/>
              </a:spcAft>
              <a:buAutoNum type="arabicPeriod"/>
            </a:pPr>
            <a:r>
              <a:rPr sz="1600" b="0" i="0">
                <a:solidFill>
                  <a:srgbClr val="1B1B1B"/>
                </a:solidFill>
                <a:latin typeface="Calibri"/>
              </a:rPr>
              <a:t>Votre page est-elle modifiée depuis que vous l'avez citée ?</a:t>
            </a:r>
          </a:p>
          <a:p>
            <a:pPr algn="l" marL="274320" indent="-274320">
              <a:spcAft>
                <a:spcPts val="480"/>
              </a:spcAft>
              <a:buAutoNum type="arabicPeriod"/>
            </a:pPr>
            <a:r>
              <a:rPr sz="1600" b="0" i="0">
                <a:solidFill>
                  <a:srgbClr val="1B1B1B"/>
                </a:solidFill>
                <a:latin typeface="Calibri"/>
              </a:rPr>
              <a:t>Écrivez comment vous citez la page : adresse, date de consultation, et au besoin l'adresse de la copie archivée.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La référence complète d'une page, avec date de consultation → Dossier, section 6.</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M4.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M4 — Défi chrono : que disait la page avant ?</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M4</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65</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Coller l'adresse exacte de la page dans web.archive.org.</a:t>
            </a:r>
          </a:p>
          <a:p>
            <a:pPr algn="l" marL="274320" indent="-274320">
              <a:spcAft>
                <a:spcPts val="375"/>
              </a:spcAft>
              <a:buAutoNum type="arabicPeriod"/>
            </a:pPr>
            <a:r>
              <a:rPr sz="1500" b="0" i="0">
                <a:solidFill>
                  <a:srgbClr val="1B1B1B"/>
                </a:solidFill>
                <a:latin typeface="Calibri"/>
              </a:rPr>
              <a:t>Comparer deux dates avec le calendrier.</a:t>
            </a:r>
          </a:p>
          <a:p>
            <a:pPr algn="l" marL="274320" indent="-274320">
              <a:spcAft>
                <a:spcPts val="375"/>
              </a:spcAft>
              <a:buAutoNum type="arabicPeriod"/>
            </a:pPr>
            <a:r>
              <a:rPr sz="1500" b="0" i="0">
                <a:solidFill>
                  <a:srgbClr val="1B1B1B"/>
                </a:solidFill>
                <a:latin typeface="Calibri"/>
              </a:rPr>
              <a:t>Citer avec la date de consultation ; archiver soi-même si la page est importante.</a:t>
            </a:r>
          </a:p>
        </p:txBody>
      </p:sp>
      <p:graphicFrame>
        <p:nvGraphicFramePr>
          <p:cNvPr id="9" name="Table 8"/>
          <p:cNvGraphicFramePr>
            <a:graphicFrameLocks noGrp="1"/>
          </p:cNvGraphicFramePr>
          <p:nvPr/>
        </p:nvGraphicFramePr>
        <p:xfrm>
          <a:off x="3703320" y="1097280"/>
          <a:ext cx="8046720" cy="1188720"/>
        </p:xfrm>
        <a:graphic>
          <a:graphicData uri="http://schemas.openxmlformats.org/drawingml/2006/table">
            <a:tbl>
              <a:tblPr firstRow="0" bandRow="0">
                <a:tableStyleId>{5C22544A-7EE6-4342-B048-85BDC9FD1C3A}</a:tableStyleId>
              </a:tblPr>
              <a:tblGrid>
                <a:gridCol w="1810512"/>
                <a:gridCol w="6236208"/>
              </a:tblGrid>
              <a:tr h="237744">
                <a:tc>
                  <a:txBody>
                    <a:bodyPr wrap="square"/>
                    <a:lstStyle/>
                    <a:p>
                      <a:r>
                        <a:rPr sz="1700" b="1">
                          <a:solidFill>
                            <a:srgbClr val="FFFFFF"/>
                          </a:solidFill>
                          <a:latin typeface="Calibri"/>
                        </a:rPr>
                        <a:t>Étape</a:t>
                      </a:r>
                    </a:p>
                  </a:txBody>
                  <a:tcPr marL="73152" marR="73152" marT="36576" marB="36576">
                    <a:solidFill>
                      <a:srgbClr val="1F2A5C"/>
                    </a:solidFill>
                  </a:tcPr>
                </a:tc>
                <a:tc>
                  <a:txBody>
                    <a:bodyPr wrap="square"/>
                    <a:lstStyle/>
                    <a:p>
                      <a:r>
                        <a:rPr sz="1700" b="1">
                          <a:solidFill>
                            <a:srgbClr val="FFFFFF"/>
                          </a:solidFill>
                          <a:latin typeface="Calibri"/>
                        </a:rPr>
                        <a:t>Ce que vous devez constater</a:t>
                      </a:r>
                    </a:p>
                  </a:txBody>
                  <a:tcPr marL="73152" marR="73152" marT="36576" marB="36576">
                    <a:solidFill>
                      <a:srgbClr val="1F2A5C"/>
                    </a:solidFill>
                  </a:tcPr>
                </a:tc>
              </a:tr>
              <a:tr h="237744">
                <a:tc>
                  <a:txBody>
                    <a:bodyPr wrap="square"/>
                    <a:lstStyle/>
                    <a:p>
                      <a:r>
                        <a:rPr sz="1700" b="1">
                          <a:solidFill>
                            <a:srgbClr val="1B1B1B"/>
                          </a:solidFill>
                          <a:latin typeface="Calibri"/>
                        </a:rPr>
                        <a:t>Copies</a:t>
                      </a:r>
                    </a:p>
                  </a:txBody>
                  <a:tcPr marL="73152" marR="73152" marT="36576" marB="36576">
                    <a:solidFill>
                      <a:srgbClr val="FFFFFF"/>
                    </a:solidFill>
                  </a:tcPr>
                </a:tc>
                <a:tc>
                  <a:txBody>
                    <a:bodyPr wrap="square"/>
                    <a:lstStyle/>
                    <a:p>
                      <a:r>
                        <a:rPr sz="1700" b="0">
                          <a:solidFill>
                            <a:srgbClr val="1B1B1B"/>
                          </a:solidFill>
                          <a:latin typeface="Calibri"/>
                        </a:rPr>
                        <a:t>Une page très consultée a souvent des centaines de copies ; une page récente ou peu visible peut n'en avoir aucune.</a:t>
                      </a:r>
                    </a:p>
                  </a:txBody>
                  <a:tcPr marL="73152" marR="73152" marT="36576" marB="36576">
                    <a:solidFill>
                      <a:srgbClr val="FFFFFF"/>
                    </a:solidFill>
                  </a:tcPr>
                </a:tc>
              </a:tr>
              <a:tr h="237744">
                <a:tc>
                  <a:txBody>
                    <a:bodyPr wrap="square"/>
                    <a:lstStyle/>
                    <a:p>
                      <a:r>
                        <a:rPr sz="1700" b="1">
                          <a:solidFill>
                            <a:srgbClr val="1B1B1B"/>
                          </a:solidFill>
                          <a:latin typeface="Calibri"/>
                        </a:rPr>
                        <a:t>Comparaison</a:t>
                      </a:r>
                    </a:p>
                  </a:txBody>
                  <a:tcPr marL="73152" marR="73152" marT="36576" marB="36576">
                    <a:solidFill>
                      <a:srgbClr val="F3F5F9"/>
                    </a:solidFill>
                  </a:tcPr>
                </a:tc>
                <a:tc>
                  <a:txBody>
                    <a:bodyPr wrap="square"/>
                    <a:lstStyle/>
                    <a:p>
                      <a:r>
                        <a:rPr sz="1700" b="0">
                          <a:solidFill>
                            <a:srgbClr val="1B1B1B"/>
                          </a:solidFill>
                          <a:latin typeface="Calibri"/>
                        </a:rPr>
                        <a:t>Les chiffres, les prix, les promesses (« −70 % ») et la date de mise à jour changent souvent : c'est la preuve que citer sans date est fragile.</a:t>
                      </a:r>
                    </a:p>
                  </a:txBody>
                  <a:tcPr marL="73152" marR="73152" marT="36576" marB="36576">
                    <a:solidFill>
                      <a:srgbClr val="F3F5F9"/>
                    </a:solidFill>
                  </a:tcPr>
                </a:tc>
              </a:tr>
              <a:tr h="237744">
                <a:tc>
                  <a:txBody>
                    <a:bodyPr wrap="square"/>
                    <a:lstStyle/>
                    <a:p>
                      <a:r>
                        <a:rPr sz="1700" b="1">
                          <a:solidFill>
                            <a:srgbClr val="1B1B1B"/>
                          </a:solidFill>
                          <a:latin typeface="Calibri"/>
                        </a:rPr>
                        <a:t>Page modifiée ?</a:t>
                      </a:r>
                    </a:p>
                  </a:txBody>
                  <a:tcPr marL="73152" marR="73152" marT="36576" marB="36576">
                    <a:solidFill>
                      <a:srgbClr val="FFFFFF"/>
                    </a:solidFill>
                  </a:tcPr>
                </a:tc>
                <a:tc>
                  <a:txBody>
                    <a:bodyPr wrap="square"/>
                    <a:lstStyle/>
                    <a:p>
                      <a:r>
                        <a:rPr sz="1700" b="0">
                          <a:solidFill>
                            <a:srgbClr val="1B1B1B"/>
                          </a:solidFill>
                          <a:latin typeface="Calibri"/>
                        </a:rPr>
                        <a:t>Si oui, citez la version que vous avez lue, avec sa date.</a:t>
                      </a:r>
                    </a:p>
                  </a:txBody>
                  <a:tcPr marL="73152" marR="73152" marT="36576" marB="36576">
                    <a:solidFill>
                      <a:srgbClr val="FFFFFF"/>
                    </a:solidFill>
                  </a:tcPr>
                </a:tc>
              </a:tr>
              <a:tr h="237744">
                <a:tc>
                  <a:txBody>
                    <a:bodyPr wrap="square"/>
                    <a:lstStyle/>
                    <a:p>
                      <a:r>
                        <a:rPr sz="1700" b="1">
                          <a:solidFill>
                            <a:srgbClr val="1B1B1B"/>
                          </a:solidFill>
                          <a:latin typeface="Calibri"/>
                        </a:rPr>
                        <a:t>Citation modèle</a:t>
                      </a:r>
                    </a:p>
                  </a:txBody>
                  <a:tcPr marL="73152" marR="73152" marT="36576" marB="36576">
                    <a:solidFill>
                      <a:srgbClr val="F3F5F9"/>
                    </a:solidFill>
                  </a:tcPr>
                </a:tc>
                <a:tc>
                  <a:txBody>
                    <a:bodyPr wrap="square"/>
                    <a:lstStyle/>
                    <a:p>
                      <a:r>
                        <a:rPr sz="1700" b="0">
                          <a:solidFill>
                            <a:srgbClr val="1B1B1B"/>
                          </a:solidFill>
                          <a:latin typeface="Calibri"/>
                        </a:rPr>
                        <a:t>« Nom de l'organisme, titre de la page, adresse, consulté le jj/mm/aaaa (copie archivée : adresse web.archive.org). »</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Citer une page sans date de consultation.</a:t>
            </a:r>
          </a:p>
          <a:p>
            <a:pPr algn="l" marL="201168" indent="-201168">
              <a:spcAft>
                <a:spcPts val="110"/>
              </a:spcAft>
              <a:buChar char="•"/>
            </a:pPr>
            <a:r>
              <a:rPr sz="1100" b="0" i="0">
                <a:solidFill>
                  <a:srgbClr val="1B1B1B"/>
                </a:solidFill>
                <a:latin typeface="Calibri"/>
              </a:rPr>
              <a:t>Croire qu'une page en ligne est stable.</a:t>
            </a:r>
          </a:p>
          <a:p>
            <a:pPr algn="l" marL="201168" indent="-201168">
              <a:spcAft>
                <a:spcPts val="110"/>
              </a:spcAft>
              <a:buChar char="•"/>
            </a:pPr>
            <a:r>
              <a:rPr sz="1100" b="0" i="0">
                <a:solidFill>
                  <a:srgbClr val="1B1B1B"/>
                </a:solidFill>
                <a:latin typeface="Calibri"/>
              </a:rPr>
              <a:t>Ne pas archiver une page clé pour votre argument.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D2</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Lire vite, contrôler l'IA</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Objectif O2 · exercices EX14, EX15, F6</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Lire un article scientifique en 10 minutes</a:t>
            </a:r>
          </a:p>
          <a:p>
            <a:pPr algn="l" marL="201168" indent="-201168">
              <a:spcAft>
                <a:spcPts val="700"/>
              </a:spcAft>
              <a:buChar char="•"/>
            </a:pPr>
            <a:r>
              <a:rPr sz="2000" b="0" i="0">
                <a:solidFill>
                  <a:srgbClr val="FFFFFF"/>
                </a:solidFill>
                <a:latin typeface="Calibri"/>
              </a:rPr>
              <a:t>Repérer les biais qui faussent les sources</a:t>
            </a:r>
          </a:p>
          <a:p>
            <a:pPr algn="l" marL="201168" indent="-201168">
              <a:spcAft>
                <a:spcPts val="700"/>
              </a:spcAft>
              <a:buChar char="•"/>
            </a:pPr>
            <a:r>
              <a:rPr sz="2000" b="0" i="0">
                <a:solidFill>
                  <a:srgbClr val="FFFFFF"/>
                </a:solidFill>
                <a:latin typeface="Calibri"/>
              </a:rPr>
              <a:t>Contrôler une référence donnée par une IA</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O2 · Maîtriser l'information spécialisée d'un domaine scientifique</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Lire un article scientifique : dans quel ordre ?</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67</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Résumé</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De quoi parle-t-il ?</a:t>
            </a:r>
          </a:p>
          <a:p>
            <a:pPr algn="l">
              <a:spcAft>
                <a:spcPts val="480"/>
              </a:spcAft>
            </a:pPr>
            <a:r>
              <a:rPr sz="1600" b="0" i="0">
                <a:solidFill>
                  <a:srgbClr val="1B1B1B"/>
                </a:solidFill>
                <a:latin typeface="Calibri"/>
              </a:rPr>
              <a:t>Ex. : mots de passe et compromissions</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Conclusion</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Qu'affirme-t-il ?</a:t>
            </a:r>
          </a:p>
          <a:p>
            <a:pPr algn="l">
              <a:spcAft>
                <a:spcPts val="480"/>
              </a:spcAft>
            </a:pPr>
            <a:r>
              <a:rPr sz="1600" b="0" i="0">
                <a:solidFill>
                  <a:srgbClr val="1B1B1B"/>
                </a:solidFill>
                <a:latin typeface="Calibri"/>
              </a:rPr>
              <a:t>Ex. : −42 % après adoption</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Méthode</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Comment a-t-on mesuré ?</a:t>
            </a:r>
          </a:p>
          <a:p>
            <a:pPr algn="l">
              <a:spcAft>
                <a:spcPts val="480"/>
              </a:spcAft>
            </a:pPr>
            <a:r>
              <a:rPr sz="1600" b="0" i="0">
                <a:solidFill>
                  <a:srgbClr val="1B1B1B"/>
                </a:solidFill>
                <a:latin typeface="Calibri"/>
              </a:rPr>
              <a:t>Ex. : 40 organisations, avant / après</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Résultats</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Quels chiffres, sur qui ?</a:t>
            </a:r>
          </a:p>
          <a:p>
            <a:pPr algn="l">
              <a:spcAft>
                <a:spcPts val="480"/>
              </a:spcAft>
            </a:pPr>
            <a:r>
              <a:rPr sz="1600" b="0" i="0">
                <a:solidFill>
                  <a:srgbClr val="1B1B1B"/>
                </a:solidFill>
                <a:latin typeface="Calibri"/>
              </a:rPr>
              <a:t>Ex. : comptes compromis sur 12 mois</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Limites</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Ce que l'étude ne dit pas</a:t>
            </a:r>
          </a:p>
          <a:p>
            <a:pPr algn="l">
              <a:spcAft>
                <a:spcPts val="480"/>
              </a:spcAft>
            </a:pPr>
            <a:r>
              <a:rPr sz="1600" b="0" i="0">
                <a:solidFill>
                  <a:srgbClr val="1B1B1B"/>
                </a:solidFill>
                <a:latin typeface="Calibri"/>
              </a:rPr>
              <a:t>Ex. : pas de groupe témoin</a:t>
            </a:r>
          </a:p>
        </p:txBody>
      </p:sp>
      <p:sp>
        <p:nvSpPr>
          <p:cNvPr id="20" name="Rounded Rectangle 19"/>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Séparer ce qui est mesuré (résultat) de ce qui est interprété (discussion). Toujours regarder qui finance.</a:t>
            </a:r>
          </a:p>
        </p:txBody>
      </p:sp>
      <p:sp>
        <p:nvSpPr>
          <p:cNvPr id="21" name="Rounded Rectangle 20"/>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Voici un article public. Donne question, méthode, résultat chiffré et limites, avec le numéro de page. » Relisez ensuite le passage cité.</a:t>
            </a:r>
          </a:p>
        </p:txBody>
      </p:sp>
      <p:sp>
        <p:nvSpPr>
          <p:cNvPr id="22" name="TextBox 21"/>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S. Keshav, How to Read a Paper, ACM SIGCOMM Computer Communication Review, 37(3), 2007 (trois passes) ; ordre proposé : adaptation.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14</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Lire un vrai article en 10 minutes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EX14</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68</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  20 min  ·  Carnet · chapitre 5  ·  Outil : Zotero, article en accès libre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Lire un vrai article scientifique en 10 minutes, dans le bon ordre, et rédiger la phrase honnête qui cite son résultat avec ses limites.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Choisissez, parmi les sources de votre question (EX8 à EX12), un article scientifique en accès libre : HAL, arXiv, revue en accès ouvert, ou lien « [PDF] » de Google Scholar. Enregistrez-le dans Zotero.</a:t>
            </a:r>
          </a:p>
          <a:p>
            <a:pPr algn="l">
              <a:spcAft>
                <a:spcPts val="480"/>
              </a:spcAft>
            </a:pPr>
            <a:r>
              <a:rPr sz="1600" b="0" i="0">
                <a:solidFill>
                  <a:srgbClr val="1B1B1B"/>
                </a:solidFill>
                <a:latin typeface="Calibri"/>
              </a:rPr>
              <a:t>Plan B si vous n'en trouvez pas en 5 minutes : analysez cet article réel en accès libre : Meyer L. A. et al. (Microsoft), « How effective is multifactor authentication at deterring cyberattacks? », arXiv:2305.00945, mai 2023 (arxiv.org/abs/2305.00945). Lisez dans l'ordre : résumé, conclusion, méthode, résultats.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90"/>
              </a:spcAft>
              <a:buAutoNum type="arabicPeriod"/>
            </a:pPr>
            <a:r>
              <a:rPr sz="1300" b="0" i="0">
                <a:solidFill>
                  <a:srgbClr val="1B1B1B"/>
                </a:solidFill>
                <a:latin typeface="Calibri"/>
              </a:rPr>
              <a:t>Écrivez la référence complète et la question de l'article en une phrase.</a:t>
            </a:r>
          </a:p>
          <a:p>
            <a:pPr algn="l" marL="274320" indent="-274320">
              <a:spcAft>
                <a:spcPts val="390"/>
              </a:spcAft>
              <a:buAutoNum type="arabicPeriod"/>
            </a:pPr>
            <a:r>
              <a:rPr sz="1300" b="0" i="0">
                <a:solidFill>
                  <a:srgbClr val="1B1B1B"/>
                </a:solidFill>
                <a:latin typeface="Calibri"/>
              </a:rPr>
              <a:t>Quelles sont la méthode et le résultat principal (avec son chiffre) ?</a:t>
            </a:r>
          </a:p>
          <a:p>
            <a:pPr algn="l" marL="274320" indent="-274320">
              <a:spcAft>
                <a:spcPts val="390"/>
              </a:spcAft>
              <a:buAutoNum type="arabicPeriod"/>
            </a:pPr>
            <a:r>
              <a:rPr sz="1300" b="0" i="0">
                <a:solidFill>
                  <a:srgbClr val="1B1B1B"/>
                </a:solidFill>
                <a:latin typeface="Calibri"/>
              </a:rPr>
              <a:t>Combien de limites l'article reconnaît-il lui-même ?</a:t>
            </a:r>
          </a:p>
          <a:p>
            <a:pPr algn="l" marL="274320" indent="-274320">
              <a:spcAft>
                <a:spcPts val="390"/>
              </a:spcAft>
              <a:buAutoNum type="arabicPeriod"/>
            </a:pPr>
            <a:r>
              <a:rPr sz="1300" b="0" i="0">
                <a:solidFill>
                  <a:srgbClr val="1B1B1B"/>
                </a:solidFill>
                <a:latin typeface="Calibri"/>
              </a:rPr>
              <a:t>Une déclaration de financement ou de conflit d'intérêts est-elle indiquée ?</a:t>
            </a:r>
          </a:p>
          <a:p>
            <a:pPr algn="l" marL="274320" indent="-274320">
              <a:spcAft>
                <a:spcPts val="390"/>
              </a:spcAft>
              <a:buAutoNum type="arabicPeriod"/>
            </a:pPr>
            <a:r>
              <a:rPr sz="1300" b="0" i="0">
                <a:solidFill>
                  <a:srgbClr val="1B1B1B"/>
                </a:solidFill>
                <a:latin typeface="Calibri"/>
              </a:rPr>
              <a:t>Écrivez la phrase honnête qui citerait ce résultat dans votre état de l'art.</a:t>
            </a:r>
          </a:p>
          <a:p>
            <a:pPr algn="l" marL="274320" indent="-274320">
              <a:spcAft>
                <a:spcPts val="390"/>
              </a:spcAft>
              <a:buAutoNum type="arabicPeriod"/>
            </a:pPr>
            <a:r>
              <a:rPr sz="1300" b="0" i="0">
                <a:solidFill>
                  <a:srgbClr val="1B1B1B"/>
                </a:solidFill>
                <a:latin typeface="Calibri"/>
              </a:rPr>
              <a:t>Avec Gemini ou une autre IA (document public seulement ; notez laquelle) : demandez un résumé de l'article. Le résumé contient-il une erreur ou oublie-t-il une limite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Une fiche de lecture de 7 lignes → Dossier, section 7.</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4.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14 — Lire un vrai article en 10 minutes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EX14</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69</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Lire dans l'ordre : résumé, conclusion, méthode, limites.</a:t>
            </a:r>
          </a:p>
          <a:p>
            <a:pPr algn="l" marL="274320" indent="-274320">
              <a:spcAft>
                <a:spcPts val="375"/>
              </a:spcAft>
              <a:buAutoNum type="arabicPeriod"/>
            </a:pPr>
            <a:r>
              <a:rPr sz="1500" b="0" i="0">
                <a:solidFill>
                  <a:srgbClr val="1B1B1B"/>
                </a:solidFill>
                <a:latin typeface="Calibri"/>
              </a:rPr>
              <a:t>Séparer le résultat (ce qui est mesuré) de l'interprétation.</a:t>
            </a:r>
          </a:p>
          <a:p>
            <a:pPr algn="l" marL="274320" indent="-274320">
              <a:spcAft>
                <a:spcPts val="375"/>
              </a:spcAft>
              <a:buAutoNum type="arabicPeriod"/>
            </a:pPr>
            <a:r>
              <a:rPr sz="1500" b="0" i="0">
                <a:solidFill>
                  <a:srgbClr val="1B1B1B"/>
                </a:solidFill>
                <a:latin typeface="Calibri"/>
              </a:rPr>
              <a:t>Toujours regarder qui finance.</a:t>
            </a:r>
          </a:p>
        </p:txBody>
      </p:sp>
      <p:graphicFrame>
        <p:nvGraphicFramePr>
          <p:cNvPr id="9" name="Table 8"/>
          <p:cNvGraphicFramePr>
            <a:graphicFrameLocks noGrp="1"/>
          </p:cNvGraphicFramePr>
          <p:nvPr/>
        </p:nvGraphicFramePr>
        <p:xfrm>
          <a:off x="3703320" y="1097280"/>
          <a:ext cx="8046720" cy="2615184"/>
        </p:xfrm>
        <a:graphic>
          <a:graphicData uri="http://schemas.openxmlformats.org/drawingml/2006/table">
            <a:tbl>
              <a:tblPr firstRow="0" bandRow="0">
                <a:tableStyleId>{5C22544A-7EE6-4342-B048-85BDC9FD1C3A}</a:tableStyleId>
              </a:tblPr>
              <a:tblGrid>
                <a:gridCol w="1508760"/>
                <a:gridCol w="6537960"/>
              </a:tblGrid>
              <a:tr h="237744">
                <a:tc>
                  <a:txBody>
                    <a:bodyPr wrap="square"/>
                    <a:lstStyle/>
                    <a:p>
                      <a:r>
                        <a:rPr sz="900" b="1">
                          <a:solidFill>
                            <a:srgbClr val="FFFFFF"/>
                          </a:solidFill>
                          <a:latin typeface="Calibri"/>
                        </a:rPr>
                        <a:t>Question</a:t>
                      </a:r>
                    </a:p>
                  </a:txBody>
                  <a:tcPr marL="73152" marR="73152" marT="36576" marB="36576">
                    <a:solidFill>
                      <a:srgbClr val="1F2A5C"/>
                    </a:solidFill>
                  </a:tcPr>
                </a:tc>
                <a:tc>
                  <a:txBody>
                    <a:bodyPr wrap="square"/>
                    <a:lstStyle/>
                    <a:p>
                      <a:r>
                        <a:rPr sz="900" b="1">
                          <a:solidFill>
                            <a:srgbClr val="FFFFFF"/>
                          </a:solidFill>
                          <a:latin typeface="Calibri"/>
                        </a:rPr>
                        <a:t>Réponses pour l'article du plan B (Meyer et al., 2023)</a:t>
                      </a:r>
                    </a:p>
                  </a:txBody>
                  <a:tcPr marL="73152" marR="73152" marT="36576" marB="36576">
                    <a:solidFill>
                      <a:srgbClr val="1F2A5C"/>
                    </a:solidFill>
                  </a:tcPr>
                </a:tc>
              </a:tr>
              <a:tr h="237744">
                <a:tc>
                  <a:txBody>
                    <a:bodyPr wrap="square"/>
                    <a:lstStyle/>
                    <a:p>
                      <a:r>
                        <a:rPr sz="900" b="1">
                          <a:solidFill>
                            <a:srgbClr val="1B1B1B"/>
                          </a:solidFill>
                          <a:latin typeface="Calibri"/>
                        </a:rPr>
                        <a:t>Référence</a:t>
                      </a:r>
                    </a:p>
                  </a:txBody>
                  <a:tcPr marL="73152" marR="73152" marT="36576" marB="36576">
                    <a:solidFill>
                      <a:srgbClr val="FFFFFF"/>
                    </a:solidFill>
                  </a:tcPr>
                </a:tc>
                <a:tc>
                  <a:txBody>
                    <a:bodyPr wrap="square"/>
                    <a:lstStyle/>
                    <a:p>
                      <a:r>
                        <a:rPr sz="900" b="0">
                          <a:solidFill>
                            <a:srgbClr val="1B1B1B"/>
                          </a:solidFill>
                          <a:latin typeface="Calibri"/>
                        </a:rPr>
                        <a:t>Meyer L. A., Romero S., Bertoli G., Burt T., Weinert A., Ferres J. L. (2023). How effective is multifactor authentication at deterring cyberattacks? arXiv:2305.00945. Tous les auteurs sont employés de Microsoft.</a:t>
                      </a:r>
                    </a:p>
                  </a:txBody>
                  <a:tcPr marL="73152" marR="73152" marT="36576" marB="36576">
                    <a:solidFill>
                      <a:srgbClr val="FFFFFF"/>
                    </a:solidFill>
                  </a:tcPr>
                </a:tc>
              </a:tr>
              <a:tr h="237744">
                <a:tc>
                  <a:txBody>
                    <a:bodyPr wrap="square"/>
                    <a:lstStyle/>
                    <a:p>
                      <a:r>
                        <a:rPr sz="900" b="1">
                          <a:solidFill>
                            <a:srgbClr val="1B1B1B"/>
                          </a:solidFill>
                          <a:latin typeface="Calibri"/>
                        </a:rPr>
                        <a:t>Question</a:t>
                      </a:r>
                    </a:p>
                  </a:txBody>
                  <a:tcPr marL="73152" marR="73152" marT="36576" marB="36576">
                    <a:solidFill>
                      <a:srgbClr val="F3F5F9"/>
                    </a:solidFill>
                  </a:tcPr>
                </a:tc>
                <a:tc>
                  <a:txBody>
                    <a:bodyPr wrap="square"/>
                    <a:lstStyle/>
                    <a:p>
                      <a:r>
                        <a:rPr sz="900" b="0">
                          <a:solidFill>
                            <a:srgbClr val="1B1B1B"/>
                          </a:solidFill>
                          <a:latin typeface="Calibri"/>
                        </a:rPr>
                        <a:t>L'authentification multifacteur (MFA) réduit-elle le risque de compromission d'un compte ?</a:t>
                      </a:r>
                    </a:p>
                  </a:txBody>
                  <a:tcPr marL="73152" marR="73152" marT="36576" marB="36576">
                    <a:solidFill>
                      <a:srgbClr val="F3F5F9"/>
                    </a:solidFill>
                  </a:tcPr>
                </a:tc>
              </a:tr>
              <a:tr h="237744">
                <a:tc>
                  <a:txBody>
                    <a:bodyPr wrap="square"/>
                    <a:lstStyle/>
                    <a:p>
                      <a:r>
                        <a:rPr sz="900" b="1">
                          <a:solidFill>
                            <a:srgbClr val="1B1B1B"/>
                          </a:solidFill>
                          <a:latin typeface="Calibri"/>
                        </a:rPr>
                        <a:t>Méthode</a:t>
                      </a:r>
                    </a:p>
                  </a:txBody>
                  <a:tcPr marL="73152" marR="73152" marT="36576" marB="36576">
                    <a:solidFill>
                      <a:srgbClr val="FFFFFF"/>
                    </a:solidFill>
                  </a:tcPr>
                </a:tc>
                <a:tc>
                  <a:txBody>
                    <a:bodyPr wrap="square"/>
                    <a:lstStyle/>
                    <a:p>
                      <a:r>
                        <a:rPr sz="900" b="0">
                          <a:solidFill>
                            <a:srgbClr val="1B1B1B"/>
                          </a:solidFill>
                          <a:latin typeface="Calibri"/>
                        </a:rPr>
                        <a:t>Comptes d'entreprise du service Azure AD de Microsoft présentant une activité suspecte, du 22 avril au 22 septembre 2022 ; un échantillon est examiné à la main par une équipe spécialisée, puis le taux de compromission est estimé par une méthode statistique avec intervalle à 95 %.</a:t>
                      </a:r>
                    </a:p>
                  </a:txBody>
                  <a:tcPr marL="73152" marR="73152" marT="36576" marB="36576">
                    <a:solidFill>
                      <a:srgbClr val="FFFFFF"/>
                    </a:solidFill>
                  </a:tcPr>
                </a:tc>
              </a:tr>
              <a:tr h="237744">
                <a:tc>
                  <a:txBody>
                    <a:bodyPr wrap="square"/>
                    <a:lstStyle/>
                    <a:p>
                      <a:r>
                        <a:rPr sz="900" b="1">
                          <a:solidFill>
                            <a:srgbClr val="1B1B1B"/>
                          </a:solidFill>
                          <a:latin typeface="Calibri"/>
                        </a:rPr>
                        <a:t>Résultat</a:t>
                      </a:r>
                    </a:p>
                  </a:txBody>
                  <a:tcPr marL="73152" marR="73152" marT="36576" marB="36576">
                    <a:solidFill>
                      <a:srgbClr val="F3F5F9"/>
                    </a:solidFill>
                  </a:tcPr>
                </a:tc>
                <a:tc>
                  <a:txBody>
                    <a:bodyPr wrap="square"/>
                    <a:lstStyle/>
                    <a:p>
                      <a:r>
                        <a:rPr sz="900" b="0">
                          <a:solidFill>
                            <a:srgbClr val="1B1B1B"/>
                          </a:solidFill>
                          <a:latin typeface="Calibri"/>
                        </a:rPr>
                        <a:t>Le risque de compromission est réduit de 99,22 % pour les comptes avec MFA ; de 98,56 % pour 128 000 comptes dont le mot de passe avait fuité.</a:t>
                      </a:r>
                    </a:p>
                  </a:txBody>
                  <a:tcPr marL="73152" marR="73152" marT="36576" marB="36576">
                    <a:solidFill>
                      <a:srgbClr val="F3F5F9"/>
                    </a:solidFill>
                  </a:tcPr>
                </a:tc>
              </a:tr>
              <a:tr h="237744">
                <a:tc>
                  <a:txBody>
                    <a:bodyPr wrap="square"/>
                    <a:lstStyle/>
                    <a:p>
                      <a:r>
                        <a:rPr sz="900" b="1">
                          <a:solidFill>
                            <a:srgbClr val="1B1B1B"/>
                          </a:solidFill>
                          <a:latin typeface="Calibri"/>
                        </a:rPr>
                        <a:t>Limites</a:t>
                      </a:r>
                    </a:p>
                  </a:txBody>
                  <a:tcPr marL="73152" marR="73152" marT="36576" marB="36576">
                    <a:solidFill>
                      <a:srgbClr val="FFFFFF"/>
                    </a:solidFill>
                  </a:tcPr>
                </a:tc>
                <a:tc>
                  <a:txBody>
                    <a:bodyPr wrap="square"/>
                    <a:lstStyle/>
                    <a:p>
                      <a:r>
                        <a:rPr sz="900" b="0">
                          <a:solidFill>
                            <a:srgbClr val="1B1B1B"/>
                          </a:solidFill>
                          <a:latin typeface="Calibri"/>
                        </a:rPr>
                        <a:t>Aucune section « limites ». Les auteurs signalent seulement que les compromissions sont sous-déclarées (d'où l'échantillon) et que leur estimateur est corrigé d'un biais. À ajouter vous-même : un seul service (Azure AD) ; comptes à activité suspecte seulement ; pas de comparaison indépendante.</a:t>
                      </a:r>
                    </a:p>
                  </a:txBody>
                  <a:tcPr marL="73152" marR="73152" marT="36576" marB="36576">
                    <a:solidFill>
                      <a:srgbClr val="FFFFFF"/>
                    </a:solidFill>
                  </a:tcPr>
                </a:tc>
              </a:tr>
              <a:tr h="237744">
                <a:tc>
                  <a:txBody>
                    <a:bodyPr wrap="square"/>
                    <a:lstStyle/>
                    <a:p>
                      <a:r>
                        <a:rPr sz="900" b="1">
                          <a:solidFill>
                            <a:srgbClr val="1B1B1B"/>
                          </a:solidFill>
                          <a:latin typeface="Calibri"/>
                        </a:rPr>
                        <a:t>Financement et conflit</a:t>
                      </a:r>
                    </a:p>
                  </a:txBody>
                  <a:tcPr marL="73152" marR="73152" marT="36576" marB="36576">
                    <a:solidFill>
                      <a:srgbClr val="F3F5F9"/>
                    </a:solidFill>
                  </a:tcPr>
                </a:tc>
                <a:tc>
                  <a:txBody>
                    <a:bodyPr wrap="square"/>
                    <a:lstStyle/>
                    <a:p>
                      <a:r>
                        <a:rPr sz="900" b="0">
                          <a:solidFill>
                            <a:srgbClr val="1B1B1B"/>
                          </a:solidFill>
                          <a:latin typeface="Calibri"/>
                        </a:rPr>
                        <a:t>Aucune déclaration de conflit d'intérêts. Les auteurs travaillent pour l'éditeur du service étudié, qui vend le produit : à dire dans votre phrase.</a:t>
                      </a:r>
                    </a:p>
                  </a:txBody>
                  <a:tcPr marL="73152" marR="73152" marT="36576" marB="36576">
                    <a:solidFill>
                      <a:srgbClr val="F3F5F9"/>
                    </a:solidFill>
                  </a:tcPr>
                </a:tc>
              </a:tr>
              <a:tr h="237744">
                <a:tc>
                  <a:txBody>
                    <a:bodyPr wrap="square"/>
                    <a:lstStyle/>
                    <a:p>
                      <a:r>
                        <a:rPr sz="900" b="1">
                          <a:solidFill>
                            <a:srgbClr val="1B1B1B"/>
                          </a:solidFill>
                          <a:latin typeface="Calibri"/>
                        </a:rPr>
                        <a:t>Formulation honnête</a:t>
                      </a:r>
                    </a:p>
                  </a:txBody>
                  <a:tcPr marL="73152" marR="73152" marT="36576" marB="36576">
                    <a:solidFill>
                      <a:srgbClr val="FFFFFF"/>
                    </a:solidFill>
                  </a:tcPr>
                </a:tc>
                <a:tc>
                  <a:txBody>
                    <a:bodyPr wrap="square"/>
                    <a:lstStyle/>
                    <a:p>
                      <a:r>
                        <a:rPr sz="900" b="0">
                          <a:solidFill>
                            <a:srgbClr val="1B1B1B"/>
                          </a:solidFill>
                          <a:latin typeface="Calibri"/>
                        </a:rPr>
                        <a:t>« Dans une étude de Microsoft sur des comptes Azure AD (2022), le risque de compromission est réduit de 99,22 % avec l'authentification multifacteur ; l'étude est réalisée par l'éditeur du service, sans déclaration de conflit d'intérêts (Meyer et al., 2023). »</a:t>
                      </a:r>
                    </a:p>
                  </a:txBody>
                  <a:tcPr marL="73152" marR="73152" marT="36576" marB="36576">
                    <a:solidFill>
                      <a:srgbClr val="FFFFFF"/>
                    </a:solidFill>
                  </a:tcPr>
                </a:tc>
              </a:tr>
              <a:tr h="237744">
                <a:tc>
                  <a:txBody>
                    <a:bodyPr wrap="square"/>
                    <a:lstStyle/>
                    <a:p>
                      <a:r>
                        <a:rPr sz="900" b="1">
                          <a:solidFill>
                            <a:srgbClr val="1B1B1B"/>
                          </a:solidFill>
                          <a:latin typeface="Calibri"/>
                        </a:rPr>
                        <a:t>Lien avec EX18</a:t>
                      </a:r>
                    </a:p>
                  </a:txBody>
                  <a:tcPr marL="73152" marR="73152" marT="36576" marB="36576">
                    <a:solidFill>
                      <a:srgbClr val="F3F5F9"/>
                    </a:solidFill>
                  </a:tcPr>
                </a:tc>
                <a:tc>
                  <a:txBody>
                    <a:bodyPr wrap="square"/>
                    <a:lstStyle/>
                    <a:p>
                      <a:r>
                        <a:rPr sz="900" b="0">
                          <a:solidFill>
                            <a:srgbClr val="1B1B1B"/>
                          </a:solidFill>
                          <a:latin typeface="Calibri"/>
                        </a:rPr>
                        <a:t>Ce n'est pas le « 99,9 % » de 2019 : un autre chiffre (99,22 %), une autre mesure (risque de compromission), la même source (Microsoft). Citer le bon chiffre avec sa mesure.</a:t>
                      </a:r>
                    </a:p>
                  </a:txBody>
                  <a:tcPr marL="73152" marR="73152" marT="36576" marB="36576">
                    <a:solidFill>
                      <a:srgbClr val="F3F5F9"/>
                    </a:solidFill>
                  </a:tcPr>
                </a:tc>
              </a:tr>
              <a:tr h="237744">
                <a:tc>
                  <a:txBody>
                    <a:bodyPr wrap="square"/>
                    <a:lstStyle/>
                    <a:p>
                      <a:r>
                        <a:rPr sz="900" b="1">
                          <a:solidFill>
                            <a:srgbClr val="1B1B1B"/>
                          </a:solidFill>
                          <a:latin typeface="Calibri"/>
                        </a:rPr>
                        <a:t>Sur votre article</a:t>
                      </a:r>
                    </a:p>
                  </a:txBody>
                  <a:tcPr marL="73152" marR="73152" marT="36576" marB="36576">
                    <a:solidFill>
                      <a:srgbClr val="FFFFFF"/>
                    </a:solidFill>
                  </a:tcPr>
                </a:tc>
                <a:tc>
                  <a:txBody>
                    <a:bodyPr wrap="square"/>
                    <a:lstStyle/>
                    <a:p>
                      <a:r>
                        <a:rPr sz="900" b="0">
                          <a:solidFill>
                            <a:srgbClr val="1B1B1B"/>
                          </a:solidFill>
                          <a:latin typeface="Calibri"/>
                        </a:rPr>
                        <a:t>Mêmes questions, mêmes réponses à chercher : l'enseignant circule et vérifie une fiche par équipe.</a:t>
                      </a:r>
                    </a:p>
                  </a:txBody>
                  <a:tcPr marL="73152" marR="73152" marT="36576" marB="36576">
                    <a:solidFill>
                      <a:srgbClr val="FFFFFF"/>
                    </a:solidFill>
                  </a:tcPr>
                </a:tc>
              </a:tr>
              <a:tr h="237744">
                <a:tc>
                  <a:txBody>
                    <a:bodyPr wrap="square"/>
                    <a:lstStyle/>
                    <a:p>
                      <a:r>
                        <a:rPr sz="900" b="1">
                          <a:solidFill>
                            <a:srgbClr val="1B1B1B"/>
                          </a:solidFill>
                          <a:latin typeface="Calibri"/>
                        </a:rPr>
                        <a:t>IA · résumé de l'article</a:t>
                      </a:r>
                    </a:p>
                  </a:txBody>
                  <a:tcPr marL="73152" marR="73152" marT="36576" marB="36576">
                    <a:solidFill>
                      <a:srgbClr val="F3F5F9"/>
                    </a:solidFill>
                  </a:tcPr>
                </a:tc>
                <a:tc>
                  <a:txBody>
                    <a:bodyPr wrap="square"/>
                    <a:lstStyle/>
                    <a:p>
                      <a:r>
                        <a:rPr sz="900" b="0">
                          <a:solidFill>
                            <a:srgbClr val="1B1B1B"/>
                          </a:solidFill>
                          <a:latin typeface="Calibri"/>
                        </a:rPr>
                        <a:t>Souvent oui : limites réduites ou chiffre déformé. Comparez avec votre fiche de lecture, rédigée à partir du texte.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Généraliser un résultat obtenu sur un seul service à toutes les organisations.</a:t>
            </a:r>
          </a:p>
          <a:p>
            <a:pPr algn="l" marL="201168" indent="-201168">
              <a:spcAft>
                <a:spcPts val="110"/>
              </a:spcAft>
              <a:buChar char="•"/>
            </a:pPr>
            <a:r>
              <a:rPr sz="1100" b="0" i="0">
                <a:solidFill>
                  <a:srgbClr val="1B1B1B"/>
                </a:solidFill>
                <a:latin typeface="Calibri"/>
              </a:rPr>
              <a:t>Ignorer l'employeur des auteurs : l'étude est utile, mais ce n'est pas un avis indépendant.</a:t>
            </a:r>
          </a:p>
          <a:p>
            <a:pPr algn="l" marL="201168" indent="-201168">
              <a:spcAft>
                <a:spcPts val="110"/>
              </a:spcAft>
              <a:buChar char="•"/>
            </a:pPr>
            <a:r>
              <a:rPr sz="1100" b="0" i="0">
                <a:solidFill>
                  <a:srgbClr val="1B1B1B"/>
                </a:solidFill>
                <a:latin typeface="Calibri"/>
              </a:rPr>
              <a:t>Citer le résumé sans lire la méthode.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Quatre biais à connaître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70</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Confirmation</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Je retiens ce qui confirme mon idée.</a:t>
            </a:r>
          </a:p>
          <a:p>
            <a:pPr algn="l">
              <a:spcAft>
                <a:spcPts val="509"/>
              </a:spcAft>
            </a:pPr>
            <a:r>
              <a:rPr sz="1700" b="0" i="0">
                <a:solidFill>
                  <a:srgbClr val="1B1B1B"/>
                </a:solidFill>
                <a:latin typeface="Calibri"/>
              </a:rPr>
              <a:t>Ex. : je ne lis que les articles favorables aux passkeys.</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Survivant</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Je ne vois que ce qui a réussi.</a:t>
            </a:r>
          </a:p>
          <a:p>
            <a:pPr algn="l">
              <a:spcAft>
                <a:spcPts val="509"/>
              </a:spcAft>
            </a:pPr>
            <a:r>
              <a:rPr sz="1700" b="0" i="0">
                <a:solidFill>
                  <a:srgbClr val="1B1B1B"/>
                </a:solidFill>
                <a:latin typeface="Calibri"/>
              </a:rPr>
              <a:t>Ex. : seules les réussites publient leur retour d'expérience.</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Publication</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Les résultats sans effet restent dans les tiroirs.</a:t>
            </a:r>
          </a:p>
          <a:p>
            <a:pPr algn="l">
              <a:spcAft>
                <a:spcPts val="509"/>
              </a:spcAft>
            </a:pPr>
            <a:r>
              <a:rPr sz="1700" b="0" i="0">
                <a:solidFill>
                  <a:srgbClr val="1B1B1B"/>
                </a:solidFill>
                <a:latin typeface="Calibri"/>
              </a:rPr>
              <a:t>Ex. : on ne voit que les études positives.</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Financement</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Qui paie a un intérêt.</a:t>
            </a:r>
          </a:p>
          <a:p>
            <a:pPr algn="l">
              <a:spcAft>
                <a:spcPts val="509"/>
              </a:spcAft>
            </a:pPr>
            <a:r>
              <a:rPr sz="1700" b="0" i="0">
                <a:solidFill>
                  <a:srgbClr val="1B1B1B"/>
                </a:solidFill>
                <a:latin typeface="Calibri"/>
              </a:rPr>
              <a:t>Ex. : étude financée par le fabricant.</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Parade : chercher activement ce qui contredit, regarder qui publie et qui finance.</a:t>
            </a:r>
          </a:p>
        </p:txBody>
      </p:sp>
      <p:sp>
        <p:nvSpPr>
          <p:cNvPr id="19" name="TextBox 1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Wason, 1960 et Nickerson, 1998 (confirmation) ; Wald (survivant) ; Rosenthal, Psychological Bulletin, 1979 (publication) ; Lundh et al., Cochrane, 2017 (financement)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F 6</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Flash · Quel biais ? (téléphone)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F6</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71</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téléphone  ·  5 min  ·  Carnet · chapitre 5  ·  Outil : téléphone (boutons)</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Reconnaître en quelques secondes quatre biais qui faussent les sources (confirmation, survivant, publication, financement).</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40"/>
              </a:spcAft>
            </a:pPr>
            <a:r>
              <a:rPr sz="1800" b="0" i="0">
                <a:solidFill>
                  <a:srgbClr val="1B1B1B"/>
                </a:solidFill>
                <a:latin typeface="Calibri"/>
              </a:rPr>
              <a:t>Sur votre téléphone : scannez le QR de cette page (ou ouvrez l'application), puis appuyez sur le bouton de votre choix pour chaque situation. Quel biais dans chaque situation ?</a:t>
            </a:r>
          </a:p>
          <a:p>
            <a:pPr algn="l">
              <a:spcAft>
                <a:spcPts val="540"/>
              </a:spcAft>
            </a:pPr>
            <a:r>
              <a:rPr sz="1800" b="0" i="0">
                <a:solidFill>
                  <a:srgbClr val="1B1B1B"/>
                </a:solidFill>
                <a:latin typeface="Calibri"/>
              </a:rPr>
              <a:t>1. Les études sans résultat marquant ne sont jamais publiées.</a:t>
            </a:r>
          </a:p>
          <a:p>
            <a:pPr algn="l">
              <a:spcAft>
                <a:spcPts val="540"/>
              </a:spcAft>
            </a:pPr>
            <a:r>
              <a:rPr sz="1800" b="0" i="0">
                <a:solidFill>
                  <a:srgbClr val="1B1B1B"/>
                </a:solidFill>
                <a:latin typeface="Calibri"/>
              </a:rPr>
              <a:t>2. L'étude est financée par le fabricant du produit testé.</a:t>
            </a:r>
          </a:p>
          <a:p>
            <a:pPr algn="l">
              <a:spcAft>
                <a:spcPts val="540"/>
              </a:spcAft>
            </a:pPr>
            <a:r>
              <a:rPr sz="1800" b="0" i="0">
                <a:solidFill>
                  <a:srgbClr val="1B1B1B"/>
                </a:solidFill>
                <a:latin typeface="Calibri"/>
              </a:rPr>
              <a:t>3. Vous ne gardez que les articles qui disent que votre solution préférée est la meilleure.</a:t>
            </a:r>
          </a:p>
          <a:p>
            <a:pPr algn="l">
              <a:spcAft>
                <a:spcPts val="540"/>
              </a:spcAft>
            </a:pPr>
            <a:r>
              <a:rPr sz="1800" b="0" i="0">
                <a:solidFill>
                  <a:srgbClr val="1B1B1B"/>
                </a:solidFill>
                <a:latin typeface="Calibri"/>
              </a:rPr>
              <a:t>4. Seules les entreprises qui ont réussi publient leur retour d'expérience.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Situation 1 : quel biais ?</a:t>
            </a:r>
          </a:p>
          <a:p>
            <a:pPr algn="l" marL="274320" indent="-274320">
              <a:spcAft>
                <a:spcPts val="600"/>
              </a:spcAft>
              <a:buAutoNum type="arabicPeriod"/>
            </a:pPr>
            <a:r>
              <a:rPr sz="2000" b="0" i="0">
                <a:solidFill>
                  <a:srgbClr val="1B1B1B"/>
                </a:solidFill>
                <a:latin typeface="Calibri"/>
              </a:rPr>
              <a:t>Situation 2 : quel biais ?</a:t>
            </a:r>
          </a:p>
          <a:p>
            <a:pPr algn="l" marL="274320" indent="-274320">
              <a:spcAft>
                <a:spcPts val="600"/>
              </a:spcAft>
              <a:buAutoNum type="arabicPeriod"/>
            </a:pPr>
            <a:r>
              <a:rPr sz="2000" b="0" i="0">
                <a:solidFill>
                  <a:srgbClr val="1B1B1B"/>
                </a:solidFill>
                <a:latin typeface="Calibri"/>
              </a:rPr>
              <a:t>Situation 3 : quel biais ?</a:t>
            </a:r>
          </a:p>
          <a:p>
            <a:pPr algn="l" marL="274320" indent="-274320">
              <a:spcAft>
                <a:spcPts val="600"/>
              </a:spcAft>
              <a:buAutoNum type="arabicPeriod"/>
            </a:pPr>
            <a:r>
              <a:rPr sz="2000" b="0" i="0">
                <a:solidFill>
                  <a:srgbClr val="1B1B1B"/>
                </a:solidFill>
                <a:latin typeface="Calibri"/>
              </a:rPr>
              <a:t>Situation 4 : quel biais ?</a:t>
            </a:r>
          </a:p>
        </p:txBody>
      </p:sp>
      <p:sp>
        <p:nvSpPr>
          <p:cNvPr id="15" name="TextBox 14"/>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6" name="Picture 15" descr="F6.png"/>
          <p:cNvPicPr>
            <a:picLocks noChangeAspect="1"/>
          </p:cNvPicPr>
          <p:nvPr/>
        </p:nvPicPr>
        <p:blipFill>
          <a:blip r:embed="rId4"/>
          <a:stretch>
            <a:fillRect/>
          </a:stretch>
        </p:blipFill>
        <p:spPr>
          <a:xfrm>
            <a:off x="10744200" y="5257800"/>
            <a:ext cx="1005840" cy="1005840"/>
          </a:xfrm>
          <a:prstGeom prst="rect">
            <a:avLst/>
          </a:prstGeom>
        </p:spPr>
      </p:pic>
      <p:sp>
        <p:nvSpPr>
          <p:cNvPr id="17" name="TextBox 16"/>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F6 — Flash · Quel biais ? (téléphone)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F6</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72</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Chercher aussi ce qui contredit.</a:t>
            </a:r>
          </a:p>
          <a:p>
            <a:pPr algn="l" marL="274320" indent="-274320">
              <a:spcAft>
                <a:spcPts val="375"/>
              </a:spcAft>
              <a:buAutoNum type="arabicPeriod"/>
            </a:pPr>
            <a:r>
              <a:rPr sz="1500" b="0" i="0">
                <a:solidFill>
                  <a:srgbClr val="1B1B1B"/>
                </a:solidFill>
                <a:latin typeface="Calibri"/>
              </a:rPr>
              <a:t>Regarder qui publie et qui finance.</a:t>
            </a:r>
          </a:p>
        </p:txBody>
      </p:sp>
      <p:graphicFrame>
        <p:nvGraphicFramePr>
          <p:cNvPr id="9" name="Table 8"/>
          <p:cNvGraphicFramePr>
            <a:graphicFrameLocks noGrp="1"/>
          </p:cNvGraphicFramePr>
          <p:nvPr/>
        </p:nvGraphicFramePr>
        <p:xfrm>
          <a:off x="3703320" y="1097280"/>
          <a:ext cx="8046720" cy="1188720"/>
        </p:xfrm>
        <a:graphic>
          <a:graphicData uri="http://schemas.openxmlformats.org/drawingml/2006/table">
            <a:tbl>
              <a:tblPr firstRow="0" bandRow="0">
                <a:tableStyleId>{5C22544A-7EE6-4342-B048-85BDC9FD1C3A}</a:tableStyleId>
              </a:tblPr>
              <a:tblGrid>
                <a:gridCol w="640080"/>
                <a:gridCol w="7406640"/>
              </a:tblGrid>
              <a:tr h="237744">
                <a:tc>
                  <a:txBody>
                    <a:bodyPr wrap="square"/>
                    <a:lstStyle/>
                    <a:p>
                      <a:r>
                        <a:rPr sz="1700" b="1">
                          <a:solidFill>
                            <a:srgbClr val="FFFFFF"/>
                          </a:solidFill>
                          <a:latin typeface="Calibri"/>
                        </a:rPr>
                        <a:t>N°</a:t>
                      </a:r>
                    </a:p>
                  </a:txBody>
                  <a:tcPr marL="73152" marR="73152" marT="36576" marB="36576">
                    <a:solidFill>
                      <a:srgbClr val="1F2A5C"/>
                    </a:solidFill>
                  </a:tcPr>
                </a:tc>
                <a:tc>
                  <a:txBody>
                    <a:bodyPr wrap="square"/>
                    <a:lstStyle/>
                    <a:p>
                      <a:r>
                        <a:rPr sz="1700" b="1">
                          <a:solidFill>
                            <a:srgbClr val="FFFFFF"/>
                          </a:solidFill>
                          <a:latin typeface="Calibri"/>
                        </a:rPr>
                        <a:t>Réponse</a:t>
                      </a:r>
                    </a:p>
                  </a:txBody>
                  <a:tcPr marL="73152" marR="73152" marT="36576" marB="36576">
                    <a:solidFill>
                      <a:srgbClr val="1F2A5C"/>
                    </a:solidFill>
                  </a:tcPr>
                </a:tc>
              </a:tr>
              <a:tr h="237744">
                <a:tc>
                  <a:txBody>
                    <a:bodyPr wrap="square"/>
                    <a:lstStyle/>
                    <a:p>
                      <a:r>
                        <a:rPr sz="1700" b="1">
                          <a:solidFill>
                            <a:srgbClr val="1B1B1B"/>
                          </a:solidFill>
                          <a:latin typeface="Calibri"/>
                        </a:rPr>
                        <a:t>1</a:t>
                      </a:r>
                    </a:p>
                  </a:txBody>
                  <a:tcPr marL="73152" marR="73152" marT="36576" marB="36576">
                    <a:solidFill>
                      <a:srgbClr val="FFFFFF"/>
                    </a:solidFill>
                  </a:tcPr>
                </a:tc>
                <a:tc>
                  <a:txBody>
                    <a:bodyPr wrap="square"/>
                    <a:lstStyle/>
                    <a:p>
                      <a:r>
                        <a:rPr sz="1700" b="0">
                          <a:solidFill>
                            <a:srgbClr val="1B1B1B"/>
                          </a:solidFill>
                          <a:latin typeface="Calibri"/>
                        </a:rPr>
                        <a:t>Biais de publication : chercher les revues systématiques et les rapports ouverts</a:t>
                      </a:r>
                    </a:p>
                  </a:txBody>
                  <a:tcPr marL="73152" marR="73152" marT="36576" marB="36576">
                    <a:solidFill>
                      <a:srgbClr val="FFFFFF"/>
                    </a:solidFill>
                  </a:tcPr>
                </a:tc>
              </a:tr>
              <a:tr h="237744">
                <a:tc>
                  <a:txBody>
                    <a:bodyPr wrap="square"/>
                    <a:lstStyle/>
                    <a:p>
                      <a:r>
                        <a:rPr sz="1700" b="1">
                          <a:solidFill>
                            <a:srgbClr val="1B1B1B"/>
                          </a:solidFill>
                          <a:latin typeface="Calibri"/>
                        </a:rPr>
                        <a:t>2</a:t>
                      </a:r>
                    </a:p>
                  </a:txBody>
                  <a:tcPr marL="73152" marR="73152" marT="36576" marB="36576">
                    <a:solidFill>
                      <a:srgbClr val="F3F5F9"/>
                    </a:solidFill>
                  </a:tcPr>
                </a:tc>
                <a:tc>
                  <a:txBody>
                    <a:bodyPr wrap="square"/>
                    <a:lstStyle/>
                    <a:p>
                      <a:r>
                        <a:rPr sz="1700" b="0">
                          <a:solidFill>
                            <a:srgbClr val="1B1B1B"/>
                          </a:solidFill>
                          <a:latin typeface="Calibri"/>
                        </a:rPr>
                        <a:t>Biais de financement : lire les déclarations d'intérêts, rechercher une étude indépendante</a:t>
                      </a:r>
                    </a:p>
                  </a:txBody>
                  <a:tcPr marL="73152" marR="73152" marT="36576" marB="36576">
                    <a:solidFill>
                      <a:srgbClr val="F3F5F9"/>
                    </a:solidFill>
                  </a:tcPr>
                </a:tc>
              </a:tr>
              <a:tr h="237744">
                <a:tc>
                  <a:txBody>
                    <a:bodyPr wrap="square"/>
                    <a:lstStyle/>
                    <a:p>
                      <a:r>
                        <a:rPr sz="1700" b="1">
                          <a:solidFill>
                            <a:srgbClr val="1B1B1B"/>
                          </a:solidFill>
                          <a:latin typeface="Calibri"/>
                        </a:rPr>
                        <a:t>3</a:t>
                      </a:r>
                    </a:p>
                  </a:txBody>
                  <a:tcPr marL="73152" marR="73152" marT="36576" marB="36576">
                    <a:solidFill>
                      <a:srgbClr val="FFFFFF"/>
                    </a:solidFill>
                  </a:tcPr>
                </a:tc>
                <a:tc>
                  <a:txBody>
                    <a:bodyPr wrap="square"/>
                    <a:lstStyle/>
                    <a:p>
                      <a:r>
                        <a:rPr sz="1700" b="0">
                          <a:solidFill>
                            <a:srgbClr val="1B1B1B"/>
                          </a:solidFill>
                          <a:latin typeface="Calibri"/>
                        </a:rPr>
                        <a:t>Biais de confirmation : chercher activement des sources qui contredisent</a:t>
                      </a:r>
                    </a:p>
                  </a:txBody>
                  <a:tcPr marL="73152" marR="73152" marT="36576" marB="36576">
                    <a:solidFill>
                      <a:srgbClr val="FFFFFF"/>
                    </a:solidFill>
                  </a:tcPr>
                </a:tc>
              </a:tr>
              <a:tr h="237744">
                <a:tc>
                  <a:txBody>
                    <a:bodyPr wrap="square"/>
                    <a:lstStyle/>
                    <a:p>
                      <a:r>
                        <a:rPr sz="1700" b="1">
                          <a:solidFill>
                            <a:srgbClr val="1B1B1B"/>
                          </a:solidFill>
                          <a:latin typeface="Calibri"/>
                        </a:rPr>
                        <a:t>4</a:t>
                      </a:r>
                    </a:p>
                  </a:txBody>
                  <a:tcPr marL="73152" marR="73152" marT="36576" marB="36576">
                    <a:solidFill>
                      <a:srgbClr val="F3F5F9"/>
                    </a:solidFill>
                  </a:tcPr>
                </a:tc>
                <a:tc>
                  <a:txBody>
                    <a:bodyPr wrap="square"/>
                    <a:lstStyle/>
                    <a:p>
                      <a:r>
                        <a:rPr sz="1700" b="0">
                          <a:solidFill>
                            <a:srgbClr val="1B1B1B"/>
                          </a:solidFill>
                          <a:latin typeface="Calibri"/>
                        </a:rPr>
                        <a:t>Biais du survivant : chercher aussi les échecs</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30"/>
              </a:spcAft>
              <a:buChar char="•"/>
            </a:pPr>
            <a:r>
              <a:rPr sz="1300" b="0" i="0">
                <a:solidFill>
                  <a:srgbClr val="1B1B1B"/>
                </a:solidFill>
                <a:latin typeface="Calibri"/>
              </a:rPr>
              <a:t>Croire qu'une source financée est forcément fausse : elle demande seulement une vérification supplémentaire.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IA générative : utile, mais jamais une source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73</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Utile pour</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Reformuler une question, proposer des mots-clés, résumer un texte que vous avez lu.</a:t>
            </a:r>
          </a:p>
          <a:p>
            <a:pPr algn="l">
              <a:spcAft>
                <a:spcPts val="509"/>
              </a:spcAft>
            </a:pPr>
            <a:r>
              <a:rPr sz="1700" b="0" i="0">
                <a:solidFill>
                  <a:srgbClr val="1B1B1B"/>
                </a:solidFill>
                <a:latin typeface="Calibri"/>
              </a:rPr>
              <a:t>Ex. : « donne 10 synonymes anglais de sauvegarde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Dangereux pour</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Citer : elle peut inventer des auteurs, des revues et des adresses DOI plausibles.</a:t>
            </a:r>
          </a:p>
          <a:p>
            <a:pPr algn="l">
              <a:spcAft>
                <a:spcPts val="509"/>
              </a:spcAft>
            </a:pPr>
            <a:r>
              <a:rPr sz="1700" b="0" i="0">
                <a:solidFill>
                  <a:srgbClr val="1B1B1B"/>
                </a:solidFill>
                <a:latin typeface="Calibri"/>
              </a:rPr>
              <a:t>Ex. : un DOI qui ne s'ouvre pas</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Règle</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Ouvrir et lire chaque source dans son origine avant de la citer.</a:t>
            </a:r>
          </a:p>
          <a:p>
            <a:pPr algn="l">
              <a:spcAft>
                <a:spcPts val="509"/>
              </a:spcAft>
            </a:pPr>
            <a:r>
              <a:rPr sz="1700" b="0" i="0">
                <a:solidFill>
                  <a:srgbClr val="1B1B1B"/>
                </a:solidFill>
                <a:latin typeface="Calibri"/>
              </a:rPr>
              <a:t>Ex. : titre exact entre guillemets dans Google Scholar</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À déclarer</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Dire quelle IA (nom, version) et comment elle a été utilisée. Variez les IA pour comparer leurs réponses.</a:t>
            </a:r>
          </a:p>
          <a:p>
            <a:pPr algn="l">
              <a:spcAft>
                <a:spcPts val="509"/>
              </a:spcAft>
            </a:pPr>
            <a:r>
              <a:rPr sz="1700" b="0" i="0">
                <a:solidFill>
                  <a:srgbClr val="1B1B1B"/>
                </a:solidFill>
                <a:latin typeface="Calibri"/>
              </a:rPr>
              <a:t>Ex. : dossier, section 18</a:t>
            </a:r>
          </a:p>
        </p:txBody>
      </p:sp>
      <p:sp>
        <p:nvSpPr>
          <p:cNvPr id="18" name="Rounded Rectangle 17"/>
          <p:cNvSpPr/>
          <p:nvPr/>
        </p:nvSpPr>
        <p:spPr>
          <a:xfrm>
            <a:off x="411480" y="5669280"/>
            <a:ext cx="113385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Conseil IA : un bon prompt = rôle, contexte, tâche, format, limite. « Tu es assistant de recherche. Contexte : … Tâche : … Réponds en tableau, sans inventer de source. »</a:t>
            </a:r>
          </a:p>
        </p:txBody>
      </p:sp>
      <p:sp>
        <p:nvSpPr>
          <p:cNvPr id="19" name="TextBox 1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Ji et al., Survey of Hallucination in Natural Language Generation, ACM Computing Surveys, 2023 ; règle propre au cours.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Outils d'IA pour chercher et lire : exemples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74</a:t>
            </a:r>
          </a:p>
        </p:txBody>
      </p:sp>
      <p:graphicFrame>
        <p:nvGraphicFramePr>
          <p:cNvPr id="6" name="Table 5"/>
          <p:cNvGraphicFramePr>
            <a:graphicFrameLocks noGrp="1"/>
          </p:cNvGraphicFramePr>
          <p:nvPr/>
        </p:nvGraphicFramePr>
        <p:xfrm>
          <a:off x="411480" y="1188720"/>
          <a:ext cx="11338559" cy="2560320"/>
        </p:xfrm>
        <a:graphic>
          <a:graphicData uri="http://schemas.openxmlformats.org/drawingml/2006/table">
            <a:tbl>
              <a:tblPr firstRow="0" bandRow="0">
                <a:tableStyleId>{5C22544A-7EE6-4342-B048-85BDC9FD1C3A}</a:tableStyleId>
              </a:tblPr>
              <a:tblGrid>
                <a:gridCol w="1554479"/>
                <a:gridCol w="3840480"/>
                <a:gridCol w="3840480"/>
                <a:gridCol w="2103120"/>
              </a:tblGrid>
              <a:tr h="365760">
                <a:tc>
                  <a:txBody>
                    <a:bodyPr wrap="square"/>
                    <a:lstStyle/>
                    <a:p>
                      <a:r>
                        <a:rPr sz="1500" b="1">
                          <a:solidFill>
                            <a:srgbClr val="FFFFFF"/>
                          </a:solidFill>
                          <a:latin typeface="Calibri"/>
                        </a:rPr>
                        <a:t>Outil</a:t>
                      </a:r>
                    </a:p>
                  </a:txBody>
                  <a:tcPr marL="73152" marR="73152" marT="36576" marB="36576">
                    <a:solidFill>
                      <a:srgbClr val="1F2A5C"/>
                    </a:solidFill>
                  </a:tcPr>
                </a:tc>
                <a:tc>
                  <a:txBody>
                    <a:bodyPr wrap="square"/>
                    <a:lstStyle/>
                    <a:p>
                      <a:r>
                        <a:rPr sz="1500" b="1">
                          <a:solidFill>
                            <a:srgbClr val="FFFFFF"/>
                          </a:solidFill>
                          <a:latin typeface="Calibri"/>
                        </a:rPr>
                        <a:t>Ce qu'il fait</a:t>
                      </a:r>
                    </a:p>
                  </a:txBody>
                  <a:tcPr marL="73152" marR="73152" marT="36576" marB="36576">
                    <a:solidFill>
                      <a:srgbClr val="1F2A5C"/>
                    </a:solidFill>
                  </a:tcPr>
                </a:tc>
                <a:tc>
                  <a:txBody>
                    <a:bodyPr wrap="square"/>
                    <a:lstStyle/>
                    <a:p>
                      <a:r>
                        <a:rPr sz="1500" b="1">
                          <a:solidFill>
                            <a:srgbClr val="FFFFFF"/>
                          </a:solidFill>
                          <a:latin typeface="Calibri"/>
                        </a:rPr>
                        <a:t>Précaution (selon l'Université de Hasselt, sauf mention)</a:t>
                      </a:r>
                    </a:p>
                  </a:txBody>
                  <a:tcPr marL="73152" marR="73152" marT="36576" marB="36576">
                    <a:solidFill>
                      <a:srgbClr val="1F2A5C"/>
                    </a:solidFill>
                  </a:tcPr>
                </a:tc>
                <a:tc>
                  <a:txBody>
                    <a:bodyPr wrap="square"/>
                    <a:lstStyle/>
                    <a:p>
                      <a:r>
                        <a:rPr sz="1500" b="1">
                          <a:solidFill>
                            <a:srgbClr val="FFFFFF"/>
                          </a:solidFill>
                          <a:latin typeface="Calibri"/>
                        </a:rPr>
                        <a:t>Lien</a:t>
                      </a:r>
                    </a:p>
                  </a:txBody>
                  <a:tcPr marL="73152" marR="73152" marT="36576" marB="36576">
                    <a:solidFill>
                      <a:srgbClr val="1F2A5C"/>
                    </a:solidFill>
                  </a:tcPr>
                </a:tc>
              </a:tr>
              <a:tr h="365760">
                <a:tc>
                  <a:txBody>
                    <a:bodyPr wrap="square"/>
                    <a:lstStyle/>
                    <a:p>
                      <a:r>
                        <a:rPr sz="1500" b="1">
                          <a:solidFill>
                            <a:srgbClr val="1B1B1B"/>
                          </a:solidFill>
                          <a:latin typeface="Calibri"/>
                        </a:rPr>
                        <a:t>Perplexity</a:t>
                      </a:r>
                    </a:p>
                  </a:txBody>
                  <a:tcPr marL="73152" marR="73152" marT="36576" marB="36576">
                    <a:solidFill>
                      <a:srgbClr val="FFFFFF"/>
                    </a:solidFill>
                  </a:tcPr>
                </a:tc>
                <a:tc>
                  <a:txBody>
                    <a:bodyPr wrap="square"/>
                    <a:lstStyle/>
                    <a:p>
                      <a:r>
                        <a:rPr sz="1500" b="0">
                          <a:solidFill>
                            <a:srgbClr val="1B1B1B"/>
                          </a:solidFill>
                          <a:latin typeface="Calibri"/>
                        </a:rPr>
                        <a:t>Moteur de réponses : interroge le web et répond avec des liens vers ses sources</a:t>
                      </a:r>
                    </a:p>
                  </a:txBody>
                  <a:tcPr marL="73152" marR="73152" marT="36576" marB="36576">
                    <a:solidFill>
                      <a:srgbClr val="FFFFFF"/>
                    </a:solidFill>
                  </a:tcPr>
                </a:tc>
                <a:tc>
                  <a:txBody>
                    <a:bodyPr wrap="square"/>
                    <a:lstStyle/>
                    <a:p>
                      <a:r>
                        <a:rPr sz="1500" b="0">
                          <a:solidFill>
                            <a:srgbClr val="1B1B1B"/>
                          </a:solidFill>
                          <a:latin typeface="Calibri"/>
                        </a:rPr>
                        <a:t>Ouvrir chaque lien : une source citée n'est pas une source lue</a:t>
                      </a:r>
                    </a:p>
                  </a:txBody>
                  <a:tcPr marL="73152" marR="73152" marT="36576" marB="36576">
                    <a:solidFill>
                      <a:srgbClr val="FFFFFF"/>
                    </a:solidFill>
                  </a:tcPr>
                </a:tc>
                <a:tc>
                  <a:txBody>
                    <a:bodyPr wrap="square"/>
                    <a:lstStyle/>
                    <a:p>
                      <a:r>
                        <a:rPr sz="1500" b="0">
                          <a:solidFill>
                            <a:srgbClr val="1B1B1B"/>
                          </a:solidFill>
                          <a:latin typeface="Calibri"/>
                        </a:rPr>
                        <a:t>perplexity.ai</a:t>
                      </a:r>
                    </a:p>
                  </a:txBody>
                  <a:tcPr marL="73152" marR="73152" marT="36576" marB="36576">
                    <a:solidFill>
                      <a:srgbClr val="FFFFFF"/>
                    </a:solidFill>
                  </a:tcPr>
                </a:tc>
              </a:tr>
              <a:tr h="365760">
                <a:tc>
                  <a:txBody>
                    <a:bodyPr wrap="square"/>
                    <a:lstStyle/>
                    <a:p>
                      <a:r>
                        <a:rPr sz="1500" b="1">
                          <a:solidFill>
                            <a:srgbClr val="1B1B1B"/>
                          </a:solidFill>
                          <a:latin typeface="Calibri"/>
                        </a:rPr>
                        <a:t>Elicit</a:t>
                      </a:r>
                    </a:p>
                  </a:txBody>
                  <a:tcPr marL="73152" marR="73152" marT="36576" marB="36576">
                    <a:solidFill>
                      <a:srgbClr val="F3F5F9"/>
                    </a:solidFill>
                  </a:tcPr>
                </a:tc>
                <a:tc>
                  <a:txBody>
                    <a:bodyPr wrap="square"/>
                    <a:lstStyle/>
                    <a:p>
                      <a:r>
                        <a:rPr sz="1500" b="0">
                          <a:solidFill>
                            <a:srgbClr val="1B1B1B"/>
                          </a:solidFill>
                          <a:latin typeface="Calibri"/>
                        </a:rPr>
                        <a:t>Cherche des articles scientifiques, les résume, extrait méthode et résultats</a:t>
                      </a:r>
                    </a:p>
                  </a:txBody>
                  <a:tcPr marL="73152" marR="73152" marT="36576" marB="36576">
                    <a:solidFill>
                      <a:srgbClr val="F3F5F9"/>
                    </a:solidFill>
                  </a:tcPr>
                </a:tc>
                <a:tc>
                  <a:txBody>
                    <a:bodyPr wrap="square"/>
                    <a:lstStyle/>
                    <a:p>
                      <a:r>
                        <a:rPr sz="1500" b="0">
                          <a:solidFill>
                            <a:srgbClr val="1B1B1B"/>
                          </a:solidFill>
                          <a:latin typeface="Calibri"/>
                        </a:rPr>
                        <a:t>Vérifier sur l'article ; couverture variable selon les domaines</a:t>
                      </a:r>
                    </a:p>
                  </a:txBody>
                  <a:tcPr marL="73152" marR="73152" marT="36576" marB="36576">
                    <a:solidFill>
                      <a:srgbClr val="F3F5F9"/>
                    </a:solidFill>
                  </a:tcPr>
                </a:tc>
                <a:tc>
                  <a:txBody>
                    <a:bodyPr wrap="square"/>
                    <a:lstStyle/>
                    <a:p>
                      <a:r>
                        <a:rPr sz="1500" b="0">
                          <a:solidFill>
                            <a:srgbClr val="1B1B1B"/>
                          </a:solidFill>
                          <a:latin typeface="Calibri"/>
                        </a:rPr>
                        <a:t>elicit.com</a:t>
                      </a:r>
                    </a:p>
                  </a:txBody>
                  <a:tcPr marL="73152" marR="73152" marT="36576" marB="36576">
                    <a:solidFill>
                      <a:srgbClr val="F3F5F9"/>
                    </a:solidFill>
                  </a:tcPr>
                </a:tc>
              </a:tr>
              <a:tr h="365760">
                <a:tc>
                  <a:txBody>
                    <a:bodyPr wrap="square"/>
                    <a:lstStyle/>
                    <a:p>
                      <a:r>
                        <a:rPr sz="1500" b="1">
                          <a:solidFill>
                            <a:srgbClr val="1B1B1B"/>
                          </a:solidFill>
                          <a:latin typeface="Calibri"/>
                        </a:rPr>
                        <a:t>Consensus</a:t>
                      </a:r>
                    </a:p>
                  </a:txBody>
                  <a:tcPr marL="73152" marR="73152" marT="36576" marB="36576">
                    <a:solidFill>
                      <a:srgbClr val="FFFFFF"/>
                    </a:solidFill>
                  </a:tcPr>
                </a:tc>
                <a:tc>
                  <a:txBody>
                    <a:bodyPr wrap="square"/>
                    <a:lstStyle/>
                    <a:p>
                      <a:r>
                        <a:rPr sz="1500" b="0">
                          <a:solidFill>
                            <a:srgbClr val="1B1B1B"/>
                          </a:solidFill>
                          <a:latin typeface="Calibri"/>
                        </a:rPr>
                        <a:t>Moteur de recherche académique assisté par IA</a:t>
                      </a:r>
                    </a:p>
                  </a:txBody>
                  <a:tcPr marL="73152" marR="73152" marT="36576" marB="36576">
                    <a:solidFill>
                      <a:srgbClr val="FFFFFF"/>
                    </a:solidFill>
                  </a:tcPr>
                </a:tc>
                <a:tc>
                  <a:txBody>
                    <a:bodyPr wrap="square"/>
                    <a:lstStyle/>
                    <a:p>
                      <a:r>
                        <a:rPr sz="1500" b="0">
                          <a:solidFill>
                            <a:srgbClr val="1B1B1B"/>
                          </a:solidFill>
                          <a:latin typeface="Calibri"/>
                        </a:rPr>
                        <a:t>Version licenciée pour les données confidentielles ; suivi en ligne assez poussé</a:t>
                      </a:r>
                    </a:p>
                  </a:txBody>
                  <a:tcPr marL="73152" marR="73152" marT="36576" marB="36576">
                    <a:solidFill>
                      <a:srgbClr val="FFFFFF"/>
                    </a:solidFill>
                  </a:tcPr>
                </a:tc>
                <a:tc>
                  <a:txBody>
                    <a:bodyPr wrap="square"/>
                    <a:lstStyle/>
                    <a:p>
                      <a:r>
                        <a:rPr sz="1500" b="0">
                          <a:solidFill>
                            <a:srgbClr val="1B1B1B"/>
                          </a:solidFill>
                          <a:latin typeface="Calibri"/>
                        </a:rPr>
                        <a:t>consensus.app</a:t>
                      </a:r>
                    </a:p>
                  </a:txBody>
                  <a:tcPr marL="73152" marR="73152" marT="36576" marB="36576">
                    <a:solidFill>
                      <a:srgbClr val="FFFFFF"/>
                    </a:solidFill>
                  </a:tcPr>
                </a:tc>
              </a:tr>
              <a:tr h="365760">
                <a:tc>
                  <a:txBody>
                    <a:bodyPr wrap="square"/>
                    <a:lstStyle/>
                    <a:p>
                      <a:r>
                        <a:rPr sz="1500" b="1">
                          <a:solidFill>
                            <a:srgbClr val="1B1B1B"/>
                          </a:solidFill>
                          <a:latin typeface="Calibri"/>
                        </a:rPr>
                        <a:t>Semantic Scholar</a:t>
                      </a:r>
                    </a:p>
                  </a:txBody>
                  <a:tcPr marL="73152" marR="73152" marT="36576" marB="36576">
                    <a:solidFill>
                      <a:srgbClr val="F3F5F9"/>
                    </a:solidFill>
                  </a:tcPr>
                </a:tc>
                <a:tc>
                  <a:txBody>
                    <a:bodyPr wrap="square"/>
                    <a:lstStyle/>
                    <a:p>
                      <a:r>
                        <a:rPr sz="1500" b="0">
                          <a:solidFill>
                            <a:srgbClr val="1B1B1B"/>
                          </a:solidFill>
                          <a:latin typeface="Calibri"/>
                        </a:rPr>
                        <a:t>Recherche d'articles scientifiques avec résumés automatiques</a:t>
                      </a:r>
                    </a:p>
                  </a:txBody>
                  <a:tcPr marL="73152" marR="73152" marT="36576" marB="36576">
                    <a:solidFill>
                      <a:srgbClr val="F3F5F9"/>
                    </a:solidFill>
                  </a:tcPr>
                </a:tc>
                <a:tc>
                  <a:txBody>
                    <a:bodyPr wrap="square"/>
                    <a:lstStyle/>
                    <a:p>
                      <a:r>
                        <a:rPr sz="1500" b="0">
                          <a:solidFill>
                            <a:srgbClr val="1B1B1B"/>
                          </a:solidFill>
                          <a:latin typeface="Calibri"/>
                        </a:rPr>
                        <a:t>Pas de données confidentielles ; données stockées aux États-Unis</a:t>
                      </a:r>
                    </a:p>
                  </a:txBody>
                  <a:tcPr marL="73152" marR="73152" marT="36576" marB="36576">
                    <a:solidFill>
                      <a:srgbClr val="F3F5F9"/>
                    </a:solidFill>
                  </a:tcPr>
                </a:tc>
                <a:tc>
                  <a:txBody>
                    <a:bodyPr wrap="square"/>
                    <a:lstStyle/>
                    <a:p>
                      <a:r>
                        <a:rPr sz="1500" b="0">
                          <a:solidFill>
                            <a:srgbClr val="1B1B1B"/>
                          </a:solidFill>
                          <a:latin typeface="Calibri"/>
                        </a:rPr>
                        <a:t>semanticscholar.org</a:t>
                      </a:r>
                    </a:p>
                  </a:txBody>
                  <a:tcPr marL="73152" marR="73152" marT="36576" marB="36576">
                    <a:solidFill>
                      <a:srgbClr val="F3F5F9"/>
                    </a:solidFill>
                  </a:tcPr>
                </a:tc>
              </a:tr>
              <a:tr h="365760">
                <a:tc>
                  <a:txBody>
                    <a:bodyPr wrap="square"/>
                    <a:lstStyle/>
                    <a:p>
                      <a:r>
                        <a:rPr sz="1500" b="1">
                          <a:solidFill>
                            <a:srgbClr val="1B1B1B"/>
                          </a:solidFill>
                          <a:latin typeface="Calibri"/>
                        </a:rPr>
                        <a:t>NotebookLM</a:t>
                      </a:r>
                    </a:p>
                  </a:txBody>
                  <a:tcPr marL="73152" marR="73152" marT="36576" marB="36576">
                    <a:solidFill>
                      <a:srgbClr val="FFFFFF"/>
                    </a:solidFill>
                  </a:tcPr>
                </a:tc>
                <a:tc>
                  <a:txBody>
                    <a:bodyPr wrap="square"/>
                    <a:lstStyle/>
                    <a:p>
                      <a:r>
                        <a:rPr sz="1500" b="0">
                          <a:solidFill>
                            <a:srgbClr val="1B1B1B"/>
                          </a:solidFill>
                          <a:latin typeface="Calibri"/>
                        </a:rPr>
                        <a:t>Interroge vos propres documents, avec renvoi aux passages</a:t>
                      </a:r>
                    </a:p>
                  </a:txBody>
                  <a:tcPr marL="73152" marR="73152" marT="36576" marB="36576">
                    <a:solidFill>
                      <a:srgbClr val="FFFFFF"/>
                    </a:solidFill>
                  </a:tcPr>
                </a:tc>
                <a:tc>
                  <a:txBody>
                    <a:bodyPr wrap="square"/>
                    <a:lstStyle/>
                    <a:p>
                      <a:r>
                        <a:rPr sz="1500" b="0">
                          <a:solidFill>
                            <a:srgbClr val="1B1B1B"/>
                          </a:solidFill>
                          <a:latin typeface="Calibri"/>
                        </a:rPr>
                        <a:t>Version gratuite : Google peut utiliser les données saisies ; documents publics seulement</a:t>
                      </a:r>
                    </a:p>
                  </a:txBody>
                  <a:tcPr marL="73152" marR="73152" marT="36576" marB="36576">
                    <a:solidFill>
                      <a:srgbClr val="FFFFFF"/>
                    </a:solidFill>
                  </a:tcPr>
                </a:tc>
                <a:tc>
                  <a:txBody>
                    <a:bodyPr wrap="square"/>
                    <a:lstStyle/>
                    <a:p>
                      <a:r>
                        <a:rPr sz="1500" b="0">
                          <a:solidFill>
                            <a:srgbClr val="1B1B1B"/>
                          </a:solidFill>
                          <a:latin typeface="Calibri"/>
                        </a:rPr>
                        <a:t>notebooklm.google.com</a:t>
                      </a:r>
                    </a:p>
                  </a:txBody>
                  <a:tcPr marL="73152" marR="73152" marT="36576" marB="36576">
                    <a:solidFill>
                      <a:srgbClr val="FFFFFF"/>
                    </a:solidFill>
                  </a:tcPr>
                </a:tc>
              </a:tr>
              <a:tr h="365760">
                <a:tc>
                  <a:txBody>
                    <a:bodyPr wrap="square"/>
                    <a:lstStyle/>
                    <a:p>
                      <a:r>
                        <a:rPr sz="1500" b="1">
                          <a:solidFill>
                            <a:srgbClr val="1B1B1B"/>
                          </a:solidFill>
                          <a:latin typeface="Calibri"/>
                        </a:rPr>
                        <a:t>Scite</a:t>
                      </a:r>
                    </a:p>
                  </a:txBody>
                  <a:tcPr marL="73152" marR="73152" marT="36576" marB="36576">
                    <a:solidFill>
                      <a:srgbClr val="F3F5F9"/>
                    </a:solidFill>
                  </a:tcPr>
                </a:tc>
                <a:tc>
                  <a:txBody>
                    <a:bodyPr wrap="square"/>
                    <a:lstStyle/>
                    <a:p>
                      <a:r>
                        <a:rPr sz="1500" b="0">
                          <a:solidFill>
                            <a:srgbClr val="1B1B1B"/>
                          </a:solidFill>
                          <a:latin typeface="Calibri"/>
                        </a:rPr>
                        <a:t>Indique si des articles citants soutiennent ou contredisent une étude</a:t>
                      </a:r>
                    </a:p>
                  </a:txBody>
                  <a:tcPr marL="73152" marR="73152" marT="36576" marB="36576">
                    <a:solidFill>
                      <a:srgbClr val="F3F5F9"/>
                    </a:solidFill>
                  </a:tcPr>
                </a:tc>
                <a:tc>
                  <a:txBody>
                    <a:bodyPr wrap="square"/>
                    <a:lstStyle/>
                    <a:p>
                      <a:r>
                        <a:rPr sz="1500" b="0">
                          <a:solidFill>
                            <a:srgbClr val="1B1B1B"/>
                          </a:solidFill>
                          <a:latin typeface="Calibri"/>
                        </a:rPr>
                        <a:t>Pas de version gratuite</a:t>
                      </a:r>
                    </a:p>
                  </a:txBody>
                  <a:tcPr marL="73152" marR="73152" marT="36576" marB="36576">
                    <a:solidFill>
                      <a:srgbClr val="F3F5F9"/>
                    </a:solidFill>
                  </a:tcPr>
                </a:tc>
                <a:tc>
                  <a:txBody>
                    <a:bodyPr wrap="square"/>
                    <a:lstStyle/>
                    <a:p>
                      <a:r>
                        <a:rPr sz="1500" b="0">
                          <a:solidFill>
                            <a:srgbClr val="1B1B1B"/>
                          </a:solidFill>
                          <a:latin typeface="Calibri"/>
                        </a:rPr>
                        <a:t>scite.ai</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19"/>
              </a:spcAft>
            </a:pPr>
            <a:r>
              <a:rPr sz="1200" b="1" i="0">
                <a:solidFill>
                  <a:srgbClr val="1B1B1B"/>
                </a:solidFill>
                <a:latin typeface="Calibri"/>
              </a:rPr>
              <a:t>Règle : toute source donnée par un de ces outils est ouverte et lue dans son origine avant d'être citée. Aucune donnée confidentielle.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15</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875"/>
              </a:spcAft>
            </a:pPr>
            <a:r>
              <a:rPr sz="2500" b="1" i="0">
                <a:solidFill>
                  <a:srgbClr val="FFFFFF"/>
                </a:solidFill>
                <a:latin typeface="Calibri"/>
              </a:rPr>
              <a:t>Faire inventer des références à une IA, puis les vérifier</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EX15</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75</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ordinateur  ·  15 min  ·  Carnet · chapitre 5  ·  Outil : IA générative, Google Scholar, doi.org</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Constater qu'une IA peut inventer des références crédibles, et adopter la règle : on ouvre et on lit toute source avant de la citer.</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Testez une IA générative sur VOTRE question, sans donnée confidentielle ni personnelle.</a:t>
            </a:r>
          </a:p>
          <a:p>
            <a:pPr algn="l">
              <a:spcAft>
                <a:spcPts val="600"/>
              </a:spcAft>
            </a:pPr>
            <a:r>
              <a:rPr sz="2000" b="0" i="0">
                <a:solidFill>
                  <a:srgbClr val="1B1B1B"/>
                </a:solidFill>
                <a:latin typeface="Calibri"/>
              </a:rPr>
              <a:t>Consigne : « Donne-moi 5 références (auteurs, année, titre, revue, DOI) sur : &lt;votre question&gt;. »</a:t>
            </a:r>
          </a:p>
          <a:p>
            <a:pPr algn="l">
              <a:spcAft>
                <a:spcPts val="600"/>
              </a:spcAft>
            </a:pPr>
            <a:r>
              <a:rPr sz="2000" b="0" i="0">
                <a:solidFill>
                  <a:srgbClr val="1B1B1B"/>
                </a:solidFill>
                <a:latin typeface="Calibri"/>
              </a:rPr>
              <a:t>Vérifiez chaque référence sans demander à l'IA : Google Scholar (titre exact), doi.org (le DOI).</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Demandez à l'IA 5 références sur votre question (consigne ci-dessus) et recopiez-les. Notez le nom de l'IA utilisée.</a:t>
            </a:r>
          </a:p>
          <a:p>
            <a:pPr algn="l" marL="274320" indent="-274320">
              <a:spcAft>
                <a:spcPts val="540"/>
              </a:spcAft>
              <a:buAutoNum type="arabicPeriod"/>
            </a:pPr>
            <a:r>
              <a:rPr sz="1800" b="0" i="0">
                <a:solidFill>
                  <a:srgbClr val="1B1B1B"/>
                </a:solidFill>
                <a:latin typeface="Calibri"/>
              </a:rPr>
              <a:t>Combien existent réellement (titre, auteurs et revue corrects) ?</a:t>
            </a:r>
          </a:p>
          <a:p>
            <a:pPr algn="l" marL="274320" indent="-274320">
              <a:spcAft>
                <a:spcPts val="540"/>
              </a:spcAft>
              <a:buAutoNum type="arabicPeriod"/>
            </a:pPr>
            <a:r>
              <a:rPr sz="1800" b="0" i="0">
                <a:solidFill>
                  <a:srgbClr val="1B1B1B"/>
                </a:solidFill>
                <a:latin typeface="Calibri"/>
              </a:rPr>
              <a:t>Y a-t-il au moins une référence inventée ou mélangée ?</a:t>
            </a:r>
          </a:p>
          <a:p>
            <a:pPr algn="l" marL="274320" indent="-274320">
              <a:spcAft>
                <a:spcPts val="540"/>
              </a:spcAft>
              <a:buAutoNum type="arabicPeriod"/>
            </a:pPr>
            <a:r>
              <a:rPr sz="1800" b="0" i="0">
                <a:solidFill>
                  <a:srgbClr val="1B1B1B"/>
                </a:solidFill>
                <a:latin typeface="Calibri"/>
              </a:rPr>
              <a:t>Quelle règle appliquerez-vous avant de citer une source donnée par une IA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La liste des 5 références vérifiées et la règle → Dossier, section 8.</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5.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00"/>
              </a:spcAft>
            </a:pPr>
            <a:r>
              <a:rPr sz="2000" b="1" i="0">
                <a:solidFill>
                  <a:srgbClr val="FFFFFF"/>
                </a:solidFill>
                <a:latin typeface="Calibri"/>
              </a:rPr>
              <a:t>Correction · EX 15 — Faire inventer des références à une IA, puis les vérifier</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EX15</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76</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Chercher le titre exact entre guillemets.</a:t>
            </a:r>
          </a:p>
          <a:p>
            <a:pPr algn="l" marL="274320" indent="-274320">
              <a:spcAft>
                <a:spcPts val="375"/>
              </a:spcAft>
              <a:buAutoNum type="arabicPeriod"/>
            </a:pPr>
            <a:r>
              <a:rPr sz="1500" b="0" i="0">
                <a:solidFill>
                  <a:srgbClr val="1B1B1B"/>
                </a:solidFill>
                <a:latin typeface="Calibri"/>
              </a:rPr>
              <a:t>Ouvrir l'adresse DOI.</a:t>
            </a:r>
          </a:p>
          <a:p>
            <a:pPr algn="l" marL="274320" indent="-274320">
              <a:spcAft>
                <a:spcPts val="375"/>
              </a:spcAft>
              <a:buAutoNum type="arabicPeriod"/>
            </a:pPr>
            <a:r>
              <a:rPr sz="1500" b="0" i="0">
                <a:solidFill>
                  <a:srgbClr val="1B1B1B"/>
                </a:solidFill>
                <a:latin typeface="Calibri"/>
              </a:rPr>
              <a:t>Vérifier que la revue ou la conférence existe.</a:t>
            </a:r>
          </a:p>
          <a:p>
            <a:pPr algn="l" marL="274320" indent="-274320">
              <a:spcAft>
                <a:spcPts val="375"/>
              </a:spcAft>
              <a:buAutoNum type="arabicPeriod"/>
            </a:pPr>
            <a:r>
              <a:rPr sz="1500" b="0" i="0">
                <a:solidFill>
                  <a:srgbClr val="1B1B1B"/>
                </a:solidFill>
                <a:latin typeface="Calibri"/>
              </a:rPr>
              <a:t>Vérifier les auteurs, l'année, les pages.</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2743200"/>
                <a:gridCol w="5303520"/>
              </a:tblGrid>
              <a:tr h="237744">
                <a:tc>
                  <a:txBody>
                    <a:bodyPr wrap="square"/>
                    <a:lstStyle/>
                    <a:p>
                      <a:r>
                        <a:rPr sz="1600" b="1">
                          <a:solidFill>
                            <a:srgbClr val="FFFFFF"/>
                          </a:solidFill>
                          <a:latin typeface="Calibri"/>
                        </a:rPr>
                        <a:t>Indice</a:t>
                      </a:r>
                    </a:p>
                  </a:txBody>
                  <a:tcPr marL="73152" marR="73152" marT="36576" marB="36576">
                    <a:solidFill>
                      <a:srgbClr val="1F2A5C"/>
                    </a:solidFill>
                  </a:tcPr>
                </a:tc>
                <a:tc>
                  <a:txBody>
                    <a:bodyPr wrap="square"/>
                    <a:lstStyle/>
                    <a:p>
                      <a:r>
                        <a:rPr sz="1600" b="1">
                          <a:solidFill>
                            <a:srgbClr val="FFFFFF"/>
                          </a:solidFill>
                          <a:latin typeface="Calibri"/>
                        </a:rPr>
                        <a:t>Pourquoi c'est suspect</a:t>
                      </a:r>
                    </a:p>
                  </a:txBody>
                  <a:tcPr marL="73152" marR="73152" marT="36576" marB="36576">
                    <a:solidFill>
                      <a:srgbClr val="1F2A5C"/>
                    </a:solidFill>
                  </a:tcPr>
                </a:tc>
              </a:tr>
              <a:tr h="237744">
                <a:tc>
                  <a:txBody>
                    <a:bodyPr wrap="square"/>
                    <a:lstStyle/>
                    <a:p>
                      <a:r>
                        <a:rPr sz="1600" b="1">
                          <a:solidFill>
                            <a:srgbClr val="1B1B1B"/>
                          </a:solidFill>
                          <a:latin typeface="Calibri"/>
                        </a:rPr>
                        <a:t>DOI qui ne s'ouvre pas</a:t>
                      </a:r>
                    </a:p>
                  </a:txBody>
                  <a:tcPr marL="73152" marR="73152" marT="36576" marB="36576">
                    <a:solidFill>
                      <a:srgbClr val="FFFFFF"/>
                    </a:solidFill>
                  </a:tcPr>
                </a:tc>
                <a:tc>
                  <a:txBody>
                    <a:bodyPr wrap="square"/>
                    <a:lstStyle/>
                    <a:p>
                      <a:r>
                        <a:rPr sz="1600" b="0">
                          <a:solidFill>
                            <a:srgbClr val="1B1B1B"/>
                          </a:solidFill>
                          <a:latin typeface="Calibri"/>
                        </a:rPr>
                        <a:t>Le préfixe ou le suffixe est inventé, ou renvoie à un autre article</a:t>
                      </a:r>
                    </a:p>
                  </a:txBody>
                  <a:tcPr marL="73152" marR="73152" marT="36576" marB="36576">
                    <a:solidFill>
                      <a:srgbClr val="FFFFFF"/>
                    </a:solidFill>
                  </a:tcPr>
                </a:tc>
              </a:tr>
              <a:tr h="237744">
                <a:tc>
                  <a:txBody>
                    <a:bodyPr wrap="square"/>
                    <a:lstStyle/>
                    <a:p>
                      <a:r>
                        <a:rPr sz="1600" b="1">
                          <a:solidFill>
                            <a:srgbClr val="1B1B1B"/>
                          </a:solidFill>
                          <a:latin typeface="Calibri"/>
                        </a:rPr>
                        <a:t>Vrais auteurs, faux titre</a:t>
                      </a:r>
                    </a:p>
                  </a:txBody>
                  <a:tcPr marL="73152" marR="73152" marT="36576" marB="36576">
                    <a:solidFill>
                      <a:srgbClr val="F3F5F9"/>
                    </a:solidFill>
                  </a:tcPr>
                </a:tc>
                <a:tc>
                  <a:txBody>
                    <a:bodyPr wrap="square"/>
                    <a:lstStyle/>
                    <a:p>
                      <a:r>
                        <a:rPr sz="1600" b="0">
                          <a:solidFill>
                            <a:srgbClr val="1B1B1B"/>
                          </a:solidFill>
                          <a:latin typeface="Calibri"/>
                        </a:rPr>
                        <a:t>Mélange fréquent : la référence « ressemble » à ce que l'auteur a écrit</a:t>
                      </a:r>
                    </a:p>
                  </a:txBody>
                  <a:tcPr marL="73152" marR="73152" marT="36576" marB="36576">
                    <a:solidFill>
                      <a:srgbClr val="F3F5F9"/>
                    </a:solidFill>
                  </a:tcPr>
                </a:tc>
              </a:tr>
              <a:tr h="237744">
                <a:tc>
                  <a:txBody>
                    <a:bodyPr wrap="square"/>
                    <a:lstStyle/>
                    <a:p>
                      <a:r>
                        <a:rPr sz="1600" b="1">
                          <a:solidFill>
                            <a:srgbClr val="1B1B1B"/>
                          </a:solidFill>
                          <a:latin typeface="Calibri"/>
                        </a:rPr>
                        <a:t>Titre trop parfait</a:t>
                      </a:r>
                    </a:p>
                  </a:txBody>
                  <a:tcPr marL="73152" marR="73152" marT="36576" marB="36576">
                    <a:solidFill>
                      <a:srgbClr val="FFFFFF"/>
                    </a:solidFill>
                  </a:tcPr>
                </a:tc>
                <a:tc>
                  <a:txBody>
                    <a:bodyPr wrap="square"/>
                    <a:lstStyle/>
                    <a:p>
                      <a:r>
                        <a:rPr sz="1600" b="0">
                          <a:solidFill>
                            <a:srgbClr val="1B1B1B"/>
                          </a:solidFill>
                          <a:latin typeface="Calibri"/>
                        </a:rPr>
                        <a:t>« Le guide absolu… », « A complete survey of every… » : un titre qui répond exactement à votre question</a:t>
                      </a:r>
                    </a:p>
                  </a:txBody>
                  <a:tcPr marL="73152" marR="73152" marT="36576" marB="36576">
                    <a:solidFill>
                      <a:srgbClr val="FFFFFF"/>
                    </a:solidFill>
                  </a:tcPr>
                </a:tc>
              </a:tr>
              <a:tr h="237744">
                <a:tc>
                  <a:txBody>
                    <a:bodyPr wrap="square"/>
                    <a:lstStyle/>
                    <a:p>
                      <a:r>
                        <a:rPr sz="1600" b="1">
                          <a:solidFill>
                            <a:srgbClr val="1B1B1B"/>
                          </a:solidFill>
                          <a:latin typeface="Calibri"/>
                        </a:rPr>
                        <a:t>Pages incohérentes</a:t>
                      </a:r>
                    </a:p>
                  </a:txBody>
                  <a:tcPr marL="73152" marR="73152" marT="36576" marB="36576">
                    <a:solidFill>
                      <a:srgbClr val="F3F5F9"/>
                    </a:solidFill>
                  </a:tcPr>
                </a:tc>
                <a:tc>
                  <a:txBody>
                    <a:bodyPr wrap="square"/>
                    <a:lstStyle/>
                    <a:p>
                      <a:r>
                        <a:rPr sz="1600" b="0">
                          <a:solidFill>
                            <a:srgbClr val="1B1B1B"/>
                          </a:solidFill>
                          <a:latin typeface="Calibri"/>
                        </a:rPr>
                        <a:t>Un article de 300 pages, un survey complet en 12 pages</a:t>
                      </a:r>
                    </a:p>
                  </a:txBody>
                  <a:tcPr marL="73152" marR="73152" marT="36576" marB="36576">
                    <a:solidFill>
                      <a:srgbClr val="F3F5F9"/>
                    </a:solidFill>
                  </a:tcPr>
                </a:tc>
              </a:tr>
              <a:tr h="237744">
                <a:tc>
                  <a:txBody>
                    <a:bodyPr wrap="square"/>
                    <a:lstStyle/>
                    <a:p>
                      <a:r>
                        <a:rPr sz="1600" b="1">
                          <a:solidFill>
                            <a:srgbClr val="1B1B1B"/>
                          </a:solidFill>
                          <a:latin typeface="Calibri"/>
                        </a:rPr>
                        <a:t>Revue ou conférence introuvable</a:t>
                      </a:r>
                    </a:p>
                  </a:txBody>
                  <a:tcPr marL="73152" marR="73152" marT="36576" marB="36576">
                    <a:solidFill>
                      <a:srgbClr val="FFFFFF"/>
                    </a:solidFill>
                  </a:tcPr>
                </a:tc>
                <a:tc>
                  <a:txBody>
                    <a:bodyPr wrap="square"/>
                    <a:lstStyle/>
                    <a:p>
                      <a:r>
                        <a:rPr sz="1600" b="0">
                          <a:solidFill>
                            <a:srgbClr val="1B1B1B"/>
                          </a:solidFill>
                          <a:latin typeface="Calibri"/>
                        </a:rPr>
                        <a:t>Nom vague, aucune page officielle</a:t>
                      </a:r>
                    </a:p>
                  </a:txBody>
                  <a:tcPr marL="73152" marR="73152" marT="36576" marB="36576">
                    <a:solidFill>
                      <a:srgbClr val="FFFFFF"/>
                    </a:solidFill>
                  </a:tcPr>
                </a:tc>
              </a:tr>
              <a:tr h="237744">
                <a:tc>
                  <a:txBody>
                    <a:bodyPr wrap="square"/>
                    <a:lstStyle/>
                    <a:p>
                      <a:r>
                        <a:rPr sz="1600" b="1">
                          <a:solidFill>
                            <a:srgbClr val="1B1B1B"/>
                          </a:solidFill>
                          <a:latin typeface="Calibri"/>
                        </a:rPr>
                        <a:t>Règle</a:t>
                      </a:r>
                    </a:p>
                  </a:txBody>
                  <a:tcPr marL="73152" marR="73152" marT="36576" marB="36576">
                    <a:solidFill>
                      <a:srgbClr val="F3F5F9"/>
                    </a:solidFill>
                  </a:tcPr>
                </a:tc>
                <a:tc>
                  <a:txBody>
                    <a:bodyPr wrap="square"/>
                    <a:lstStyle/>
                    <a:p>
                      <a:r>
                        <a:rPr sz="1600" b="0">
                          <a:solidFill>
                            <a:srgbClr val="1B1B1B"/>
                          </a:solidFill>
                          <a:latin typeface="Calibri"/>
                        </a:rPr>
                        <a:t>Aucune référence donnée par une IA n'est citée avant d'avoir été ouverte et lue à son origine</a:t>
                      </a:r>
                    </a:p>
                  </a:txBody>
                  <a:tcPr marL="73152" marR="73152" marT="36576" marB="36576">
                    <a:solidFill>
                      <a:srgbClr val="F3F5F9"/>
                    </a:solidFill>
                  </a:tcPr>
                </a:tc>
              </a:tr>
              <a:tr h="237744">
                <a:tc>
                  <a:txBody>
                    <a:bodyPr wrap="square"/>
                    <a:lstStyle/>
                    <a:p>
                      <a:r>
                        <a:rPr sz="1600" b="1">
                          <a:solidFill>
                            <a:srgbClr val="1B1B1B"/>
                          </a:solidFill>
                          <a:latin typeface="Calibri"/>
                        </a:rPr>
                        <a:t>Résultat de votre test</a:t>
                      </a:r>
                    </a:p>
                  </a:txBody>
                  <a:tcPr marL="73152" marR="73152" marT="36576" marB="36576">
                    <a:solidFill>
                      <a:srgbClr val="FFFFFF"/>
                    </a:solidFill>
                  </a:tcPr>
                </a:tc>
                <a:tc>
                  <a:txBody>
                    <a:bodyPr wrap="square"/>
                    <a:lstStyle/>
                    <a:p>
                      <a:r>
                        <a:rPr sz="1600" b="0">
                          <a:solidFill>
                            <a:srgbClr val="1B1B1B"/>
                          </a:solidFill>
                          <a:latin typeface="Calibri"/>
                        </a:rPr>
                        <a:t>Il varie selon l'IA et la question : l'important est la méthode de vérification, pas le score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Demander à la même IA de confirmer : elle peut confirmer une invention.</a:t>
            </a:r>
          </a:p>
          <a:p>
            <a:pPr algn="l" marL="201168" indent="-201168">
              <a:spcAft>
                <a:spcPts val="110"/>
              </a:spcAft>
              <a:buChar char="•"/>
            </a:pPr>
            <a:r>
              <a:rPr sz="1100" b="0" i="0">
                <a:solidFill>
                  <a:srgbClr val="1B1B1B"/>
                </a:solidFill>
                <a:latin typeface="Calibri"/>
              </a:rPr>
              <a:t>Vérifier seulement l'orthographe des noms.</a:t>
            </a:r>
          </a:p>
          <a:p>
            <a:pPr algn="l" marL="201168" indent="-201168">
              <a:spcAft>
                <a:spcPts val="110"/>
              </a:spcAft>
              <a:buChar char="•"/>
            </a:pPr>
            <a:r>
              <a:rPr sz="1100" b="0" i="0">
                <a:solidFill>
                  <a:srgbClr val="1B1B1B"/>
                </a:solidFill>
                <a:latin typeface="Calibri"/>
              </a:rPr>
              <a:t>Garder « au cas où » une référence introuvable.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E</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Argumenter pour convaincre un décideur</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Objectif O1 · exercices EX16, EX17, EX18, EX19, EX20</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Écrire un argument en six lignes</a:t>
            </a:r>
          </a:p>
          <a:p>
            <a:pPr algn="l" marL="201168" indent="-201168">
              <a:spcAft>
                <a:spcPts val="700"/>
              </a:spcAft>
              <a:buChar char="•"/>
            </a:pPr>
            <a:r>
              <a:rPr sz="2000" b="0" i="0">
                <a:solidFill>
                  <a:srgbClr val="FFFFFF"/>
                </a:solidFill>
                <a:latin typeface="Calibri"/>
              </a:rPr>
              <a:t>Reconnaître un sophisme en réunion</a:t>
            </a:r>
          </a:p>
          <a:p>
            <a:pPr algn="l" marL="201168" indent="-201168">
              <a:spcAft>
                <a:spcPts val="700"/>
              </a:spcAft>
              <a:buChar char="•"/>
            </a:pPr>
            <a:r>
              <a:rPr sz="2000" b="0" i="0">
                <a:solidFill>
                  <a:srgbClr val="FFFFFF"/>
                </a:solidFill>
                <a:latin typeface="Calibri"/>
              </a:rPr>
              <a:t>Interroger un chiffre de fournisseur</a:t>
            </a:r>
          </a:p>
          <a:p>
            <a:pPr algn="l" marL="201168" indent="-201168">
              <a:spcAft>
                <a:spcPts val="700"/>
              </a:spcAft>
              <a:buChar char="•"/>
            </a:pPr>
            <a:r>
              <a:rPr sz="2000" b="0" i="0">
                <a:solidFill>
                  <a:srgbClr val="FFFFFF"/>
                </a:solidFill>
                <a:latin typeface="Calibri"/>
              </a:rPr>
              <a:t>Répondre à une objection avec honnêteté</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O1 · Argumenter une innovation ou une solution à partir de l'état de l'art</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Toulmin : qui était-il, et pourquoi ce modèle ?</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78</a:t>
            </a:r>
          </a:p>
        </p:txBody>
      </p:sp>
      <p:sp>
        <p:nvSpPr>
          <p:cNvPr id="6" name="Rounded Rectangle 5"/>
          <p:cNvSpPr/>
          <p:nvPr/>
        </p:nvSpPr>
        <p:spPr>
          <a:xfrm>
            <a:off x="411480" y="118872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557784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Qui ?</a:t>
            </a:r>
          </a:p>
        </p:txBody>
      </p:sp>
      <p:sp>
        <p:nvSpPr>
          <p:cNvPr id="8" name="TextBox 7"/>
          <p:cNvSpPr txBox="1"/>
          <p:nvPr/>
        </p:nvSpPr>
        <p:spPr>
          <a:xfrm>
            <a:off x="457200" y="178308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Stephen Toulmin (1922-2009), philosophe britannique, puis professeur aux États-Unis.</a:t>
            </a:r>
          </a:p>
          <a:p>
            <a:pPr algn="l">
              <a:spcAft>
                <a:spcPts val="509"/>
              </a:spcAft>
            </a:pPr>
            <a:r>
              <a:rPr sz="1700" b="0" i="0">
                <a:solidFill>
                  <a:srgbClr val="1B1B1B"/>
                </a:solidFill>
                <a:latin typeface="Calibri"/>
              </a:rPr>
              <a:t>Il publie en 1958 The Uses of Argument (« Les usages de l'argumentation »).</a:t>
            </a:r>
          </a:p>
        </p:txBody>
      </p:sp>
      <p:sp>
        <p:nvSpPr>
          <p:cNvPr id="9" name="Rounded Rectangle 8"/>
          <p:cNvSpPr/>
          <p:nvPr/>
        </p:nvSpPr>
        <p:spPr>
          <a:xfrm>
            <a:off x="6172200" y="118872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72200" y="1188720"/>
            <a:ext cx="557784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Contre quoi ?</a:t>
            </a:r>
          </a:p>
        </p:txBody>
      </p:sp>
      <p:sp>
        <p:nvSpPr>
          <p:cNvPr id="11" name="TextBox 10"/>
          <p:cNvSpPr txBox="1"/>
          <p:nvPr/>
        </p:nvSpPr>
        <p:spPr>
          <a:xfrm>
            <a:off x="6217920" y="178308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Contre la logique formelle (le syllogisme), qui ne dit que vrai ou faux.</a:t>
            </a:r>
          </a:p>
          <a:p>
            <a:pPr algn="l">
              <a:spcAft>
                <a:spcPts val="509"/>
              </a:spcAft>
            </a:pPr>
            <a:r>
              <a:rPr sz="1700" b="0" i="0">
                <a:solidFill>
                  <a:srgbClr val="1B1B1B"/>
                </a:solidFill>
                <a:latin typeface="Calibri"/>
              </a:rPr>
              <a:t>Ex. : « Tout disque de 3 ans tombe en panne ; celui-ci a 3 ans ; donc il tombera en panne » : faux, certains tiennent dix ans.</a:t>
            </a:r>
          </a:p>
        </p:txBody>
      </p:sp>
      <p:sp>
        <p:nvSpPr>
          <p:cNvPr id="12" name="Rounded Rectangle 11"/>
          <p:cNvSpPr/>
          <p:nvPr/>
        </p:nvSpPr>
        <p:spPr>
          <a:xfrm>
            <a:off x="411480" y="354330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3543300"/>
            <a:ext cx="557784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Ce qu'il propose</a:t>
            </a:r>
          </a:p>
        </p:txBody>
      </p:sp>
      <p:sp>
        <p:nvSpPr>
          <p:cNvPr id="14" name="TextBox 13"/>
          <p:cNvSpPr txBox="1"/>
          <p:nvPr/>
        </p:nvSpPr>
        <p:spPr>
          <a:xfrm>
            <a:off x="457200" y="413766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Un argument de la vie réelle se décompose en six éléments : affirmation, données, garantie, fondement, réfutation, qualificatif.</a:t>
            </a:r>
          </a:p>
          <a:p>
            <a:pPr algn="l">
              <a:spcAft>
                <a:spcPts val="509"/>
              </a:spcAft>
            </a:pPr>
            <a:r>
              <a:rPr sz="1700" b="0" i="0">
                <a:solidFill>
                  <a:srgbClr val="1B1B1B"/>
                </a:solidFill>
                <a:latin typeface="Calibri"/>
              </a:rPr>
              <a:t>On voit ce qui est solide et ce qui manque.</a:t>
            </a:r>
          </a:p>
        </p:txBody>
      </p:sp>
      <p:sp>
        <p:nvSpPr>
          <p:cNvPr id="15" name="Rounded Rectangle 14"/>
          <p:cNvSpPr/>
          <p:nvPr/>
        </p:nvSpPr>
        <p:spPr>
          <a:xfrm>
            <a:off x="6172200" y="354330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72200" y="3543300"/>
            <a:ext cx="557784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Pourquoi ici ?</a:t>
            </a:r>
          </a:p>
        </p:txBody>
      </p:sp>
      <p:sp>
        <p:nvSpPr>
          <p:cNvPr id="17" name="TextBox 16"/>
          <p:cNvSpPr txBox="1"/>
          <p:nvPr/>
        </p:nvSpPr>
        <p:spPr>
          <a:xfrm>
            <a:off x="6217920" y="413766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Votre état de l'art est un argument pour décider : des données sourcées, un lien explicite, une portée honnête.</a:t>
            </a:r>
          </a:p>
          <a:p>
            <a:pPr algn="l">
              <a:spcAft>
                <a:spcPts val="509"/>
              </a:spcAft>
            </a:pPr>
            <a:r>
              <a:rPr sz="1700" b="0" i="0">
                <a:solidFill>
                  <a:srgbClr val="1B1B1B"/>
                </a:solidFill>
                <a:latin typeface="Calibri"/>
              </a:rPr>
              <a:t>Utilisé en droit, en rhétorique et en enseignement de l'argumentation.</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Source : S. Toulmin, The Uses of Argument, Cambridge University Press, 1958 (réédition mise à jour en 2003).</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Voici mon argument : … Identifie les six éléments de Toulmin et dis lesquels manquent. N'ajoute aucun fait.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Le modèle de Toulmin : cartographier un argument</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79</a:t>
            </a:r>
          </a:p>
        </p:txBody>
      </p:sp>
      <p:sp>
        <p:nvSpPr>
          <p:cNvPr id="6" name="Rounded Rectangle 5"/>
          <p:cNvSpPr/>
          <p:nvPr/>
        </p:nvSpPr>
        <p:spPr>
          <a:xfrm>
            <a:off x="41148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365760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Affirmation</a:t>
            </a:r>
          </a:p>
        </p:txBody>
      </p:sp>
      <p:sp>
        <p:nvSpPr>
          <p:cNvPr id="8" name="TextBox 7"/>
          <p:cNvSpPr txBox="1"/>
          <p:nvPr/>
        </p:nvSpPr>
        <p:spPr>
          <a:xfrm>
            <a:off x="45720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Ce que je veux faire admettre.</a:t>
            </a:r>
          </a:p>
          <a:p>
            <a:pPr algn="l">
              <a:spcAft>
                <a:spcPts val="509"/>
              </a:spcAft>
            </a:pPr>
            <a:r>
              <a:rPr sz="1700" b="0" i="0">
                <a:solidFill>
                  <a:srgbClr val="1B1B1B"/>
                </a:solidFill>
                <a:latin typeface="Calibri"/>
              </a:rPr>
              <a:t>Ex. : « TransLor doit ajouter une copie hors site. »</a:t>
            </a:r>
          </a:p>
        </p:txBody>
      </p:sp>
      <p:sp>
        <p:nvSpPr>
          <p:cNvPr id="9" name="Rounded Rectangle 8"/>
          <p:cNvSpPr/>
          <p:nvPr/>
        </p:nvSpPr>
        <p:spPr>
          <a:xfrm>
            <a:off x="425196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188720"/>
            <a:ext cx="365760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Données</a:t>
            </a:r>
          </a:p>
        </p:txBody>
      </p:sp>
      <p:sp>
        <p:nvSpPr>
          <p:cNvPr id="11" name="TextBox 10"/>
          <p:cNvSpPr txBox="1"/>
          <p:nvPr/>
        </p:nvSpPr>
        <p:spPr>
          <a:xfrm>
            <a:off x="429768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Les faits sourcés.</a:t>
            </a:r>
          </a:p>
          <a:p>
            <a:pPr algn="l">
              <a:spcAft>
                <a:spcPts val="509"/>
              </a:spcAft>
            </a:pPr>
            <a:r>
              <a:rPr sz="1700" b="0" i="0">
                <a:solidFill>
                  <a:srgbClr val="1B1B1B"/>
                </a:solidFill>
                <a:latin typeface="Calibri"/>
              </a:rPr>
              <a:t>Ex. : « Disque unique de 3 ans ; restauration de 9 h en juin. »</a:t>
            </a:r>
          </a:p>
        </p:txBody>
      </p:sp>
      <p:sp>
        <p:nvSpPr>
          <p:cNvPr id="12" name="Rounded Rectangle 11"/>
          <p:cNvSpPr/>
          <p:nvPr/>
        </p:nvSpPr>
        <p:spPr>
          <a:xfrm>
            <a:off x="8092440" y="118872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188720"/>
            <a:ext cx="36576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Garantie</a:t>
            </a:r>
          </a:p>
        </p:txBody>
      </p:sp>
      <p:sp>
        <p:nvSpPr>
          <p:cNvPr id="14" name="TextBox 13"/>
          <p:cNvSpPr txBox="1"/>
          <p:nvPr/>
        </p:nvSpPr>
        <p:spPr>
          <a:xfrm>
            <a:off x="8138160" y="178308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Pourquoi ces données mènent à cette affirmation.</a:t>
            </a:r>
          </a:p>
          <a:p>
            <a:pPr algn="l">
              <a:spcAft>
                <a:spcPts val="509"/>
              </a:spcAft>
            </a:pPr>
            <a:r>
              <a:rPr sz="1700" b="0" i="0">
                <a:solidFill>
                  <a:srgbClr val="1B1B1B"/>
                </a:solidFill>
                <a:latin typeface="Calibri"/>
              </a:rPr>
              <a:t>Ex. : « Une copie hors site réduit le temps d'arrêt. »</a:t>
            </a:r>
          </a:p>
        </p:txBody>
      </p:sp>
      <p:sp>
        <p:nvSpPr>
          <p:cNvPr id="15" name="Rounded Rectangle 14"/>
          <p:cNvSpPr/>
          <p:nvPr/>
        </p:nvSpPr>
        <p:spPr>
          <a:xfrm>
            <a:off x="41148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43300"/>
            <a:ext cx="365760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Fondement</a:t>
            </a:r>
          </a:p>
        </p:txBody>
      </p:sp>
      <p:sp>
        <p:nvSpPr>
          <p:cNvPr id="17" name="TextBox 16"/>
          <p:cNvSpPr txBox="1"/>
          <p:nvPr/>
        </p:nvSpPr>
        <p:spPr>
          <a:xfrm>
            <a:off x="45720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Ce qui soutient la garantie.</a:t>
            </a:r>
          </a:p>
          <a:p>
            <a:pPr algn="l">
              <a:spcAft>
                <a:spcPts val="509"/>
              </a:spcAft>
            </a:pPr>
            <a:r>
              <a:rPr sz="1700" b="0" i="0">
                <a:solidFill>
                  <a:srgbClr val="1B1B1B"/>
                </a:solidFill>
                <a:latin typeface="Calibri"/>
              </a:rPr>
              <a:t>Ex. : « Règle 3-2-1 (guide d'organisme public, à sourcer). »</a:t>
            </a:r>
          </a:p>
        </p:txBody>
      </p:sp>
      <p:sp>
        <p:nvSpPr>
          <p:cNvPr id="18" name="Rounded Rectangle 17"/>
          <p:cNvSpPr/>
          <p:nvPr/>
        </p:nvSpPr>
        <p:spPr>
          <a:xfrm>
            <a:off x="425196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51960" y="3543300"/>
            <a:ext cx="3657600" cy="54864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Réfutation</a:t>
            </a:r>
          </a:p>
        </p:txBody>
      </p:sp>
      <p:sp>
        <p:nvSpPr>
          <p:cNvPr id="20" name="TextBox 19"/>
          <p:cNvSpPr txBox="1"/>
          <p:nvPr/>
        </p:nvSpPr>
        <p:spPr>
          <a:xfrm>
            <a:off x="429768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Les cas où l'argument ne tient pas.</a:t>
            </a:r>
          </a:p>
          <a:p>
            <a:pPr algn="l">
              <a:spcAft>
                <a:spcPts val="509"/>
              </a:spcAft>
            </a:pPr>
            <a:r>
              <a:rPr sz="1700" b="0" i="0">
                <a:solidFill>
                  <a:srgbClr val="1B1B1B"/>
                </a:solidFill>
                <a:latin typeface="Calibri"/>
              </a:rPr>
              <a:t>Ex. : « Sauf si le débit empêche de restaurer vite. »</a:t>
            </a:r>
          </a:p>
        </p:txBody>
      </p:sp>
      <p:sp>
        <p:nvSpPr>
          <p:cNvPr id="21" name="Rounded Rectangle 20"/>
          <p:cNvSpPr/>
          <p:nvPr/>
        </p:nvSpPr>
        <p:spPr>
          <a:xfrm>
            <a:off x="8092440" y="3543300"/>
            <a:ext cx="365760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2440" y="3543300"/>
            <a:ext cx="3657600" cy="548640"/>
          </a:xfrm>
          <a:prstGeom prst="roundRect">
            <a:avLst>
              <a:gd name="adj" fmla="val 6000"/>
            </a:avLst>
          </a:prstGeom>
          <a:solidFill>
            <a:srgbClr val="2A9D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Qualificatif</a:t>
            </a:r>
          </a:p>
        </p:txBody>
      </p:sp>
      <p:sp>
        <p:nvSpPr>
          <p:cNvPr id="23" name="TextBox 22"/>
          <p:cNvSpPr txBox="1"/>
          <p:nvPr/>
        </p:nvSpPr>
        <p:spPr>
          <a:xfrm>
            <a:off x="8138160" y="4137660"/>
            <a:ext cx="3566160" cy="1531620"/>
          </a:xfrm>
          <a:prstGeom prst="rect">
            <a:avLst/>
          </a:prstGeom>
          <a:noFill/>
        </p:spPr>
        <p:txBody>
          <a:bodyPr wrap="square" anchor="t">
            <a:spAutoFit/>
          </a:bodyPr>
          <a:lstStyle/>
          <a:p>
            <a:pPr algn="l">
              <a:spcAft>
                <a:spcPts val="509"/>
              </a:spcAft>
            </a:pPr>
            <a:r>
              <a:rPr sz="1700" b="0" i="0">
                <a:solidFill>
                  <a:srgbClr val="1B1B1B"/>
                </a:solidFill>
                <a:latin typeface="Calibri"/>
              </a:rPr>
              <a:t>« Probablement », « dans ces conditions… »</a:t>
            </a:r>
          </a:p>
          <a:p>
            <a:pPr algn="l">
              <a:spcAft>
                <a:spcPts val="509"/>
              </a:spcAft>
            </a:pPr>
            <a:r>
              <a:rPr sz="1700" b="0" i="0">
                <a:solidFill>
                  <a:srgbClr val="1B1B1B"/>
                </a:solidFill>
                <a:latin typeface="Calibri"/>
              </a:rPr>
              <a:t>Ex. : « Probablement, pour les données d'exploitation. »</a:t>
            </a:r>
          </a:p>
        </p:txBody>
      </p:sp>
      <p:sp>
        <p:nvSpPr>
          <p:cNvPr id="24" name="Rounded Rectangle 23"/>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Phrase modèle : « Je recommande A, car D (source). Cela tient parce que G, sauf si R ; donc Q. » (Toulmin, 1958 ; exemples fictifs)</a:t>
            </a:r>
          </a:p>
        </p:txBody>
      </p:sp>
      <p:sp>
        <p:nvSpPr>
          <p:cNvPr id="25" name="TextBox 24"/>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S. Toulmin, The Uses of Argument, Cambridge University Press, 1958 ; exemples fictifs de TransLor.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16</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Cartographier un argument avec Toulmin</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EX16</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80</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20 min  ·  Carnet · chapitre 6  ·  Outil : modèle de Toulmin (application)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Décomposer un propos en six éléments (Toulmin) pour voir ce qui est solide, ce qui manque et ce qui n'est pas un argument.</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La directrice demande : « Pourquoi activer la double authentification partout ? » Un collègue répond :</a:t>
            </a:r>
          </a:p>
          <a:p>
            <a:pPr algn="l">
              <a:spcAft>
                <a:spcPts val="600"/>
              </a:spcAft>
            </a:pPr>
            <a:r>
              <a:rPr sz="2000" b="0" i="0">
                <a:solidFill>
                  <a:srgbClr val="1B1B1B"/>
                </a:solidFill>
                <a:latin typeface="Calibri"/>
              </a:rPr>
              <a:t>« Il faut l'activer partout, parce que 80 % des compromissions viennent de mots de passe volés. Tout le monde le fait. Et ça coûte peu. »</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Placez chaque élément du propos dans les 6 cases du modèle de Toulmin (écrivez « manquant » si la case n'a pas de contenu).</a:t>
            </a:r>
          </a:p>
          <a:p>
            <a:pPr algn="l" marL="274320" indent="-274320">
              <a:spcAft>
                <a:spcPts val="540"/>
              </a:spcAft>
              <a:buAutoNum type="arabicPeriod"/>
            </a:pPr>
            <a:r>
              <a:rPr sz="1800" b="0" i="0">
                <a:solidFill>
                  <a:srgbClr val="1B1B1B"/>
                </a:solidFill>
                <a:latin typeface="Calibri"/>
              </a:rPr>
              <a:t>Repérez ce qui manque et ce qui n'est pas un argument.</a:t>
            </a:r>
          </a:p>
          <a:p>
            <a:pPr algn="l" marL="274320" indent="-274320">
              <a:spcAft>
                <a:spcPts val="540"/>
              </a:spcAft>
              <a:buAutoNum type="arabicPeriod"/>
            </a:pPr>
            <a:r>
              <a:rPr sz="1800" b="0" i="0">
                <a:solidFill>
                  <a:srgbClr val="1B1B1B"/>
                </a:solidFill>
                <a:latin typeface="Calibri"/>
              </a:rPr>
              <a:t>Réécrivez l'argument complet.</a:t>
            </a:r>
          </a:p>
          <a:p>
            <a:pPr algn="l" marL="274320" indent="-274320">
              <a:spcAft>
                <a:spcPts val="540"/>
              </a:spcAft>
              <a:buAutoNum type="arabicPeriod"/>
            </a:pPr>
            <a:r>
              <a:rPr sz="1800" b="0" i="0">
                <a:solidFill>
                  <a:srgbClr val="1B1B1B"/>
                </a:solidFill>
                <a:latin typeface="Calibri"/>
              </a:rPr>
              <a:t>Avec Le Chat (Mistral) ou une autre IA (notez laquelle) : demandez-lui de cartographier le même propos avec Toulmin. Combien de cases diffèrent de la vôtre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Une carte de Toulmin complétée. → Dossier, section 9.</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6.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16 — Cartographier un argument avec Toulmin</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EX16</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81</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Affirmation : ce que je veux faire admettre.</a:t>
            </a:r>
          </a:p>
          <a:p>
            <a:pPr algn="l" marL="274320" indent="-274320">
              <a:spcAft>
                <a:spcPts val="375"/>
              </a:spcAft>
              <a:buAutoNum type="arabicPeriod"/>
            </a:pPr>
            <a:r>
              <a:rPr sz="1500" b="0" i="0">
                <a:solidFill>
                  <a:srgbClr val="1B1B1B"/>
                </a:solidFill>
                <a:latin typeface="Calibri"/>
              </a:rPr>
              <a:t>Données : les faits sourcés.</a:t>
            </a:r>
          </a:p>
          <a:p>
            <a:pPr algn="l" marL="274320" indent="-274320">
              <a:spcAft>
                <a:spcPts val="375"/>
              </a:spcAft>
              <a:buAutoNum type="arabicPeriod"/>
            </a:pPr>
            <a:r>
              <a:rPr sz="1500" b="0" i="0">
                <a:solidFill>
                  <a:srgbClr val="1B1B1B"/>
                </a:solidFill>
                <a:latin typeface="Calibri"/>
              </a:rPr>
              <a:t>Garantie : le lien entre données et affirmation.</a:t>
            </a:r>
          </a:p>
          <a:p>
            <a:pPr algn="l" marL="274320" indent="-274320">
              <a:spcAft>
                <a:spcPts val="375"/>
              </a:spcAft>
              <a:buAutoNum type="arabicPeriod"/>
            </a:pPr>
            <a:r>
              <a:rPr sz="1500" b="0" i="0">
                <a:solidFill>
                  <a:srgbClr val="1B1B1B"/>
                </a:solidFill>
                <a:latin typeface="Calibri"/>
              </a:rPr>
              <a:t>Fondement, réfutation, qualificatif : ce qui rend l'argument solide et honnête.</a:t>
            </a:r>
          </a:p>
        </p:txBody>
      </p:sp>
      <p:graphicFrame>
        <p:nvGraphicFramePr>
          <p:cNvPr id="9" name="Table 8"/>
          <p:cNvGraphicFramePr>
            <a:graphicFrameLocks noGrp="1"/>
          </p:cNvGraphicFramePr>
          <p:nvPr/>
        </p:nvGraphicFramePr>
        <p:xfrm>
          <a:off x="3703320" y="1097280"/>
          <a:ext cx="8046720" cy="2139696"/>
        </p:xfrm>
        <a:graphic>
          <a:graphicData uri="http://schemas.openxmlformats.org/drawingml/2006/table">
            <a:tbl>
              <a:tblPr firstRow="0" bandRow="0">
                <a:tableStyleId>{5C22544A-7EE6-4342-B048-85BDC9FD1C3A}</a:tableStyleId>
              </a:tblPr>
              <a:tblGrid>
                <a:gridCol w="1645920"/>
                <a:gridCol w="6400800"/>
              </a:tblGrid>
              <a:tr h="237744">
                <a:tc>
                  <a:txBody>
                    <a:bodyPr wrap="square"/>
                    <a:lstStyle/>
                    <a:p>
                      <a:r>
                        <a:rPr sz="1600" b="1">
                          <a:solidFill>
                            <a:srgbClr val="FFFFFF"/>
                          </a:solidFill>
                          <a:latin typeface="Calibri"/>
                        </a:rPr>
                        <a:t>Case</a:t>
                      </a:r>
                    </a:p>
                  </a:txBody>
                  <a:tcPr marL="73152" marR="73152" marT="36576" marB="36576">
                    <a:solidFill>
                      <a:srgbClr val="1F2A5C"/>
                    </a:solidFill>
                  </a:tcPr>
                </a:tc>
                <a:tc>
                  <a:txBody>
                    <a:bodyPr wrap="square"/>
                    <a:lstStyle/>
                    <a:p>
                      <a:r>
                        <a:rPr sz="1600" b="1">
                          <a:solidFill>
                            <a:srgbClr val="FFFFFF"/>
                          </a:solidFill>
                          <a:latin typeface="Calibri"/>
                        </a:rPr>
                        <a:t>Contenu</a:t>
                      </a:r>
                    </a:p>
                  </a:txBody>
                  <a:tcPr marL="73152" marR="73152" marT="36576" marB="36576">
                    <a:solidFill>
                      <a:srgbClr val="1F2A5C"/>
                    </a:solidFill>
                  </a:tcPr>
                </a:tc>
              </a:tr>
              <a:tr h="237744">
                <a:tc>
                  <a:txBody>
                    <a:bodyPr wrap="square"/>
                    <a:lstStyle/>
                    <a:p>
                      <a:r>
                        <a:rPr sz="1600" b="1">
                          <a:solidFill>
                            <a:srgbClr val="1B1B1B"/>
                          </a:solidFill>
                          <a:latin typeface="Calibri"/>
                        </a:rPr>
                        <a:t>Affirmation</a:t>
                      </a:r>
                    </a:p>
                  </a:txBody>
                  <a:tcPr marL="73152" marR="73152" marT="36576" marB="36576">
                    <a:solidFill>
                      <a:srgbClr val="FFFFFF"/>
                    </a:solidFill>
                  </a:tcPr>
                </a:tc>
                <a:tc>
                  <a:txBody>
                    <a:bodyPr wrap="square"/>
                    <a:lstStyle/>
                    <a:p>
                      <a:r>
                        <a:rPr sz="1600" b="0">
                          <a:solidFill>
                            <a:srgbClr val="1B1B1B"/>
                          </a:solidFill>
                          <a:latin typeface="Calibri"/>
                        </a:rPr>
                        <a:t>Activer la double authentification partout</a:t>
                      </a:r>
                    </a:p>
                  </a:txBody>
                  <a:tcPr marL="73152" marR="73152" marT="36576" marB="36576">
                    <a:solidFill>
                      <a:srgbClr val="FFFFFF"/>
                    </a:solidFill>
                  </a:tcPr>
                </a:tc>
              </a:tr>
              <a:tr h="237744">
                <a:tc>
                  <a:txBody>
                    <a:bodyPr wrap="square"/>
                    <a:lstStyle/>
                    <a:p>
                      <a:r>
                        <a:rPr sz="1600" b="1">
                          <a:solidFill>
                            <a:srgbClr val="1B1B1B"/>
                          </a:solidFill>
                          <a:latin typeface="Calibri"/>
                        </a:rPr>
                        <a:t>Données</a:t>
                      </a:r>
                    </a:p>
                  </a:txBody>
                  <a:tcPr marL="73152" marR="73152" marT="36576" marB="36576">
                    <a:solidFill>
                      <a:srgbClr val="F3F5F9"/>
                    </a:solidFill>
                  </a:tcPr>
                </a:tc>
                <a:tc>
                  <a:txBody>
                    <a:bodyPr wrap="square"/>
                    <a:lstStyle/>
                    <a:p>
                      <a:r>
                        <a:rPr sz="1600" b="0">
                          <a:solidFill>
                            <a:srgbClr val="1B1B1B"/>
                          </a:solidFill>
                          <a:latin typeface="Calibri"/>
                        </a:rPr>
                        <a:t>« 80 % des compromissions viennent de mots de passe volés » : chiffre non sourcé</a:t>
                      </a:r>
                    </a:p>
                  </a:txBody>
                  <a:tcPr marL="73152" marR="73152" marT="36576" marB="36576">
                    <a:solidFill>
                      <a:srgbClr val="F3F5F9"/>
                    </a:solidFill>
                  </a:tcPr>
                </a:tc>
              </a:tr>
              <a:tr h="237744">
                <a:tc>
                  <a:txBody>
                    <a:bodyPr wrap="square"/>
                    <a:lstStyle/>
                    <a:p>
                      <a:r>
                        <a:rPr sz="1600" b="1">
                          <a:solidFill>
                            <a:srgbClr val="1B1B1B"/>
                          </a:solidFill>
                          <a:latin typeface="Calibri"/>
                        </a:rPr>
                        <a:t>Garantie</a:t>
                      </a:r>
                    </a:p>
                  </a:txBody>
                  <a:tcPr marL="73152" marR="73152" marT="36576" marB="36576">
                    <a:solidFill>
                      <a:srgbClr val="FFFFFF"/>
                    </a:solidFill>
                  </a:tcPr>
                </a:tc>
                <a:tc>
                  <a:txBody>
                    <a:bodyPr wrap="square"/>
                    <a:lstStyle/>
                    <a:p>
                      <a:r>
                        <a:rPr sz="1600" b="0">
                          <a:solidFill>
                            <a:srgbClr val="1B1B1B"/>
                          </a:solidFill>
                          <a:latin typeface="Calibri"/>
                        </a:rPr>
                        <a:t>Si la plupart des compromissions viennent de mots de passe volés, un second facteur en bloque la plupart</a:t>
                      </a:r>
                    </a:p>
                  </a:txBody>
                  <a:tcPr marL="73152" marR="73152" marT="36576" marB="36576">
                    <a:solidFill>
                      <a:srgbClr val="FFFFFF"/>
                    </a:solidFill>
                  </a:tcPr>
                </a:tc>
              </a:tr>
              <a:tr h="237744">
                <a:tc>
                  <a:txBody>
                    <a:bodyPr wrap="square"/>
                    <a:lstStyle/>
                    <a:p>
                      <a:r>
                        <a:rPr sz="1600" b="1">
                          <a:solidFill>
                            <a:srgbClr val="1B1B1B"/>
                          </a:solidFill>
                          <a:latin typeface="Calibri"/>
                        </a:rPr>
                        <a:t>Fondement</a:t>
                      </a:r>
                    </a:p>
                  </a:txBody>
                  <a:tcPr marL="73152" marR="73152" marT="36576" marB="36576">
                    <a:solidFill>
                      <a:srgbClr val="F3F5F9"/>
                    </a:solidFill>
                  </a:tcPr>
                </a:tc>
                <a:tc>
                  <a:txBody>
                    <a:bodyPr wrap="square"/>
                    <a:lstStyle/>
                    <a:p>
                      <a:r>
                        <a:rPr sz="1600" b="0">
                          <a:solidFill>
                            <a:srgbClr val="1B1B1B"/>
                          </a:solidFill>
                          <a:latin typeface="Calibri"/>
                        </a:rPr>
                        <a:t>Manquant : la source du chiffre</a:t>
                      </a:r>
                    </a:p>
                  </a:txBody>
                  <a:tcPr marL="73152" marR="73152" marT="36576" marB="36576">
                    <a:solidFill>
                      <a:srgbClr val="F3F5F9"/>
                    </a:solidFill>
                  </a:tcPr>
                </a:tc>
              </a:tr>
              <a:tr h="237744">
                <a:tc>
                  <a:txBody>
                    <a:bodyPr wrap="square"/>
                    <a:lstStyle/>
                    <a:p>
                      <a:r>
                        <a:rPr sz="1600" b="1">
                          <a:solidFill>
                            <a:srgbClr val="1B1B1B"/>
                          </a:solidFill>
                          <a:latin typeface="Calibri"/>
                        </a:rPr>
                        <a:t>Réfutation</a:t>
                      </a:r>
                    </a:p>
                  </a:txBody>
                  <a:tcPr marL="73152" marR="73152" marT="36576" marB="36576">
                    <a:solidFill>
                      <a:srgbClr val="FFFFFF"/>
                    </a:solidFill>
                  </a:tcPr>
                </a:tc>
                <a:tc>
                  <a:txBody>
                    <a:bodyPr wrap="square"/>
                    <a:lstStyle/>
                    <a:p>
                      <a:r>
                        <a:rPr sz="1600" b="0">
                          <a:solidFill>
                            <a:srgbClr val="1B1B1B"/>
                          </a:solidFill>
                          <a:latin typeface="Calibri"/>
                        </a:rPr>
                        <a:t>Manquante : vol du second facteur (SMS détourné, fatigue d'authentification), coût d'assistance</a:t>
                      </a:r>
                    </a:p>
                  </a:txBody>
                  <a:tcPr marL="73152" marR="73152" marT="36576" marB="36576">
                    <a:solidFill>
                      <a:srgbClr val="FFFFFF"/>
                    </a:solidFill>
                  </a:tcPr>
                </a:tc>
              </a:tr>
              <a:tr h="237744">
                <a:tc>
                  <a:txBody>
                    <a:bodyPr wrap="square"/>
                    <a:lstStyle/>
                    <a:p>
                      <a:r>
                        <a:rPr sz="1600" b="1">
                          <a:solidFill>
                            <a:srgbClr val="1B1B1B"/>
                          </a:solidFill>
                          <a:latin typeface="Calibri"/>
                        </a:rPr>
                        <a:t>Qualificatif</a:t>
                      </a:r>
                    </a:p>
                  </a:txBody>
                  <a:tcPr marL="73152" marR="73152" marT="36576" marB="36576">
                    <a:solidFill>
                      <a:srgbClr val="F3F5F9"/>
                    </a:solidFill>
                  </a:tcPr>
                </a:tc>
                <a:tc>
                  <a:txBody>
                    <a:bodyPr wrap="square"/>
                    <a:lstStyle/>
                    <a:p>
                      <a:r>
                        <a:rPr sz="1600" b="0">
                          <a:solidFill>
                            <a:srgbClr val="1B1B1B"/>
                          </a:solidFill>
                          <a:latin typeface="Calibri"/>
                        </a:rPr>
                        <a:t>Manquant : « probablement, d'abord pour les comptes à privilèges »</a:t>
                      </a:r>
                    </a:p>
                  </a:txBody>
                  <a:tcPr marL="73152" marR="73152" marT="36576" marB="36576">
                    <a:solidFill>
                      <a:srgbClr val="F3F5F9"/>
                    </a:solidFill>
                  </a:tcPr>
                </a:tc>
              </a:tr>
              <a:tr h="237744">
                <a:tc>
                  <a:txBody>
                    <a:bodyPr wrap="square"/>
                    <a:lstStyle/>
                    <a:p>
                      <a:r>
                        <a:rPr sz="1600" b="1">
                          <a:solidFill>
                            <a:srgbClr val="1B1B1B"/>
                          </a:solidFill>
                          <a:latin typeface="Calibri"/>
                        </a:rPr>
                        <a:t>Pas un argument</a:t>
                      </a:r>
                    </a:p>
                  </a:txBody>
                  <a:tcPr marL="73152" marR="73152" marT="36576" marB="36576">
                    <a:solidFill>
                      <a:srgbClr val="FFFFFF"/>
                    </a:solidFill>
                  </a:tcPr>
                </a:tc>
                <a:tc>
                  <a:txBody>
                    <a:bodyPr wrap="square"/>
                    <a:lstStyle/>
                    <a:p>
                      <a:r>
                        <a:rPr sz="1600" b="0">
                          <a:solidFill>
                            <a:srgbClr val="1B1B1B"/>
                          </a:solidFill>
                          <a:latin typeface="Calibri"/>
                        </a:rPr>
                        <a:t>« Tout le monde le fait » : appel à la popularité</a:t>
                      </a:r>
                    </a:p>
                  </a:txBody>
                  <a:tcPr marL="73152" marR="73152" marT="36576" marB="36576">
                    <a:solidFill>
                      <a:srgbClr val="FFFFFF"/>
                    </a:solidFill>
                  </a:tcPr>
                </a:tc>
              </a:tr>
              <a:tr h="237744">
                <a:tc>
                  <a:txBody>
                    <a:bodyPr wrap="square"/>
                    <a:lstStyle/>
                    <a:p>
                      <a:r>
                        <a:rPr sz="1600" b="1">
                          <a:solidFill>
                            <a:srgbClr val="1B1B1B"/>
                          </a:solidFill>
                          <a:latin typeface="Calibri"/>
                        </a:rPr>
                        <a:t>IA · cartographie</a:t>
                      </a:r>
                    </a:p>
                  </a:txBody>
                  <a:tcPr marL="73152" marR="73152" marT="36576" marB="36576">
                    <a:solidFill>
                      <a:srgbClr val="F3F5F9"/>
                    </a:solidFill>
                  </a:tcPr>
                </a:tc>
                <a:tc>
                  <a:txBody>
                    <a:bodyPr wrap="square"/>
                    <a:lstStyle/>
                    <a:p>
                      <a:r>
                        <a:rPr sz="1600" b="0">
                          <a:solidFill>
                            <a:srgbClr val="1B1B1B"/>
                          </a:solidFill>
                          <a:latin typeface="Calibri"/>
                        </a:rPr>
                        <a:t>Souvent 1 à 3 cases : l'IA complète les cases manquantes avec du plausible (fondement, réfutation). Repérez ce qu'elle a inventé : une case vide est plus honnête.</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Prendre un chiffre non sourcé pour une donnée.</a:t>
            </a:r>
          </a:p>
          <a:p>
            <a:pPr algn="l" marL="201168" indent="-201168">
              <a:spcAft>
                <a:spcPts val="110"/>
              </a:spcAft>
              <a:buChar char="•"/>
            </a:pPr>
            <a:r>
              <a:rPr sz="1100" b="0" i="0">
                <a:solidFill>
                  <a:srgbClr val="1B1B1B"/>
                </a:solidFill>
                <a:latin typeface="Calibri"/>
              </a:rPr>
              <a:t>Oublier la réfutation : l'argument paraît trop sûr de lui.</a:t>
            </a:r>
          </a:p>
          <a:p>
            <a:pPr algn="l" marL="201168" indent="-201168">
              <a:spcAft>
                <a:spcPts val="110"/>
              </a:spcAft>
              <a:buChar char="•"/>
            </a:pPr>
            <a:r>
              <a:rPr sz="1100" b="0" i="0">
                <a:solidFill>
                  <a:srgbClr val="1B1B1B"/>
                </a:solidFill>
                <a:latin typeface="Calibri"/>
              </a:rPr>
              <a:t>Garder « tout le monde le fait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Six sophismes à repérer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82</a:t>
            </a:r>
          </a:p>
        </p:txBody>
      </p:sp>
      <p:graphicFrame>
        <p:nvGraphicFramePr>
          <p:cNvPr id="6" name="Table 5"/>
          <p:cNvGraphicFramePr>
            <a:graphicFrameLocks noGrp="1"/>
          </p:cNvGraphicFramePr>
          <p:nvPr/>
        </p:nvGraphicFramePr>
        <p:xfrm>
          <a:off x="411480" y="1188720"/>
          <a:ext cx="11338559" cy="2560320"/>
        </p:xfrm>
        <a:graphic>
          <a:graphicData uri="http://schemas.openxmlformats.org/drawingml/2006/table">
            <a:tbl>
              <a:tblPr firstRow="0" bandRow="0">
                <a:tableStyleId>{5C22544A-7EE6-4342-B048-85BDC9FD1C3A}</a:tableStyleId>
              </a:tblPr>
              <a:tblGrid>
                <a:gridCol w="2473867"/>
                <a:gridCol w="4329268"/>
                <a:gridCol w="4535424"/>
              </a:tblGrid>
              <a:tr h="365760">
                <a:tc>
                  <a:txBody>
                    <a:bodyPr wrap="square"/>
                    <a:lstStyle/>
                    <a:p>
                      <a:r>
                        <a:rPr sz="1700" b="1">
                          <a:solidFill>
                            <a:srgbClr val="FFFFFF"/>
                          </a:solidFill>
                          <a:latin typeface="Calibri"/>
                        </a:rPr>
                        <a:t>Sophisme</a:t>
                      </a:r>
                    </a:p>
                  </a:txBody>
                  <a:tcPr marL="73152" marR="73152" marT="36576" marB="36576">
                    <a:solidFill>
                      <a:srgbClr val="1F2A5C"/>
                    </a:solidFill>
                  </a:tcPr>
                </a:tc>
                <a:tc>
                  <a:txBody>
                    <a:bodyPr wrap="square"/>
                    <a:lstStyle/>
                    <a:p>
                      <a:r>
                        <a:rPr sz="1700" b="1">
                          <a:solidFill>
                            <a:srgbClr val="FFFFFF"/>
                          </a:solidFill>
                          <a:latin typeface="Calibri"/>
                        </a:rPr>
                        <a:t>Définition</a:t>
                      </a:r>
                    </a:p>
                  </a:txBody>
                  <a:tcPr marL="73152" marR="73152" marT="36576" marB="36576">
                    <a:solidFill>
                      <a:srgbClr val="1F2A5C"/>
                    </a:solidFill>
                  </a:tcPr>
                </a:tc>
                <a:tc>
                  <a:txBody>
                    <a:bodyPr wrap="square"/>
                    <a:lstStyle/>
                    <a:p>
                      <a:r>
                        <a:rPr sz="1700" b="1">
                          <a:solidFill>
                            <a:srgbClr val="FFFFFF"/>
                          </a:solidFill>
                          <a:latin typeface="Calibri"/>
                        </a:rPr>
                        <a:t>Exemple</a:t>
                      </a:r>
                    </a:p>
                  </a:txBody>
                  <a:tcPr marL="73152" marR="73152" marT="36576" marB="36576">
                    <a:solidFill>
                      <a:srgbClr val="1F2A5C"/>
                    </a:solidFill>
                  </a:tcPr>
                </a:tc>
              </a:tr>
              <a:tr h="365760">
                <a:tc>
                  <a:txBody>
                    <a:bodyPr wrap="square"/>
                    <a:lstStyle/>
                    <a:p>
                      <a:r>
                        <a:rPr sz="1700" b="1">
                          <a:solidFill>
                            <a:srgbClr val="1B1B1B"/>
                          </a:solidFill>
                          <a:latin typeface="Calibri"/>
                        </a:rPr>
                        <a:t>Appel à la popularité</a:t>
                      </a:r>
                    </a:p>
                  </a:txBody>
                  <a:tcPr marL="73152" marR="73152" marT="36576" marB="36576">
                    <a:solidFill>
                      <a:srgbClr val="FFFFFF"/>
                    </a:solidFill>
                  </a:tcPr>
                </a:tc>
                <a:tc>
                  <a:txBody>
                    <a:bodyPr wrap="square"/>
                    <a:lstStyle/>
                    <a:p>
                      <a:r>
                        <a:rPr sz="1700" b="0">
                          <a:solidFill>
                            <a:srgbClr val="1B1B1B"/>
                          </a:solidFill>
                          <a:latin typeface="Calibri"/>
                        </a:rPr>
                        <a:t>« Tout le monde le fait » prouve que c'est bien</a:t>
                      </a:r>
                    </a:p>
                  </a:txBody>
                  <a:tcPr marL="73152" marR="73152" marT="36576" marB="36576">
                    <a:solidFill>
                      <a:srgbClr val="FFFFFF"/>
                    </a:solidFill>
                  </a:tcPr>
                </a:tc>
                <a:tc>
                  <a:txBody>
                    <a:bodyPr wrap="square"/>
                    <a:lstStyle/>
                    <a:p>
                      <a:r>
                        <a:rPr sz="1700" b="0">
                          <a:solidFill>
                            <a:srgbClr val="1B1B1B"/>
                          </a:solidFill>
                          <a:latin typeface="Calibri"/>
                        </a:rPr>
                        <a:t>« Tout le monde utilise ce logiciel, donc il est bon. »</a:t>
                      </a:r>
                    </a:p>
                  </a:txBody>
                  <a:tcPr marL="73152" marR="73152" marT="36576" marB="36576">
                    <a:solidFill>
                      <a:srgbClr val="FFFFFF"/>
                    </a:solidFill>
                  </a:tcPr>
                </a:tc>
              </a:tr>
              <a:tr h="365760">
                <a:tc>
                  <a:txBody>
                    <a:bodyPr wrap="square"/>
                    <a:lstStyle/>
                    <a:p>
                      <a:r>
                        <a:rPr sz="1700" b="1">
                          <a:solidFill>
                            <a:srgbClr val="1B1B1B"/>
                          </a:solidFill>
                          <a:latin typeface="Calibri"/>
                        </a:rPr>
                        <a:t>Attaque contre la personne</a:t>
                      </a:r>
                    </a:p>
                  </a:txBody>
                  <a:tcPr marL="73152" marR="73152" marT="36576" marB="36576">
                    <a:solidFill>
                      <a:srgbClr val="F3F5F9"/>
                    </a:solidFill>
                  </a:tcPr>
                </a:tc>
                <a:tc>
                  <a:txBody>
                    <a:bodyPr wrap="square"/>
                    <a:lstStyle/>
                    <a:p>
                      <a:r>
                        <a:rPr sz="1700" b="0">
                          <a:solidFill>
                            <a:srgbClr val="1B1B1B"/>
                          </a:solidFill>
                          <a:latin typeface="Calibri"/>
                        </a:rPr>
                        <a:t>On discrédite l'auteur au lieu de répondre à l'argument</a:t>
                      </a:r>
                    </a:p>
                  </a:txBody>
                  <a:tcPr marL="73152" marR="73152" marT="36576" marB="36576">
                    <a:solidFill>
                      <a:srgbClr val="F3F5F9"/>
                    </a:solidFill>
                  </a:tcPr>
                </a:tc>
                <a:tc>
                  <a:txBody>
                    <a:bodyPr wrap="square"/>
                    <a:lstStyle/>
                    <a:p>
                      <a:r>
                        <a:rPr sz="1700" b="0">
                          <a:solidFill>
                            <a:srgbClr val="1B1B1B"/>
                          </a:solidFill>
                          <a:latin typeface="Calibri"/>
                        </a:rPr>
                        <a:t>« C'est un stagiaire, son analyse ne vaut rien. »</a:t>
                      </a:r>
                    </a:p>
                  </a:txBody>
                  <a:tcPr marL="73152" marR="73152" marT="36576" marB="36576">
                    <a:solidFill>
                      <a:srgbClr val="F3F5F9"/>
                    </a:solidFill>
                  </a:tcPr>
                </a:tc>
              </a:tr>
              <a:tr h="365760">
                <a:tc>
                  <a:txBody>
                    <a:bodyPr wrap="square"/>
                    <a:lstStyle/>
                    <a:p>
                      <a:r>
                        <a:rPr sz="1700" b="1">
                          <a:solidFill>
                            <a:srgbClr val="1B1B1B"/>
                          </a:solidFill>
                          <a:latin typeface="Calibri"/>
                        </a:rPr>
                        <a:t>Pente glissante</a:t>
                      </a:r>
                    </a:p>
                  </a:txBody>
                  <a:tcPr marL="73152" marR="73152" marT="36576" marB="36576">
                    <a:solidFill>
                      <a:srgbClr val="FFFFFF"/>
                    </a:solidFill>
                  </a:tcPr>
                </a:tc>
                <a:tc>
                  <a:txBody>
                    <a:bodyPr wrap="square"/>
                    <a:lstStyle/>
                    <a:p>
                      <a:r>
                        <a:rPr sz="1700" b="0">
                          <a:solidFill>
                            <a:srgbClr val="1B1B1B"/>
                          </a:solidFill>
                          <a:latin typeface="Calibri"/>
                        </a:rPr>
                        <a:t>Une première étape mènerait forcément à une catastrophe</a:t>
                      </a:r>
                    </a:p>
                  </a:txBody>
                  <a:tcPr marL="73152" marR="73152" marT="36576" marB="36576">
                    <a:solidFill>
                      <a:srgbClr val="FFFFFF"/>
                    </a:solidFill>
                  </a:tcPr>
                </a:tc>
                <a:tc>
                  <a:txBody>
                    <a:bodyPr wrap="square"/>
                    <a:lstStyle/>
                    <a:p>
                      <a:r>
                        <a:rPr sz="1700" b="0">
                          <a:solidFill>
                            <a:srgbClr val="1B1B1B"/>
                          </a:solidFill>
                          <a:latin typeface="Calibri"/>
                        </a:rPr>
                        <a:t>« Si on accepte ce retard, plus aucune date ne sera tenue. »</a:t>
                      </a:r>
                    </a:p>
                  </a:txBody>
                  <a:tcPr marL="73152" marR="73152" marT="36576" marB="36576">
                    <a:solidFill>
                      <a:srgbClr val="FFFFFF"/>
                    </a:solidFill>
                  </a:tcPr>
                </a:tc>
              </a:tr>
              <a:tr h="365760">
                <a:tc>
                  <a:txBody>
                    <a:bodyPr wrap="square"/>
                    <a:lstStyle/>
                    <a:p>
                      <a:r>
                        <a:rPr sz="1700" b="1">
                          <a:solidFill>
                            <a:srgbClr val="1B1B1B"/>
                          </a:solidFill>
                          <a:latin typeface="Calibri"/>
                        </a:rPr>
                        <a:t>Faux dilemme</a:t>
                      </a:r>
                    </a:p>
                  </a:txBody>
                  <a:tcPr marL="73152" marR="73152" marT="36576" marB="36576">
                    <a:solidFill>
                      <a:srgbClr val="F3F5F9"/>
                    </a:solidFill>
                  </a:tcPr>
                </a:tc>
                <a:tc>
                  <a:txBody>
                    <a:bodyPr wrap="square"/>
                    <a:lstStyle/>
                    <a:p>
                      <a:r>
                        <a:rPr sz="1700" b="0">
                          <a:solidFill>
                            <a:srgbClr val="1B1B1B"/>
                          </a:solidFill>
                          <a:latin typeface="Calibri"/>
                        </a:rPr>
                        <a:t>Deux options présentées alors qu'il en existe d'autres</a:t>
                      </a:r>
                    </a:p>
                  </a:txBody>
                  <a:tcPr marL="73152" marR="73152" marT="36576" marB="36576">
                    <a:solidFill>
                      <a:srgbClr val="F3F5F9"/>
                    </a:solidFill>
                  </a:tcPr>
                </a:tc>
                <a:tc>
                  <a:txBody>
                    <a:bodyPr wrap="square"/>
                    <a:lstStyle/>
                    <a:p>
                      <a:r>
                        <a:rPr sz="1700" b="0">
                          <a:solidFill>
                            <a:srgbClr val="1B1B1B"/>
                          </a:solidFill>
                          <a:latin typeface="Calibri"/>
                        </a:rPr>
                        <a:t>« Soit on embauche trois personnes, soit le service s'effondre. »</a:t>
                      </a:r>
                    </a:p>
                  </a:txBody>
                  <a:tcPr marL="73152" marR="73152" marT="36576" marB="36576">
                    <a:solidFill>
                      <a:srgbClr val="F3F5F9"/>
                    </a:solidFill>
                  </a:tcPr>
                </a:tc>
              </a:tr>
              <a:tr h="365760">
                <a:tc>
                  <a:txBody>
                    <a:bodyPr wrap="square"/>
                    <a:lstStyle/>
                    <a:p>
                      <a:r>
                        <a:rPr sz="1700" b="1">
                          <a:solidFill>
                            <a:srgbClr val="1B1B1B"/>
                          </a:solidFill>
                          <a:latin typeface="Calibri"/>
                        </a:rPr>
                        <a:t>Généralisation hâtive</a:t>
                      </a:r>
                    </a:p>
                  </a:txBody>
                  <a:tcPr marL="73152" marR="73152" marT="36576" marB="36576">
                    <a:solidFill>
                      <a:srgbClr val="FFFFFF"/>
                    </a:solidFill>
                  </a:tcPr>
                </a:tc>
                <a:tc>
                  <a:txBody>
                    <a:bodyPr wrap="square"/>
                    <a:lstStyle/>
                    <a:p>
                      <a:r>
                        <a:rPr sz="1700" b="0">
                          <a:solidFill>
                            <a:srgbClr val="1B1B1B"/>
                          </a:solidFill>
                          <a:latin typeface="Calibri"/>
                        </a:rPr>
                        <a:t>Conclure à partir de trop peu de cas</a:t>
                      </a:r>
                    </a:p>
                  </a:txBody>
                  <a:tcPr marL="73152" marR="73152" marT="36576" marB="36576">
                    <a:solidFill>
                      <a:srgbClr val="FFFFFF"/>
                    </a:solidFill>
                  </a:tcPr>
                </a:tc>
                <a:tc>
                  <a:txBody>
                    <a:bodyPr wrap="square"/>
                    <a:lstStyle/>
                    <a:p>
                      <a:r>
                        <a:rPr sz="1700" b="0">
                          <a:solidFill>
                            <a:srgbClr val="1B1B1B"/>
                          </a:solidFill>
                          <a:latin typeface="Calibri"/>
                        </a:rPr>
                        <a:t>« Deux clients ont râlé : tous nos clients sont mécontents. »</a:t>
                      </a:r>
                    </a:p>
                  </a:txBody>
                  <a:tcPr marL="73152" marR="73152" marT="36576" marB="36576">
                    <a:solidFill>
                      <a:srgbClr val="FFFFFF"/>
                    </a:solidFill>
                  </a:tcPr>
                </a:tc>
              </a:tr>
              <a:tr h="365760">
                <a:tc>
                  <a:txBody>
                    <a:bodyPr wrap="square"/>
                    <a:lstStyle/>
                    <a:p>
                      <a:r>
                        <a:rPr sz="1700" b="1">
                          <a:solidFill>
                            <a:srgbClr val="1B1B1B"/>
                          </a:solidFill>
                          <a:latin typeface="Calibri"/>
                        </a:rPr>
                        <a:t>Post hoc</a:t>
                      </a:r>
                    </a:p>
                  </a:txBody>
                  <a:tcPr marL="73152" marR="73152" marT="36576" marB="36576">
                    <a:solidFill>
                      <a:srgbClr val="F3F5F9"/>
                    </a:solidFill>
                  </a:tcPr>
                </a:tc>
                <a:tc>
                  <a:txBody>
                    <a:bodyPr wrap="square"/>
                    <a:lstStyle/>
                    <a:p>
                      <a:r>
                        <a:rPr sz="1700" b="0">
                          <a:solidFill>
                            <a:srgbClr val="1B1B1B"/>
                          </a:solidFill>
                          <a:latin typeface="Calibri"/>
                        </a:rPr>
                        <a:t>« Après » est pris pour « à cause de »</a:t>
                      </a:r>
                    </a:p>
                  </a:txBody>
                  <a:tcPr marL="73152" marR="73152" marT="36576" marB="36576">
                    <a:solidFill>
                      <a:srgbClr val="F3F5F9"/>
                    </a:solidFill>
                  </a:tcPr>
                </a:tc>
                <a:tc>
                  <a:txBody>
                    <a:bodyPr wrap="square"/>
                    <a:lstStyle/>
                    <a:p>
                      <a:r>
                        <a:rPr sz="1700" b="0">
                          <a:solidFill>
                            <a:srgbClr val="1B1B1B"/>
                          </a:solidFill>
                          <a:latin typeface="Calibri"/>
                        </a:rPr>
                        <a:t>« Depuis la nouvelle machine à café, les ventes baissent. »</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55"/>
              </a:spcAft>
            </a:pPr>
            <a:r>
              <a:rPr sz="1300" b="1" i="0">
                <a:solidFill>
                  <a:srgbClr val="1B1B1B"/>
                </a:solidFill>
                <a:latin typeface="Calibri"/>
              </a:rPr>
              <a:t>Un sophisme est un raisonnement qui a l'air valable mais ne l'est pas : la conclusion ne découle pas des raisons données.</a:t>
            </a:r>
          </a:p>
        </p:txBody>
      </p:sp>
      <p:sp>
        <p:nvSpPr>
          <p:cNvPr id="8" name="TextBox 7"/>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Aristote, Réfutations sophistiques ; C. L. Hamblin, Fallacies, 1970 ; D. Walton, Informal Logic, 1989 : listes et noms variables.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17</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Chasser les sophismes (téléphone)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EX17</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83</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téléphone  ·  8 min  ·  Carnet · chapitre 6  ·  Outil : téléphone (boutons)</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Repérer les raisonnements qui ont l'air valables mais ne le sont pas (sophismes) et poser la question qui comble le saut entre raison et conclusion.</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20"/>
              </a:spcAft>
            </a:pPr>
            <a:r>
              <a:rPr sz="1400" b="0" i="0">
                <a:solidFill>
                  <a:srgbClr val="1B1B1B"/>
                </a:solidFill>
                <a:latin typeface="Calibri"/>
              </a:rPr>
              <a:t>Sur votre téléphone : scannez le QR de cette page (ou ouvrez l'application) et appuyez sur le bouton du sophisme pour chaque phrase. Six phrases entendues en réunion :</a:t>
            </a:r>
          </a:p>
          <a:p>
            <a:pPr algn="l">
              <a:spcAft>
                <a:spcPts val="420"/>
              </a:spcAft>
            </a:pPr>
            <a:r>
              <a:rPr sz="1400" b="0" i="0">
                <a:solidFill>
                  <a:srgbClr val="1B1B1B"/>
                </a:solidFill>
                <a:latin typeface="Calibri"/>
              </a:rPr>
              <a:t>1. « Depuis la mise à jour de jeudi, les tickets ont augmenté : la mise à jour est la cause. »</a:t>
            </a:r>
          </a:p>
          <a:p>
            <a:pPr algn="l">
              <a:spcAft>
                <a:spcPts val="420"/>
              </a:spcAft>
            </a:pPr>
            <a:r>
              <a:rPr sz="1400" b="0" i="0">
                <a:solidFill>
                  <a:srgbClr val="1B1B1B"/>
                </a:solidFill>
                <a:latin typeface="Calibri"/>
              </a:rPr>
              <a:t>2. « Si on retarde la migration d'un mois, nous serons piratés. »</a:t>
            </a:r>
          </a:p>
          <a:p>
            <a:pPr algn="l">
              <a:spcAft>
                <a:spcPts val="420"/>
              </a:spcAft>
            </a:pPr>
            <a:r>
              <a:rPr sz="1400" b="0" i="0">
                <a:solidFill>
                  <a:srgbClr val="1B1B1B"/>
                </a:solidFill>
                <a:latin typeface="Calibri"/>
              </a:rPr>
              <a:t>3. « Tous les concurrents sont passés au cloud, donc nous devons y passer. »</a:t>
            </a:r>
          </a:p>
          <a:p>
            <a:pPr algn="l">
              <a:spcAft>
                <a:spcPts val="420"/>
              </a:spcAft>
            </a:pPr>
            <a:r>
              <a:rPr sz="1400" b="0" i="0">
                <a:solidFill>
                  <a:srgbClr val="1B1B1B"/>
                </a:solidFill>
                <a:latin typeface="Calibri"/>
              </a:rPr>
              <a:t>4. « Deux utilisateurs trouvent le VPN lent : il ne marche pas. »</a:t>
            </a:r>
          </a:p>
          <a:p>
            <a:pPr algn="l">
              <a:spcAft>
                <a:spcPts val="420"/>
              </a:spcAft>
            </a:pPr>
            <a:r>
              <a:rPr sz="1400" b="0" i="0">
                <a:solidFill>
                  <a:srgbClr val="1B1B1B"/>
                </a:solidFill>
                <a:latin typeface="Calibri"/>
              </a:rPr>
              <a:t>5. « Ce consultant n'a jamais administré de serveur : ignorez son rapport. »</a:t>
            </a:r>
          </a:p>
          <a:p>
            <a:pPr algn="l">
              <a:spcAft>
                <a:spcPts val="420"/>
              </a:spcAft>
            </a:pPr>
            <a:r>
              <a:rPr sz="1400" b="0" i="0">
                <a:solidFill>
                  <a:srgbClr val="1B1B1B"/>
                </a:solidFill>
                <a:latin typeface="Calibri"/>
              </a:rPr>
              <a:t>6. « Soit on interdit l'IA générative, soit on perd toutes nos données. »</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Phrase 1 : quel sophisme ?</a:t>
            </a:r>
          </a:p>
          <a:p>
            <a:pPr algn="l" marL="274320" indent="-274320">
              <a:spcAft>
                <a:spcPts val="600"/>
              </a:spcAft>
              <a:buAutoNum type="arabicPeriod"/>
            </a:pPr>
            <a:r>
              <a:rPr sz="2000" b="0" i="0">
                <a:solidFill>
                  <a:srgbClr val="1B1B1B"/>
                </a:solidFill>
                <a:latin typeface="Calibri"/>
              </a:rPr>
              <a:t>Phrase 2 : quel sophisme ?</a:t>
            </a:r>
          </a:p>
          <a:p>
            <a:pPr algn="l" marL="274320" indent="-274320">
              <a:spcAft>
                <a:spcPts val="600"/>
              </a:spcAft>
              <a:buAutoNum type="arabicPeriod"/>
            </a:pPr>
            <a:r>
              <a:rPr sz="2000" b="0" i="0">
                <a:solidFill>
                  <a:srgbClr val="1B1B1B"/>
                </a:solidFill>
                <a:latin typeface="Calibri"/>
              </a:rPr>
              <a:t>Phrase 3 : quel sophisme ?</a:t>
            </a:r>
          </a:p>
          <a:p>
            <a:pPr algn="l" marL="274320" indent="-274320">
              <a:spcAft>
                <a:spcPts val="600"/>
              </a:spcAft>
              <a:buAutoNum type="arabicPeriod"/>
            </a:pPr>
            <a:r>
              <a:rPr sz="2000" b="0" i="0">
                <a:solidFill>
                  <a:srgbClr val="1B1B1B"/>
                </a:solidFill>
                <a:latin typeface="Calibri"/>
              </a:rPr>
              <a:t>Phrase 4 : quel sophisme ?</a:t>
            </a:r>
          </a:p>
          <a:p>
            <a:pPr algn="l" marL="274320" indent="-274320">
              <a:spcAft>
                <a:spcPts val="600"/>
              </a:spcAft>
              <a:buAutoNum type="arabicPeriod"/>
            </a:pPr>
            <a:r>
              <a:rPr sz="2000" b="0" i="0">
                <a:solidFill>
                  <a:srgbClr val="1B1B1B"/>
                </a:solidFill>
                <a:latin typeface="Calibri"/>
              </a:rPr>
              <a:t>Phrase 5 : quel sophisme ?</a:t>
            </a:r>
          </a:p>
          <a:p>
            <a:pPr algn="l" marL="274320" indent="-274320">
              <a:spcAft>
                <a:spcPts val="600"/>
              </a:spcAft>
              <a:buAutoNum type="arabicPeriod"/>
            </a:pPr>
            <a:r>
              <a:rPr sz="2000" b="0" i="0">
                <a:solidFill>
                  <a:srgbClr val="1B1B1B"/>
                </a:solidFill>
                <a:latin typeface="Calibri"/>
              </a:rPr>
              <a:t>Phrase 6 : quel sophisme ?</a:t>
            </a:r>
          </a:p>
        </p:txBody>
      </p:sp>
      <p:sp>
        <p:nvSpPr>
          <p:cNvPr id="15" name="TextBox 14"/>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6" name="Picture 15" descr="EX17.png"/>
          <p:cNvPicPr>
            <a:picLocks noChangeAspect="1"/>
          </p:cNvPicPr>
          <p:nvPr/>
        </p:nvPicPr>
        <p:blipFill>
          <a:blip r:embed="rId4"/>
          <a:stretch>
            <a:fillRect/>
          </a:stretch>
        </p:blipFill>
        <p:spPr>
          <a:xfrm>
            <a:off x="10744200" y="5257800"/>
            <a:ext cx="1005840" cy="1005840"/>
          </a:xfrm>
          <a:prstGeom prst="rect">
            <a:avLst/>
          </a:prstGeom>
        </p:spPr>
      </p:pic>
      <p:sp>
        <p:nvSpPr>
          <p:cNvPr id="17" name="TextBox 16"/>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17 — Chasser les sophismes (téléphone)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EX17</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84</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Repérer le saut entre les raisons et la conclusion.</a:t>
            </a:r>
          </a:p>
          <a:p>
            <a:pPr algn="l" marL="274320" indent="-274320">
              <a:spcAft>
                <a:spcPts val="375"/>
              </a:spcAft>
              <a:buAutoNum type="arabicPeriod"/>
            </a:pPr>
            <a:r>
              <a:rPr sz="1500" b="0" i="0">
                <a:solidFill>
                  <a:srgbClr val="1B1B1B"/>
                </a:solidFill>
                <a:latin typeface="Calibri"/>
              </a:rPr>
              <a:t>Poser la question qui comble le saut.</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731520"/>
                <a:gridCol w="7315200"/>
              </a:tblGrid>
              <a:tr h="237744">
                <a:tc>
                  <a:txBody>
                    <a:bodyPr wrap="square"/>
                    <a:lstStyle/>
                    <a:p>
                      <a:r>
                        <a:rPr sz="1700" b="1">
                          <a:solidFill>
                            <a:srgbClr val="FFFFFF"/>
                          </a:solidFill>
                          <a:latin typeface="Calibri"/>
                        </a:rPr>
                        <a:t>Phrase</a:t>
                      </a:r>
                    </a:p>
                  </a:txBody>
                  <a:tcPr marL="73152" marR="73152" marT="36576" marB="36576">
                    <a:solidFill>
                      <a:srgbClr val="1F2A5C"/>
                    </a:solidFill>
                  </a:tcPr>
                </a:tc>
                <a:tc>
                  <a:txBody>
                    <a:bodyPr wrap="square"/>
                    <a:lstStyle/>
                    <a:p>
                      <a:r>
                        <a:rPr sz="1700" b="1">
                          <a:solidFill>
                            <a:srgbClr val="FFFFFF"/>
                          </a:solidFill>
                          <a:latin typeface="Calibri"/>
                        </a:rPr>
                        <a:t>Sophisme et contre-question</a:t>
                      </a:r>
                    </a:p>
                  </a:txBody>
                  <a:tcPr marL="73152" marR="73152" marT="36576" marB="36576">
                    <a:solidFill>
                      <a:srgbClr val="1F2A5C"/>
                    </a:solidFill>
                  </a:tcPr>
                </a:tc>
              </a:tr>
              <a:tr h="237744">
                <a:tc>
                  <a:txBody>
                    <a:bodyPr wrap="square"/>
                    <a:lstStyle/>
                    <a:p>
                      <a:r>
                        <a:rPr sz="1700" b="1">
                          <a:solidFill>
                            <a:srgbClr val="1B1B1B"/>
                          </a:solidFill>
                          <a:latin typeface="Calibri"/>
                        </a:rPr>
                        <a:t>1</a:t>
                      </a:r>
                    </a:p>
                  </a:txBody>
                  <a:tcPr marL="73152" marR="73152" marT="36576" marB="36576">
                    <a:solidFill>
                      <a:srgbClr val="FFFFFF"/>
                    </a:solidFill>
                  </a:tcPr>
                </a:tc>
                <a:tc>
                  <a:txBody>
                    <a:bodyPr wrap="square"/>
                    <a:lstStyle/>
                    <a:p>
                      <a:r>
                        <a:rPr sz="1700" b="0">
                          <a:solidFill>
                            <a:srgbClr val="1B1B1B"/>
                          </a:solidFill>
                          <a:latin typeface="Calibri"/>
                        </a:rPr>
                        <a:t>Post hoc : Hypothèse testable : si la mise à jour est la cause, les tickets doivent concerner les postes mis à jour</a:t>
                      </a:r>
                    </a:p>
                  </a:txBody>
                  <a:tcPr marL="73152" marR="73152" marT="36576" marB="36576">
                    <a:solidFill>
                      <a:srgbClr val="FFFFFF"/>
                    </a:solidFill>
                  </a:tcPr>
                </a:tc>
              </a:tr>
              <a:tr h="237744">
                <a:tc>
                  <a:txBody>
                    <a:bodyPr wrap="square"/>
                    <a:lstStyle/>
                    <a:p>
                      <a:r>
                        <a:rPr sz="1700" b="1">
                          <a:solidFill>
                            <a:srgbClr val="1B1B1B"/>
                          </a:solidFill>
                          <a:latin typeface="Calibri"/>
                        </a:rPr>
                        <a:t>2</a:t>
                      </a:r>
                    </a:p>
                  </a:txBody>
                  <a:tcPr marL="73152" marR="73152" marT="36576" marB="36576">
                    <a:solidFill>
                      <a:srgbClr val="F3F5F9"/>
                    </a:solidFill>
                  </a:tcPr>
                </a:tc>
                <a:tc>
                  <a:txBody>
                    <a:bodyPr wrap="square"/>
                    <a:lstStyle/>
                    <a:p>
                      <a:r>
                        <a:rPr sz="1700" b="0">
                          <a:solidFill>
                            <a:srgbClr val="1B1B1B"/>
                          </a:solidFill>
                          <a:latin typeface="Calibri"/>
                        </a:rPr>
                        <a:t>Pente glissante : « Quelle preuve qu'un mois de retard mène à une attaque ? »</a:t>
                      </a:r>
                    </a:p>
                  </a:txBody>
                  <a:tcPr marL="73152" marR="73152" marT="36576" marB="36576">
                    <a:solidFill>
                      <a:srgbClr val="F3F5F9"/>
                    </a:solidFill>
                  </a:tcPr>
                </a:tc>
              </a:tr>
              <a:tr h="237744">
                <a:tc>
                  <a:txBody>
                    <a:bodyPr wrap="square"/>
                    <a:lstStyle/>
                    <a:p>
                      <a:r>
                        <a:rPr sz="1700" b="1">
                          <a:solidFill>
                            <a:srgbClr val="1B1B1B"/>
                          </a:solidFill>
                          <a:latin typeface="Calibri"/>
                        </a:rPr>
                        <a:t>3</a:t>
                      </a:r>
                    </a:p>
                  </a:txBody>
                  <a:tcPr marL="73152" marR="73152" marT="36576" marB="36576">
                    <a:solidFill>
                      <a:srgbClr val="FFFFFF"/>
                    </a:solidFill>
                  </a:tcPr>
                </a:tc>
                <a:tc>
                  <a:txBody>
                    <a:bodyPr wrap="square"/>
                    <a:lstStyle/>
                    <a:p>
                      <a:r>
                        <a:rPr sz="1700" b="0">
                          <a:solidFill>
                            <a:srgbClr val="1B1B1B"/>
                          </a:solidFill>
                          <a:latin typeface="Calibri"/>
                        </a:rPr>
                        <a:t>Appel à la popularité : « Qu'est-ce qui convient à notre contexte, indépendamment des concurrents ? »</a:t>
                      </a:r>
                    </a:p>
                  </a:txBody>
                  <a:tcPr marL="73152" marR="73152" marT="36576" marB="36576">
                    <a:solidFill>
                      <a:srgbClr val="FFFFFF"/>
                    </a:solidFill>
                  </a:tcPr>
                </a:tc>
              </a:tr>
              <a:tr h="237744">
                <a:tc>
                  <a:txBody>
                    <a:bodyPr wrap="square"/>
                    <a:lstStyle/>
                    <a:p>
                      <a:r>
                        <a:rPr sz="1700" b="1">
                          <a:solidFill>
                            <a:srgbClr val="1B1B1B"/>
                          </a:solidFill>
                          <a:latin typeface="Calibri"/>
                        </a:rPr>
                        <a:t>4</a:t>
                      </a:r>
                    </a:p>
                  </a:txBody>
                  <a:tcPr marL="73152" marR="73152" marT="36576" marB="36576">
                    <a:solidFill>
                      <a:srgbClr val="F3F5F9"/>
                    </a:solidFill>
                  </a:tcPr>
                </a:tc>
                <a:tc>
                  <a:txBody>
                    <a:bodyPr wrap="square"/>
                    <a:lstStyle/>
                    <a:p>
                      <a:r>
                        <a:rPr sz="1700" b="0">
                          <a:solidFill>
                            <a:srgbClr val="1B1B1B"/>
                          </a:solidFill>
                          <a:latin typeface="Calibri"/>
                        </a:rPr>
                        <a:t>Généralisation hâtive : « Combien d'utilisateurs ont mesuré, avec quelles valeurs ? »</a:t>
                      </a:r>
                    </a:p>
                  </a:txBody>
                  <a:tcPr marL="73152" marR="73152" marT="36576" marB="36576">
                    <a:solidFill>
                      <a:srgbClr val="F3F5F9"/>
                    </a:solidFill>
                  </a:tcPr>
                </a:tc>
              </a:tr>
              <a:tr h="237744">
                <a:tc>
                  <a:txBody>
                    <a:bodyPr wrap="square"/>
                    <a:lstStyle/>
                    <a:p>
                      <a:r>
                        <a:rPr sz="1700" b="1">
                          <a:solidFill>
                            <a:srgbClr val="1B1B1B"/>
                          </a:solidFill>
                          <a:latin typeface="Calibri"/>
                        </a:rPr>
                        <a:t>5</a:t>
                      </a:r>
                    </a:p>
                  </a:txBody>
                  <a:tcPr marL="73152" marR="73152" marT="36576" marB="36576">
                    <a:solidFill>
                      <a:srgbClr val="FFFFFF"/>
                    </a:solidFill>
                  </a:tcPr>
                </a:tc>
                <a:tc>
                  <a:txBody>
                    <a:bodyPr wrap="square"/>
                    <a:lstStyle/>
                    <a:p>
                      <a:r>
                        <a:rPr sz="1700" b="0">
                          <a:solidFill>
                            <a:srgbClr val="1B1B1B"/>
                          </a:solidFill>
                          <a:latin typeface="Calibri"/>
                        </a:rPr>
                        <a:t>Attaque contre la personne : « Que dit le rapport, et ses données tiennent-elles ? »</a:t>
                      </a:r>
                    </a:p>
                  </a:txBody>
                  <a:tcPr marL="73152" marR="73152" marT="36576" marB="36576">
                    <a:solidFill>
                      <a:srgbClr val="FFFFFF"/>
                    </a:solidFill>
                  </a:tcPr>
                </a:tc>
              </a:tr>
              <a:tr h="237744">
                <a:tc>
                  <a:txBody>
                    <a:bodyPr wrap="square"/>
                    <a:lstStyle/>
                    <a:p>
                      <a:r>
                        <a:rPr sz="1700" b="1">
                          <a:solidFill>
                            <a:srgbClr val="1B1B1B"/>
                          </a:solidFill>
                          <a:latin typeface="Calibri"/>
                        </a:rPr>
                        <a:t>6</a:t>
                      </a:r>
                    </a:p>
                  </a:txBody>
                  <a:tcPr marL="73152" marR="73152" marT="36576" marB="36576">
                    <a:solidFill>
                      <a:srgbClr val="F3F5F9"/>
                    </a:solidFill>
                  </a:tcPr>
                </a:tc>
                <a:tc>
                  <a:txBody>
                    <a:bodyPr wrap="square"/>
                    <a:lstStyle/>
                    <a:p>
                      <a:r>
                        <a:rPr sz="1700" b="0">
                          <a:solidFill>
                            <a:srgbClr val="1B1B1B"/>
                          </a:solidFill>
                          <a:latin typeface="Calibri"/>
                        </a:rPr>
                        <a:t>Faux dilemme : « Existe-t-il une option encadrée (usages autorisés, données exclues) ? »</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30"/>
              </a:spcAft>
              <a:buChar char="•"/>
            </a:pPr>
            <a:r>
              <a:rPr sz="1300" b="0" i="0">
                <a:solidFill>
                  <a:srgbClr val="1B1B1B"/>
                </a:solidFill>
                <a:latin typeface="Calibri"/>
              </a:rPr>
              <a:t>Nommer le sophisme sans dire pourquoi il est fragile.</a:t>
            </a:r>
          </a:p>
          <a:p>
            <a:pPr algn="l" marL="201168" indent="-201168">
              <a:spcAft>
                <a:spcPts val="130"/>
              </a:spcAft>
              <a:buChar char="•"/>
            </a:pPr>
            <a:r>
              <a:rPr sz="1300" b="0" i="0">
                <a:solidFill>
                  <a:srgbClr val="1B1B1B"/>
                </a:solidFill>
                <a:latin typeface="Calibri"/>
              </a:rPr>
              <a:t>Répondre par une attaque : la contre-question doit rester ouverte.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Lire un chiffre : quatre pièges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85</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94"/>
              </a:spcAft>
            </a:pPr>
            <a:r>
              <a:rPr sz="1700" b="1" i="0">
                <a:solidFill>
                  <a:srgbClr val="FFFFFF"/>
                </a:solidFill>
                <a:latin typeface="Calibri"/>
              </a:rPr>
              <a:t>Pourcentage sans base</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 99 % de moins » : de 10 incidents ou de 10 000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Relatif ou absolu</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 Risque doublé » : de 1 sur 10 000 à 2 sur 10 000, c'est encore très faible.</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Moyenne trompeuse</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 temps moyen de 3 h peut cacher des pannes de 20 h.</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Corrélation et cause</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Deux courbes qui montent ensemble ne prouvent pas que l'une cause l'autre.</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Poser toujours trois questions : par rapport à quoi, mesuré comment, sur quel échantillon ? Exemples fictifs.</a:t>
            </a:r>
          </a:p>
        </p:txBody>
      </p:sp>
      <p:sp>
        <p:nvSpPr>
          <p:cNvPr id="19" name="TextBox 1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D. Huff, How to Lie with Statistics, 1954 ; G. Gigerenzer, Calculated Risks, 2002 ; exemples fictifs.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18</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Interroger un vrai chiffre de fournisseur</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EX18</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86</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ordinateur (une phrase par étudiant)  ·  20 min  ·  Carnet · chapitre 6  ·  Outil : moteur de recherche, site d'un fournisseur</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Interroger une affirmation chiffrée de fournisseur avec cinq questions (base, mesure, échantillon, auteur, durée) avant de la citer.</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59"/>
              </a:spcAft>
            </a:pPr>
            <a:r>
              <a:rPr sz="1200" b="0" i="0">
                <a:solidFill>
                  <a:srgbClr val="1B1B1B"/>
                </a:solidFill>
                <a:latin typeface="Calibri"/>
              </a:rPr>
              <a:t>Choisissez une phrase (A à D) différente de celle de vos voisins ; la E est à chercher par vous. A est réelle (EX11b, D4) ; B, C, D sont fictives, dans le style des pages de fournisseurs.</a:t>
            </a:r>
          </a:p>
          <a:p>
            <a:pPr algn="l">
              <a:spcAft>
                <a:spcPts val="359"/>
              </a:spcAft>
            </a:pPr>
            <a:r>
              <a:rPr sz="1200" b="0" i="0">
                <a:solidFill>
                  <a:srgbClr val="1B1B1B"/>
                </a:solidFill>
                <a:latin typeface="Calibri"/>
              </a:rPr>
              <a:t>A · « L'authentification multifacteur bloque 99,9 % des attaques de prise de contrôle de compte. » (attribué à Microsoft, 2019)</a:t>
            </a:r>
          </a:p>
          <a:p>
            <a:pPr algn="l">
              <a:spcAft>
                <a:spcPts val="359"/>
              </a:spcAft>
            </a:pPr>
            <a:r>
              <a:rPr sz="1200" b="0" i="0">
                <a:solidFill>
                  <a:srgbClr val="1B1B1B"/>
                </a:solidFill>
                <a:latin typeface="Calibri"/>
              </a:rPr>
              <a:t>B · « Notre solution de sauvegarde réduit de 70 % le temps de restauration. »</a:t>
            </a:r>
          </a:p>
          <a:p>
            <a:pPr algn="l">
              <a:spcAft>
                <a:spcPts val="359"/>
              </a:spcAft>
            </a:pPr>
            <a:r>
              <a:rPr sz="1200" b="0" i="0">
                <a:solidFill>
                  <a:srgbClr val="1B1B1B"/>
                </a:solidFill>
                <a:latin typeface="Calibri"/>
              </a:rPr>
              <a:t>C · « 9 entreprises sur 10 ont subi une tentative d'hameçonnage cette année. »</a:t>
            </a:r>
          </a:p>
          <a:p>
            <a:pPr algn="l">
              <a:spcAft>
                <a:spcPts val="359"/>
              </a:spcAft>
            </a:pPr>
            <a:r>
              <a:rPr sz="1200" b="0" i="0">
                <a:solidFill>
                  <a:srgbClr val="1B1B1B"/>
                </a:solidFill>
                <a:latin typeface="Calibri"/>
              </a:rPr>
              <a:t>D · « Nos clients économisent en moyenne 40 % sur leur facture d'hébergement. »</a:t>
            </a:r>
          </a:p>
          <a:p>
            <a:pPr algn="l">
              <a:spcAft>
                <a:spcPts val="359"/>
              </a:spcAft>
            </a:pPr>
            <a:r>
              <a:rPr sz="1200" b="0" i="0">
                <a:solidFill>
                  <a:srgbClr val="1B1B1B"/>
                </a:solidFill>
                <a:latin typeface="Calibri"/>
              </a:rPr>
              <a:t>E · Une affirmation chiffrée trouvée sur le site d'un fournisseur de votre domaine (adresse et date).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59"/>
              </a:spcAft>
              <a:buAutoNum type="arabicPeriod"/>
            </a:pPr>
            <a:r>
              <a:rPr sz="1200" b="0" i="0">
                <a:solidFill>
                  <a:srgbClr val="1B1B1B"/>
                </a:solidFill>
                <a:latin typeface="Calibri"/>
              </a:rPr>
              <a:t>Choisissez votre phrase (A, B, C ou D), différente de celle de votre voisin de gauche.</a:t>
            </a:r>
          </a:p>
          <a:p>
            <a:pPr algn="l" marL="274320" indent="-274320">
              <a:spcAft>
                <a:spcPts val="359"/>
              </a:spcAft>
              <a:buAutoNum type="arabicPeriod"/>
            </a:pPr>
            <a:r>
              <a:rPr sz="1200" b="0" i="0">
                <a:solidFill>
                  <a:srgbClr val="1B1B1B"/>
                </a:solidFill>
                <a:latin typeface="Calibri"/>
              </a:rPr>
              <a:t>Posez à votre phrase les 5 questions (base, mesure, échantillon, auteur, durée) et notez ce que la phrase dit, ou « non indiqué ».</a:t>
            </a:r>
          </a:p>
          <a:p>
            <a:pPr algn="l" marL="274320" indent="-274320">
              <a:spcAft>
                <a:spcPts val="359"/>
              </a:spcAft>
              <a:buAutoNum type="arabicPeriod"/>
            </a:pPr>
            <a:r>
              <a:rPr sz="1200" b="0" i="0">
                <a:solidFill>
                  <a:srgbClr val="1B1B1B"/>
                </a:solidFill>
                <a:latin typeface="Calibri"/>
              </a:rPr>
              <a:t>Combien de questions restent sans réponse pour votre phrase ?</a:t>
            </a:r>
          </a:p>
          <a:p>
            <a:pPr algn="l" marL="274320" indent="-274320">
              <a:spcAft>
                <a:spcPts val="359"/>
              </a:spcAft>
              <a:buAutoNum type="arabicPeriod"/>
            </a:pPr>
            <a:r>
              <a:rPr sz="1200" b="0" i="0">
                <a:solidFill>
                  <a:srgbClr val="1B1B1B"/>
                </a:solidFill>
                <a:latin typeface="Calibri"/>
              </a:rPr>
              <a:t>Écrivez la phrase honnête que vous mettriez dans votre état de l'art pour votre phrase.</a:t>
            </a:r>
          </a:p>
          <a:p>
            <a:pPr algn="l" marL="274320" indent="-274320">
              <a:spcAft>
                <a:spcPts val="359"/>
              </a:spcAft>
              <a:buAutoNum type="arabicPeriod"/>
            </a:pPr>
            <a:r>
              <a:rPr sz="1200" b="0" i="0">
                <a:solidFill>
                  <a:srgbClr val="1B1B1B"/>
                </a:solidFill>
                <a:latin typeface="Calibri"/>
              </a:rPr>
              <a:t>Phrase E : trouvez-en une sur un site de fournisseur, posez les mêmes 5 questions. Combien restent sans réponse ?</a:t>
            </a:r>
          </a:p>
          <a:p>
            <a:pPr algn="l" marL="274320" indent="-274320">
              <a:spcAft>
                <a:spcPts val="359"/>
              </a:spcAft>
              <a:buAutoNum type="arabicPeriod"/>
            </a:pPr>
            <a:r>
              <a:rPr sz="1200" b="0" i="0">
                <a:solidFill>
                  <a:srgbClr val="1B1B1B"/>
                </a:solidFill>
                <a:latin typeface="Calibri"/>
              </a:rPr>
              <a:t>Avec Perplexity ou une autre IA (notez laquelle) : demandez-lui les questions à poser à votre phrase. En oublie-t-elle une des cinq (base, mesure, échantillon, auteur, durée)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L'affirmation, les cinq questions et la phrase d'état de l'art → Dossier, section 10.</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8.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10"/>
              </a:spcAft>
            </a:pPr>
            <a:r>
              <a:rPr sz="2600" b="1" i="0">
                <a:solidFill>
                  <a:srgbClr val="FFFFFF"/>
                </a:solidFill>
                <a:latin typeface="Calibri"/>
              </a:rPr>
              <a:t>Correction · EX 18 — Interroger un vrai chiffre de fournisseur</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EX18</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87</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Un pourcentage sans base n'est pas un fait.</a:t>
            </a:r>
          </a:p>
          <a:p>
            <a:pPr algn="l" marL="274320" indent="-274320">
              <a:spcAft>
                <a:spcPts val="375"/>
              </a:spcAft>
              <a:buAutoNum type="arabicPeriod"/>
            </a:pPr>
            <a:r>
              <a:rPr sz="1500" b="0" i="0">
                <a:solidFill>
                  <a:srgbClr val="1B1B1B"/>
                </a:solidFill>
                <a:latin typeface="Calibri"/>
              </a:rPr>
              <a:t>Chercher la méthode derrière le chiffre.</a:t>
            </a:r>
          </a:p>
          <a:p>
            <a:pPr algn="l" marL="274320" indent="-274320">
              <a:spcAft>
                <a:spcPts val="375"/>
              </a:spcAft>
              <a:buAutoNum type="arabicPeriod"/>
            </a:pPr>
            <a:r>
              <a:rPr sz="1500" b="0" i="0">
                <a:solidFill>
                  <a:srgbClr val="1B1B1B"/>
                </a:solidFill>
                <a:latin typeface="Calibri"/>
              </a:rPr>
              <a:t>Citer le chiffre comme une position, avec sa source.</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1508760"/>
                <a:gridCol w="6537960"/>
              </a:tblGrid>
              <a:tr h="237744">
                <a:tc>
                  <a:txBody>
                    <a:bodyPr wrap="square"/>
                    <a:lstStyle/>
                    <a:p>
                      <a:r>
                        <a:rPr sz="1100" b="1">
                          <a:solidFill>
                            <a:srgbClr val="FFFFFF"/>
                          </a:solidFill>
                          <a:latin typeface="Calibri"/>
                        </a:rPr>
                        <a:t>Phrase</a:t>
                      </a:r>
                    </a:p>
                  </a:txBody>
                  <a:tcPr marL="73152" marR="73152" marT="36576" marB="36576">
                    <a:solidFill>
                      <a:srgbClr val="1F2A5C"/>
                    </a:solidFill>
                  </a:tcPr>
                </a:tc>
                <a:tc>
                  <a:txBody>
                    <a:bodyPr wrap="square"/>
                    <a:lstStyle/>
                    <a:p>
                      <a:r>
                        <a:rPr sz="1100" b="1">
                          <a:solidFill>
                            <a:srgbClr val="FFFFFF"/>
                          </a:solidFill>
                          <a:latin typeface="Calibri"/>
                        </a:rPr>
                        <a:t>Ce que les 5 questions révèlent</a:t>
                      </a:r>
                    </a:p>
                  </a:txBody>
                  <a:tcPr marL="73152" marR="73152" marT="36576" marB="36576">
                    <a:solidFill>
                      <a:srgbClr val="1F2A5C"/>
                    </a:solidFill>
                  </a:tcPr>
                </a:tc>
              </a:tr>
              <a:tr h="237744">
                <a:tc>
                  <a:txBody>
                    <a:bodyPr wrap="square"/>
                    <a:lstStyle/>
                    <a:p>
                      <a:r>
                        <a:rPr sz="1100" b="1">
                          <a:solidFill>
                            <a:srgbClr val="1B1B1B"/>
                          </a:solidFill>
                          <a:latin typeface="Calibri"/>
                        </a:rPr>
                        <a:t>Les 5 questions</a:t>
                      </a:r>
                    </a:p>
                  </a:txBody>
                  <a:tcPr marL="73152" marR="73152" marT="36576" marB="36576">
                    <a:solidFill>
                      <a:srgbClr val="FFFFFF"/>
                    </a:solidFill>
                  </a:tcPr>
                </a:tc>
                <a:tc>
                  <a:txBody>
                    <a:bodyPr wrap="square"/>
                    <a:lstStyle/>
                    <a:p>
                      <a:r>
                        <a:rPr sz="1100" b="0">
                          <a:solidFill>
                            <a:srgbClr val="1B1B1B"/>
                          </a:solidFill>
                          <a:latin typeface="Calibri"/>
                        </a:rPr>
                        <a:t>Par rapport à quoi (base) ? Mesuré comment ? Sur quel échantillon ? Par qui ? Sur quelle durée ?</a:t>
                      </a:r>
                    </a:p>
                  </a:txBody>
                  <a:tcPr marL="73152" marR="73152" marT="36576" marB="36576">
                    <a:solidFill>
                      <a:srgbClr val="FFFFFF"/>
                    </a:solidFill>
                  </a:tcPr>
                </a:tc>
              </a:tr>
              <a:tr h="237744">
                <a:tc>
                  <a:txBody>
                    <a:bodyPr wrap="square"/>
                    <a:lstStyle/>
                    <a:p>
                      <a:r>
                        <a:rPr sz="1100" b="1">
                          <a:solidFill>
                            <a:srgbClr val="1B1B1B"/>
                          </a:solidFill>
                          <a:latin typeface="Calibri"/>
                        </a:rPr>
                        <a:t>A · 99,9 %</a:t>
                      </a:r>
                    </a:p>
                  </a:txBody>
                  <a:tcPr marL="73152" marR="73152" marT="36576" marB="36576">
                    <a:solidFill>
                      <a:srgbClr val="F3F5F9"/>
                    </a:solidFill>
                  </a:tcPr>
                </a:tc>
                <a:tc>
                  <a:txBody>
                    <a:bodyPr wrap="square"/>
                    <a:lstStyle/>
                    <a:p>
                      <a:r>
                        <a:rPr sz="1100" b="0">
                          <a:solidFill>
                            <a:srgbClr val="1B1B1B"/>
                          </a:solidFill>
                          <a:latin typeface="Calibri"/>
                        </a:rPr>
                        <a:t>Cas réel (EX11b, D4) : « études » de Microsoft non nommées, attaques automatisées ; le titre généralise. Phrase : « Selon Microsoft (2019, relayé par Slaw.ca), l'authentification multifacteur bloquerait 99,9 % des connexions frauduleuses automatisées ; méthode non publiée. »</a:t>
                      </a:r>
                    </a:p>
                  </a:txBody>
                  <a:tcPr marL="73152" marR="73152" marT="36576" marB="36576">
                    <a:solidFill>
                      <a:srgbClr val="F3F5F9"/>
                    </a:solidFill>
                  </a:tcPr>
                </a:tc>
              </a:tr>
              <a:tr h="237744">
                <a:tc>
                  <a:txBody>
                    <a:bodyPr wrap="square"/>
                    <a:lstStyle/>
                    <a:p>
                      <a:r>
                        <a:rPr sz="1100" b="1">
                          <a:solidFill>
                            <a:srgbClr val="1B1B1B"/>
                          </a:solidFill>
                          <a:latin typeface="Calibri"/>
                        </a:rPr>
                        <a:t>B · −70 %</a:t>
                      </a:r>
                    </a:p>
                  </a:txBody>
                  <a:tcPr marL="73152" marR="73152" marT="36576" marB="36576">
                    <a:solidFill>
                      <a:srgbClr val="FFFFFF"/>
                    </a:solidFill>
                  </a:tcPr>
                </a:tc>
                <a:tc>
                  <a:txBody>
                    <a:bodyPr wrap="square"/>
                    <a:lstStyle/>
                    <a:p>
                      <a:r>
                        <a:rPr sz="1100" b="0">
                          <a:solidFill>
                            <a:srgbClr val="1B1B1B"/>
                          </a:solidFill>
                          <a:latin typeface="Calibri"/>
                        </a:rPr>
                        <a:t>Base : 70 % de quoi (10 h → 3 h ?) ; mesure, échantillon, durée non indiqués ; auteur = le fournisseur. 4 questions sans réponse. Phrase : « Le fournisseur annonce −70 % de temps de restauration, sans méthode publiée ; à confirmer par notre test. »</a:t>
                      </a:r>
                    </a:p>
                  </a:txBody>
                  <a:tcPr marL="73152" marR="73152" marT="36576" marB="36576">
                    <a:solidFill>
                      <a:srgbClr val="FFFFFF"/>
                    </a:solidFill>
                  </a:tcPr>
                </a:tc>
              </a:tr>
              <a:tr h="237744">
                <a:tc>
                  <a:txBody>
                    <a:bodyPr wrap="square"/>
                    <a:lstStyle/>
                    <a:p>
                      <a:r>
                        <a:rPr sz="1100" b="1">
                          <a:solidFill>
                            <a:srgbClr val="1B1B1B"/>
                          </a:solidFill>
                          <a:latin typeface="Calibri"/>
                        </a:rPr>
                        <a:t>C · 9 sur 10</a:t>
                      </a:r>
                    </a:p>
                  </a:txBody>
                  <a:tcPr marL="73152" marR="73152" marT="36576" marB="36576">
                    <a:solidFill>
                      <a:srgbClr val="F3F5F9"/>
                    </a:solidFill>
                  </a:tcPr>
                </a:tc>
                <a:tc>
                  <a:txBody>
                    <a:bodyPr wrap="square"/>
                    <a:lstStyle/>
                    <a:p>
                      <a:r>
                        <a:rPr sz="1100" b="0">
                          <a:solidFill>
                            <a:srgbClr val="1B1B1B"/>
                          </a:solidFill>
                          <a:latin typeface="Calibri"/>
                        </a:rPr>
                        <a:t>Échantillon inconnu (combien, lesquelles ?) ; « tentative » non définie ; auteur = un éditeur qui vend une protection ; période vague. Phrase : « Selon l'enquête d'un éditeur (échantillon non précisé), 90 % des entreprises auraient reçu une tentative d'hameçonnage. »</a:t>
                      </a:r>
                    </a:p>
                  </a:txBody>
                  <a:tcPr marL="73152" marR="73152" marT="36576" marB="36576">
                    <a:solidFill>
                      <a:srgbClr val="F3F5F9"/>
                    </a:solidFill>
                  </a:tcPr>
                </a:tc>
              </a:tr>
              <a:tr h="237744">
                <a:tc>
                  <a:txBody>
                    <a:bodyPr wrap="square"/>
                    <a:lstStyle/>
                    <a:p>
                      <a:r>
                        <a:rPr sz="1100" b="1">
                          <a:solidFill>
                            <a:srgbClr val="1B1B1B"/>
                          </a:solidFill>
                          <a:latin typeface="Calibri"/>
                        </a:rPr>
                        <a:t>D · −40 %</a:t>
                      </a:r>
                    </a:p>
                  </a:txBody>
                  <a:tcPr marL="73152" marR="73152" marT="36576" marB="36576">
                    <a:solidFill>
                      <a:srgbClr val="FFFFFF"/>
                    </a:solidFill>
                  </a:tcPr>
                </a:tc>
                <a:tc>
                  <a:txBody>
                    <a:bodyPr wrap="square"/>
                    <a:lstStyle/>
                    <a:p>
                      <a:r>
                        <a:rPr sz="1100" b="0">
                          <a:solidFill>
                            <a:srgbClr val="1B1B1B"/>
                          </a:solidFill>
                          <a:latin typeface="Calibri"/>
                        </a:rPr>
                        <a:t>Base : quelle facture de départ ? Moyenne de quels clients (les satisfaits seulement : biais du survivant) ? Auteur = le fournisseur. Phrase : « Le fournisseur indique −40 % en moyenne ; clients et méthode non précisés : à recouper. »</a:t>
                      </a:r>
                    </a:p>
                  </a:txBody>
                  <a:tcPr marL="73152" marR="73152" marT="36576" marB="36576">
                    <a:solidFill>
                      <a:srgbClr val="FFFFFF"/>
                    </a:solidFill>
                  </a:tcPr>
                </a:tc>
              </a:tr>
              <a:tr h="237744">
                <a:tc>
                  <a:txBody>
                    <a:bodyPr wrap="square"/>
                    <a:lstStyle/>
                    <a:p>
                      <a:r>
                        <a:rPr sz="1100" b="1">
                          <a:solidFill>
                            <a:srgbClr val="1B1B1B"/>
                          </a:solidFill>
                          <a:latin typeface="Calibri"/>
                        </a:rPr>
                        <a:t>E · votre recherche</a:t>
                      </a:r>
                    </a:p>
                  </a:txBody>
                  <a:tcPr marL="73152" marR="73152" marT="36576" marB="36576">
                    <a:solidFill>
                      <a:srgbClr val="F3F5F9"/>
                    </a:solidFill>
                  </a:tcPr>
                </a:tc>
                <a:tc>
                  <a:txBody>
                    <a:bodyPr wrap="square"/>
                    <a:lstStyle/>
                    <a:p>
                      <a:r>
                        <a:rPr sz="1100" b="0">
                          <a:solidFill>
                            <a:srgbClr val="1B1B1B"/>
                          </a:solidFill>
                          <a:latin typeface="Calibri"/>
                        </a:rPr>
                        <a:t>Même démarche. Beaucoup de pages commerciales laissent 3 à 5 questions sans réponse : c'est le résultat attendu.</a:t>
                      </a:r>
                    </a:p>
                  </a:txBody>
                  <a:tcPr marL="73152" marR="73152" marT="36576" marB="36576">
                    <a:solidFill>
                      <a:srgbClr val="F3F5F9"/>
                    </a:solidFill>
                  </a:tcPr>
                </a:tc>
              </a:tr>
              <a:tr h="237744">
                <a:tc>
                  <a:txBody>
                    <a:bodyPr wrap="square"/>
                    <a:lstStyle/>
                    <a:p>
                      <a:r>
                        <a:rPr sz="1100" b="1">
                          <a:solidFill>
                            <a:srgbClr val="1B1B1B"/>
                          </a:solidFill>
                          <a:latin typeface="Calibri"/>
                        </a:rPr>
                        <a:t>IA · questions</a:t>
                      </a:r>
                    </a:p>
                  </a:txBody>
                  <a:tcPr marL="73152" marR="73152" marT="36576" marB="36576">
                    <a:solidFill>
                      <a:srgbClr val="FFFFFF"/>
                    </a:solidFill>
                  </a:tcPr>
                </a:tc>
                <a:tc>
                  <a:txBody>
                    <a:bodyPr wrap="square"/>
                    <a:lstStyle/>
                    <a:p>
                      <a:r>
                        <a:rPr sz="1100" b="0">
                          <a:solidFill>
                            <a:srgbClr val="1B1B1B"/>
                          </a:solidFill>
                          <a:latin typeface="Calibri"/>
                        </a:rPr>
                        <a:t>Souvent oui : l'IA oublie l'auteur ou la durée. Gardez les cinq questions du cours comme liste de contrôle.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Reprendre le chiffre sans le qualifier.</a:t>
            </a:r>
          </a:p>
          <a:p>
            <a:pPr algn="l" marL="201168" indent="-201168">
              <a:spcAft>
                <a:spcPts val="110"/>
              </a:spcAft>
              <a:buChar char="•"/>
            </a:pPr>
            <a:r>
              <a:rPr sz="1100" b="0" i="0">
                <a:solidFill>
                  <a:srgbClr val="1B1B1B"/>
                </a:solidFill>
                <a:latin typeface="Calibri"/>
              </a:rPr>
              <a:t>Rejeter la source : on peut la citer comme position du fournisseur.</a:t>
            </a:r>
          </a:p>
          <a:p>
            <a:pPr algn="l" marL="201168" indent="-201168">
              <a:spcAft>
                <a:spcPts val="110"/>
              </a:spcAft>
              <a:buChar char="•"/>
            </a:pPr>
            <a:r>
              <a:rPr sz="1100" b="0" i="0">
                <a:solidFill>
                  <a:srgbClr val="1B1B1B"/>
                </a:solidFill>
                <a:latin typeface="Calibri"/>
              </a:rPr>
              <a:t>Généraliser un chiffre sur des attaques automatisées à « toutes les attaques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Répondre à une objection</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88</a:t>
            </a:r>
          </a:p>
        </p:txBody>
      </p:sp>
      <p:sp>
        <p:nvSpPr>
          <p:cNvPr id="6" name="Rounded Rectangle 5"/>
          <p:cNvSpPr/>
          <p:nvPr/>
        </p:nvSpPr>
        <p:spPr>
          <a:xfrm>
            <a:off x="411480" y="1371600"/>
            <a:ext cx="259461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Écouter</a:t>
            </a:r>
          </a:p>
        </p:txBody>
      </p:sp>
      <p:sp>
        <p:nvSpPr>
          <p:cNvPr id="7" name="Rounded Rectangle 6"/>
          <p:cNvSpPr/>
          <p:nvPr/>
        </p:nvSpPr>
        <p:spPr>
          <a:xfrm>
            <a:off x="4114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Sans interrompre</a:t>
            </a:r>
          </a:p>
          <a:p>
            <a:pPr algn="l">
              <a:spcAft>
                <a:spcPts val="480"/>
              </a:spcAft>
            </a:pPr>
            <a:r>
              <a:rPr sz="1600" b="0" i="0">
                <a:solidFill>
                  <a:srgbClr val="1B1B1B"/>
                </a:solidFill>
                <a:latin typeface="Calibri"/>
              </a:rPr>
              <a:t>Ex. : « Le coût m'inquiète… »</a:t>
            </a:r>
          </a:p>
        </p:txBody>
      </p:sp>
      <p:sp>
        <p:nvSpPr>
          <p:cNvPr id="8" name="Right Arrow 7"/>
          <p:cNvSpPr/>
          <p:nvPr/>
        </p:nvSpPr>
        <p:spPr>
          <a:xfrm>
            <a:off x="30243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26130" y="1371600"/>
            <a:ext cx="259461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Reformuler</a:t>
            </a:r>
          </a:p>
        </p:txBody>
      </p:sp>
      <p:sp>
        <p:nvSpPr>
          <p:cNvPr id="10" name="Rounded Rectangle 9"/>
          <p:cNvSpPr/>
          <p:nvPr/>
        </p:nvSpPr>
        <p:spPr>
          <a:xfrm>
            <a:off x="33261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L'inquiétude derrière</a:t>
            </a:r>
          </a:p>
          <a:p>
            <a:pPr algn="l">
              <a:spcAft>
                <a:spcPts val="480"/>
              </a:spcAft>
            </a:pPr>
            <a:r>
              <a:rPr sz="1600" b="0" i="0">
                <a:solidFill>
                  <a:srgbClr val="1B1B1B"/>
                </a:solidFill>
                <a:latin typeface="Calibri"/>
              </a:rPr>
              <a:t>Ex. : « Vous craignez un coût qui s'ajoute ? »</a:t>
            </a:r>
          </a:p>
        </p:txBody>
      </p:sp>
      <p:sp>
        <p:nvSpPr>
          <p:cNvPr id="11" name="Right Arrow 10"/>
          <p:cNvSpPr/>
          <p:nvPr/>
        </p:nvSpPr>
        <p:spPr>
          <a:xfrm>
            <a:off x="59390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0780" y="1371600"/>
            <a:ext cx="259461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Répondre</a:t>
            </a:r>
          </a:p>
        </p:txBody>
      </p:sp>
      <p:sp>
        <p:nvSpPr>
          <p:cNvPr id="13" name="Rounded Rectangle 12"/>
          <p:cNvSpPr/>
          <p:nvPr/>
        </p:nvSpPr>
        <p:spPr>
          <a:xfrm>
            <a:off x="62407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 fait, une concession ou une réserve</a:t>
            </a:r>
          </a:p>
          <a:p>
            <a:pPr algn="l">
              <a:spcAft>
                <a:spcPts val="480"/>
              </a:spcAft>
            </a:pPr>
            <a:r>
              <a:rPr sz="1600" b="0" i="0">
                <a:solidFill>
                  <a:srgbClr val="1B1B1B"/>
                </a:solidFill>
                <a:latin typeface="Calibri"/>
              </a:rPr>
              <a:t>Ex. : « 150 € par mois ; rentable si le risque dépasse 5 %. »</a:t>
            </a:r>
          </a:p>
        </p:txBody>
      </p:sp>
      <p:sp>
        <p:nvSpPr>
          <p:cNvPr id="14" name="Right Arrow 13"/>
          <p:cNvSpPr/>
          <p:nvPr/>
        </p:nvSpPr>
        <p:spPr>
          <a:xfrm>
            <a:off x="88536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55430" y="1371600"/>
            <a:ext cx="259461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Vérifier</a:t>
            </a:r>
          </a:p>
        </p:txBody>
      </p:sp>
      <p:sp>
        <p:nvSpPr>
          <p:cNvPr id="16" name="Rounded Rectangle 15"/>
          <p:cNvSpPr/>
          <p:nvPr/>
        </p:nvSpPr>
        <p:spPr>
          <a:xfrm>
            <a:off x="91554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 Cela répond-il à votre question ? »</a:t>
            </a:r>
          </a:p>
          <a:p>
            <a:pPr algn="l">
              <a:spcAft>
                <a:spcPts val="480"/>
              </a:spcAft>
            </a:pPr>
            <a:r>
              <a:rPr sz="1600" b="0" i="0">
                <a:solidFill>
                  <a:srgbClr val="1B1B1B"/>
                </a:solidFill>
                <a:latin typeface="Calibri"/>
              </a:rPr>
              <a:t>Ex. : « Cela lève votre inquiétude ? »</a:t>
            </a:r>
          </a:p>
        </p:txBody>
      </p:sp>
      <p:sp>
        <p:nvSpPr>
          <p:cNvPr id="17" name="Rounded Rectangle 16"/>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Si vous ne savez pas : « Je ne dispose pas du chiffre ; je reviens vers vous avec la source avant demain. »</a:t>
            </a:r>
          </a:p>
        </p:txBody>
      </p:sp>
      <p:sp>
        <p:nvSpPr>
          <p:cNvPr id="18" name="TextBox 17"/>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Synthèse pédagogique de l'enseignant (écoute, reformulation, réponse) ; exemples fictifs de TransLor.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19</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Construire l'argument de votre équipe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EX19</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89</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25 min  ·  Carnet · chapitre 6  ·  Outil : modèle de Toulmin (application)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Construire votre premier argument complet avec Toulmin, appuyé par deux données sourcées : c'est le cœur de votre état de l'art.</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20"/>
              </a:spcAft>
            </a:pPr>
            <a:r>
              <a:rPr sz="1400" b="0" i="0">
                <a:solidFill>
                  <a:srgbClr val="1B1B1B"/>
                </a:solidFill>
                <a:latin typeface="Calibri"/>
              </a:rPr>
              <a:t>Votre équipe a une question (EX1) et des sources notées (EX12). Écrivez votre premier argument avec le modèle de Toulmin.</a:t>
            </a:r>
          </a:p>
          <a:p>
            <a:pPr algn="l">
              <a:spcAft>
                <a:spcPts val="420"/>
              </a:spcAft>
            </a:pPr>
            <a:r>
              <a:rPr sz="1400" b="0" i="0">
                <a:solidFill>
                  <a:srgbClr val="1B1B1B"/>
                </a:solidFill>
                <a:latin typeface="Calibri"/>
              </a:rPr>
              <a:t>Exemple (fictif) : Affirmation : « Activons les mises à jour automatiques. » Données : « 3 des 5 postes compromis en 2025 n'étaient pas à jour (journal interne, mars 2026) ; le guide de l'organisme X conseille les correctifs sous 30 jours (réf. 1). » Garantie : un poste à jour est exposé à moins de failles connues. Fondement : bonnes pratiques de gestion des correctifs (réf. 1). Réfutation : sauf si une mise à jour bloque un logiciel métier. Qualificatif : probablement, après test sur un poste pilote.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Écrivez l'affirmation provisoire (votre recommandation).</a:t>
            </a:r>
          </a:p>
          <a:p>
            <a:pPr algn="l" marL="274320" indent="-274320">
              <a:spcAft>
                <a:spcPts val="480"/>
              </a:spcAft>
              <a:buAutoNum type="arabicPeriod"/>
            </a:pPr>
            <a:r>
              <a:rPr sz="1600" b="0" i="0">
                <a:solidFill>
                  <a:srgbClr val="1B1B1B"/>
                </a:solidFill>
                <a:latin typeface="Calibri"/>
              </a:rPr>
              <a:t>Choisissez deux données, chacune avec sa source.</a:t>
            </a:r>
          </a:p>
          <a:p>
            <a:pPr algn="l" marL="274320" indent="-274320">
              <a:spcAft>
                <a:spcPts val="480"/>
              </a:spcAft>
              <a:buAutoNum type="arabicPeriod"/>
            </a:pPr>
            <a:r>
              <a:rPr sz="1600" b="0" i="0">
                <a:solidFill>
                  <a:srgbClr val="1B1B1B"/>
                </a:solidFill>
                <a:latin typeface="Calibri"/>
              </a:rPr>
              <a:t>Écrivez la garantie et le fondement.</a:t>
            </a:r>
          </a:p>
          <a:p>
            <a:pPr algn="l" marL="274320" indent="-274320">
              <a:spcAft>
                <a:spcPts val="480"/>
              </a:spcAft>
              <a:buAutoNum type="arabicPeriod"/>
            </a:pPr>
            <a:r>
              <a:rPr sz="1600" b="0" i="0">
                <a:solidFill>
                  <a:srgbClr val="1B1B1B"/>
                </a:solidFill>
                <a:latin typeface="Calibri"/>
              </a:rPr>
              <a:t>Cherchez une réfutation et choisissez un qualificatif.</a:t>
            </a:r>
          </a:p>
          <a:p>
            <a:pPr algn="l" marL="274320" indent="-274320">
              <a:spcAft>
                <a:spcPts val="480"/>
              </a:spcAft>
              <a:buAutoNum type="arabicPeriod"/>
            </a:pPr>
            <a:r>
              <a:rPr sz="1600" b="0" i="0">
                <a:solidFill>
                  <a:srgbClr val="1B1B1B"/>
                </a:solidFill>
                <a:latin typeface="Calibri"/>
              </a:rPr>
              <a:t>Avec ChatGPT ou une autre IA (notez laquelle) : demandez-lui 2 données possibles pour votre argument. Combien sont retrouvables dans une source réelle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Votre fiche de Toulmin dans le carnet. → Dossier, section 9.</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19.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19 — Construire l'argument de votre équipe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EX19</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90</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Les données portent une référence.</a:t>
            </a:r>
          </a:p>
          <a:p>
            <a:pPr algn="l" marL="274320" indent="-274320">
              <a:spcAft>
                <a:spcPts val="375"/>
              </a:spcAft>
              <a:buAutoNum type="arabicPeriod"/>
            </a:pPr>
            <a:r>
              <a:rPr sz="1500" b="0" i="0">
                <a:solidFill>
                  <a:srgbClr val="1B1B1B"/>
                </a:solidFill>
                <a:latin typeface="Calibri"/>
              </a:rPr>
              <a:t>La garantie explique le lien.</a:t>
            </a:r>
          </a:p>
          <a:p>
            <a:pPr algn="l" marL="274320" indent="-274320">
              <a:spcAft>
                <a:spcPts val="375"/>
              </a:spcAft>
              <a:buAutoNum type="arabicPeriod"/>
            </a:pPr>
            <a:r>
              <a:rPr sz="1500" b="0" i="0">
                <a:solidFill>
                  <a:srgbClr val="1B1B1B"/>
                </a:solidFill>
                <a:latin typeface="Calibri"/>
              </a:rPr>
              <a:t>La réfutation est cherchée, pas subie.</a:t>
            </a:r>
          </a:p>
          <a:p>
            <a:pPr algn="l" marL="274320" indent="-274320">
              <a:spcAft>
                <a:spcPts val="375"/>
              </a:spcAft>
              <a:buAutoNum type="arabicPeriod"/>
            </a:pPr>
            <a:r>
              <a:rPr sz="1500" b="0" i="0">
                <a:solidFill>
                  <a:srgbClr val="1B1B1B"/>
                </a:solidFill>
                <a:latin typeface="Calibri"/>
              </a:rPr>
              <a:t>Le qualificatif dit la portée.</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1645920"/>
                <a:gridCol w="6400800"/>
              </a:tblGrid>
              <a:tr h="237744">
                <a:tc>
                  <a:txBody>
                    <a:bodyPr wrap="square"/>
                    <a:lstStyle/>
                    <a:p>
                      <a:r>
                        <a:rPr sz="1600" b="1">
                          <a:solidFill>
                            <a:srgbClr val="FFFFFF"/>
                          </a:solidFill>
                          <a:latin typeface="Calibri"/>
                        </a:rPr>
                        <a:t>Case</a:t>
                      </a:r>
                    </a:p>
                  </a:txBody>
                  <a:tcPr marL="73152" marR="73152" marT="36576" marB="36576">
                    <a:solidFill>
                      <a:srgbClr val="1F2A5C"/>
                    </a:solidFill>
                  </a:tcPr>
                </a:tc>
                <a:tc>
                  <a:txBody>
                    <a:bodyPr wrap="square"/>
                    <a:lstStyle/>
                    <a:p>
                      <a:r>
                        <a:rPr sz="1600" b="1">
                          <a:solidFill>
                            <a:srgbClr val="FFFFFF"/>
                          </a:solidFill>
                          <a:latin typeface="Calibri"/>
                        </a:rPr>
                        <a:t>Exemple (sauvegarde de TransLor, fictif)</a:t>
                      </a:r>
                    </a:p>
                  </a:txBody>
                  <a:tcPr marL="73152" marR="73152" marT="36576" marB="36576">
                    <a:solidFill>
                      <a:srgbClr val="1F2A5C"/>
                    </a:solidFill>
                  </a:tcPr>
                </a:tc>
              </a:tr>
              <a:tr h="237744">
                <a:tc>
                  <a:txBody>
                    <a:bodyPr wrap="square"/>
                    <a:lstStyle/>
                    <a:p>
                      <a:r>
                        <a:rPr sz="1600" b="1">
                          <a:solidFill>
                            <a:srgbClr val="1B1B1B"/>
                          </a:solidFill>
                          <a:latin typeface="Calibri"/>
                        </a:rPr>
                        <a:t>Affirmation</a:t>
                      </a:r>
                    </a:p>
                  </a:txBody>
                  <a:tcPr marL="73152" marR="73152" marT="36576" marB="36576">
                    <a:solidFill>
                      <a:srgbClr val="FFFFFF"/>
                    </a:solidFill>
                  </a:tcPr>
                </a:tc>
                <a:tc>
                  <a:txBody>
                    <a:bodyPr wrap="square"/>
                    <a:lstStyle/>
                    <a:p>
                      <a:r>
                        <a:rPr sz="1600" b="0">
                          <a:solidFill>
                            <a:srgbClr val="1B1B1B"/>
                          </a:solidFill>
                          <a:latin typeface="Calibri"/>
                        </a:rPr>
                        <a:t>TransLor devrait ajouter une copie hors site de ses sauvegardes</a:t>
                      </a:r>
                    </a:p>
                  </a:txBody>
                  <a:tcPr marL="73152" marR="73152" marT="36576" marB="36576">
                    <a:solidFill>
                      <a:srgbClr val="FFFFFF"/>
                    </a:solidFill>
                  </a:tcPr>
                </a:tc>
              </a:tr>
              <a:tr h="237744">
                <a:tc>
                  <a:txBody>
                    <a:bodyPr wrap="square"/>
                    <a:lstStyle/>
                    <a:p>
                      <a:r>
                        <a:rPr sz="1600" b="1">
                          <a:solidFill>
                            <a:srgbClr val="1B1B1B"/>
                          </a:solidFill>
                          <a:latin typeface="Calibri"/>
                        </a:rPr>
                        <a:t>Données</a:t>
                      </a:r>
                    </a:p>
                  </a:txBody>
                  <a:tcPr marL="73152" marR="73152" marT="36576" marB="36576">
                    <a:solidFill>
                      <a:srgbClr val="F3F5F9"/>
                    </a:solidFill>
                  </a:tcPr>
                </a:tc>
                <a:tc>
                  <a:txBody>
                    <a:bodyPr wrap="square"/>
                    <a:lstStyle/>
                    <a:p>
                      <a:r>
                        <a:rPr sz="1600" b="0">
                          <a:solidFill>
                            <a:srgbClr val="1B1B1B"/>
                          </a:solidFill>
                          <a:latin typeface="Calibri"/>
                        </a:rPr>
                        <a:t>Disque unique de 3 ans ; restauration de 9 h lors du test de juin (interne)</a:t>
                      </a:r>
                    </a:p>
                  </a:txBody>
                  <a:tcPr marL="73152" marR="73152" marT="36576" marB="36576">
                    <a:solidFill>
                      <a:srgbClr val="F3F5F9"/>
                    </a:solidFill>
                  </a:tcPr>
                </a:tc>
              </a:tr>
              <a:tr h="237744">
                <a:tc>
                  <a:txBody>
                    <a:bodyPr wrap="square"/>
                    <a:lstStyle/>
                    <a:p>
                      <a:r>
                        <a:rPr sz="1600" b="1">
                          <a:solidFill>
                            <a:srgbClr val="1B1B1B"/>
                          </a:solidFill>
                          <a:latin typeface="Calibri"/>
                        </a:rPr>
                        <a:t>Garantie</a:t>
                      </a:r>
                    </a:p>
                  </a:txBody>
                  <a:tcPr marL="73152" marR="73152" marT="36576" marB="36576">
                    <a:solidFill>
                      <a:srgbClr val="FFFFFF"/>
                    </a:solidFill>
                  </a:tcPr>
                </a:tc>
                <a:tc>
                  <a:txBody>
                    <a:bodyPr wrap="square"/>
                    <a:lstStyle/>
                    <a:p>
                      <a:r>
                        <a:rPr sz="1600" b="0">
                          <a:solidFill>
                            <a:srgbClr val="1B1B1B"/>
                          </a:solidFill>
                          <a:latin typeface="Calibri"/>
                        </a:rPr>
                        <a:t>Une copie hors site permet de restaurer même si le local est touché, et réduit le temps d'arrêt</a:t>
                      </a:r>
                    </a:p>
                  </a:txBody>
                  <a:tcPr marL="73152" marR="73152" marT="36576" marB="36576">
                    <a:solidFill>
                      <a:srgbClr val="FFFFFF"/>
                    </a:solidFill>
                  </a:tcPr>
                </a:tc>
              </a:tr>
              <a:tr h="237744">
                <a:tc>
                  <a:txBody>
                    <a:bodyPr wrap="square"/>
                    <a:lstStyle/>
                    <a:p>
                      <a:r>
                        <a:rPr sz="1600" b="1">
                          <a:solidFill>
                            <a:srgbClr val="1B1B1B"/>
                          </a:solidFill>
                          <a:latin typeface="Calibri"/>
                        </a:rPr>
                        <a:t>Fondement</a:t>
                      </a:r>
                    </a:p>
                  </a:txBody>
                  <a:tcPr marL="73152" marR="73152" marT="36576" marB="36576">
                    <a:solidFill>
                      <a:srgbClr val="F3F5F9"/>
                    </a:solidFill>
                  </a:tcPr>
                </a:tc>
                <a:tc>
                  <a:txBody>
                    <a:bodyPr wrap="square"/>
                    <a:lstStyle/>
                    <a:p>
                      <a:r>
                        <a:rPr sz="1600" b="0">
                          <a:solidFill>
                            <a:srgbClr val="1B1B1B"/>
                          </a:solidFill>
                          <a:latin typeface="Calibri"/>
                        </a:rPr>
                        <a:t>Règle 3-2-1 des bonnes pratiques de sauvegarde (à sourcer : guide d'organisme public)</a:t>
                      </a:r>
                    </a:p>
                  </a:txBody>
                  <a:tcPr marL="73152" marR="73152" marT="36576" marB="36576">
                    <a:solidFill>
                      <a:srgbClr val="F3F5F9"/>
                    </a:solidFill>
                  </a:tcPr>
                </a:tc>
              </a:tr>
              <a:tr h="237744">
                <a:tc>
                  <a:txBody>
                    <a:bodyPr wrap="square"/>
                    <a:lstStyle/>
                    <a:p>
                      <a:r>
                        <a:rPr sz="1600" b="1">
                          <a:solidFill>
                            <a:srgbClr val="1B1B1B"/>
                          </a:solidFill>
                          <a:latin typeface="Calibri"/>
                        </a:rPr>
                        <a:t>Réfutation</a:t>
                      </a:r>
                    </a:p>
                  </a:txBody>
                  <a:tcPr marL="73152" marR="73152" marT="36576" marB="36576">
                    <a:solidFill>
                      <a:srgbClr val="FFFFFF"/>
                    </a:solidFill>
                  </a:tcPr>
                </a:tc>
                <a:tc>
                  <a:txBody>
                    <a:bodyPr wrap="square"/>
                    <a:lstStyle/>
                    <a:p>
                      <a:r>
                        <a:rPr sz="1600" b="0">
                          <a:solidFill>
                            <a:srgbClr val="1B1B1B"/>
                          </a:solidFill>
                          <a:latin typeface="Calibri"/>
                        </a:rPr>
                        <a:t>Sauf si les données sont peu critiques, ou si le débit empêche de restaurer vite</a:t>
                      </a:r>
                    </a:p>
                  </a:txBody>
                  <a:tcPr marL="73152" marR="73152" marT="36576" marB="36576">
                    <a:solidFill>
                      <a:srgbClr val="FFFFFF"/>
                    </a:solidFill>
                  </a:tcPr>
                </a:tc>
              </a:tr>
              <a:tr h="237744">
                <a:tc>
                  <a:txBody>
                    <a:bodyPr wrap="square"/>
                    <a:lstStyle/>
                    <a:p>
                      <a:r>
                        <a:rPr sz="1600" b="1">
                          <a:solidFill>
                            <a:srgbClr val="1B1B1B"/>
                          </a:solidFill>
                          <a:latin typeface="Calibri"/>
                        </a:rPr>
                        <a:t>Qualificatif</a:t>
                      </a:r>
                    </a:p>
                  </a:txBody>
                  <a:tcPr marL="73152" marR="73152" marT="36576" marB="36576">
                    <a:solidFill>
                      <a:srgbClr val="F3F5F9"/>
                    </a:solidFill>
                  </a:tcPr>
                </a:tc>
                <a:tc>
                  <a:txBody>
                    <a:bodyPr wrap="square"/>
                    <a:lstStyle/>
                    <a:p>
                      <a:r>
                        <a:rPr sz="1600" b="0">
                          <a:solidFill>
                            <a:srgbClr val="1B1B1B"/>
                          </a:solidFill>
                          <a:latin typeface="Calibri"/>
                        </a:rPr>
                        <a:t>Probablement, pour les données d'exploitation ; sous réserve de tester la restauration depuis le cloud</a:t>
                      </a:r>
                    </a:p>
                  </a:txBody>
                  <a:tcPr marL="73152" marR="73152" marT="36576" marB="36576">
                    <a:solidFill>
                      <a:srgbClr val="F3F5F9"/>
                    </a:solidFill>
                  </a:tcPr>
                </a:tc>
              </a:tr>
              <a:tr h="237744">
                <a:tc>
                  <a:txBody>
                    <a:bodyPr wrap="square"/>
                    <a:lstStyle/>
                    <a:p>
                      <a:r>
                        <a:rPr sz="1600" b="1">
                          <a:solidFill>
                            <a:srgbClr val="1B1B1B"/>
                          </a:solidFill>
                          <a:latin typeface="Calibri"/>
                        </a:rPr>
                        <a:t>IA · données proposées</a:t>
                      </a:r>
                    </a:p>
                  </a:txBody>
                  <a:tcPr marL="73152" marR="73152" marT="36576" marB="36576">
                    <a:solidFill>
                      <a:srgbClr val="FFFFFF"/>
                    </a:solidFill>
                  </a:tcPr>
                </a:tc>
                <a:tc>
                  <a:txBody>
                    <a:bodyPr wrap="square"/>
                    <a:lstStyle/>
                    <a:p>
                      <a:r>
                        <a:rPr sz="1600" b="0">
                          <a:solidFill>
                            <a:srgbClr val="1B1B1B"/>
                          </a:solidFill>
                          <a:latin typeface="Calibri"/>
                        </a:rPr>
                        <a:t>Souvent 0 ou 1 : des chiffres plausibles mais sans source. Une donnée utilisable porte une référence que vous avez ouverte.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Une donnée sans référence.</a:t>
            </a:r>
          </a:p>
          <a:p>
            <a:pPr algn="l" marL="201168" indent="-201168">
              <a:spcAft>
                <a:spcPts val="110"/>
              </a:spcAft>
              <a:buChar char="•"/>
            </a:pPr>
            <a:r>
              <a:rPr sz="1100" b="0" i="0">
                <a:solidFill>
                  <a:srgbClr val="1B1B1B"/>
                </a:solidFill>
                <a:latin typeface="Calibri"/>
              </a:rPr>
              <a:t>Une garantie qui répète l'affirmation.</a:t>
            </a:r>
          </a:p>
          <a:p>
            <a:pPr algn="l" marL="201168" indent="-201168">
              <a:spcAft>
                <a:spcPts val="110"/>
              </a:spcAft>
              <a:buChar char="•"/>
            </a:pPr>
            <a:r>
              <a:rPr sz="1100" b="0" i="0">
                <a:solidFill>
                  <a:srgbClr val="1B1B1B"/>
                </a:solidFill>
                <a:latin typeface="Calibri"/>
              </a:rPr>
              <a:t>Pas de réfutation : le jury en trouvera trois.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20</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Avocat du diable : l'IA puis l'équipe voisine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EX20</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91</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20 min  ·  Carnet · chapitre 6  ·  Outil : IA générative + modèle de Toulmin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Tester votre argument face aux objections d'une IA, puis d'une autre équipe, et préparer des réponses honnêtes (fait, concession, réserve).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570"/>
              </a:spcAft>
            </a:pPr>
            <a:r>
              <a:rPr sz="1900" b="0" i="0">
                <a:solidFill>
                  <a:srgbClr val="1B1B1B"/>
                </a:solidFill>
                <a:latin typeface="Calibri"/>
              </a:rPr>
              <a:t>Votre équipe a sa fiche de Toulmin (EX19). Sans donnée confidentielle, demandez à une IA de jouer l'avocat du diable : « Voici mon argument (affirmation, données, garantie). Donne les 3 objections les plus fortes d'un directeur financier sceptique, sans inventer de chiffres. »</a:t>
            </a:r>
          </a:p>
          <a:p>
            <a:pPr algn="l">
              <a:spcAft>
                <a:spcPts val="570"/>
              </a:spcAft>
            </a:pPr>
            <a:r>
              <a:rPr sz="1900" b="0" i="0">
                <a:solidFill>
                  <a:srgbClr val="1B1B1B"/>
                </a:solidFill>
                <a:latin typeface="Calibri"/>
              </a:rPr>
              <a:t>Puis l'équipe voisine ajoute une objection que l'IA n'a pas vue, et vous répondez par un fait, une concession ou une réserve.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Collez votre argument dans une IA (sans donnée confidentielle) et recopiez ses 3 objections. Notez le nom de l'IA utilisée.</a:t>
            </a:r>
          </a:p>
          <a:p>
            <a:pPr algn="l" marL="274320" indent="-274320">
              <a:spcAft>
                <a:spcPts val="540"/>
              </a:spcAft>
              <a:buAutoNum type="arabicPeriod"/>
            </a:pPr>
            <a:r>
              <a:rPr sz="1800" b="0" i="0">
                <a:solidFill>
                  <a:srgbClr val="1B1B1B"/>
                </a:solidFill>
                <a:latin typeface="Calibri"/>
              </a:rPr>
              <a:t>Combien sont pertinentes pour votre cas ?</a:t>
            </a:r>
          </a:p>
          <a:p>
            <a:pPr algn="l" marL="274320" indent="-274320">
              <a:spcAft>
                <a:spcPts val="540"/>
              </a:spcAft>
              <a:buAutoNum type="arabicPeriod"/>
            </a:pPr>
            <a:r>
              <a:rPr sz="1800" b="0" i="0">
                <a:solidFill>
                  <a:srgbClr val="1B1B1B"/>
                </a:solidFill>
                <a:latin typeface="Calibri"/>
              </a:rPr>
              <a:t>L'équipe voisine ajoute une objection : laquelle ?</a:t>
            </a:r>
          </a:p>
          <a:p>
            <a:pPr algn="l" marL="274320" indent="-274320">
              <a:spcAft>
                <a:spcPts val="540"/>
              </a:spcAft>
              <a:buAutoNum type="arabicPeriod"/>
            </a:pPr>
            <a:r>
              <a:rPr sz="1800" b="0" i="0">
                <a:solidFill>
                  <a:srgbClr val="1B1B1B"/>
                </a:solidFill>
                <a:latin typeface="Calibri"/>
              </a:rPr>
              <a:t>Répondez à deux objections (fait, concession ou réserve).</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Deux objections et les réponses retenues → Dossier, section 10.</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0.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39"/>
              </a:spcAft>
            </a:pPr>
            <a:r>
              <a:rPr sz="2400" b="1" i="0">
                <a:solidFill>
                  <a:srgbClr val="FFFFFF"/>
                </a:solidFill>
                <a:latin typeface="Calibri"/>
              </a:rPr>
              <a:t>Correction · EX 20 — Avocat du diable : l'IA puis l'équipe voisine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EX20</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92</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Écouter, reformuler, répondre, vérifier.</a:t>
            </a:r>
          </a:p>
          <a:p>
            <a:pPr algn="l" marL="274320" indent="-274320">
              <a:spcAft>
                <a:spcPts val="375"/>
              </a:spcAft>
              <a:buAutoNum type="arabicPeriod"/>
            </a:pPr>
            <a:r>
              <a:rPr sz="1500" b="0" i="0">
                <a:solidFill>
                  <a:srgbClr val="1B1B1B"/>
                </a:solidFill>
                <a:latin typeface="Calibri"/>
              </a:rPr>
              <a:t>Fait si on l'a ; concession si l'objection est juste ; réserve si on ne sait pas.</a:t>
            </a:r>
          </a:p>
          <a:p>
            <a:pPr algn="l" marL="274320" indent="-274320">
              <a:spcAft>
                <a:spcPts val="375"/>
              </a:spcAft>
              <a:buAutoNum type="arabicPeriod"/>
            </a:pPr>
            <a:r>
              <a:rPr sz="1500" b="0" i="0">
                <a:solidFill>
                  <a:srgbClr val="1B1B1B"/>
                </a:solidFill>
                <a:latin typeface="Calibri"/>
              </a:rPr>
              <a:t>Une IA propose des objections plausibles : c'est à vous de juger leur pertinence.</a:t>
            </a:r>
          </a:p>
        </p:txBody>
      </p:sp>
      <p:graphicFrame>
        <p:nvGraphicFramePr>
          <p:cNvPr id="9" name="Table 8"/>
          <p:cNvGraphicFramePr>
            <a:graphicFrameLocks noGrp="1"/>
          </p:cNvGraphicFramePr>
          <p:nvPr/>
        </p:nvGraphicFramePr>
        <p:xfrm>
          <a:off x="3703320" y="1097280"/>
          <a:ext cx="8046720" cy="1188720"/>
        </p:xfrm>
        <a:graphic>
          <a:graphicData uri="http://schemas.openxmlformats.org/drawingml/2006/table">
            <a:tbl>
              <a:tblPr firstRow="0" bandRow="0">
                <a:tableStyleId>{5C22544A-7EE6-4342-B048-85BDC9FD1C3A}</a:tableStyleId>
              </a:tblPr>
              <a:tblGrid>
                <a:gridCol w="2011680"/>
                <a:gridCol w="6035040"/>
              </a:tblGrid>
              <a:tr h="237744">
                <a:tc>
                  <a:txBody>
                    <a:bodyPr wrap="square"/>
                    <a:lstStyle/>
                    <a:p>
                      <a:r>
                        <a:rPr sz="1700" b="1">
                          <a:solidFill>
                            <a:srgbClr val="FFFFFF"/>
                          </a:solidFill>
                          <a:latin typeface="Calibri"/>
                        </a:rPr>
                        <a:t>Type de réponse</a:t>
                      </a:r>
                    </a:p>
                  </a:txBody>
                  <a:tcPr marL="73152" marR="73152" marT="36576" marB="36576">
                    <a:solidFill>
                      <a:srgbClr val="1F2A5C"/>
                    </a:solidFill>
                  </a:tcPr>
                </a:tc>
                <a:tc>
                  <a:txBody>
                    <a:bodyPr wrap="square"/>
                    <a:lstStyle/>
                    <a:p>
                      <a:r>
                        <a:rPr sz="1700" b="1">
                          <a:solidFill>
                            <a:srgbClr val="FFFFFF"/>
                          </a:solidFill>
                          <a:latin typeface="Calibri"/>
                        </a:rPr>
                        <a:t>Exemple</a:t>
                      </a:r>
                    </a:p>
                  </a:txBody>
                  <a:tcPr marL="73152" marR="73152" marT="36576" marB="36576">
                    <a:solidFill>
                      <a:srgbClr val="1F2A5C"/>
                    </a:solidFill>
                  </a:tcPr>
                </a:tc>
              </a:tr>
              <a:tr h="237744">
                <a:tc>
                  <a:txBody>
                    <a:bodyPr wrap="square"/>
                    <a:lstStyle/>
                    <a:p>
                      <a:r>
                        <a:rPr sz="1700" b="1">
                          <a:solidFill>
                            <a:srgbClr val="1B1B1B"/>
                          </a:solidFill>
                          <a:latin typeface="Calibri"/>
                        </a:rPr>
                        <a:t>Un fait</a:t>
                      </a:r>
                    </a:p>
                  </a:txBody>
                  <a:tcPr marL="73152" marR="73152" marT="36576" marB="36576">
                    <a:solidFill>
                      <a:srgbClr val="FFFFFF"/>
                    </a:solidFill>
                  </a:tcPr>
                </a:tc>
                <a:tc>
                  <a:txBody>
                    <a:bodyPr wrap="square"/>
                    <a:lstStyle/>
                    <a:p>
                      <a:r>
                        <a:rPr sz="1700" b="0">
                          <a:solidFill>
                            <a:srgbClr val="1B1B1B"/>
                          </a:solidFill>
                          <a:latin typeface="Calibri"/>
                        </a:rPr>
                        <a:t>« Le test de juin donne 9 h de restauration ; le prestataire annonce 3 h. »</a:t>
                      </a:r>
                    </a:p>
                  </a:txBody>
                  <a:tcPr marL="73152" marR="73152" marT="36576" marB="36576">
                    <a:solidFill>
                      <a:srgbClr val="FFFFFF"/>
                    </a:solidFill>
                  </a:tcPr>
                </a:tc>
              </a:tr>
              <a:tr h="237744">
                <a:tc>
                  <a:txBody>
                    <a:bodyPr wrap="square"/>
                    <a:lstStyle/>
                    <a:p>
                      <a:r>
                        <a:rPr sz="1700" b="1">
                          <a:solidFill>
                            <a:srgbClr val="1B1B1B"/>
                          </a:solidFill>
                          <a:latin typeface="Calibri"/>
                        </a:rPr>
                        <a:t>Une concession</a:t>
                      </a:r>
                    </a:p>
                  </a:txBody>
                  <a:tcPr marL="73152" marR="73152" marT="36576" marB="36576">
                    <a:solidFill>
                      <a:srgbClr val="F3F5F9"/>
                    </a:solidFill>
                  </a:tcPr>
                </a:tc>
                <a:tc>
                  <a:txBody>
                    <a:bodyPr wrap="square"/>
                    <a:lstStyle/>
                    <a:p>
                      <a:r>
                        <a:rPr sz="1700" b="0">
                          <a:solidFill>
                            <a:srgbClr val="1B1B1B"/>
                          </a:solidFill>
                          <a:latin typeface="Calibri"/>
                        </a:rPr>
                        <a:t>« Vous avez raison : le coût mensuel s'ajoute. Je précise la conclusion : rentable si le risque dépasse 5 %. »</a:t>
                      </a:r>
                    </a:p>
                  </a:txBody>
                  <a:tcPr marL="73152" marR="73152" marT="36576" marB="36576">
                    <a:solidFill>
                      <a:srgbClr val="F3F5F9"/>
                    </a:solidFill>
                  </a:tcPr>
                </a:tc>
              </a:tr>
              <a:tr h="237744">
                <a:tc>
                  <a:txBody>
                    <a:bodyPr wrap="square"/>
                    <a:lstStyle/>
                    <a:p>
                      <a:r>
                        <a:rPr sz="1700" b="1">
                          <a:solidFill>
                            <a:srgbClr val="1B1B1B"/>
                          </a:solidFill>
                          <a:latin typeface="Calibri"/>
                        </a:rPr>
                        <a:t>Une réserve</a:t>
                      </a:r>
                    </a:p>
                  </a:txBody>
                  <a:tcPr marL="73152" marR="73152" marT="36576" marB="36576">
                    <a:solidFill>
                      <a:srgbClr val="FFFFFF"/>
                    </a:solidFill>
                  </a:tcPr>
                </a:tc>
                <a:tc>
                  <a:txBody>
                    <a:bodyPr wrap="square"/>
                    <a:lstStyle/>
                    <a:p>
                      <a:r>
                        <a:rPr sz="1700" b="0">
                          <a:solidFill>
                            <a:srgbClr val="1B1B1B"/>
                          </a:solidFill>
                          <a:latin typeface="Calibri"/>
                        </a:rPr>
                        <a:t>« Je n'ai pas le chiffre du débit : je le vérifie par un test avant la décision. »</a:t>
                      </a:r>
                    </a:p>
                  </a:txBody>
                  <a:tcPr marL="73152" marR="73152" marT="36576" marB="36576">
                    <a:solidFill>
                      <a:srgbClr val="FFFFFF"/>
                    </a:solidFill>
                  </a:tcPr>
                </a:tc>
              </a:tr>
              <a:tr h="237744">
                <a:tc>
                  <a:txBody>
                    <a:bodyPr wrap="square"/>
                    <a:lstStyle/>
                    <a:p>
                      <a:r>
                        <a:rPr sz="1700" b="1">
                          <a:solidFill>
                            <a:srgbClr val="1B1B1B"/>
                          </a:solidFill>
                          <a:latin typeface="Calibri"/>
                        </a:rPr>
                        <a:t>Piège IA</a:t>
                      </a:r>
                    </a:p>
                  </a:txBody>
                  <a:tcPr marL="73152" marR="73152" marT="36576" marB="36576">
                    <a:solidFill>
                      <a:srgbClr val="F3F5F9"/>
                    </a:solidFill>
                  </a:tcPr>
                </a:tc>
                <a:tc>
                  <a:txBody>
                    <a:bodyPr wrap="square"/>
                    <a:lstStyle/>
                    <a:p>
                      <a:r>
                        <a:rPr sz="1700" b="0">
                          <a:solidFill>
                            <a:srgbClr val="1B1B1B"/>
                          </a:solidFill>
                          <a:latin typeface="Calibri"/>
                        </a:rPr>
                        <a:t>Si l'IA propose un chiffre pour réfuter une objection : le chercher et le sourcer avant de l'utiliser</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Se justifier longuement.</a:t>
            </a:r>
          </a:p>
          <a:p>
            <a:pPr algn="l" marL="201168" indent="-201168">
              <a:spcAft>
                <a:spcPts val="110"/>
              </a:spcAft>
              <a:buChar char="•"/>
            </a:pPr>
            <a:r>
              <a:rPr sz="1100" b="0" i="0">
                <a:solidFill>
                  <a:srgbClr val="1B1B1B"/>
                </a:solidFill>
                <a:latin typeface="Calibri"/>
              </a:rPr>
              <a:t>Nier une objection fondée.</a:t>
            </a:r>
          </a:p>
          <a:p>
            <a:pPr algn="l" marL="201168" indent="-201168">
              <a:spcAft>
                <a:spcPts val="110"/>
              </a:spcAft>
              <a:buChar char="•"/>
            </a:pPr>
            <a:r>
              <a:rPr sz="1100" b="0" i="0">
                <a:solidFill>
                  <a:srgbClr val="1B1B1B"/>
                </a:solidFill>
                <a:latin typeface="Calibri"/>
              </a:rPr>
              <a:t>Reprendre tel quel un chiffre proposé par l'IA.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F</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Comparer et décider avec des chiffres</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Partie 2 du syllabus · exercices V7, V8, EX21, EX22</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Choisir des critères mesurables</a:t>
            </a:r>
          </a:p>
          <a:p>
            <a:pPr algn="l" marL="201168" indent="-201168">
              <a:spcAft>
                <a:spcPts val="700"/>
              </a:spcAft>
              <a:buChar char="•"/>
            </a:pPr>
            <a:r>
              <a:rPr sz="2000" b="0" i="0">
                <a:solidFill>
                  <a:srgbClr val="FFFFFF"/>
                </a:solidFill>
                <a:latin typeface="Calibri"/>
              </a:rPr>
              <a:t>Critiquer un classement ou un comparateur</a:t>
            </a:r>
          </a:p>
          <a:p>
            <a:pPr algn="l" marL="201168" indent="-201168">
              <a:spcAft>
                <a:spcPts val="700"/>
              </a:spcAft>
              <a:buChar char="•"/>
            </a:pPr>
            <a:r>
              <a:rPr sz="2000" b="0" i="0">
                <a:solidFill>
                  <a:srgbClr val="FFFFFF"/>
                </a:solidFill>
                <a:latin typeface="Calibri"/>
              </a:rPr>
              <a:t>Savoir si un écart est réel ou du bruit</a:t>
            </a:r>
          </a:p>
          <a:p>
            <a:pPr algn="l" marL="201168" indent="-201168">
              <a:spcAft>
                <a:spcPts val="700"/>
              </a:spcAft>
              <a:buChar char="•"/>
            </a:pPr>
            <a:r>
              <a:rPr sz="2000" b="0" i="0">
                <a:solidFill>
                  <a:srgbClr val="FFFFFF"/>
                </a:solidFill>
                <a:latin typeface="Calibri"/>
              </a:rPr>
              <a:t>Construire une matrice pondérée dans un tableur</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P2 · Se documenter et restituer un état de l'art, par écrit et à l'oral</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Benchmark : cinq étapes pour comparer avec méthode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94</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Périmètre et objectifs</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Que compare-t-on, pour décider quoi ?</a:t>
            </a:r>
          </a:p>
          <a:p>
            <a:pPr algn="l">
              <a:spcAft>
                <a:spcPts val="480"/>
              </a:spcAft>
            </a:pPr>
            <a:r>
              <a:rPr sz="1600" b="0" i="0">
                <a:solidFill>
                  <a:srgbClr val="1B1B1B"/>
                </a:solidFill>
                <a:latin typeface="Calibri"/>
              </a:rPr>
              <a:t>Ex. : trois solutions de sauvegarde</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Référents</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Avec qui se comparer : 3 à 7</a:t>
            </a:r>
          </a:p>
          <a:p>
            <a:pPr algn="l">
              <a:spcAft>
                <a:spcPts val="480"/>
              </a:spcAft>
            </a:pPr>
            <a:r>
              <a:rPr sz="1600" b="0" i="0">
                <a:solidFill>
                  <a:srgbClr val="1B1B1B"/>
                </a:solidFill>
                <a:latin typeface="Calibri"/>
              </a:rPr>
              <a:t>Ex. : local, cloud, hybride</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Collecte documentée</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Source, méthode, date notées</a:t>
            </a:r>
          </a:p>
          <a:p>
            <a:pPr algn="l">
              <a:spcAft>
                <a:spcPts val="480"/>
              </a:spcAft>
            </a:pPr>
            <a:r>
              <a:rPr sz="1600" b="0" i="0">
                <a:solidFill>
                  <a:srgbClr val="1B1B1B"/>
                </a:solidFill>
                <a:latin typeface="Calibri"/>
              </a:rPr>
              <a:t>Ex. : test de restauration de juin</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Écarts</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Analyser les différences</a:t>
            </a:r>
          </a:p>
          <a:p>
            <a:pPr algn="l">
              <a:spcAft>
                <a:spcPts val="480"/>
              </a:spcAft>
            </a:pPr>
            <a:r>
              <a:rPr sz="1600" b="0" i="0">
                <a:solidFill>
                  <a:srgbClr val="1B1B1B"/>
                </a:solidFill>
                <a:latin typeface="Calibri"/>
              </a:rPr>
              <a:t>Ex. : 9 h contre 3 h</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Actions</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Décider, mesurer, ajuster</a:t>
            </a:r>
          </a:p>
          <a:p>
            <a:pPr algn="l">
              <a:spcAft>
                <a:spcPts val="480"/>
              </a:spcAft>
            </a:pPr>
            <a:r>
              <a:rPr sz="1600" b="0" i="0">
                <a:solidFill>
                  <a:srgbClr val="1B1B1B"/>
                </a:solidFill>
                <a:latin typeface="Calibri"/>
              </a:rPr>
              <a:t>Ex. : tester l'hybride un mois</a:t>
            </a:r>
          </a:p>
        </p:txBody>
      </p:sp>
      <p:sp>
        <p:nvSpPr>
          <p:cNvPr id="20" name="Rounded Rectangle 19"/>
          <p:cNvSpPr/>
          <p:nvPr/>
        </p:nvSpPr>
        <p:spPr>
          <a:xfrm>
            <a:off x="411480" y="4846320"/>
            <a:ext cx="11338560" cy="731520"/>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 3 à 7 référents » est un repère du support, pas une règle : trop peu n'éclaire pas, trop noie la comparaison.</a:t>
            </a:r>
          </a:p>
        </p:txBody>
      </p:sp>
      <p:sp>
        <p:nvSpPr>
          <p:cNvPr id="21" name="Rounded Rectangle 20"/>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Le benchmark est la partie « comparer » de l'état de l'art : il alimente la matrice (EX21, EX22). Limites : données non comparables, concurrents qui ne publient pas.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Choisir des critères mesurables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95</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Indicateur clé de performance</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En anglais key performance indicator (KPI) : une mesure liée à l'objectif.</a:t>
            </a:r>
          </a:p>
          <a:p>
            <a:pPr algn="l">
              <a:spcAft>
                <a:spcPts val="509"/>
              </a:spcAft>
            </a:pPr>
            <a:r>
              <a:rPr sz="1700" b="0" i="0">
                <a:solidFill>
                  <a:srgbClr val="1B1B1B"/>
                </a:solidFill>
                <a:latin typeface="Calibri"/>
              </a:rPr>
              <a:t>Ex. : temps de restauration en heures</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Mesurable</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 nombre et une unité : n'importe qui peut refaire la mesure.</a:t>
            </a:r>
          </a:p>
          <a:p>
            <a:pPr algn="l">
              <a:spcAft>
                <a:spcPts val="509"/>
              </a:spcAft>
            </a:pPr>
            <a:r>
              <a:rPr sz="1700" b="0" i="0">
                <a:solidFill>
                  <a:srgbClr val="1B1B1B"/>
                </a:solidFill>
                <a:latin typeface="Calibri"/>
              </a:rPr>
              <a:t>Ex. : « restauration en 3 h » se mesure ; « restauration rapide » non (rapide pour qui ? par rapport à quoi ?)</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Comparable</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Même méthode pour chaque référent.</a:t>
            </a:r>
          </a:p>
          <a:p>
            <a:pPr algn="l">
              <a:spcAft>
                <a:spcPts val="509"/>
              </a:spcAft>
            </a:pPr>
            <a:r>
              <a:rPr sz="1700" b="0" i="0">
                <a:solidFill>
                  <a:srgbClr val="1B1B1B"/>
                </a:solidFill>
                <a:latin typeface="Calibri"/>
              </a:rPr>
              <a:t>Ex. : même volume de données</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Daté et sourcé</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Date, source, méthode.</a:t>
            </a:r>
          </a:p>
          <a:p>
            <a:pPr algn="l">
              <a:spcAft>
                <a:spcPts val="509"/>
              </a:spcAft>
            </a:pPr>
            <a:r>
              <a:rPr sz="1700" b="0" i="0">
                <a:solidFill>
                  <a:srgbClr val="1B1B1B"/>
                </a:solidFill>
                <a:latin typeface="Calibri"/>
              </a:rPr>
              <a:t>Ex. : test interne, juin 2026</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Un objectif SMART combine ces propriétés : exemple à la page suivante.</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Propose 5 critères mesurables, avec leur unité, pour comparer des solutions de … » Gardez ceux que vous pouvez réellement mesurer.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V7</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Critiquer un classement ou un comparateur</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V7</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96</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 ordinateur  ·  15 min  ·  Carnet · chapitre 7  ·  Outil : page de classement réelle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Critiquer un classement ou un comparateur : qui le finance, comment il est construit, combien de critères sont réellement mesurables.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90"/>
              </a:spcAft>
            </a:pPr>
            <a:r>
              <a:rPr sz="1300" b="0" i="0">
                <a:solidFill>
                  <a:srgbClr val="1B1B1B"/>
                </a:solidFill>
                <a:latin typeface="Calibri"/>
              </a:rPr>
              <a:t>Les benchmarks s'appuient souvent sur des classements ou des sites d'avis. Qui les finance, et comment sont-ils construits ?</a:t>
            </a:r>
          </a:p>
          <a:p>
            <a:pPr algn="l">
              <a:spcAft>
                <a:spcPts val="390"/>
              </a:spcAft>
            </a:pPr>
            <a:r>
              <a:rPr sz="1300" b="0" i="0">
                <a:solidFill>
                  <a:srgbClr val="1B1B1B"/>
                </a:solidFill>
                <a:latin typeface="Calibri"/>
              </a:rPr>
              <a:t>Choisissez une page de classement ou de comparaison dans votre domaine (« meilleur gestionnaire de mots de passe », « comparatif de solutions de sauvegarde », résumé public d'un classement d'analystes, site d'avis).</a:t>
            </a:r>
          </a:p>
          <a:p>
            <a:pPr algn="l">
              <a:spcAft>
                <a:spcPts val="390"/>
              </a:spcAft>
            </a:pPr>
            <a:r>
              <a:rPr sz="1300" b="0" i="0">
                <a:solidFill>
                  <a:srgbClr val="1B1B1B"/>
                </a:solidFill>
                <a:latin typeface="Calibri"/>
              </a:rPr>
              <a:t>Exemple connu : le témoignage de Colas publié par le fournisseur Sindup (fr.sindup.com, page non datée) ne donne aucun chiffre de retour sur investissement : c'est une position du fournisseur.</a:t>
            </a:r>
          </a:p>
          <a:p>
            <a:pPr algn="l">
              <a:spcAft>
                <a:spcPts val="390"/>
              </a:spcAft>
            </a:pPr>
            <a:r>
              <a:rPr sz="1300" b="0" i="0">
                <a:solidFill>
                  <a:srgbClr val="1B1B1B"/>
                </a:solidFill>
                <a:latin typeface="Calibri"/>
              </a:rPr>
              <a:t>Où trouver les réponses ? Sur la page même et ses pages voisines : « À propos », « Méthodologie » ou « Comment nous testons », mentions « partenaire », « affilié », « sponsorisé », mentions légales, logos de partenaires. Si rien n'est indiqué, répondez « non indiqué » : c'est déjà une information.</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50"/>
              </a:spcAft>
              <a:buAutoNum type="arabicPeriod"/>
            </a:pPr>
            <a:r>
              <a:rPr sz="1500" b="0" i="0">
                <a:solidFill>
                  <a:srgbClr val="1B1B1B"/>
                </a:solidFill>
                <a:latin typeface="Calibri"/>
              </a:rPr>
              <a:t>Notez l'adresse, la date et l'auteur de la page.</a:t>
            </a:r>
          </a:p>
          <a:p>
            <a:pPr algn="l" marL="274320" indent="-274320">
              <a:spcAft>
                <a:spcPts val="450"/>
              </a:spcAft>
              <a:buAutoNum type="arabicPeriod"/>
            </a:pPr>
            <a:r>
              <a:rPr sz="1500" b="0" i="0">
                <a:solidFill>
                  <a:srgbClr val="1B1B1B"/>
                </a:solidFill>
                <a:latin typeface="Calibri"/>
              </a:rPr>
              <a:t>Qui finance le classement ?</a:t>
            </a:r>
          </a:p>
          <a:p>
            <a:pPr algn="l" marL="274320" indent="-274320">
              <a:spcAft>
                <a:spcPts val="450"/>
              </a:spcAft>
              <a:buAutoNum type="arabicPeriod"/>
            </a:pPr>
            <a:r>
              <a:rPr sz="1500" b="0" i="0">
                <a:solidFill>
                  <a:srgbClr val="1B1B1B"/>
                </a:solidFill>
                <a:latin typeface="Calibri"/>
              </a:rPr>
              <a:t>La méthode (critères, mesures, nombre d'avis) est-elle publiée ? Cherchez « Méthodologie » ou « Comment nous testons ».</a:t>
            </a:r>
          </a:p>
          <a:p>
            <a:pPr algn="l" marL="274320" indent="-274320">
              <a:spcAft>
                <a:spcPts val="450"/>
              </a:spcAft>
              <a:buAutoNum type="arabicPeriod"/>
            </a:pPr>
            <a:r>
              <a:rPr sz="1500" b="0" i="0">
                <a:solidFill>
                  <a:srgbClr val="1B1B1B"/>
                </a:solidFill>
                <a:latin typeface="Calibri"/>
              </a:rPr>
              <a:t>Combien de critères sont réellement mesurables ? (le nombre)</a:t>
            </a:r>
          </a:p>
          <a:p>
            <a:pPr algn="l" marL="274320" indent="-274320">
              <a:spcAft>
                <a:spcPts val="450"/>
              </a:spcAft>
              <a:buAutoNum type="arabicPeriod"/>
            </a:pPr>
            <a:r>
              <a:rPr sz="1500" b="0" i="0">
                <a:solidFill>
                  <a:srgbClr val="1B1B1B"/>
                </a:solidFill>
                <a:latin typeface="Calibri"/>
              </a:rPr>
              <a:t>Comment citeriez-vous ce classement dans votre état de l'art ?</a:t>
            </a:r>
          </a:p>
          <a:p>
            <a:pPr algn="l" marL="274320" indent="-274320">
              <a:spcAft>
                <a:spcPts val="450"/>
              </a:spcAft>
              <a:buAutoNum type="arabicPeriod"/>
            </a:pPr>
            <a:r>
              <a:rPr sz="1500" b="0" i="0">
                <a:solidFill>
                  <a:srgbClr val="1B1B1B"/>
                </a:solidFill>
                <a:latin typeface="Calibri"/>
              </a:rPr>
              <a:t>Avec Le Chat (Mistral) ou une autre IA (notez laquelle) : demandez « Quel est le meilleur … ? » pour votre domaine. Indique-t-elle qui finance ses sources ?</a:t>
            </a:r>
          </a:p>
        </p:txBody>
      </p:sp>
      <p:sp>
        <p:nvSpPr>
          <p:cNvPr id="15" name="TextBox 14"/>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6" name="Picture 15" descr="V7.png"/>
          <p:cNvPicPr>
            <a:picLocks noChangeAspect="1"/>
          </p:cNvPicPr>
          <p:nvPr/>
        </p:nvPicPr>
        <p:blipFill>
          <a:blip r:embed="rId4"/>
          <a:stretch>
            <a:fillRect/>
          </a:stretch>
        </p:blipFill>
        <p:spPr>
          <a:xfrm>
            <a:off x="10744200" y="5257800"/>
            <a:ext cx="1005840" cy="1005840"/>
          </a:xfrm>
          <a:prstGeom prst="rect">
            <a:avLst/>
          </a:prstGeom>
        </p:spPr>
      </p:pic>
      <p:sp>
        <p:nvSpPr>
          <p:cNvPr id="17" name="TextBox 16"/>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V7 — Critiquer un classement ou un comparateur</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V7</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97</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Identifier l'auteur et celui qui finance.</a:t>
            </a:r>
          </a:p>
          <a:p>
            <a:pPr algn="l" marL="274320" indent="-274320">
              <a:spcAft>
                <a:spcPts val="375"/>
              </a:spcAft>
              <a:buAutoNum type="arabicPeriod"/>
            </a:pPr>
            <a:r>
              <a:rPr sz="1500" b="0" i="0">
                <a:solidFill>
                  <a:srgbClr val="1B1B1B"/>
                </a:solidFill>
                <a:latin typeface="Calibri"/>
              </a:rPr>
              <a:t>Chercher la méthode : critères, données, nombre d'avis.</a:t>
            </a:r>
          </a:p>
          <a:p>
            <a:pPr algn="l" marL="274320" indent="-274320">
              <a:spcAft>
                <a:spcPts val="375"/>
              </a:spcAft>
              <a:buAutoNum type="arabicPeriod"/>
            </a:pPr>
            <a:r>
              <a:rPr sz="1500" b="0" i="0">
                <a:solidFill>
                  <a:srgbClr val="1B1B1B"/>
                </a:solidFill>
                <a:latin typeface="Calibri"/>
              </a:rPr>
              <a:t>Classer : fait, position, publicité.</a:t>
            </a:r>
          </a:p>
          <a:p>
            <a:pPr algn="l" marL="274320" indent="-274320">
              <a:spcAft>
                <a:spcPts val="375"/>
              </a:spcAft>
              <a:buAutoNum type="arabicPeriod"/>
            </a:pPr>
            <a:r>
              <a:rPr sz="1500" b="0" i="0">
                <a:solidFill>
                  <a:srgbClr val="1B1B1B"/>
                </a:solidFill>
                <a:latin typeface="Calibri"/>
              </a:rPr>
              <a:t>Citer avec sa nature.</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2743200"/>
                <a:gridCol w="5303520"/>
              </a:tblGrid>
              <a:tr h="237744">
                <a:tc>
                  <a:txBody>
                    <a:bodyPr wrap="square"/>
                    <a:lstStyle/>
                    <a:p>
                      <a:r>
                        <a:rPr sz="1400" b="1">
                          <a:solidFill>
                            <a:srgbClr val="FFFFFF"/>
                          </a:solidFill>
                          <a:latin typeface="Calibri"/>
                        </a:rPr>
                        <a:t>Type de page</a:t>
                      </a:r>
                    </a:p>
                  </a:txBody>
                  <a:tcPr marL="73152" marR="73152" marT="36576" marB="36576">
                    <a:solidFill>
                      <a:srgbClr val="1F2A5C"/>
                    </a:solidFill>
                  </a:tcPr>
                </a:tc>
                <a:tc>
                  <a:txBody>
                    <a:bodyPr wrap="square"/>
                    <a:lstStyle/>
                    <a:p>
                      <a:r>
                        <a:rPr sz="1400" b="1">
                          <a:solidFill>
                            <a:srgbClr val="FFFFFF"/>
                          </a:solidFill>
                          <a:latin typeface="Calibri"/>
                        </a:rPr>
                        <a:t>Comment la traiter</a:t>
                      </a:r>
                    </a:p>
                  </a:txBody>
                  <a:tcPr marL="73152" marR="73152" marT="36576" marB="36576">
                    <a:solidFill>
                      <a:srgbClr val="1F2A5C"/>
                    </a:solidFill>
                  </a:tcPr>
                </a:tc>
              </a:tr>
              <a:tr h="237744">
                <a:tc>
                  <a:txBody>
                    <a:bodyPr wrap="square"/>
                    <a:lstStyle/>
                    <a:p>
                      <a:r>
                        <a:rPr sz="1400" b="1">
                          <a:solidFill>
                            <a:srgbClr val="1B1B1B"/>
                          </a:solidFill>
                          <a:latin typeface="Calibri"/>
                        </a:rPr>
                        <a:t>Témoignage client publié par le fournisseur</a:t>
                      </a:r>
                    </a:p>
                  </a:txBody>
                  <a:tcPr marL="73152" marR="73152" marT="36576" marB="36576">
                    <a:solidFill>
                      <a:srgbClr val="FFFFFF"/>
                    </a:solidFill>
                  </a:tcPr>
                </a:tc>
                <a:tc>
                  <a:txBody>
                    <a:bodyPr wrap="square"/>
                    <a:lstStyle/>
                    <a:p>
                      <a:r>
                        <a:rPr sz="1400" b="0">
                          <a:solidFill>
                            <a:srgbClr val="1B1B1B"/>
                          </a:solidFill>
                          <a:latin typeface="Calibri"/>
                        </a:rPr>
                        <a:t>Position du fournisseur ; sans chiffre vérifiable (cas Colas / Sindup lu le 23/10/2026)</a:t>
                      </a:r>
                    </a:p>
                  </a:txBody>
                  <a:tcPr marL="73152" marR="73152" marT="36576" marB="36576">
                    <a:solidFill>
                      <a:srgbClr val="FFFFFF"/>
                    </a:solidFill>
                  </a:tcPr>
                </a:tc>
              </a:tr>
              <a:tr h="237744">
                <a:tc>
                  <a:txBody>
                    <a:bodyPr wrap="square"/>
                    <a:lstStyle/>
                    <a:p>
                      <a:r>
                        <a:rPr sz="1400" b="1">
                          <a:solidFill>
                            <a:srgbClr val="1B1B1B"/>
                          </a:solidFill>
                          <a:latin typeface="Calibri"/>
                        </a:rPr>
                        <a:t>Comparatif avec liens d'affiliation</a:t>
                      </a:r>
                    </a:p>
                  </a:txBody>
                  <a:tcPr marL="73152" marR="73152" marT="36576" marB="36576">
                    <a:solidFill>
                      <a:srgbClr val="F3F5F9"/>
                    </a:solidFill>
                  </a:tcPr>
                </a:tc>
                <a:tc>
                  <a:txBody>
                    <a:bodyPr wrap="square"/>
                    <a:lstStyle/>
                    <a:p>
                      <a:r>
                        <a:rPr sz="1400" b="0">
                          <a:solidFill>
                            <a:srgbClr val="1B1B1B"/>
                          </a:solidFill>
                          <a:latin typeface="Calibri"/>
                        </a:rPr>
                        <a:t>Le revenu dépend du clic : à pondérer, chercher une autre source</a:t>
                      </a:r>
                    </a:p>
                  </a:txBody>
                  <a:tcPr marL="73152" marR="73152" marT="36576" marB="36576">
                    <a:solidFill>
                      <a:srgbClr val="F3F5F9"/>
                    </a:solidFill>
                  </a:tcPr>
                </a:tc>
              </a:tr>
              <a:tr h="237744">
                <a:tc>
                  <a:txBody>
                    <a:bodyPr wrap="square"/>
                    <a:lstStyle/>
                    <a:p>
                      <a:r>
                        <a:rPr sz="1400" b="1">
                          <a:solidFill>
                            <a:srgbClr val="1B1B1B"/>
                          </a:solidFill>
                          <a:latin typeface="Calibri"/>
                        </a:rPr>
                        <a:t>Classement d'un cabinet d'analystes</a:t>
                      </a:r>
                    </a:p>
                  </a:txBody>
                  <a:tcPr marL="73152" marR="73152" marT="36576" marB="36576">
                    <a:solidFill>
                      <a:srgbClr val="FFFFFF"/>
                    </a:solidFill>
                  </a:tcPr>
                </a:tc>
                <a:tc>
                  <a:txBody>
                    <a:bodyPr wrap="square"/>
                    <a:lstStyle/>
                    <a:p>
                      <a:r>
                        <a:rPr sz="1400" b="0">
                          <a:solidFill>
                            <a:srgbClr val="1B1B1B"/>
                          </a:solidFill>
                          <a:latin typeface="Calibri"/>
                        </a:rPr>
                        <a:t>Vérifier qui l'a commandé et si la méthode est publiée (selon le classement choisi)</a:t>
                      </a:r>
                    </a:p>
                  </a:txBody>
                  <a:tcPr marL="73152" marR="73152" marT="36576" marB="36576">
                    <a:solidFill>
                      <a:srgbClr val="FFFFFF"/>
                    </a:solidFill>
                  </a:tcPr>
                </a:tc>
              </a:tr>
              <a:tr h="237744">
                <a:tc>
                  <a:txBody>
                    <a:bodyPr wrap="square"/>
                    <a:lstStyle/>
                    <a:p>
                      <a:r>
                        <a:rPr sz="1400" b="1">
                          <a:solidFill>
                            <a:srgbClr val="1B1B1B"/>
                          </a:solidFill>
                          <a:latin typeface="Calibri"/>
                        </a:rPr>
                        <a:t>Site d'avis d'utilisateurs</a:t>
                      </a:r>
                    </a:p>
                  </a:txBody>
                  <a:tcPr marL="73152" marR="73152" marT="36576" marB="36576">
                    <a:solidFill>
                      <a:srgbClr val="F3F5F9"/>
                    </a:solidFill>
                  </a:tcPr>
                </a:tc>
                <a:tc>
                  <a:txBody>
                    <a:bodyPr wrap="square"/>
                    <a:lstStyle/>
                    <a:p>
                      <a:r>
                        <a:rPr sz="1400" b="0">
                          <a:solidFill>
                            <a:srgbClr val="1B1B1B"/>
                          </a:solidFill>
                          <a:latin typeface="Calibri"/>
                        </a:rPr>
                        <a:t>Nombre d'avis, avis vérifiés ou non, biais de sélection</a:t>
                      </a:r>
                    </a:p>
                  </a:txBody>
                  <a:tcPr marL="73152" marR="73152" marT="36576" marB="36576">
                    <a:solidFill>
                      <a:srgbClr val="F3F5F9"/>
                    </a:solidFill>
                  </a:tcPr>
                </a:tc>
              </a:tr>
              <a:tr h="237744">
                <a:tc>
                  <a:txBody>
                    <a:bodyPr wrap="square"/>
                    <a:lstStyle/>
                    <a:p>
                      <a:r>
                        <a:rPr sz="1400" b="1">
                          <a:solidFill>
                            <a:srgbClr val="1B1B1B"/>
                          </a:solidFill>
                          <a:latin typeface="Calibri"/>
                        </a:rPr>
                        <a:t>Phrase possible</a:t>
                      </a:r>
                    </a:p>
                  </a:txBody>
                  <a:tcPr marL="73152" marR="73152" marT="36576" marB="36576">
                    <a:solidFill>
                      <a:srgbClr val="FFFFFF"/>
                    </a:solidFill>
                  </a:tcPr>
                </a:tc>
                <a:tc>
                  <a:txBody>
                    <a:bodyPr wrap="square"/>
                    <a:lstStyle/>
                    <a:p>
                      <a:r>
                        <a:rPr sz="1400" b="0">
                          <a:solidFill>
                            <a:srgbClr val="1B1B1B"/>
                          </a:solidFill>
                          <a:latin typeface="Calibri"/>
                        </a:rPr>
                        <a:t>« Selon &lt;site&gt; (date), &lt;produit&gt; est classé premier ; la méthode n'est pas publiée et le site perçoit une commission : position à recouper. »</a:t>
                      </a:r>
                    </a:p>
                  </a:txBody>
                  <a:tcPr marL="73152" marR="73152" marT="36576" marB="36576">
                    <a:solidFill>
                      <a:srgbClr val="FFFFFF"/>
                    </a:solidFill>
                  </a:tcPr>
                </a:tc>
              </a:tr>
              <a:tr h="237744">
                <a:tc>
                  <a:txBody>
                    <a:bodyPr wrap="square"/>
                    <a:lstStyle/>
                    <a:p>
                      <a:r>
                        <a:rPr sz="1400" b="1">
                          <a:solidFill>
                            <a:srgbClr val="1B1B1B"/>
                          </a:solidFill>
                          <a:latin typeface="Calibri"/>
                        </a:rPr>
                        <a:t>IA · meilleur choix selon l'IA</a:t>
                      </a:r>
                    </a:p>
                  </a:txBody>
                  <a:tcPr marL="73152" marR="73152" marT="36576" marB="36576">
                    <a:solidFill>
                      <a:srgbClr val="F3F5F9"/>
                    </a:solidFill>
                  </a:tcPr>
                </a:tc>
                <a:tc>
                  <a:txBody>
                    <a:bodyPr wrap="square"/>
                    <a:lstStyle/>
                    <a:p>
                      <a:r>
                        <a:rPr sz="1400" b="0">
                          <a:solidFill>
                            <a:srgbClr val="1B1B1B"/>
                          </a:solidFill>
                          <a:latin typeface="Calibri"/>
                        </a:rPr>
                        <a:t>Rarement. Une IA réécrit des classements existants sans dire qui les finance : remontez à la page d'origine.</a:t>
                      </a:r>
                    </a:p>
                  </a:txBody>
                  <a:tcPr marL="73152" marR="73152" marT="36576" marB="36576">
                    <a:solidFill>
                      <a:srgbClr val="F3F5F9"/>
                    </a:solidFill>
                  </a:tcPr>
                </a:tc>
              </a:tr>
              <a:tr h="237744">
                <a:tc>
                  <a:txBody>
                    <a:bodyPr wrap="square"/>
                    <a:lstStyle/>
                    <a:p>
                      <a:r>
                        <a:rPr sz="1400" b="1">
                          <a:solidFill>
                            <a:srgbClr val="1B1B1B"/>
                          </a:solidFill>
                          <a:latin typeface="Calibri"/>
                        </a:rPr>
                        <a:t>Où chercher</a:t>
                      </a:r>
                    </a:p>
                  </a:txBody>
                  <a:tcPr marL="73152" marR="73152" marT="36576" marB="36576">
                    <a:solidFill>
                      <a:srgbClr val="FFFFFF"/>
                    </a:solidFill>
                  </a:tcPr>
                </a:tc>
                <a:tc>
                  <a:txBody>
                    <a:bodyPr wrap="square"/>
                    <a:lstStyle/>
                    <a:p>
                      <a:r>
                        <a:rPr sz="1400" b="0">
                          <a:solidFill>
                            <a:srgbClr val="1B1B1B"/>
                          </a:solidFill>
                          <a:latin typeface="Calibri"/>
                        </a:rPr>
                        <a:t>« À propos », « Méthodologie », mentions légales, mentions « affilié » ou « sponsorisé ». Absence d'indication = « non indiqué », à signaler dans la citation.</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Prendre un classement pour une mesure.</a:t>
            </a:r>
          </a:p>
          <a:p>
            <a:pPr algn="l" marL="201168" indent="-201168">
              <a:spcAft>
                <a:spcPts val="110"/>
              </a:spcAft>
              <a:buChar char="•"/>
            </a:pPr>
            <a:r>
              <a:rPr sz="1100" b="0" i="0">
                <a:solidFill>
                  <a:srgbClr val="1B1B1B"/>
                </a:solidFill>
                <a:latin typeface="Calibri"/>
              </a:rPr>
              <a:t>Ignorer le financement.</a:t>
            </a:r>
          </a:p>
          <a:p>
            <a:pPr algn="l" marL="201168" indent="-201168">
              <a:spcAft>
                <a:spcPts val="110"/>
              </a:spcAft>
              <a:buChar char="•"/>
            </a:pPr>
            <a:r>
              <a:rPr sz="1100" b="0" i="0">
                <a:solidFill>
                  <a:srgbClr val="1B1B1B"/>
                </a:solidFill>
                <a:latin typeface="Calibri"/>
              </a:rPr>
              <a:t>Ne pas citer la date.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04"/>
              </a:spcAft>
            </a:pPr>
            <a:r>
              <a:rPr sz="2300" b="1" i="0">
                <a:solidFill>
                  <a:srgbClr val="FFFFFF"/>
                </a:solidFill>
                <a:latin typeface="Calibri"/>
              </a:rPr>
              <a:t>Écart réel ou bruit ? Une différence mesurée compte-t-elle vraiment ?</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98</a:t>
            </a:r>
          </a:p>
        </p:txBody>
      </p:sp>
      <p:sp>
        <p:nvSpPr>
          <p:cNvPr id="6" name="Rounded Rectangle 5"/>
          <p:cNvSpPr/>
          <p:nvPr/>
        </p:nvSpPr>
        <p:spPr>
          <a:xfrm>
            <a:off x="411480" y="1097280"/>
            <a:ext cx="5943600" cy="384048"/>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1 · Mesurer le bruit : l'écart-type de l'outil A (41, 38, 45, 40, 36)</a:t>
            </a:r>
          </a:p>
        </p:txBody>
      </p:sp>
      <p:sp>
        <p:nvSpPr>
          <p:cNvPr id="7" name="Rounded Rectangle 6"/>
          <p:cNvSpPr/>
          <p:nvPr/>
        </p:nvSpPr>
        <p:spPr>
          <a:xfrm>
            <a:off x="411480" y="1554480"/>
            <a:ext cx="2103120" cy="841248"/>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FFFFFF"/>
                </a:solidFill>
                <a:latin typeface="Calibri"/>
              </a:rPr>
              <a:t>a · Moyenne</a:t>
            </a:r>
          </a:p>
        </p:txBody>
      </p:sp>
      <p:sp>
        <p:nvSpPr>
          <p:cNvPr id="8" name="Rounded Rectangle 7"/>
          <p:cNvSpPr/>
          <p:nvPr/>
        </p:nvSpPr>
        <p:spPr>
          <a:xfrm>
            <a:off x="2560320" y="1554480"/>
            <a:ext cx="3794760" cy="84124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(41 + 38 + 45 + 40 + 36) ÷ 5 = 200 ÷ 5 = 40</a:t>
            </a:r>
          </a:p>
        </p:txBody>
      </p:sp>
      <p:sp>
        <p:nvSpPr>
          <p:cNvPr id="9" name="Rounded Rectangle 8"/>
          <p:cNvSpPr/>
          <p:nvPr/>
        </p:nvSpPr>
        <p:spPr>
          <a:xfrm>
            <a:off x="411480" y="2487168"/>
            <a:ext cx="2103120" cy="841248"/>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FFFFFF"/>
                </a:solidFill>
                <a:latin typeface="Calibri"/>
              </a:rPr>
              <a:t>b · Écart à la moyenne</a:t>
            </a:r>
          </a:p>
        </p:txBody>
      </p:sp>
      <p:sp>
        <p:nvSpPr>
          <p:cNvPr id="10" name="Rounded Rectangle 9"/>
          <p:cNvSpPr/>
          <p:nvPr/>
        </p:nvSpPr>
        <p:spPr>
          <a:xfrm>
            <a:off x="2560320" y="2487168"/>
            <a:ext cx="3794760" cy="84124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chaque mesure moins 40 : +1, −2, +5, 0, −4</a:t>
            </a:r>
          </a:p>
        </p:txBody>
      </p:sp>
      <p:sp>
        <p:nvSpPr>
          <p:cNvPr id="11" name="Rounded Rectangle 10"/>
          <p:cNvSpPr/>
          <p:nvPr/>
        </p:nvSpPr>
        <p:spPr>
          <a:xfrm>
            <a:off x="411480" y="3419856"/>
            <a:ext cx="2103120" cy="841248"/>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FFFFFF"/>
                </a:solidFill>
                <a:latin typeface="Calibri"/>
              </a:rPr>
              <a:t>c · Carrés, puis somme</a:t>
            </a:r>
          </a:p>
        </p:txBody>
      </p:sp>
      <p:sp>
        <p:nvSpPr>
          <p:cNvPr id="12" name="Rounded Rectangle 11"/>
          <p:cNvSpPr/>
          <p:nvPr/>
        </p:nvSpPr>
        <p:spPr>
          <a:xfrm>
            <a:off x="2560320" y="3419856"/>
            <a:ext cx="3794760" cy="84124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1 + 4 + 25 + 0 + 16 = 46</a:t>
            </a:r>
          </a:p>
        </p:txBody>
      </p:sp>
      <p:sp>
        <p:nvSpPr>
          <p:cNvPr id="13" name="Rounded Rectangle 12"/>
          <p:cNvSpPr/>
          <p:nvPr/>
        </p:nvSpPr>
        <p:spPr>
          <a:xfrm>
            <a:off x="411480" y="4352544"/>
            <a:ext cx="2103120" cy="841248"/>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FFFFFF"/>
                </a:solidFill>
                <a:latin typeface="Calibri"/>
              </a:rPr>
              <a:t>d · Diviser, puis racine</a:t>
            </a:r>
          </a:p>
        </p:txBody>
      </p:sp>
      <p:sp>
        <p:nvSpPr>
          <p:cNvPr id="14" name="Rounded Rectangle 13"/>
          <p:cNvSpPr/>
          <p:nvPr/>
        </p:nvSpPr>
        <p:spPr>
          <a:xfrm>
            <a:off x="2560320" y="4352544"/>
            <a:ext cx="3794760" cy="841248"/>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46 ÷ (5 − 1) = 11,5 ; √11,5 ≈ 3,4 minutes</a:t>
            </a:r>
          </a:p>
        </p:txBody>
      </p:sp>
      <p:sp>
        <p:nvSpPr>
          <p:cNvPr id="15" name="Rounded Rectangle 14"/>
          <p:cNvSpPr/>
          <p:nvPr/>
        </p:nvSpPr>
        <p:spPr>
          <a:xfrm>
            <a:off x="6583680" y="1097280"/>
            <a:ext cx="5166360" cy="384048"/>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2 · Comparer deux outils : écart ÷ écart-type</a:t>
            </a:r>
          </a:p>
        </p:txBody>
      </p:sp>
      <p:sp>
        <p:nvSpPr>
          <p:cNvPr id="16" name="Rounded Rectangle 15"/>
          <p:cNvSpPr/>
          <p:nvPr/>
        </p:nvSpPr>
        <p:spPr>
          <a:xfrm>
            <a:off x="6583680" y="1554480"/>
            <a:ext cx="51663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60"/>
              </a:spcAft>
            </a:pPr>
            <a:r>
              <a:rPr sz="1600" b="1" i="0">
                <a:solidFill>
                  <a:srgbClr val="1B1B1B"/>
                </a:solidFill>
                <a:latin typeface="Calibri"/>
              </a:rPr>
              <a:t>Rapport = écart des deux moyennes ÷ écart-type</a:t>
            </a:r>
          </a:p>
        </p:txBody>
      </p:sp>
      <p:sp>
        <p:nvSpPr>
          <p:cNvPr id="17" name="Rounded Rectangle 16"/>
          <p:cNvSpPr/>
          <p:nvPr/>
        </p:nvSpPr>
        <p:spPr>
          <a:xfrm>
            <a:off x="6583680" y="2286000"/>
            <a:ext cx="5166360" cy="62179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FFFFFF"/>
                </a:solidFill>
                <a:latin typeface="Calibri"/>
              </a:rPr>
              <a:t>Rapport &lt; 1 : bruit. Aucune différence établie.</a:t>
            </a:r>
          </a:p>
        </p:txBody>
      </p:sp>
      <p:sp>
        <p:nvSpPr>
          <p:cNvPr id="18" name="Rounded Rectangle 17"/>
          <p:cNvSpPr/>
          <p:nvPr/>
        </p:nvSpPr>
        <p:spPr>
          <a:xfrm>
            <a:off x="6583680" y="2999232"/>
            <a:ext cx="516636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60"/>
              </a:spcAft>
            </a:pPr>
            <a:r>
              <a:rPr sz="1600" b="1" i="0">
                <a:solidFill>
                  <a:srgbClr val="FFFFFF"/>
                </a:solidFill>
                <a:latin typeface="Calibri"/>
              </a:rPr>
              <a:t>Entre 1 et 2 : refaire des mesures.</a:t>
            </a:r>
          </a:p>
        </p:txBody>
      </p:sp>
      <p:sp>
        <p:nvSpPr>
          <p:cNvPr id="19" name="Rounded Rectangle 18"/>
          <p:cNvSpPr/>
          <p:nvPr/>
        </p:nvSpPr>
        <p:spPr>
          <a:xfrm>
            <a:off x="6583680" y="3712464"/>
            <a:ext cx="5166360" cy="621792"/>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60"/>
              </a:spcAft>
            </a:pPr>
            <a:r>
              <a:rPr sz="1600" b="1" i="0">
                <a:solidFill>
                  <a:srgbClr val="FFFFFF"/>
                </a:solidFill>
                <a:latin typeface="Calibri"/>
              </a:rPr>
              <a:t>Plus de 2 : écart probablement réel.</a:t>
            </a:r>
          </a:p>
        </p:txBody>
      </p:sp>
      <p:sp>
        <p:nvSpPr>
          <p:cNvPr id="20" name="Rounded Rectangle 19"/>
          <p:cNvSpPr/>
          <p:nvPr/>
        </p:nvSpPr>
        <p:spPr>
          <a:xfrm>
            <a:off x="6583680" y="4480560"/>
            <a:ext cx="5166360" cy="896112"/>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150"/>
              </a:spcAft>
            </a:pPr>
            <a:r>
              <a:rPr sz="1500" b="0" i="0">
                <a:solidFill>
                  <a:srgbClr val="1B1B1B"/>
                </a:solidFill>
                <a:latin typeface="Calibri"/>
              </a:rPr>
              <a:t>Outils A et B : 0,4 ÷ 3,4 ≈ 0,1 → bruit.</a:t>
            </a:r>
          </a:p>
          <a:p>
            <a:pPr algn="l">
              <a:spcAft>
                <a:spcPts val="150"/>
              </a:spcAft>
            </a:pPr>
            <a:r>
              <a:rPr sz="1500" b="0" i="0">
                <a:solidFill>
                  <a:srgbClr val="1B1B1B"/>
                </a:solidFill>
                <a:latin typeface="Calibri"/>
              </a:rPr>
              <a:t>Outils C et D : 10 ÷ 1,6 ≈ 6 → probablement réel.</a:t>
            </a:r>
          </a:p>
          <a:p>
            <a:pPr algn="l">
              <a:spcAft>
                <a:spcPts val="150"/>
              </a:spcAft>
            </a:pPr>
            <a:r>
              <a:rPr sz="1500" b="0" i="0">
                <a:solidFill>
                  <a:srgbClr val="1B1B1B"/>
                </a:solidFill>
                <a:latin typeface="Calibri"/>
              </a:rPr>
              <a:t>Cinq mesures, c'est peu : le dire.</a:t>
            </a:r>
          </a:p>
        </p:txBody>
      </p:sp>
      <p:sp>
        <p:nvSpPr>
          <p:cNvPr id="21" name="Rounded Rectangle 20"/>
          <p:cNvSpPr/>
          <p:nvPr/>
        </p:nvSpPr>
        <p:spPr>
          <a:xfrm>
            <a:off x="411480" y="5486400"/>
            <a:ext cx="6035040" cy="8686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1" i="0">
                <a:solidFill>
                  <a:srgbClr val="1B1B1B"/>
                </a:solidFill>
                <a:latin typeface="Calibri"/>
              </a:rPr>
              <a:t>Pourquoi ce titre ? Comparer deux solutions, c'est se demander si la différence vue est réelle ou due au hasard de la mesure. Le t-test (2 groupes) et l'ANOVA (plus de 2) répondent précisément à cette question : à connaître de nom.</a:t>
            </a:r>
          </a:p>
        </p:txBody>
      </p:sp>
      <p:sp>
        <p:nvSpPr>
          <p:cNvPr id="22" name="Rounded Rectangle 21"/>
          <p:cNvSpPr/>
          <p:nvPr/>
        </p:nvSpPr>
        <p:spPr>
          <a:xfrm>
            <a:off x="6583680" y="5486400"/>
            <a:ext cx="5166360" cy="8686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Conseil IA : « Voici mes mesures : … Calcule moyenne et écart-type étape par étape. » Refaites un calcul au tableur pour contrôler.</a:t>
            </a:r>
          </a:p>
        </p:txBody>
      </p:sp>
      <p:sp>
        <p:nvSpPr>
          <p:cNvPr id="23" name="TextBox 22"/>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notions usuelles de statistique descriptive ; t-test et ANOVA cités dans le support « Veille et benchmark » (jour 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V8</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Écart réel ou bruit ? Deux comparaisons de mesures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V8</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99</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tableur  ·  15 min  ·  Carnet · chapitre 7  ·  Outil : tableur (MOYENNE, ECARTYPE)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Savoir si une différence mesurée entre deux solutions est réelle ou du bruit, en comparant l'écart des moyennes à la dispersion des mesures.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1399031"/>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59"/>
              </a:spcAft>
            </a:pPr>
            <a:r>
              <a:rPr sz="1200" b="0" i="0">
                <a:solidFill>
                  <a:srgbClr val="1B1B1B"/>
                </a:solidFill>
                <a:latin typeface="Calibri"/>
              </a:rPr>
              <a:t>TransLor teste 4 outils de sauvegarde (5 mesures chacun, en minutes, valeurs fictives). A est-il plus rapide que B ? C plus rapide que D ?</a:t>
            </a:r>
          </a:p>
          <a:p>
            <a:pPr algn="l">
              <a:spcAft>
                <a:spcPts val="359"/>
              </a:spcAft>
            </a:pPr>
            <a:r>
              <a:rPr sz="1200" b="0" i="0">
                <a:solidFill>
                  <a:srgbClr val="1B1B1B"/>
                </a:solidFill>
                <a:latin typeface="Calibri"/>
              </a:rPr>
              <a:t>Comparez l'écart entre outils au bruit. Écart-type pas à pas : page précédente ; tableur : =MOYENNE(plage), =ECARTYPE(plage).</a:t>
            </a:r>
          </a:p>
          <a:p>
            <a:pPr algn="l">
              <a:spcAft>
                <a:spcPts val="359"/>
              </a:spcAft>
            </a:pPr>
            <a:r>
              <a:rPr sz="1200" b="0" i="0">
                <a:solidFill>
                  <a:srgbClr val="1B1B1B"/>
                </a:solidFill>
                <a:latin typeface="Calibri"/>
              </a:rPr>
              <a:t>Règle : rapport &lt; 1 bruit ; &gt; 2 probablement réel.</a:t>
            </a:r>
          </a:p>
        </p:txBody>
      </p:sp>
      <p:graphicFrame>
        <p:nvGraphicFramePr>
          <p:cNvPr id="13" name="Table 12"/>
          <p:cNvGraphicFramePr>
            <a:graphicFrameLocks noGrp="1"/>
          </p:cNvGraphicFramePr>
          <p:nvPr/>
        </p:nvGraphicFramePr>
        <p:xfrm>
          <a:off x="411480" y="3721607"/>
          <a:ext cx="5760717" cy="1371600"/>
        </p:xfrm>
        <a:graphic>
          <a:graphicData uri="http://schemas.openxmlformats.org/drawingml/2006/table">
            <a:tbl>
              <a:tblPr firstRow="0" bandRow="0">
                <a:tableStyleId>{5C22544A-7EE6-4342-B048-85BDC9FD1C3A}</a:tableStyleId>
              </a:tblPr>
              <a:tblGrid>
                <a:gridCol w="1260157"/>
                <a:gridCol w="900112"/>
                <a:gridCol w="900112"/>
                <a:gridCol w="900112"/>
                <a:gridCol w="900112"/>
                <a:gridCol w="900112"/>
              </a:tblGrid>
              <a:tr h="274320">
                <a:tc>
                  <a:txBody>
                    <a:bodyPr wrap="square"/>
                    <a:lstStyle/>
                    <a:p>
                      <a:r>
                        <a:rPr sz="1700" b="1">
                          <a:solidFill>
                            <a:srgbClr val="FFFFFF"/>
                          </a:solidFill>
                          <a:latin typeface="Calibri"/>
                        </a:rPr>
                        <a:t>Outil</a:t>
                      </a:r>
                    </a:p>
                  </a:txBody>
                  <a:tcPr marL="73152" marR="73152" marT="36576" marB="36576">
                    <a:solidFill>
                      <a:srgbClr val="1F2A5C"/>
                    </a:solidFill>
                  </a:tcPr>
                </a:tc>
                <a:tc>
                  <a:txBody>
                    <a:bodyPr wrap="square"/>
                    <a:lstStyle/>
                    <a:p>
                      <a:r>
                        <a:rPr sz="1700" b="1">
                          <a:solidFill>
                            <a:srgbClr val="FFFFFF"/>
                          </a:solidFill>
                          <a:latin typeface="Calibri"/>
                        </a:rPr>
                        <a:t>1</a:t>
                      </a:r>
                    </a:p>
                  </a:txBody>
                  <a:tcPr marL="73152" marR="73152" marT="36576" marB="36576">
                    <a:solidFill>
                      <a:srgbClr val="1F2A5C"/>
                    </a:solidFill>
                  </a:tcPr>
                </a:tc>
                <a:tc>
                  <a:txBody>
                    <a:bodyPr wrap="square"/>
                    <a:lstStyle/>
                    <a:p>
                      <a:r>
                        <a:rPr sz="1700" b="1">
                          <a:solidFill>
                            <a:srgbClr val="FFFFFF"/>
                          </a:solidFill>
                          <a:latin typeface="Calibri"/>
                        </a:rPr>
                        <a:t>2</a:t>
                      </a:r>
                    </a:p>
                  </a:txBody>
                  <a:tcPr marL="73152" marR="73152" marT="36576" marB="36576">
                    <a:solidFill>
                      <a:srgbClr val="1F2A5C"/>
                    </a:solidFill>
                  </a:tcPr>
                </a:tc>
                <a:tc>
                  <a:txBody>
                    <a:bodyPr wrap="square"/>
                    <a:lstStyle/>
                    <a:p>
                      <a:r>
                        <a:rPr sz="1700" b="1">
                          <a:solidFill>
                            <a:srgbClr val="FFFFFF"/>
                          </a:solidFill>
                          <a:latin typeface="Calibri"/>
                        </a:rPr>
                        <a:t>3</a:t>
                      </a:r>
                    </a:p>
                  </a:txBody>
                  <a:tcPr marL="73152" marR="73152" marT="36576" marB="36576">
                    <a:solidFill>
                      <a:srgbClr val="1F2A5C"/>
                    </a:solidFill>
                  </a:tcPr>
                </a:tc>
                <a:tc>
                  <a:txBody>
                    <a:bodyPr wrap="square"/>
                    <a:lstStyle/>
                    <a:p>
                      <a:r>
                        <a:rPr sz="1700" b="1">
                          <a:solidFill>
                            <a:srgbClr val="FFFFFF"/>
                          </a:solidFill>
                          <a:latin typeface="Calibri"/>
                        </a:rPr>
                        <a:t>4</a:t>
                      </a:r>
                    </a:p>
                  </a:txBody>
                  <a:tcPr marL="73152" marR="73152" marT="36576" marB="36576">
                    <a:solidFill>
                      <a:srgbClr val="1F2A5C"/>
                    </a:solidFill>
                  </a:tcPr>
                </a:tc>
                <a:tc>
                  <a:txBody>
                    <a:bodyPr wrap="square"/>
                    <a:lstStyle/>
                    <a:p>
                      <a:r>
                        <a:rPr sz="1700" b="1">
                          <a:solidFill>
                            <a:srgbClr val="FFFFFF"/>
                          </a:solidFill>
                          <a:latin typeface="Calibri"/>
                        </a:rPr>
                        <a:t>5</a:t>
                      </a:r>
                    </a:p>
                  </a:txBody>
                  <a:tcPr marL="73152" marR="73152" marT="36576" marB="36576">
                    <a:solidFill>
                      <a:srgbClr val="1F2A5C"/>
                    </a:solidFill>
                  </a:tcPr>
                </a:tc>
              </a:tr>
              <a:tr h="274320">
                <a:tc>
                  <a:txBody>
                    <a:bodyPr wrap="square"/>
                    <a:lstStyle/>
                    <a:p>
                      <a:r>
                        <a:rPr sz="1700" b="1">
                          <a:solidFill>
                            <a:srgbClr val="1B1B1B"/>
                          </a:solidFill>
                          <a:latin typeface="Calibri"/>
                        </a:rPr>
                        <a:t>A</a:t>
                      </a:r>
                    </a:p>
                  </a:txBody>
                  <a:tcPr marL="73152" marR="73152" marT="36576" marB="36576">
                    <a:solidFill>
                      <a:srgbClr val="FFFFFF"/>
                    </a:solidFill>
                  </a:tcPr>
                </a:tc>
                <a:tc>
                  <a:txBody>
                    <a:bodyPr wrap="square"/>
                    <a:lstStyle/>
                    <a:p>
                      <a:r>
                        <a:rPr sz="1700" b="0">
                          <a:solidFill>
                            <a:srgbClr val="1B1B1B"/>
                          </a:solidFill>
                          <a:latin typeface="Calibri"/>
                        </a:rPr>
                        <a:t>41</a:t>
                      </a:r>
                    </a:p>
                  </a:txBody>
                  <a:tcPr marL="73152" marR="73152" marT="36576" marB="36576">
                    <a:solidFill>
                      <a:srgbClr val="FFFFFF"/>
                    </a:solidFill>
                  </a:tcPr>
                </a:tc>
                <a:tc>
                  <a:txBody>
                    <a:bodyPr wrap="square"/>
                    <a:lstStyle/>
                    <a:p>
                      <a:r>
                        <a:rPr sz="1700" b="0">
                          <a:solidFill>
                            <a:srgbClr val="1B1B1B"/>
                          </a:solidFill>
                          <a:latin typeface="Calibri"/>
                        </a:rPr>
                        <a:t>38</a:t>
                      </a:r>
                    </a:p>
                  </a:txBody>
                  <a:tcPr marL="73152" marR="73152" marT="36576" marB="36576">
                    <a:solidFill>
                      <a:srgbClr val="FFFFFF"/>
                    </a:solidFill>
                  </a:tcPr>
                </a:tc>
                <a:tc>
                  <a:txBody>
                    <a:bodyPr wrap="square"/>
                    <a:lstStyle/>
                    <a:p>
                      <a:r>
                        <a:rPr sz="1700" b="0">
                          <a:solidFill>
                            <a:srgbClr val="1B1B1B"/>
                          </a:solidFill>
                          <a:latin typeface="Calibri"/>
                        </a:rPr>
                        <a:t>45</a:t>
                      </a:r>
                    </a:p>
                  </a:txBody>
                  <a:tcPr marL="73152" marR="73152" marT="36576" marB="36576">
                    <a:solidFill>
                      <a:srgbClr val="FFFFFF"/>
                    </a:solidFill>
                  </a:tcPr>
                </a:tc>
                <a:tc>
                  <a:txBody>
                    <a:bodyPr wrap="square"/>
                    <a:lstStyle/>
                    <a:p>
                      <a:r>
                        <a:rPr sz="1700" b="0">
                          <a:solidFill>
                            <a:srgbClr val="1B1B1B"/>
                          </a:solidFill>
                          <a:latin typeface="Calibri"/>
                        </a:rPr>
                        <a:t>40</a:t>
                      </a:r>
                    </a:p>
                  </a:txBody>
                  <a:tcPr marL="73152" marR="73152" marT="36576" marB="36576">
                    <a:solidFill>
                      <a:srgbClr val="FFFFFF"/>
                    </a:solidFill>
                  </a:tcPr>
                </a:tc>
                <a:tc>
                  <a:txBody>
                    <a:bodyPr wrap="square"/>
                    <a:lstStyle/>
                    <a:p>
                      <a:r>
                        <a:rPr sz="1700" b="0">
                          <a:solidFill>
                            <a:srgbClr val="1B1B1B"/>
                          </a:solidFill>
                          <a:latin typeface="Calibri"/>
                        </a:rPr>
                        <a:t>36</a:t>
                      </a:r>
                    </a:p>
                  </a:txBody>
                  <a:tcPr marL="73152" marR="73152" marT="36576" marB="36576">
                    <a:solidFill>
                      <a:srgbClr val="FFFFFF"/>
                    </a:solidFill>
                  </a:tcPr>
                </a:tc>
              </a:tr>
              <a:tr h="274320">
                <a:tc>
                  <a:txBody>
                    <a:bodyPr wrap="square"/>
                    <a:lstStyle/>
                    <a:p>
                      <a:r>
                        <a:rPr sz="1700" b="1">
                          <a:solidFill>
                            <a:srgbClr val="1B1B1B"/>
                          </a:solidFill>
                          <a:latin typeface="Calibri"/>
                        </a:rPr>
                        <a:t>B</a:t>
                      </a:r>
                    </a:p>
                  </a:txBody>
                  <a:tcPr marL="73152" marR="73152" marT="36576" marB="36576">
                    <a:solidFill>
                      <a:srgbClr val="F3F5F9"/>
                    </a:solidFill>
                  </a:tcPr>
                </a:tc>
                <a:tc>
                  <a:txBody>
                    <a:bodyPr wrap="square"/>
                    <a:lstStyle/>
                    <a:p>
                      <a:r>
                        <a:rPr sz="1700" b="0">
                          <a:solidFill>
                            <a:srgbClr val="1B1B1B"/>
                          </a:solidFill>
                          <a:latin typeface="Calibri"/>
                        </a:rPr>
                        <a:t>37</a:t>
                      </a:r>
                    </a:p>
                  </a:txBody>
                  <a:tcPr marL="73152" marR="73152" marT="36576" marB="36576">
                    <a:solidFill>
                      <a:srgbClr val="F3F5F9"/>
                    </a:solidFill>
                  </a:tcPr>
                </a:tc>
                <a:tc>
                  <a:txBody>
                    <a:bodyPr wrap="square"/>
                    <a:lstStyle/>
                    <a:p>
                      <a:r>
                        <a:rPr sz="1700" b="0">
                          <a:solidFill>
                            <a:srgbClr val="1B1B1B"/>
                          </a:solidFill>
                          <a:latin typeface="Calibri"/>
                        </a:rPr>
                        <a:t>44</a:t>
                      </a:r>
                    </a:p>
                  </a:txBody>
                  <a:tcPr marL="73152" marR="73152" marT="36576" marB="36576">
                    <a:solidFill>
                      <a:srgbClr val="F3F5F9"/>
                    </a:solidFill>
                  </a:tcPr>
                </a:tc>
                <a:tc>
                  <a:txBody>
                    <a:bodyPr wrap="square"/>
                    <a:lstStyle/>
                    <a:p>
                      <a:r>
                        <a:rPr sz="1700" b="0">
                          <a:solidFill>
                            <a:srgbClr val="1B1B1B"/>
                          </a:solidFill>
                          <a:latin typeface="Calibri"/>
                        </a:rPr>
                        <a:t>35</a:t>
                      </a:r>
                    </a:p>
                  </a:txBody>
                  <a:tcPr marL="73152" marR="73152" marT="36576" marB="36576">
                    <a:solidFill>
                      <a:srgbClr val="F3F5F9"/>
                    </a:solidFill>
                  </a:tcPr>
                </a:tc>
                <a:tc>
                  <a:txBody>
                    <a:bodyPr wrap="square"/>
                    <a:lstStyle/>
                    <a:p>
                      <a:r>
                        <a:rPr sz="1700" b="0">
                          <a:solidFill>
                            <a:srgbClr val="1B1B1B"/>
                          </a:solidFill>
                          <a:latin typeface="Calibri"/>
                        </a:rPr>
                        <a:t>43</a:t>
                      </a:r>
                    </a:p>
                  </a:txBody>
                  <a:tcPr marL="73152" marR="73152" marT="36576" marB="36576">
                    <a:solidFill>
                      <a:srgbClr val="F3F5F9"/>
                    </a:solidFill>
                  </a:tcPr>
                </a:tc>
                <a:tc>
                  <a:txBody>
                    <a:bodyPr wrap="square"/>
                    <a:lstStyle/>
                    <a:p>
                      <a:r>
                        <a:rPr sz="1700" b="0">
                          <a:solidFill>
                            <a:srgbClr val="1B1B1B"/>
                          </a:solidFill>
                          <a:latin typeface="Calibri"/>
                        </a:rPr>
                        <a:t>39</a:t>
                      </a:r>
                    </a:p>
                  </a:txBody>
                  <a:tcPr marL="73152" marR="73152" marT="36576" marB="36576">
                    <a:solidFill>
                      <a:srgbClr val="F3F5F9"/>
                    </a:solidFill>
                  </a:tcPr>
                </a:tc>
              </a:tr>
              <a:tr h="274320">
                <a:tc>
                  <a:txBody>
                    <a:bodyPr wrap="square"/>
                    <a:lstStyle/>
                    <a:p>
                      <a:r>
                        <a:rPr sz="1700" b="1">
                          <a:solidFill>
                            <a:srgbClr val="1B1B1B"/>
                          </a:solidFill>
                          <a:latin typeface="Calibri"/>
                        </a:rPr>
                        <a:t>C</a:t>
                      </a:r>
                    </a:p>
                  </a:txBody>
                  <a:tcPr marL="73152" marR="73152" marT="36576" marB="36576">
                    <a:solidFill>
                      <a:srgbClr val="FFFFFF"/>
                    </a:solidFill>
                  </a:tcPr>
                </a:tc>
                <a:tc>
                  <a:txBody>
                    <a:bodyPr wrap="square"/>
                    <a:lstStyle/>
                    <a:p>
                      <a:r>
                        <a:rPr sz="1700" b="0">
                          <a:solidFill>
                            <a:srgbClr val="1B1B1B"/>
                          </a:solidFill>
                          <a:latin typeface="Calibri"/>
                        </a:rPr>
                        <a:t>52</a:t>
                      </a:r>
                    </a:p>
                  </a:txBody>
                  <a:tcPr marL="73152" marR="73152" marT="36576" marB="36576">
                    <a:solidFill>
                      <a:srgbClr val="FFFFFF"/>
                    </a:solidFill>
                  </a:tcPr>
                </a:tc>
                <a:tc>
                  <a:txBody>
                    <a:bodyPr wrap="square"/>
                    <a:lstStyle/>
                    <a:p>
                      <a:r>
                        <a:rPr sz="1700" b="0">
                          <a:solidFill>
                            <a:srgbClr val="1B1B1B"/>
                          </a:solidFill>
                          <a:latin typeface="Calibri"/>
                        </a:rPr>
                        <a:t>50</a:t>
                      </a:r>
                    </a:p>
                  </a:txBody>
                  <a:tcPr marL="73152" marR="73152" marT="36576" marB="36576">
                    <a:solidFill>
                      <a:srgbClr val="FFFFFF"/>
                    </a:solidFill>
                  </a:tcPr>
                </a:tc>
                <a:tc>
                  <a:txBody>
                    <a:bodyPr wrap="square"/>
                    <a:lstStyle/>
                    <a:p>
                      <a:r>
                        <a:rPr sz="1700" b="0">
                          <a:solidFill>
                            <a:srgbClr val="1B1B1B"/>
                          </a:solidFill>
                          <a:latin typeface="Calibri"/>
                        </a:rPr>
                        <a:t>53</a:t>
                      </a:r>
                    </a:p>
                  </a:txBody>
                  <a:tcPr marL="73152" marR="73152" marT="36576" marB="36576">
                    <a:solidFill>
                      <a:srgbClr val="FFFFFF"/>
                    </a:solidFill>
                  </a:tcPr>
                </a:tc>
                <a:tc>
                  <a:txBody>
                    <a:bodyPr wrap="square"/>
                    <a:lstStyle/>
                    <a:p>
                      <a:r>
                        <a:rPr sz="1700" b="0">
                          <a:solidFill>
                            <a:srgbClr val="1B1B1B"/>
                          </a:solidFill>
                          <a:latin typeface="Calibri"/>
                        </a:rPr>
                        <a:t>51</a:t>
                      </a:r>
                    </a:p>
                  </a:txBody>
                  <a:tcPr marL="73152" marR="73152" marT="36576" marB="36576">
                    <a:solidFill>
                      <a:srgbClr val="FFFFFF"/>
                    </a:solidFill>
                  </a:tcPr>
                </a:tc>
                <a:tc>
                  <a:txBody>
                    <a:bodyPr wrap="square"/>
                    <a:lstStyle/>
                    <a:p>
                      <a:r>
                        <a:rPr sz="1700" b="0">
                          <a:solidFill>
                            <a:srgbClr val="1B1B1B"/>
                          </a:solidFill>
                          <a:latin typeface="Calibri"/>
                        </a:rPr>
                        <a:t>54</a:t>
                      </a:r>
                    </a:p>
                  </a:txBody>
                  <a:tcPr marL="73152" marR="73152" marT="36576" marB="36576">
                    <a:solidFill>
                      <a:srgbClr val="FFFFFF"/>
                    </a:solidFill>
                  </a:tcPr>
                </a:tc>
              </a:tr>
              <a:tr h="274320">
                <a:tc>
                  <a:txBody>
                    <a:bodyPr wrap="square"/>
                    <a:lstStyle/>
                    <a:p>
                      <a:r>
                        <a:rPr sz="1700" b="1">
                          <a:solidFill>
                            <a:srgbClr val="1B1B1B"/>
                          </a:solidFill>
                          <a:latin typeface="Calibri"/>
                        </a:rPr>
                        <a:t>D</a:t>
                      </a:r>
                    </a:p>
                  </a:txBody>
                  <a:tcPr marL="73152" marR="73152" marT="36576" marB="36576">
                    <a:solidFill>
                      <a:srgbClr val="F3F5F9"/>
                    </a:solidFill>
                  </a:tcPr>
                </a:tc>
                <a:tc>
                  <a:txBody>
                    <a:bodyPr wrap="square"/>
                    <a:lstStyle/>
                    <a:p>
                      <a:r>
                        <a:rPr sz="1700" b="0">
                          <a:solidFill>
                            <a:srgbClr val="1B1B1B"/>
                          </a:solidFill>
                          <a:latin typeface="Calibri"/>
                        </a:rPr>
                        <a:t>41</a:t>
                      </a:r>
                    </a:p>
                  </a:txBody>
                  <a:tcPr marL="73152" marR="73152" marT="36576" marB="36576">
                    <a:solidFill>
                      <a:srgbClr val="F3F5F9"/>
                    </a:solidFill>
                  </a:tcPr>
                </a:tc>
                <a:tc>
                  <a:txBody>
                    <a:bodyPr wrap="square"/>
                    <a:lstStyle/>
                    <a:p>
                      <a:r>
                        <a:rPr sz="1700" b="0">
                          <a:solidFill>
                            <a:srgbClr val="1B1B1B"/>
                          </a:solidFill>
                          <a:latin typeface="Calibri"/>
                        </a:rPr>
                        <a:t>43</a:t>
                      </a:r>
                    </a:p>
                  </a:txBody>
                  <a:tcPr marL="73152" marR="73152" marT="36576" marB="36576">
                    <a:solidFill>
                      <a:srgbClr val="F3F5F9"/>
                    </a:solidFill>
                  </a:tcPr>
                </a:tc>
                <a:tc>
                  <a:txBody>
                    <a:bodyPr wrap="square"/>
                    <a:lstStyle/>
                    <a:p>
                      <a:r>
                        <a:rPr sz="1700" b="0">
                          <a:solidFill>
                            <a:srgbClr val="1B1B1B"/>
                          </a:solidFill>
                          <a:latin typeface="Calibri"/>
                        </a:rPr>
                        <a:t>40</a:t>
                      </a:r>
                    </a:p>
                  </a:txBody>
                  <a:tcPr marL="73152" marR="73152" marT="36576" marB="36576">
                    <a:solidFill>
                      <a:srgbClr val="F3F5F9"/>
                    </a:solidFill>
                  </a:tcPr>
                </a:tc>
                <a:tc>
                  <a:txBody>
                    <a:bodyPr wrap="square"/>
                    <a:lstStyle/>
                    <a:p>
                      <a:r>
                        <a:rPr sz="1700" b="0">
                          <a:solidFill>
                            <a:srgbClr val="1B1B1B"/>
                          </a:solidFill>
                          <a:latin typeface="Calibri"/>
                        </a:rPr>
                        <a:t>42</a:t>
                      </a:r>
                    </a:p>
                  </a:txBody>
                  <a:tcPr marL="73152" marR="73152" marT="36576" marB="36576">
                    <a:solidFill>
                      <a:srgbClr val="F3F5F9"/>
                    </a:solidFill>
                  </a:tcPr>
                </a:tc>
                <a:tc>
                  <a:txBody>
                    <a:bodyPr wrap="square"/>
                    <a:lstStyle/>
                    <a:p>
                      <a:r>
                        <a:rPr sz="1700" b="0">
                          <a:solidFill>
                            <a:srgbClr val="1B1B1B"/>
                          </a:solidFill>
                          <a:latin typeface="Calibri"/>
                        </a:rPr>
                        <a:t>44</a:t>
                      </a:r>
                    </a:p>
                  </a:txBody>
                  <a:tcPr marL="73152" marR="73152" marT="36576" marB="36576">
                    <a:solidFill>
                      <a:srgbClr val="F3F5F9"/>
                    </a:solidFill>
                  </a:tcPr>
                </a:tc>
              </a:tr>
            </a:tbl>
          </a:graphicData>
        </a:graphic>
      </p:graphicFrame>
      <p:sp>
        <p:nvSpPr>
          <p:cNvPr id="14" name="Rounded Rectangle 13"/>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5" name="Rounded Rectangle 14"/>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20"/>
              </a:spcAft>
              <a:buAutoNum type="arabicPeriod"/>
            </a:pPr>
            <a:r>
              <a:rPr sz="1400" b="0" i="0">
                <a:solidFill>
                  <a:srgbClr val="1B1B1B"/>
                </a:solidFill>
                <a:latin typeface="Calibri"/>
              </a:rPr>
              <a:t>A et B : écart entre les moyennes, en minutes.</a:t>
            </a:r>
          </a:p>
          <a:p>
            <a:pPr algn="l" marL="274320" indent="-274320">
              <a:spcAft>
                <a:spcPts val="420"/>
              </a:spcAft>
              <a:buAutoNum type="arabicPeriod"/>
            </a:pPr>
            <a:r>
              <a:rPr sz="1400" b="0" i="0">
                <a:solidFill>
                  <a:srgbClr val="1B1B1B"/>
                </a:solidFill>
                <a:latin typeface="Calibri"/>
              </a:rPr>
              <a:t>A : écart-type, arrondi à 0,1.</a:t>
            </a:r>
          </a:p>
          <a:p>
            <a:pPr algn="l" marL="274320" indent="-274320">
              <a:spcAft>
                <a:spcPts val="420"/>
              </a:spcAft>
              <a:buAutoNum type="arabicPeriod"/>
            </a:pPr>
            <a:r>
              <a:rPr sz="1400" b="0" i="0">
                <a:solidFill>
                  <a:srgbClr val="1B1B1B"/>
                </a:solidFill>
                <a:latin typeface="Calibri"/>
              </a:rPr>
              <a:t>A–B : l'écart des moyennes est-il plus petit ou plus grand que l'écart-type ?</a:t>
            </a:r>
          </a:p>
          <a:p>
            <a:pPr algn="l" marL="274320" indent="-274320">
              <a:spcAft>
                <a:spcPts val="420"/>
              </a:spcAft>
              <a:buAutoNum type="arabicPeriod"/>
            </a:pPr>
            <a:r>
              <a:rPr sz="1400" b="0" i="0">
                <a:solidFill>
                  <a:srgbClr val="1B1B1B"/>
                </a:solidFill>
                <a:latin typeface="Calibri"/>
              </a:rPr>
              <a:t>A–B : que concluez-vous ?</a:t>
            </a:r>
          </a:p>
          <a:p>
            <a:pPr algn="l" marL="274320" indent="-274320">
              <a:spcAft>
                <a:spcPts val="420"/>
              </a:spcAft>
              <a:buAutoNum type="arabicPeriod"/>
            </a:pPr>
            <a:r>
              <a:rPr sz="1400" b="0" i="0">
                <a:solidFill>
                  <a:srgbClr val="1B1B1B"/>
                </a:solidFill>
                <a:latin typeface="Calibri"/>
              </a:rPr>
              <a:t>C et D : écart entre les moyennes, en minutes.</a:t>
            </a:r>
          </a:p>
          <a:p>
            <a:pPr algn="l" marL="274320" indent="-274320">
              <a:spcAft>
                <a:spcPts val="420"/>
              </a:spcAft>
              <a:buAutoNum type="arabicPeriod"/>
            </a:pPr>
            <a:r>
              <a:rPr sz="1400" b="0" i="0">
                <a:solidFill>
                  <a:srgbClr val="1B1B1B"/>
                </a:solidFill>
                <a:latin typeface="Calibri"/>
              </a:rPr>
              <a:t>C–D : que concluez-vous ?</a:t>
            </a:r>
          </a:p>
          <a:p>
            <a:pPr algn="l" marL="274320" indent="-274320">
              <a:spcAft>
                <a:spcPts val="420"/>
              </a:spcAft>
              <a:buAutoNum type="arabicPeriod"/>
            </a:pPr>
            <a:r>
              <a:rPr sz="1400" b="0" i="0">
                <a:solidFill>
                  <a:srgbClr val="1B1B1B"/>
                </a:solidFill>
                <a:latin typeface="Calibri"/>
              </a:rPr>
              <a:t>Écrivez une phrase de conclusion pour A–B et une pour C–D, comme dans un état de l'art.</a:t>
            </a:r>
          </a:p>
          <a:p>
            <a:pPr algn="l" marL="274320" indent="-274320">
              <a:spcAft>
                <a:spcPts val="420"/>
              </a:spcAft>
              <a:buAutoNum type="arabicPeriod"/>
            </a:pPr>
            <a:r>
              <a:rPr sz="1400" b="0" i="0">
                <a:solidFill>
                  <a:srgbClr val="1B1B1B"/>
                </a:solidFill>
                <a:latin typeface="Calibri"/>
              </a:rPr>
              <a:t>Avec Perplexity ou une autre IA (notez laquelle) : demandez-lui si « B est meilleur que A ». Donne-t-elle ses calculs, et sont-ils exacts (refaites-les) ?</a:t>
            </a:r>
          </a:p>
        </p:txBody>
      </p:sp>
      <p:sp>
        <p:nvSpPr>
          <p:cNvPr id="16" name="Rounded Rectangle 15"/>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55"/>
              </a:spcAft>
            </a:pPr>
            <a:r>
              <a:rPr sz="1300" b="1" i="0">
                <a:solidFill>
                  <a:srgbClr val="1B1B1B"/>
                </a:solidFill>
                <a:latin typeface="Calibri"/>
              </a:rPr>
              <a:t>Livrable : Un tableau de mesures avec moyennes et dispersion, et votre phrase de conclusion → Dossier, section 21.</a:t>
            </a:r>
          </a:p>
        </p:txBody>
      </p:sp>
      <p:sp>
        <p:nvSpPr>
          <p:cNvPr id="17" name="TextBox 16"/>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8" name="Picture 17" descr="V8.png"/>
          <p:cNvPicPr>
            <a:picLocks noChangeAspect="1"/>
          </p:cNvPicPr>
          <p:nvPr/>
        </p:nvPicPr>
        <p:blipFill>
          <a:blip r:embed="rId4"/>
          <a:stretch>
            <a:fillRect/>
          </a:stretch>
        </p:blipFill>
        <p:spPr>
          <a:xfrm>
            <a:off x="10744200" y="5257800"/>
            <a:ext cx="1005840" cy="1005840"/>
          </a:xfrm>
          <a:prstGeom prst="rect">
            <a:avLst/>
          </a:prstGeom>
        </p:spPr>
      </p:pic>
      <p:sp>
        <p:nvSpPr>
          <p:cNvPr id="19" name="TextBox 18"/>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04"/>
              </a:spcAft>
            </a:pPr>
            <a:r>
              <a:rPr sz="2300" b="1" i="0">
                <a:solidFill>
                  <a:srgbClr val="FFFFFF"/>
                </a:solidFill>
                <a:latin typeface="Calibri"/>
              </a:rPr>
              <a:t>Correction · V8 — Écart réel ou bruit ? Deux comparaisons de mesures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V8</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100</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Calculer la moyenne et la dispersion de chaque outil.</a:t>
            </a:r>
          </a:p>
          <a:p>
            <a:pPr algn="l" marL="274320" indent="-274320">
              <a:spcAft>
                <a:spcPts val="375"/>
              </a:spcAft>
              <a:buAutoNum type="arabicPeriod"/>
            </a:pPr>
            <a:r>
              <a:rPr sz="1500" b="0" i="0">
                <a:solidFill>
                  <a:srgbClr val="1B1B1B"/>
                </a:solidFill>
                <a:latin typeface="Calibri"/>
              </a:rPr>
              <a:t>Comparer l'écart des moyennes à la dispersion.</a:t>
            </a:r>
          </a:p>
          <a:p>
            <a:pPr algn="l" marL="274320" indent="-274320">
              <a:spcAft>
                <a:spcPts val="375"/>
              </a:spcAft>
              <a:buAutoNum type="arabicPeriod"/>
            </a:pPr>
            <a:r>
              <a:rPr sz="1500" b="0" i="0">
                <a:solidFill>
                  <a:srgbClr val="1B1B1B"/>
                </a:solidFill>
                <a:latin typeface="Calibri"/>
              </a:rPr>
              <a:t>Conclure avec prudence : cinq mesures, c'est peu.</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2377440"/>
                <a:gridCol w="5669280"/>
              </a:tblGrid>
              <a:tr h="237744">
                <a:tc>
                  <a:txBody>
                    <a:bodyPr wrap="square"/>
                    <a:lstStyle/>
                    <a:p>
                      <a:r>
                        <a:rPr sz="1100" b="1">
                          <a:solidFill>
                            <a:srgbClr val="FFFFFF"/>
                          </a:solidFill>
                          <a:latin typeface="Calibri"/>
                        </a:rPr>
                        <a:t>Comparaison</a:t>
                      </a:r>
                    </a:p>
                  </a:txBody>
                  <a:tcPr marL="73152" marR="73152" marT="36576" marB="36576">
                    <a:solidFill>
                      <a:srgbClr val="1F2A5C"/>
                    </a:solidFill>
                  </a:tcPr>
                </a:tc>
                <a:tc>
                  <a:txBody>
                    <a:bodyPr wrap="square"/>
                    <a:lstStyle/>
                    <a:p>
                      <a:r>
                        <a:rPr sz="1100" b="1">
                          <a:solidFill>
                            <a:srgbClr val="FFFFFF"/>
                          </a:solidFill>
                          <a:latin typeface="Calibri"/>
                        </a:rPr>
                        <a:t>Résultat</a:t>
                      </a:r>
                    </a:p>
                  </a:txBody>
                  <a:tcPr marL="73152" marR="73152" marT="36576" marB="36576">
                    <a:solidFill>
                      <a:srgbClr val="1F2A5C"/>
                    </a:solidFill>
                  </a:tcPr>
                </a:tc>
              </a:tr>
              <a:tr h="237744">
                <a:tc>
                  <a:txBody>
                    <a:bodyPr wrap="square"/>
                    <a:lstStyle/>
                    <a:p>
                      <a:r>
                        <a:rPr sz="1100" b="1">
                          <a:solidFill>
                            <a:srgbClr val="1B1B1B"/>
                          </a:solidFill>
                          <a:latin typeface="Calibri"/>
                        </a:rPr>
                        <a:t>Écart-type de A, pas à pas</a:t>
                      </a:r>
                    </a:p>
                  </a:txBody>
                  <a:tcPr marL="73152" marR="73152" marT="36576" marB="36576">
                    <a:solidFill>
                      <a:srgbClr val="FFFFFF"/>
                    </a:solidFill>
                  </a:tcPr>
                </a:tc>
                <a:tc>
                  <a:txBody>
                    <a:bodyPr wrap="square"/>
                    <a:lstStyle/>
                    <a:p>
                      <a:r>
                        <a:rPr sz="1100" b="0">
                          <a:solidFill>
                            <a:srgbClr val="1B1B1B"/>
                          </a:solidFill>
                          <a:latin typeface="Calibri"/>
                        </a:rPr>
                        <a:t>Moyenne : 200 ÷ 5 = 40. Écarts à la moyenne : +1, −2, +5, 0, −4. Carrés : 1, 4, 25, 0, 16 ; somme = 46. Variance : 46 ÷ (5−1) = 11,5. Écart-type : √11,5 = 3,4. (Même résultat que =ECARTYPE.)</a:t>
                      </a:r>
                    </a:p>
                  </a:txBody>
                  <a:tcPr marL="73152" marR="73152" marT="36576" marB="36576">
                    <a:solidFill>
                      <a:srgbClr val="FFFFFF"/>
                    </a:solidFill>
                  </a:tcPr>
                </a:tc>
              </a:tr>
              <a:tr h="237744">
                <a:tc>
                  <a:txBody>
                    <a:bodyPr wrap="square"/>
                    <a:lstStyle/>
                    <a:p>
                      <a:r>
                        <a:rPr sz="1100" b="1">
                          <a:solidFill>
                            <a:srgbClr val="1B1B1B"/>
                          </a:solidFill>
                          <a:latin typeface="Calibri"/>
                        </a:rPr>
                        <a:t>A et B</a:t>
                      </a:r>
                    </a:p>
                  </a:txBody>
                  <a:tcPr marL="73152" marR="73152" marT="36576" marB="36576">
                    <a:solidFill>
                      <a:srgbClr val="F3F5F9"/>
                    </a:solidFill>
                  </a:tcPr>
                </a:tc>
                <a:tc>
                  <a:txBody>
                    <a:bodyPr wrap="square"/>
                    <a:lstStyle/>
                    <a:p>
                      <a:r>
                        <a:rPr sz="1100" b="0">
                          <a:solidFill>
                            <a:srgbClr val="1B1B1B"/>
                          </a:solidFill>
                          <a:latin typeface="Calibri"/>
                        </a:rPr>
                        <a:t>Moyennes 40,0 et 39,6 : écart 0,4 ; écarts-types 3,4 et 3,9. L'écart (0,4) est bien plus petit que l'écart-type (3,4) : bruit. Conclusion : aucune différence établie.</a:t>
                      </a:r>
                    </a:p>
                  </a:txBody>
                  <a:tcPr marL="73152" marR="73152" marT="36576" marB="36576">
                    <a:solidFill>
                      <a:srgbClr val="F3F5F9"/>
                    </a:solidFill>
                  </a:tcPr>
                </a:tc>
              </a:tr>
              <a:tr h="237744">
                <a:tc>
                  <a:txBody>
                    <a:bodyPr wrap="square"/>
                    <a:lstStyle/>
                    <a:p>
                      <a:r>
                        <a:rPr sz="1100" b="1">
                          <a:solidFill>
                            <a:srgbClr val="1B1B1B"/>
                          </a:solidFill>
                          <a:latin typeface="Calibri"/>
                        </a:rPr>
                        <a:t>C et D</a:t>
                      </a:r>
                    </a:p>
                  </a:txBody>
                  <a:tcPr marL="73152" marR="73152" marT="36576" marB="36576">
                    <a:solidFill>
                      <a:srgbClr val="FFFFFF"/>
                    </a:solidFill>
                  </a:tcPr>
                </a:tc>
                <a:tc>
                  <a:txBody>
                    <a:bodyPr wrap="square"/>
                    <a:lstStyle/>
                    <a:p>
                      <a:r>
                        <a:rPr sz="1100" b="0">
                          <a:solidFill>
                            <a:srgbClr val="1B1B1B"/>
                          </a:solidFill>
                          <a:latin typeface="Calibri"/>
                        </a:rPr>
                        <a:t>Moyennes 52,0 et 42,0 : écart 10 ; écarts-types 1,6 et 1,6 : l'écart vaut plus de 6 écarts-types : probablement réel. Conclusion : D est plus rapide d'environ 10 minutes sur ces cinq mesures.</a:t>
                      </a:r>
                    </a:p>
                  </a:txBody>
                  <a:tcPr marL="73152" marR="73152" marT="36576" marB="36576">
                    <a:solidFill>
                      <a:srgbClr val="FFFFFF"/>
                    </a:solidFill>
                  </a:tcPr>
                </a:tc>
              </a:tr>
              <a:tr h="237744">
                <a:tc>
                  <a:txBody>
                    <a:bodyPr wrap="square"/>
                    <a:lstStyle/>
                    <a:p>
                      <a:r>
                        <a:rPr sz="1100" b="1">
                          <a:solidFill>
                            <a:srgbClr val="1B1B1B"/>
                          </a:solidFill>
                          <a:latin typeface="Calibri"/>
                        </a:rPr>
                        <a:t>Test statistique (facultatif)</a:t>
                      </a:r>
                    </a:p>
                  </a:txBody>
                  <a:tcPr marL="73152" marR="73152" marT="36576" marB="36576">
                    <a:solidFill>
                      <a:srgbClr val="F3F5F9"/>
                    </a:solidFill>
                  </a:tcPr>
                </a:tc>
                <a:tc>
                  <a:txBody>
                    <a:bodyPr wrap="square"/>
                    <a:lstStyle/>
                    <a:p>
                      <a:r>
                        <a:rPr sz="1100" b="0">
                          <a:solidFill>
                            <a:srgbClr val="1B1B1B"/>
                          </a:solidFill>
                          <a:latin typeface="Calibri"/>
                        </a:rPr>
                        <a:t>Un test de Student (fonction de tableur, ou avis d'un statisticien) donne environ 0,87 pour A–B et 0,00001 pour C–D (calcul fait à la construction du cours). Plus ce nombre est petit, moins l'écart s'explique par le hasard.</a:t>
                      </a:r>
                    </a:p>
                  </a:txBody>
                  <a:tcPr marL="73152" marR="73152" marT="36576" marB="36576">
                    <a:solidFill>
                      <a:srgbClr val="F3F5F9"/>
                    </a:solidFill>
                  </a:tcPr>
                </a:tc>
              </a:tr>
              <a:tr h="237744">
                <a:tc>
                  <a:txBody>
                    <a:bodyPr wrap="square"/>
                    <a:lstStyle/>
                    <a:p>
                      <a:r>
                        <a:rPr sz="1100" b="1">
                          <a:solidFill>
                            <a:srgbClr val="1B1B1B"/>
                          </a:solidFill>
                          <a:latin typeface="Calibri"/>
                        </a:rPr>
                        <a:t>t-test et ANOVA</a:t>
                      </a:r>
                    </a:p>
                  </a:txBody>
                  <a:tcPr marL="73152" marR="73152" marT="36576" marB="36576">
                    <a:solidFill>
                      <a:srgbClr val="FFFFFF"/>
                    </a:solidFill>
                  </a:tcPr>
                </a:tc>
                <a:tc>
                  <a:txBody>
                    <a:bodyPr wrap="square"/>
                    <a:lstStyle/>
                    <a:p>
                      <a:r>
                        <a:rPr sz="1100" b="0">
                          <a:solidFill>
                            <a:srgbClr val="1B1B1B"/>
                          </a:solidFill>
                          <a:latin typeface="Calibri"/>
                        </a:rPr>
                        <a:t>À connaître de nom : le t-test compare deux groupes, l'ANOVA plus de deux. Pour les utiliser correctement, demandez conseil à un statisticien.</a:t>
                      </a:r>
                    </a:p>
                  </a:txBody>
                  <a:tcPr marL="73152" marR="73152" marT="36576" marB="36576">
                    <a:solidFill>
                      <a:srgbClr val="FFFFFF"/>
                    </a:solidFill>
                  </a:tcPr>
                </a:tc>
              </a:tr>
              <a:tr h="237744">
                <a:tc>
                  <a:txBody>
                    <a:bodyPr wrap="square"/>
                    <a:lstStyle/>
                    <a:p>
                      <a:r>
                        <a:rPr sz="1100" b="1">
                          <a:solidFill>
                            <a:srgbClr val="1B1B1B"/>
                          </a:solidFill>
                          <a:latin typeface="Calibri"/>
                        </a:rPr>
                        <a:t>Phrases possibles</a:t>
                      </a:r>
                    </a:p>
                  </a:txBody>
                  <a:tcPr marL="73152" marR="73152" marT="36576" marB="36576">
                    <a:solidFill>
                      <a:srgbClr val="F3F5F9"/>
                    </a:solidFill>
                  </a:tcPr>
                </a:tc>
                <a:tc>
                  <a:txBody>
                    <a:bodyPr wrap="square"/>
                    <a:lstStyle/>
                    <a:p>
                      <a:r>
                        <a:rPr sz="1100" b="0">
                          <a:solidFill>
                            <a:srgbClr val="1B1B1B"/>
                          </a:solidFill>
                          <a:latin typeface="Calibri"/>
                        </a:rPr>
                        <a:t>A–B : « l'écart observé (0,4 min) est inférieur à la dispersion des mesures ; aucune différence n'est établie. » C–D : « D est plus rapide d'environ 10 min sur ces cinq mesures ; à confirmer avec plus de mesures. »</a:t>
                      </a:r>
                    </a:p>
                  </a:txBody>
                  <a:tcPr marL="73152" marR="73152" marT="36576" marB="36576">
                    <a:solidFill>
                      <a:srgbClr val="F3F5F9"/>
                    </a:solidFill>
                  </a:tcPr>
                </a:tc>
              </a:tr>
              <a:tr h="237744">
                <a:tc>
                  <a:txBody>
                    <a:bodyPr wrap="square"/>
                    <a:lstStyle/>
                    <a:p>
                      <a:r>
                        <a:rPr sz="1100" b="1">
                          <a:solidFill>
                            <a:srgbClr val="1B1B1B"/>
                          </a:solidFill>
                          <a:latin typeface="Calibri"/>
                        </a:rPr>
                        <a:t>IA · B meilleur que A ?</a:t>
                      </a:r>
                    </a:p>
                  </a:txBody>
                  <a:tcPr marL="73152" marR="73152" marT="36576" marB="36576">
                    <a:solidFill>
                      <a:srgbClr val="FFFFFF"/>
                    </a:solidFill>
                  </a:tcPr>
                </a:tc>
                <a:tc>
                  <a:txBody>
                    <a:bodyPr wrap="square"/>
                    <a:lstStyle/>
                    <a:p>
                      <a:r>
                        <a:rPr sz="1100" b="0">
                          <a:solidFill>
                            <a:srgbClr val="1B1B1B"/>
                          </a:solidFill>
                          <a:latin typeface="Calibri"/>
                        </a:rPr>
                        <a:t>Une IA répond souvent « oui, B est légèrement meilleur » en comparant 39,6 à 40,0, sans parler de la dispersion. Refaites le calcul : l'écart est du bruit.</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Conclure « B est meilleur » avec 0,4 minute d'écart.</a:t>
            </a:r>
          </a:p>
          <a:p>
            <a:pPr algn="l" marL="201168" indent="-201168">
              <a:spcAft>
                <a:spcPts val="110"/>
              </a:spcAft>
              <a:buChar char="•"/>
            </a:pPr>
            <a:r>
              <a:rPr sz="1100" b="0" i="0">
                <a:solidFill>
                  <a:srgbClr val="1B1B1B"/>
                </a:solidFill>
                <a:latin typeface="Calibri"/>
              </a:rPr>
              <a:t>Oublier de dire le nombre de mesures.</a:t>
            </a:r>
          </a:p>
          <a:p>
            <a:pPr algn="l" marL="201168" indent="-201168">
              <a:spcAft>
                <a:spcPts val="110"/>
              </a:spcAft>
              <a:buChar char="•"/>
            </a:pPr>
            <a:r>
              <a:rPr sz="1100" b="0" i="0">
                <a:solidFill>
                  <a:srgbClr val="1B1B1B"/>
                </a:solidFill>
                <a:latin typeface="Calibri"/>
              </a:rPr>
              <a:t>Croire qu'un test remplace la réflexion sur la façon de mesurer.</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Une matrice pondérée en dix minutes dans un tableur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101</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1 · Tableau</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Solutions en lignes, critères en colonnes</a:t>
            </a:r>
          </a:p>
          <a:p>
            <a:pPr algn="l">
              <a:spcAft>
                <a:spcPts val="480"/>
              </a:spcAft>
            </a:pPr>
            <a:r>
              <a:rPr sz="1600" b="0" i="0">
                <a:solidFill>
                  <a:srgbClr val="1B1B1B"/>
                </a:solidFill>
                <a:latin typeface="Calibri"/>
              </a:rPr>
              <a:t>Ex. : disque, cloud, hybride</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2 · Notes</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De 1 à 5, avec sa source</a:t>
            </a:r>
          </a:p>
          <a:p>
            <a:pPr algn="l">
              <a:spcAft>
                <a:spcPts val="480"/>
              </a:spcAft>
            </a:pPr>
            <a:r>
              <a:rPr sz="1600" b="0" i="0">
                <a:solidFill>
                  <a:srgbClr val="1B1B1B"/>
                </a:solidFill>
                <a:latin typeface="Calibri"/>
              </a:rPr>
              <a:t>Ex. : coût 3, sécurité 4</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3 · Poids</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Une ligne, total 100 %</a:t>
            </a:r>
          </a:p>
          <a:p>
            <a:pPr algn="l">
              <a:spcAft>
                <a:spcPts val="480"/>
              </a:spcAft>
            </a:pPr>
            <a:r>
              <a:rPr sz="1600" b="0" i="0">
                <a:solidFill>
                  <a:srgbClr val="1B1B1B"/>
                </a:solidFill>
                <a:latin typeface="Calibri"/>
              </a:rPr>
              <a:t>Ex. : 30 / 30 / 25 / 15</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4 · Formule</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=SOMMEPROD(B2:E2;$B$6:$E$6)</a:t>
            </a:r>
          </a:p>
          <a:p>
            <a:pPr algn="l">
              <a:spcAft>
                <a:spcPts val="480"/>
              </a:spcAft>
            </a:pPr>
            <a:r>
              <a:rPr sz="1600" b="0" i="0">
                <a:solidFill>
                  <a:srgbClr val="1B1B1B"/>
                </a:solidFill>
                <a:latin typeface="Calibri"/>
              </a:rPr>
              <a:t>(SUMPRODUCT en anglais)</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5 · Sensibilité</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Changer les poids, recalculer</a:t>
            </a:r>
          </a:p>
          <a:p>
            <a:pPr algn="l">
              <a:spcAft>
                <a:spcPts val="480"/>
              </a:spcAft>
            </a:pPr>
            <a:r>
              <a:rPr sz="1600" b="0" i="0">
                <a:solidFill>
                  <a:srgbClr val="1B1B1B"/>
                </a:solidFill>
                <a:latin typeface="Calibri"/>
              </a:rPr>
              <a:t>Ex. : coût à 50 %</a:t>
            </a:r>
          </a:p>
        </p:txBody>
      </p:sp>
      <p:sp>
        <p:nvSpPr>
          <p:cNvPr id="20" name="Rounded Rectangle 19"/>
          <p:cNvSpPr/>
          <p:nvPr/>
        </p:nvSpPr>
        <p:spPr>
          <a:xfrm>
            <a:off x="411480" y="4846320"/>
            <a:ext cx="11338560" cy="731520"/>
          </a:xfrm>
          <a:prstGeom prst="roundRect">
            <a:avLst>
              <a:gd name="adj" fmla="val 6000"/>
            </a:avLst>
          </a:prstGeom>
          <a:solidFill>
            <a:srgbClr val="FFFFFF"/>
          </a:solidFill>
          <a:ln w="15875">
            <a:solidFill>
              <a:srgbClr val="3B6F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60"/>
              </a:spcAft>
            </a:pPr>
            <a:r>
              <a:rPr sz="1600" b="0" i="0">
                <a:solidFill>
                  <a:srgbClr val="1B1B1B"/>
                </a:solidFill>
                <a:latin typeface="Calibri"/>
              </a:rPr>
              <a:t>Sans source pour les notes, la matrice n'est qu'un avis : chaque note renvoie à une référence ou à un test.</a:t>
            </a:r>
          </a:p>
        </p:txBody>
      </p:sp>
      <p:sp>
        <p:nvSpPr>
          <p:cNvPr id="21" name="Rounded Rectangle 20"/>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Excel, Google Sheets et LibreOffice Calc : même formule. Si le classement change quand les poids changent, dites-le.</a:t>
            </a:r>
          </a:p>
        </p:txBody>
      </p:sp>
      <p:sp>
        <p:nvSpPr>
          <p:cNvPr id="22" name="Rounded Rectangle 21"/>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Voici ma matrice (notes et poids). Quel critère manque, et lequel est mal pondéré ? » Vous gardez ou rejetez.</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21</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Comparer trois solutions avec une matrice pondérée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EX21</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102</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Binômes, calculatrice ou tableur  ·  30 min  ·  Carnet · chapitre 7  ·  Outil : tableur (SOMMEPROD)</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Comparer des solutions avec une matrice pondérée et vérifier si le classement résiste quand les priorités changent (test de sensibilité).</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1399031"/>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359"/>
              </a:spcAft>
            </a:pPr>
            <a:r>
              <a:rPr sz="1200" b="0" i="0">
                <a:solidFill>
                  <a:srgbClr val="1B1B1B"/>
                </a:solidFill>
                <a:latin typeface="Calibri"/>
              </a:rPr>
              <a:t>TransLor choisit sa sauvegarde. Notes de 1 à 5 (5 = meilleur) ; poids = importance du critère (total 100 %).</a:t>
            </a:r>
          </a:p>
          <a:p>
            <a:pPr algn="l">
              <a:spcAft>
                <a:spcPts val="359"/>
              </a:spcAft>
            </a:pPr>
            <a:r>
              <a:rPr sz="1200" b="0" i="0">
                <a:solidFill>
                  <a:srgbClr val="1B1B1B"/>
                </a:solidFill>
                <a:latin typeface="Calibri"/>
              </a:rPr>
              <a:t>Total = somme de note × poids. Exemple, disque local : 5×0,30 + 2×0,30 + 2×0,25 + 5×0,15 = 3,35.</a:t>
            </a:r>
          </a:p>
          <a:p>
            <a:pPr algn="l">
              <a:spcAft>
                <a:spcPts val="359"/>
              </a:spcAft>
            </a:pPr>
            <a:r>
              <a:rPr sz="1200" b="0" i="0">
                <a:solidFill>
                  <a:srgbClr val="1B1B1B"/>
                </a:solidFill>
                <a:latin typeface="Calibri"/>
              </a:rPr>
              <a:t>Sensibilité : même calcul avec coût 50 %, sécurité 20 %, restauration 20 %, simplicité 10 %.</a:t>
            </a:r>
          </a:p>
        </p:txBody>
      </p:sp>
      <p:graphicFrame>
        <p:nvGraphicFramePr>
          <p:cNvPr id="13" name="Table 12"/>
          <p:cNvGraphicFramePr>
            <a:graphicFrameLocks noGrp="1"/>
          </p:cNvGraphicFramePr>
          <p:nvPr/>
        </p:nvGraphicFramePr>
        <p:xfrm>
          <a:off x="411480" y="3721607"/>
          <a:ext cx="5760717" cy="1371600"/>
        </p:xfrm>
        <a:graphic>
          <a:graphicData uri="http://schemas.openxmlformats.org/drawingml/2006/table">
            <a:tbl>
              <a:tblPr firstRow="0" bandRow="0">
                <a:tableStyleId>{5C22544A-7EE6-4342-B048-85BDC9FD1C3A}</a:tableStyleId>
              </a:tblPr>
              <a:tblGrid>
                <a:gridCol w="1736107"/>
                <a:gridCol w="789139"/>
                <a:gridCol w="946967"/>
                <a:gridCol w="1183709"/>
                <a:gridCol w="1104795"/>
              </a:tblGrid>
              <a:tr h="274320">
                <a:tc>
                  <a:txBody>
                    <a:bodyPr wrap="square"/>
                    <a:lstStyle/>
                    <a:p>
                      <a:r>
                        <a:rPr sz="1500" b="1">
                          <a:solidFill>
                            <a:srgbClr val="FFFFFF"/>
                          </a:solidFill>
                          <a:latin typeface="Calibri"/>
                        </a:rPr>
                        <a:t>Solution</a:t>
                      </a:r>
                    </a:p>
                  </a:txBody>
                  <a:tcPr marL="73152" marR="73152" marT="36576" marB="36576">
                    <a:solidFill>
                      <a:srgbClr val="1F2A5C"/>
                    </a:solidFill>
                  </a:tcPr>
                </a:tc>
                <a:tc>
                  <a:txBody>
                    <a:bodyPr wrap="square"/>
                    <a:lstStyle/>
                    <a:p>
                      <a:r>
                        <a:rPr sz="1500" b="1">
                          <a:solidFill>
                            <a:srgbClr val="FFFFFF"/>
                          </a:solidFill>
                          <a:latin typeface="Calibri"/>
                        </a:rPr>
                        <a:t>Coût</a:t>
                      </a:r>
                    </a:p>
                  </a:txBody>
                  <a:tcPr marL="73152" marR="73152" marT="36576" marB="36576">
                    <a:solidFill>
                      <a:srgbClr val="1F2A5C"/>
                    </a:solidFill>
                  </a:tcPr>
                </a:tc>
                <a:tc>
                  <a:txBody>
                    <a:bodyPr wrap="square"/>
                    <a:lstStyle/>
                    <a:p>
                      <a:r>
                        <a:rPr sz="1500" b="1">
                          <a:solidFill>
                            <a:srgbClr val="FFFFFF"/>
                          </a:solidFill>
                          <a:latin typeface="Calibri"/>
                        </a:rPr>
                        <a:t>Sécurité</a:t>
                      </a:r>
                    </a:p>
                  </a:txBody>
                  <a:tcPr marL="73152" marR="73152" marT="36576" marB="36576">
                    <a:solidFill>
                      <a:srgbClr val="1F2A5C"/>
                    </a:solidFill>
                  </a:tcPr>
                </a:tc>
                <a:tc>
                  <a:txBody>
                    <a:bodyPr wrap="square"/>
                    <a:lstStyle/>
                    <a:p>
                      <a:r>
                        <a:rPr sz="1500" b="1">
                          <a:solidFill>
                            <a:srgbClr val="FFFFFF"/>
                          </a:solidFill>
                          <a:latin typeface="Calibri"/>
                        </a:rPr>
                        <a:t>Restauration</a:t>
                      </a:r>
                    </a:p>
                  </a:txBody>
                  <a:tcPr marL="73152" marR="73152" marT="36576" marB="36576">
                    <a:solidFill>
                      <a:srgbClr val="1F2A5C"/>
                    </a:solidFill>
                  </a:tcPr>
                </a:tc>
                <a:tc>
                  <a:txBody>
                    <a:bodyPr wrap="square"/>
                    <a:lstStyle/>
                    <a:p>
                      <a:r>
                        <a:rPr sz="1500" b="1">
                          <a:solidFill>
                            <a:srgbClr val="FFFFFF"/>
                          </a:solidFill>
                          <a:latin typeface="Calibri"/>
                        </a:rPr>
                        <a:t>Simplicité</a:t>
                      </a:r>
                    </a:p>
                  </a:txBody>
                  <a:tcPr marL="73152" marR="73152" marT="36576" marB="36576">
                    <a:solidFill>
                      <a:srgbClr val="1F2A5C"/>
                    </a:solidFill>
                  </a:tcPr>
                </a:tc>
              </a:tr>
              <a:tr h="274320">
                <a:tc>
                  <a:txBody>
                    <a:bodyPr wrap="square"/>
                    <a:lstStyle/>
                    <a:p>
                      <a:r>
                        <a:rPr sz="1500" b="1">
                          <a:solidFill>
                            <a:srgbClr val="1B1B1B"/>
                          </a:solidFill>
                          <a:latin typeface="Calibri"/>
                        </a:rPr>
                        <a:t>Disque local</a:t>
                      </a:r>
                    </a:p>
                  </a:txBody>
                  <a:tcPr marL="73152" marR="73152" marT="36576" marB="36576">
                    <a:solidFill>
                      <a:srgbClr val="FFFFFF"/>
                    </a:solidFill>
                  </a:tcPr>
                </a:tc>
                <a:tc>
                  <a:txBody>
                    <a:bodyPr wrap="square"/>
                    <a:lstStyle/>
                    <a:p>
                      <a:r>
                        <a:rPr sz="1500" b="0">
                          <a:solidFill>
                            <a:srgbClr val="1B1B1B"/>
                          </a:solidFill>
                          <a:latin typeface="Calibri"/>
                        </a:rPr>
                        <a:t>5</a:t>
                      </a:r>
                    </a:p>
                  </a:txBody>
                  <a:tcPr marL="73152" marR="73152" marT="36576" marB="36576">
                    <a:solidFill>
                      <a:srgbClr val="FFFFFF"/>
                    </a:solidFill>
                  </a:tcPr>
                </a:tc>
                <a:tc>
                  <a:txBody>
                    <a:bodyPr wrap="square"/>
                    <a:lstStyle/>
                    <a:p>
                      <a:r>
                        <a:rPr sz="1500" b="0">
                          <a:solidFill>
                            <a:srgbClr val="1B1B1B"/>
                          </a:solidFill>
                          <a:latin typeface="Calibri"/>
                        </a:rPr>
                        <a:t>2</a:t>
                      </a:r>
                    </a:p>
                  </a:txBody>
                  <a:tcPr marL="73152" marR="73152" marT="36576" marB="36576">
                    <a:solidFill>
                      <a:srgbClr val="FFFFFF"/>
                    </a:solidFill>
                  </a:tcPr>
                </a:tc>
                <a:tc>
                  <a:txBody>
                    <a:bodyPr wrap="square"/>
                    <a:lstStyle/>
                    <a:p>
                      <a:r>
                        <a:rPr sz="1500" b="0">
                          <a:solidFill>
                            <a:srgbClr val="1B1B1B"/>
                          </a:solidFill>
                          <a:latin typeface="Calibri"/>
                        </a:rPr>
                        <a:t>2</a:t>
                      </a:r>
                    </a:p>
                  </a:txBody>
                  <a:tcPr marL="73152" marR="73152" marT="36576" marB="36576">
                    <a:solidFill>
                      <a:srgbClr val="FFFFFF"/>
                    </a:solidFill>
                  </a:tcPr>
                </a:tc>
                <a:tc>
                  <a:txBody>
                    <a:bodyPr wrap="square"/>
                    <a:lstStyle/>
                    <a:p>
                      <a:r>
                        <a:rPr sz="1500" b="0">
                          <a:solidFill>
                            <a:srgbClr val="1B1B1B"/>
                          </a:solidFill>
                          <a:latin typeface="Calibri"/>
                        </a:rPr>
                        <a:t>5</a:t>
                      </a:r>
                    </a:p>
                  </a:txBody>
                  <a:tcPr marL="73152" marR="73152" marT="36576" marB="36576">
                    <a:solidFill>
                      <a:srgbClr val="FFFFFF"/>
                    </a:solidFill>
                  </a:tcPr>
                </a:tc>
              </a:tr>
              <a:tr h="274320">
                <a:tc>
                  <a:txBody>
                    <a:bodyPr wrap="square"/>
                    <a:lstStyle/>
                    <a:p>
                      <a:r>
                        <a:rPr sz="1500" b="1">
                          <a:solidFill>
                            <a:srgbClr val="1B1B1B"/>
                          </a:solidFill>
                          <a:latin typeface="Calibri"/>
                        </a:rPr>
                        <a:t>Cloud seul</a:t>
                      </a:r>
                    </a:p>
                  </a:txBody>
                  <a:tcPr marL="73152" marR="73152" marT="36576" marB="36576">
                    <a:solidFill>
                      <a:srgbClr val="F3F5F9"/>
                    </a:solidFill>
                  </a:tcPr>
                </a:tc>
                <a:tc>
                  <a:txBody>
                    <a:bodyPr wrap="square"/>
                    <a:lstStyle/>
                    <a:p>
                      <a:r>
                        <a:rPr sz="1500" b="0">
                          <a:solidFill>
                            <a:srgbClr val="1B1B1B"/>
                          </a:solidFill>
                          <a:latin typeface="Calibri"/>
                        </a:rPr>
                        <a:t>3</a:t>
                      </a:r>
                    </a:p>
                  </a:txBody>
                  <a:tcPr marL="73152" marR="73152" marT="36576" marB="36576">
                    <a:solidFill>
                      <a:srgbClr val="F3F5F9"/>
                    </a:solidFill>
                  </a:tcPr>
                </a:tc>
                <a:tc>
                  <a:txBody>
                    <a:bodyPr wrap="square"/>
                    <a:lstStyle/>
                    <a:p>
                      <a:r>
                        <a:rPr sz="1500" b="0">
                          <a:solidFill>
                            <a:srgbClr val="1B1B1B"/>
                          </a:solidFill>
                          <a:latin typeface="Calibri"/>
                        </a:rPr>
                        <a:t>4</a:t>
                      </a:r>
                    </a:p>
                  </a:txBody>
                  <a:tcPr marL="73152" marR="73152" marT="36576" marB="36576">
                    <a:solidFill>
                      <a:srgbClr val="F3F5F9"/>
                    </a:solidFill>
                  </a:tcPr>
                </a:tc>
                <a:tc>
                  <a:txBody>
                    <a:bodyPr wrap="square"/>
                    <a:lstStyle/>
                    <a:p>
                      <a:r>
                        <a:rPr sz="1500" b="0">
                          <a:solidFill>
                            <a:srgbClr val="1B1B1B"/>
                          </a:solidFill>
                          <a:latin typeface="Calibri"/>
                        </a:rPr>
                        <a:t>4</a:t>
                      </a:r>
                    </a:p>
                  </a:txBody>
                  <a:tcPr marL="73152" marR="73152" marT="36576" marB="36576">
                    <a:solidFill>
                      <a:srgbClr val="F3F5F9"/>
                    </a:solidFill>
                  </a:tcPr>
                </a:tc>
                <a:tc>
                  <a:txBody>
                    <a:bodyPr wrap="square"/>
                    <a:lstStyle/>
                    <a:p>
                      <a:r>
                        <a:rPr sz="1500" b="0">
                          <a:solidFill>
                            <a:srgbClr val="1B1B1B"/>
                          </a:solidFill>
                          <a:latin typeface="Calibri"/>
                        </a:rPr>
                        <a:t>4</a:t>
                      </a:r>
                    </a:p>
                  </a:txBody>
                  <a:tcPr marL="73152" marR="73152" marT="36576" marB="36576">
                    <a:solidFill>
                      <a:srgbClr val="F3F5F9"/>
                    </a:solidFill>
                  </a:tcPr>
                </a:tc>
              </a:tr>
              <a:tr h="274320">
                <a:tc>
                  <a:txBody>
                    <a:bodyPr wrap="square"/>
                    <a:lstStyle/>
                    <a:p>
                      <a:r>
                        <a:rPr sz="1500" b="1">
                          <a:solidFill>
                            <a:srgbClr val="1B1B1B"/>
                          </a:solidFill>
                          <a:latin typeface="Calibri"/>
                        </a:rPr>
                        <a:t>Hybride</a:t>
                      </a:r>
                    </a:p>
                  </a:txBody>
                  <a:tcPr marL="73152" marR="73152" marT="36576" marB="36576">
                    <a:solidFill>
                      <a:srgbClr val="FFFFFF"/>
                    </a:solidFill>
                  </a:tcPr>
                </a:tc>
                <a:tc>
                  <a:txBody>
                    <a:bodyPr wrap="square"/>
                    <a:lstStyle/>
                    <a:p>
                      <a:r>
                        <a:rPr sz="1500" b="0">
                          <a:solidFill>
                            <a:srgbClr val="1B1B1B"/>
                          </a:solidFill>
                          <a:latin typeface="Calibri"/>
                        </a:rPr>
                        <a:t>2</a:t>
                      </a:r>
                    </a:p>
                  </a:txBody>
                  <a:tcPr marL="73152" marR="73152" marT="36576" marB="36576">
                    <a:solidFill>
                      <a:srgbClr val="FFFFFF"/>
                    </a:solidFill>
                  </a:tcPr>
                </a:tc>
                <a:tc>
                  <a:txBody>
                    <a:bodyPr wrap="square"/>
                    <a:lstStyle/>
                    <a:p>
                      <a:r>
                        <a:rPr sz="1500" b="0">
                          <a:solidFill>
                            <a:srgbClr val="1B1B1B"/>
                          </a:solidFill>
                          <a:latin typeface="Calibri"/>
                        </a:rPr>
                        <a:t>5</a:t>
                      </a:r>
                    </a:p>
                  </a:txBody>
                  <a:tcPr marL="73152" marR="73152" marT="36576" marB="36576">
                    <a:solidFill>
                      <a:srgbClr val="FFFFFF"/>
                    </a:solidFill>
                  </a:tcPr>
                </a:tc>
                <a:tc>
                  <a:txBody>
                    <a:bodyPr wrap="square"/>
                    <a:lstStyle/>
                    <a:p>
                      <a:r>
                        <a:rPr sz="1500" b="0">
                          <a:solidFill>
                            <a:srgbClr val="1B1B1B"/>
                          </a:solidFill>
                          <a:latin typeface="Calibri"/>
                        </a:rPr>
                        <a:t>5</a:t>
                      </a:r>
                    </a:p>
                  </a:txBody>
                  <a:tcPr marL="73152" marR="73152" marT="36576" marB="36576">
                    <a:solidFill>
                      <a:srgbClr val="FFFFFF"/>
                    </a:solidFill>
                  </a:tcPr>
                </a:tc>
                <a:tc>
                  <a:txBody>
                    <a:bodyPr wrap="square"/>
                    <a:lstStyle/>
                    <a:p>
                      <a:r>
                        <a:rPr sz="1500" b="0">
                          <a:solidFill>
                            <a:srgbClr val="1B1B1B"/>
                          </a:solidFill>
                          <a:latin typeface="Calibri"/>
                        </a:rPr>
                        <a:t>3</a:t>
                      </a:r>
                    </a:p>
                  </a:txBody>
                  <a:tcPr marL="73152" marR="73152" marT="36576" marB="36576">
                    <a:solidFill>
                      <a:srgbClr val="FFFFFF"/>
                    </a:solidFill>
                  </a:tcPr>
                </a:tc>
              </a:tr>
              <a:tr h="274320">
                <a:tc>
                  <a:txBody>
                    <a:bodyPr wrap="square"/>
                    <a:lstStyle/>
                    <a:p>
                      <a:r>
                        <a:rPr sz="1500" b="1">
                          <a:solidFill>
                            <a:srgbClr val="1B1B1B"/>
                          </a:solidFill>
                          <a:latin typeface="Calibri"/>
                        </a:rPr>
                        <a:t>Poids de départ</a:t>
                      </a:r>
                    </a:p>
                  </a:txBody>
                  <a:tcPr marL="73152" marR="73152" marT="36576" marB="36576">
                    <a:solidFill>
                      <a:srgbClr val="F3F5F9"/>
                    </a:solidFill>
                  </a:tcPr>
                </a:tc>
                <a:tc>
                  <a:txBody>
                    <a:bodyPr wrap="square"/>
                    <a:lstStyle/>
                    <a:p>
                      <a:r>
                        <a:rPr sz="1500" b="0">
                          <a:solidFill>
                            <a:srgbClr val="1B1B1B"/>
                          </a:solidFill>
                          <a:latin typeface="Calibri"/>
                        </a:rPr>
                        <a:t>30 %</a:t>
                      </a:r>
                    </a:p>
                  </a:txBody>
                  <a:tcPr marL="73152" marR="73152" marT="36576" marB="36576">
                    <a:solidFill>
                      <a:srgbClr val="F3F5F9"/>
                    </a:solidFill>
                  </a:tcPr>
                </a:tc>
                <a:tc>
                  <a:txBody>
                    <a:bodyPr wrap="square"/>
                    <a:lstStyle/>
                    <a:p>
                      <a:r>
                        <a:rPr sz="1500" b="0">
                          <a:solidFill>
                            <a:srgbClr val="1B1B1B"/>
                          </a:solidFill>
                          <a:latin typeface="Calibri"/>
                        </a:rPr>
                        <a:t>30 %</a:t>
                      </a:r>
                    </a:p>
                  </a:txBody>
                  <a:tcPr marL="73152" marR="73152" marT="36576" marB="36576">
                    <a:solidFill>
                      <a:srgbClr val="F3F5F9"/>
                    </a:solidFill>
                  </a:tcPr>
                </a:tc>
                <a:tc>
                  <a:txBody>
                    <a:bodyPr wrap="square"/>
                    <a:lstStyle/>
                    <a:p>
                      <a:r>
                        <a:rPr sz="1500" b="0">
                          <a:solidFill>
                            <a:srgbClr val="1B1B1B"/>
                          </a:solidFill>
                          <a:latin typeface="Calibri"/>
                        </a:rPr>
                        <a:t>25 %</a:t>
                      </a:r>
                    </a:p>
                  </a:txBody>
                  <a:tcPr marL="73152" marR="73152" marT="36576" marB="36576">
                    <a:solidFill>
                      <a:srgbClr val="F3F5F9"/>
                    </a:solidFill>
                  </a:tcPr>
                </a:tc>
                <a:tc>
                  <a:txBody>
                    <a:bodyPr wrap="square"/>
                    <a:lstStyle/>
                    <a:p>
                      <a:r>
                        <a:rPr sz="1500" b="0">
                          <a:solidFill>
                            <a:srgbClr val="1B1B1B"/>
                          </a:solidFill>
                          <a:latin typeface="Calibri"/>
                        </a:rPr>
                        <a:t>15 %</a:t>
                      </a:r>
                    </a:p>
                  </a:txBody>
                  <a:tcPr marL="73152" marR="73152" marT="36576" marB="36576">
                    <a:solidFill>
                      <a:srgbClr val="F3F5F9"/>
                    </a:solidFill>
                  </a:tcPr>
                </a:tc>
              </a:tr>
            </a:tbl>
          </a:graphicData>
        </a:graphic>
      </p:graphicFrame>
      <p:sp>
        <p:nvSpPr>
          <p:cNvPr id="14" name="Rounded Rectangle 13"/>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5" name="Rounded Rectangle 14"/>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90"/>
              </a:spcAft>
              <a:buAutoNum type="arabicPeriod"/>
            </a:pPr>
            <a:r>
              <a:rPr sz="1300" b="0" i="0">
                <a:solidFill>
                  <a:srgbClr val="1B1B1B"/>
                </a:solidFill>
                <a:latin typeface="Calibri"/>
              </a:rPr>
              <a:t>Calculez le total du Cloud seul avec les poids de départ (3×0,30 + 4×0,30 + 4×0,25 + 4×0,15).</a:t>
            </a:r>
          </a:p>
          <a:p>
            <a:pPr algn="l" marL="274320" indent="-274320">
              <a:spcAft>
                <a:spcPts val="390"/>
              </a:spcAft>
              <a:buAutoNum type="arabicPeriod"/>
            </a:pPr>
            <a:r>
              <a:rPr sz="1300" b="0" i="0">
                <a:solidFill>
                  <a:srgbClr val="1B1B1B"/>
                </a:solidFill>
                <a:latin typeface="Calibri"/>
              </a:rPr>
              <a:t>Calculez le total de l'Hybride avec les poids de départ.</a:t>
            </a:r>
          </a:p>
          <a:p>
            <a:pPr algn="l" marL="274320" indent="-274320">
              <a:spcAft>
                <a:spcPts val="390"/>
              </a:spcAft>
              <a:buAutoNum type="arabicPeriod"/>
            </a:pPr>
            <a:r>
              <a:rPr sz="1300" b="0" i="0">
                <a:solidFill>
                  <a:srgbClr val="1B1B1B"/>
                </a:solidFill>
                <a:latin typeface="Calibri"/>
              </a:rPr>
              <a:t>Quelle solution est première avec les poids de départ ?</a:t>
            </a:r>
          </a:p>
          <a:p>
            <a:pPr algn="l" marL="274320" indent="-274320">
              <a:spcAft>
                <a:spcPts val="390"/>
              </a:spcAft>
              <a:buAutoNum type="arabicPeriod"/>
            </a:pPr>
            <a:r>
              <a:rPr sz="1300" b="0" i="0">
                <a:solidFill>
                  <a:srgbClr val="1B1B1B"/>
                </a:solidFill>
                <a:latin typeface="Calibri"/>
              </a:rPr>
              <a:t>Avec les poids 50 / 20 / 20 / 10, calculez le total du disque local.</a:t>
            </a:r>
          </a:p>
          <a:p>
            <a:pPr algn="l" marL="274320" indent="-274320">
              <a:spcAft>
                <a:spcPts val="390"/>
              </a:spcAft>
              <a:buAutoNum type="arabicPeriod"/>
            </a:pPr>
            <a:r>
              <a:rPr sz="1300" b="0" i="0">
                <a:solidFill>
                  <a:srgbClr val="1B1B1B"/>
                </a:solidFill>
                <a:latin typeface="Calibri"/>
              </a:rPr>
              <a:t>Avec ces nouveaux poids, le classement change-t-il ? (calculez aussi le cloud et l'hybride)</a:t>
            </a:r>
          </a:p>
          <a:p>
            <a:pPr algn="l" marL="274320" indent="-274320">
              <a:spcAft>
                <a:spcPts val="390"/>
              </a:spcAft>
              <a:buAutoNum type="arabicPeriod"/>
            </a:pPr>
            <a:r>
              <a:rPr sz="1300" b="0" i="0">
                <a:solidFill>
                  <a:srgbClr val="1B1B1B"/>
                </a:solidFill>
                <a:latin typeface="Calibri"/>
              </a:rPr>
              <a:t>Écrivez la conclusion en 2 phrases, avec un qualificatif (« probablement ») et une réserve.</a:t>
            </a:r>
          </a:p>
          <a:p>
            <a:pPr algn="l" marL="274320" indent="-274320">
              <a:spcAft>
                <a:spcPts val="390"/>
              </a:spcAft>
              <a:buAutoNum type="arabicPeriod"/>
            </a:pPr>
            <a:r>
              <a:rPr sz="1300" b="0" i="0">
                <a:solidFill>
                  <a:srgbClr val="1B1B1B"/>
                </a:solidFill>
                <a:latin typeface="Calibri"/>
              </a:rPr>
              <a:t>Avec Gemini ou une autre IA (notez laquelle) : demandez-lui de calculer les trois totaux sans tableur. Trouve-t-elle exactement 3,35, 3,70 et 3,80 ?</a:t>
            </a:r>
          </a:p>
        </p:txBody>
      </p:sp>
      <p:sp>
        <p:nvSpPr>
          <p:cNvPr id="16" name="Rounded Rectangle 15"/>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Votre tableur et la conclusion. → Dossier, section 11.</a:t>
            </a:r>
          </a:p>
        </p:txBody>
      </p:sp>
      <p:sp>
        <p:nvSpPr>
          <p:cNvPr id="17" name="TextBox 16"/>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8" name="Picture 17" descr="EX21.png"/>
          <p:cNvPicPr>
            <a:picLocks noChangeAspect="1"/>
          </p:cNvPicPr>
          <p:nvPr/>
        </p:nvPicPr>
        <p:blipFill>
          <a:blip r:embed="rId4"/>
          <a:stretch>
            <a:fillRect/>
          </a:stretch>
        </p:blipFill>
        <p:spPr>
          <a:xfrm>
            <a:off x="10744200" y="5257800"/>
            <a:ext cx="1005840" cy="1005840"/>
          </a:xfrm>
          <a:prstGeom prst="rect">
            <a:avLst/>
          </a:prstGeom>
        </p:spPr>
      </p:pic>
      <p:sp>
        <p:nvSpPr>
          <p:cNvPr id="19" name="TextBox 18"/>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69"/>
              </a:spcAft>
            </a:pPr>
            <a:r>
              <a:rPr sz="2200" b="1" i="0">
                <a:solidFill>
                  <a:srgbClr val="FFFFFF"/>
                </a:solidFill>
                <a:latin typeface="Calibri"/>
              </a:rPr>
              <a:t>Correction · EX 21 — Comparer trois solutions avec une matrice pondérée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EX21</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103</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Note = somme (score × poids).</a:t>
            </a:r>
          </a:p>
          <a:p>
            <a:pPr algn="l" marL="274320" indent="-274320">
              <a:spcAft>
                <a:spcPts val="375"/>
              </a:spcAft>
              <a:buAutoNum type="arabicPeriod"/>
            </a:pPr>
            <a:r>
              <a:rPr sz="1500" b="0" i="0">
                <a:solidFill>
                  <a:srgbClr val="1B1B1B"/>
                </a:solidFill>
                <a:latin typeface="Calibri"/>
              </a:rPr>
              <a:t>Refaire avec d'autres poids pour voir si le classement tient.</a:t>
            </a:r>
          </a:p>
          <a:p>
            <a:pPr algn="l" marL="274320" indent="-274320">
              <a:spcAft>
                <a:spcPts val="375"/>
              </a:spcAft>
              <a:buAutoNum type="arabicPeriod"/>
            </a:pPr>
            <a:r>
              <a:rPr sz="1500" b="0" i="0">
                <a:solidFill>
                  <a:srgbClr val="1B1B1B"/>
                </a:solidFill>
                <a:latin typeface="Calibri"/>
              </a:rPr>
              <a:t>Conclure avec une réserve : les scores sont à sourcer.</a:t>
            </a:r>
          </a:p>
        </p:txBody>
      </p:sp>
      <p:graphicFrame>
        <p:nvGraphicFramePr>
          <p:cNvPr id="9" name="Table 8"/>
          <p:cNvGraphicFramePr>
            <a:graphicFrameLocks noGrp="1"/>
          </p:cNvGraphicFramePr>
          <p:nvPr/>
        </p:nvGraphicFramePr>
        <p:xfrm>
          <a:off x="3703320" y="1097280"/>
          <a:ext cx="8046719" cy="1664208"/>
        </p:xfrm>
        <a:graphic>
          <a:graphicData uri="http://schemas.openxmlformats.org/drawingml/2006/table">
            <a:tbl>
              <a:tblPr firstRow="0" bandRow="0">
                <a:tableStyleId>{5C22544A-7EE6-4342-B048-85BDC9FD1C3A}</a:tableStyleId>
              </a:tblPr>
              <a:tblGrid>
                <a:gridCol w="1420009"/>
                <a:gridCol w="3218688"/>
                <a:gridCol w="3408022"/>
              </a:tblGrid>
              <a:tr h="237744">
                <a:tc>
                  <a:txBody>
                    <a:bodyPr wrap="square"/>
                    <a:lstStyle/>
                    <a:p>
                      <a:r>
                        <a:rPr sz="1300" b="1">
                          <a:solidFill>
                            <a:srgbClr val="FFFFFF"/>
                          </a:solidFill>
                          <a:latin typeface="Calibri"/>
                        </a:rPr>
                        <a:t>Solution</a:t>
                      </a:r>
                    </a:p>
                  </a:txBody>
                  <a:tcPr marL="73152" marR="73152" marT="36576" marB="36576">
                    <a:solidFill>
                      <a:srgbClr val="1F2A5C"/>
                    </a:solidFill>
                  </a:tcPr>
                </a:tc>
                <a:tc>
                  <a:txBody>
                    <a:bodyPr wrap="square"/>
                    <a:lstStyle/>
                    <a:p>
                      <a:r>
                        <a:rPr sz="1300" b="1">
                          <a:solidFill>
                            <a:srgbClr val="FFFFFF"/>
                          </a:solidFill>
                          <a:latin typeface="Calibri"/>
                        </a:rPr>
                        <a:t>Poids de départ (30/30/25/15)</a:t>
                      </a:r>
                    </a:p>
                  </a:txBody>
                  <a:tcPr marL="73152" marR="73152" marT="36576" marB="36576">
                    <a:solidFill>
                      <a:srgbClr val="1F2A5C"/>
                    </a:solidFill>
                  </a:tcPr>
                </a:tc>
                <a:tc>
                  <a:txBody>
                    <a:bodyPr wrap="square"/>
                    <a:lstStyle/>
                    <a:p>
                      <a:r>
                        <a:rPr sz="1300" b="1">
                          <a:solidFill>
                            <a:srgbClr val="FFFFFF"/>
                          </a:solidFill>
                          <a:latin typeface="Calibri"/>
                        </a:rPr>
                        <a:t>Poids coût 50 % (50/20/20/10)</a:t>
                      </a:r>
                    </a:p>
                  </a:txBody>
                  <a:tcPr marL="73152" marR="73152" marT="36576" marB="36576">
                    <a:solidFill>
                      <a:srgbClr val="1F2A5C"/>
                    </a:solidFill>
                  </a:tcPr>
                </a:tc>
              </a:tr>
              <a:tr h="237744">
                <a:tc>
                  <a:txBody>
                    <a:bodyPr wrap="square"/>
                    <a:lstStyle/>
                    <a:p>
                      <a:r>
                        <a:rPr sz="1300" b="1">
                          <a:solidFill>
                            <a:srgbClr val="1B1B1B"/>
                          </a:solidFill>
                          <a:latin typeface="Calibri"/>
                        </a:rPr>
                        <a:t>Disque local</a:t>
                      </a:r>
                    </a:p>
                  </a:txBody>
                  <a:tcPr marL="73152" marR="73152" marT="36576" marB="36576">
                    <a:solidFill>
                      <a:srgbClr val="FFFFFF"/>
                    </a:solidFill>
                  </a:tcPr>
                </a:tc>
                <a:tc>
                  <a:txBody>
                    <a:bodyPr wrap="square"/>
                    <a:lstStyle/>
                    <a:p>
                      <a:r>
                        <a:rPr sz="1300" b="0">
                          <a:solidFill>
                            <a:srgbClr val="1B1B1B"/>
                          </a:solidFill>
                          <a:latin typeface="Calibri"/>
                        </a:rPr>
                        <a:t>5×0,30 + 2×0,30 + 2×0,25 + 5×0,15 = 1,5 + 0,6 + 0,5 + 0,75 = 3,35</a:t>
                      </a:r>
                    </a:p>
                  </a:txBody>
                  <a:tcPr marL="73152" marR="73152" marT="36576" marB="36576">
                    <a:solidFill>
                      <a:srgbClr val="FFFFFF"/>
                    </a:solidFill>
                  </a:tcPr>
                </a:tc>
                <a:tc>
                  <a:txBody>
                    <a:bodyPr wrap="square"/>
                    <a:lstStyle/>
                    <a:p>
                      <a:r>
                        <a:rPr sz="1300" b="0">
                          <a:solidFill>
                            <a:srgbClr val="1B1B1B"/>
                          </a:solidFill>
                          <a:latin typeface="Calibri"/>
                        </a:rPr>
                        <a:t>5×0,5 + 2×0,2 + 2×0,2 + 5×0,1 = 2,5 + 0,4 + 0,4 + 0,5 = 3,80</a:t>
                      </a:r>
                    </a:p>
                  </a:txBody>
                  <a:tcPr marL="73152" marR="73152" marT="36576" marB="36576">
                    <a:solidFill>
                      <a:srgbClr val="FFFFFF"/>
                    </a:solidFill>
                  </a:tcPr>
                </a:tc>
              </a:tr>
              <a:tr h="237744">
                <a:tc>
                  <a:txBody>
                    <a:bodyPr wrap="square"/>
                    <a:lstStyle/>
                    <a:p>
                      <a:r>
                        <a:rPr sz="1300" b="1">
                          <a:solidFill>
                            <a:srgbClr val="1B1B1B"/>
                          </a:solidFill>
                          <a:latin typeface="Calibri"/>
                        </a:rPr>
                        <a:t>Cloud seul</a:t>
                      </a:r>
                    </a:p>
                  </a:txBody>
                  <a:tcPr marL="73152" marR="73152" marT="36576" marB="36576">
                    <a:solidFill>
                      <a:srgbClr val="F3F5F9"/>
                    </a:solidFill>
                  </a:tcPr>
                </a:tc>
                <a:tc>
                  <a:txBody>
                    <a:bodyPr wrap="square"/>
                    <a:lstStyle/>
                    <a:p>
                      <a:r>
                        <a:rPr sz="1300" b="0">
                          <a:solidFill>
                            <a:srgbClr val="1B1B1B"/>
                          </a:solidFill>
                          <a:latin typeface="Calibri"/>
                        </a:rPr>
                        <a:t>3×0,30 + 4×0,30 + 4×0,25 + 4×0,15 = 0,9 + 1,2 + 1,0 + 0,6 = 3,70</a:t>
                      </a:r>
                    </a:p>
                  </a:txBody>
                  <a:tcPr marL="73152" marR="73152" marT="36576" marB="36576">
                    <a:solidFill>
                      <a:srgbClr val="F3F5F9"/>
                    </a:solidFill>
                  </a:tcPr>
                </a:tc>
                <a:tc>
                  <a:txBody>
                    <a:bodyPr wrap="square"/>
                    <a:lstStyle/>
                    <a:p>
                      <a:r>
                        <a:rPr sz="1300" b="0">
                          <a:solidFill>
                            <a:srgbClr val="1B1B1B"/>
                          </a:solidFill>
                          <a:latin typeface="Calibri"/>
                        </a:rPr>
                        <a:t>3×0,5 + 4×0,2 + 4×0,2 + 4×0,1 = 1,5 + 0,8 + 0,8 + 0,4 = 3,50</a:t>
                      </a:r>
                    </a:p>
                  </a:txBody>
                  <a:tcPr marL="73152" marR="73152" marT="36576" marB="36576">
                    <a:solidFill>
                      <a:srgbClr val="F3F5F9"/>
                    </a:solidFill>
                  </a:tcPr>
                </a:tc>
              </a:tr>
              <a:tr h="237744">
                <a:tc>
                  <a:txBody>
                    <a:bodyPr wrap="square"/>
                    <a:lstStyle/>
                    <a:p>
                      <a:r>
                        <a:rPr sz="1300" b="1">
                          <a:solidFill>
                            <a:srgbClr val="1B1B1B"/>
                          </a:solidFill>
                          <a:latin typeface="Calibri"/>
                        </a:rPr>
                        <a:t>Hybride</a:t>
                      </a:r>
                    </a:p>
                  </a:txBody>
                  <a:tcPr marL="73152" marR="73152" marT="36576" marB="36576">
                    <a:solidFill>
                      <a:srgbClr val="FFFFFF"/>
                    </a:solidFill>
                  </a:tcPr>
                </a:tc>
                <a:tc>
                  <a:txBody>
                    <a:bodyPr wrap="square"/>
                    <a:lstStyle/>
                    <a:p>
                      <a:r>
                        <a:rPr sz="1300" b="0">
                          <a:solidFill>
                            <a:srgbClr val="1B1B1B"/>
                          </a:solidFill>
                          <a:latin typeface="Calibri"/>
                        </a:rPr>
                        <a:t>2×0,30 + 5×0,30 + 5×0,25 + 3×0,15 = 0,6 + 1,5 + 1,25 + 0,45 = 3,80</a:t>
                      </a:r>
                    </a:p>
                  </a:txBody>
                  <a:tcPr marL="73152" marR="73152" marT="36576" marB="36576">
                    <a:solidFill>
                      <a:srgbClr val="FFFFFF"/>
                    </a:solidFill>
                  </a:tcPr>
                </a:tc>
                <a:tc>
                  <a:txBody>
                    <a:bodyPr wrap="square"/>
                    <a:lstStyle/>
                    <a:p>
                      <a:r>
                        <a:rPr sz="1300" b="0">
                          <a:solidFill>
                            <a:srgbClr val="1B1B1B"/>
                          </a:solidFill>
                          <a:latin typeface="Calibri"/>
                        </a:rPr>
                        <a:t>2×0,5 + 5×0,2 + 5×0,2 + 3×0,1 = 1,0 + 1,0 + 1,0 + 0,3 = 3,30</a:t>
                      </a:r>
                    </a:p>
                  </a:txBody>
                  <a:tcPr marL="73152" marR="73152" marT="36576" marB="36576">
                    <a:solidFill>
                      <a:srgbClr val="FFFFFF"/>
                    </a:solidFill>
                  </a:tcPr>
                </a:tc>
              </a:tr>
              <a:tr h="237744">
                <a:tc>
                  <a:txBody>
                    <a:bodyPr wrap="square"/>
                    <a:lstStyle/>
                    <a:p>
                      <a:r>
                        <a:rPr sz="1300" b="1">
                          <a:solidFill>
                            <a:srgbClr val="1B1B1B"/>
                          </a:solidFill>
                          <a:latin typeface="Calibri"/>
                        </a:rPr>
                        <a:t>Classement</a:t>
                      </a:r>
                    </a:p>
                  </a:txBody>
                  <a:tcPr marL="73152" marR="73152" marT="36576" marB="36576">
                    <a:solidFill>
                      <a:srgbClr val="F3F5F9"/>
                    </a:solidFill>
                  </a:tcPr>
                </a:tc>
                <a:tc>
                  <a:txBody>
                    <a:bodyPr wrap="square"/>
                    <a:lstStyle/>
                    <a:p>
                      <a:r>
                        <a:rPr sz="1300" b="0">
                          <a:solidFill>
                            <a:srgbClr val="1B1B1B"/>
                          </a:solidFill>
                          <a:latin typeface="Calibri"/>
                        </a:rPr>
                        <a:t>1. Hybride (3,80) · 2. Cloud (3,70) · 3. Disque local (3,35)</a:t>
                      </a:r>
                    </a:p>
                  </a:txBody>
                  <a:tcPr marL="73152" marR="73152" marT="36576" marB="36576">
                    <a:solidFill>
                      <a:srgbClr val="F3F5F9"/>
                    </a:solidFill>
                  </a:tcPr>
                </a:tc>
                <a:tc>
                  <a:txBody>
                    <a:bodyPr wrap="square"/>
                    <a:lstStyle/>
                    <a:p>
                      <a:r>
                        <a:rPr sz="1300" b="0">
                          <a:solidFill>
                            <a:srgbClr val="1B1B1B"/>
                          </a:solidFill>
                          <a:latin typeface="Calibri"/>
                        </a:rPr>
                        <a:t>1. Disque local (3,80) · 2. Cloud (3,50) · 3. Hybride (3,30) : le classement s'inverse</a:t>
                      </a:r>
                    </a:p>
                  </a:txBody>
                  <a:tcPr marL="73152" marR="73152" marT="36576" marB="36576">
                    <a:solidFill>
                      <a:srgbClr val="F3F5F9"/>
                    </a:solidFill>
                  </a:tcPr>
                </a:tc>
              </a:tr>
              <a:tr h="237744">
                <a:tc>
                  <a:txBody>
                    <a:bodyPr wrap="square"/>
                    <a:lstStyle/>
                    <a:p>
                      <a:r>
                        <a:rPr sz="1300" b="1">
                          <a:solidFill>
                            <a:srgbClr val="1B1B1B"/>
                          </a:solidFill>
                          <a:latin typeface="Calibri"/>
                        </a:rPr>
                        <a:t>Dans un tableur</a:t>
                      </a:r>
                    </a:p>
                  </a:txBody>
                  <a:tcPr marL="73152" marR="73152" marT="36576" marB="36576">
                    <a:solidFill>
                      <a:srgbClr val="FFFFFF"/>
                    </a:solidFill>
                  </a:tcPr>
                </a:tc>
                <a:tc>
                  <a:txBody>
                    <a:bodyPr wrap="square"/>
                    <a:lstStyle/>
                    <a:p>
                      <a:r>
                        <a:rPr sz="1300" b="0">
                          <a:solidFill>
                            <a:srgbClr val="1B1B1B"/>
                          </a:solidFill>
                          <a:latin typeface="Calibri"/>
                        </a:rPr>
                        <a:t>Une ligne par solution (notes en B à E), les poids en ligne 6 : =SOMMEPROD(B2:E2;$B$6:$E$6)</a:t>
                      </a:r>
                    </a:p>
                  </a:txBody>
                  <a:tcPr marL="73152" marR="73152" marT="36576" marB="36576">
                    <a:solidFill>
                      <a:srgbClr val="FFFFFF"/>
                    </a:solidFill>
                  </a:tcPr>
                </a:tc>
                <a:tc>
                  <a:txBody>
                    <a:bodyPr wrap="square"/>
                    <a:lstStyle/>
                    <a:p>
                      <a:r>
                        <a:rPr sz="1300" b="0">
                          <a:solidFill>
                            <a:srgbClr val="1B1B1B"/>
                          </a:solidFill>
                          <a:latin typeface="Calibri"/>
                        </a:rPr>
                        <a:t/>
                      </a:r>
                    </a:p>
                  </a:txBody>
                  <a:tcPr marL="73152" marR="73152" marT="36576" marB="36576">
                    <a:solidFill>
                      <a:srgbClr val="FFFFFF"/>
                    </a:solidFill>
                  </a:tcPr>
                </a:tc>
              </a:tr>
              <a:tr h="237744">
                <a:tc>
                  <a:txBody>
                    <a:bodyPr wrap="square"/>
                    <a:lstStyle/>
                    <a:p>
                      <a:r>
                        <a:rPr sz="1300" b="1">
                          <a:solidFill>
                            <a:srgbClr val="1B1B1B"/>
                          </a:solidFill>
                          <a:latin typeface="Calibri"/>
                        </a:rPr>
                        <a:t>IA · calcul sans tableur</a:t>
                      </a:r>
                    </a:p>
                  </a:txBody>
                  <a:tcPr marL="73152" marR="73152" marT="36576" marB="36576">
                    <a:solidFill>
                      <a:srgbClr val="F3F5F9"/>
                    </a:solidFill>
                  </a:tcPr>
                </a:tc>
                <a:tc>
                  <a:txBody>
                    <a:bodyPr wrap="square"/>
                    <a:lstStyle/>
                    <a:p>
                      <a:r>
                        <a:rPr sz="1300" b="0">
                          <a:solidFill>
                            <a:srgbClr val="1B1B1B"/>
                          </a:solidFill>
                          <a:latin typeface="Calibri"/>
                        </a:rPr>
                        <a:t>Les modèles de langage se trompent parfois sur les calculs enchaînés : refaites le calcul vous-même. L'IA peut en revanche proposer la formule.</a:t>
                      </a:r>
                    </a:p>
                  </a:txBody>
                  <a:tcPr marL="73152" marR="73152" marT="36576" marB="36576">
                    <a:solidFill>
                      <a:srgbClr val="F3F5F9"/>
                    </a:solidFill>
                  </a:tcPr>
                </a:tc>
                <a:tc>
                  <a:txBody>
                    <a:bodyPr wrap="square"/>
                    <a:lstStyle/>
                    <a:p>
                      <a:r>
                        <a:rPr sz="1300" b="0">
                          <a:solidFill>
                            <a:srgbClr val="1B1B1B"/>
                          </a:solidFill>
                          <a:latin typeface="Calibri"/>
                        </a:rPr>
                        <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Présenter un classement sans test de sensibilité : il peut s'inverser.</a:t>
            </a:r>
          </a:p>
          <a:p>
            <a:pPr algn="l" marL="201168" indent="-201168">
              <a:spcAft>
                <a:spcPts val="110"/>
              </a:spcAft>
              <a:buChar char="•"/>
            </a:pPr>
            <a:r>
              <a:rPr sz="1100" b="0" i="0">
                <a:solidFill>
                  <a:srgbClr val="1B1B1B"/>
                </a:solidFill>
                <a:latin typeface="Calibri"/>
              </a:rPr>
              <a:t>Oublier que les scores sont des données à sourcer.</a:t>
            </a:r>
          </a:p>
          <a:p>
            <a:pPr algn="l" marL="201168" indent="-201168">
              <a:spcAft>
                <a:spcPts val="110"/>
              </a:spcAft>
              <a:buChar char="•"/>
            </a:pPr>
            <a:r>
              <a:rPr sz="1100" b="0" i="0">
                <a:solidFill>
                  <a:srgbClr val="1B1B1B"/>
                </a:solidFill>
                <a:latin typeface="Calibri"/>
              </a:rPr>
              <a:t>Conclure sans réserve.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22</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Votre matrice de comparaison</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EX22</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104</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tableur  ·  40 min  ·  Carnet · chapitre 7  ·  Outil : tableur + Zotero</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Construire la matrice de votre équipe avec des scores sourcés, et dire honnêtement ce qui la rend fragile.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Votre équipe construit sa propre matrice : trois solutions, quatre critères (EX1), des scores sourcés.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Choisissez 3 solutions et 4 critères pondérés (total 100 %), selon les priorités de la directrice.</a:t>
            </a:r>
          </a:p>
          <a:p>
            <a:pPr algn="l" marL="274320" indent="-274320">
              <a:spcAft>
                <a:spcPts val="480"/>
              </a:spcAft>
              <a:buAutoNum type="arabicPeriod"/>
            </a:pPr>
            <a:r>
              <a:rPr sz="1600" b="0" i="0">
                <a:solidFill>
                  <a:srgbClr val="1B1B1B"/>
                </a:solidFill>
                <a:latin typeface="Calibri"/>
              </a:rPr>
              <a:t>Remplissez les scores en citant la source (référence Zotero) pour chacun.</a:t>
            </a:r>
          </a:p>
          <a:p>
            <a:pPr algn="l" marL="274320" indent="-274320">
              <a:spcAft>
                <a:spcPts val="480"/>
              </a:spcAft>
              <a:buAutoNum type="arabicPeriod"/>
            </a:pPr>
            <a:r>
              <a:rPr sz="1600" b="0" i="0">
                <a:solidFill>
                  <a:srgbClr val="1B1B1B"/>
                </a:solidFill>
                <a:latin typeface="Calibri"/>
              </a:rPr>
              <a:t>Calculez avec =SOMMEPROD et classez.</a:t>
            </a:r>
          </a:p>
          <a:p>
            <a:pPr algn="l" marL="274320" indent="-274320">
              <a:spcAft>
                <a:spcPts val="480"/>
              </a:spcAft>
              <a:buAutoNum type="arabicPeriod"/>
            </a:pPr>
            <a:r>
              <a:rPr sz="1600" b="0" i="0">
                <a:solidFill>
                  <a:srgbClr val="1B1B1B"/>
                </a:solidFill>
                <a:latin typeface="Calibri"/>
              </a:rPr>
              <a:t>Test de sensibilité sur le critère le plus discutable : le classement change-t-il ?</a:t>
            </a:r>
          </a:p>
          <a:p>
            <a:pPr algn="l" marL="274320" indent="-274320">
              <a:spcAft>
                <a:spcPts val="480"/>
              </a:spcAft>
              <a:buAutoNum type="arabicPeriod"/>
            </a:pPr>
            <a:r>
              <a:rPr sz="1600" b="0" i="0">
                <a:solidFill>
                  <a:srgbClr val="1B1B1B"/>
                </a:solidFill>
                <a:latin typeface="Calibri"/>
              </a:rPr>
              <a:t>Avec Copilot ou une autre IA (notez laquelle) : demandez-lui 3 critères qui manquent à votre matrice. En gardez-vous un, et pourquoi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Livrable : Votre matrice avec sources, le test de sensibilité et la conclusion. → Dossier, section 11.</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2.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22 — Votre matrice de comparaison</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EX22</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105</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Chaque score a une source ou est signalé « estimation ».</a:t>
            </a:r>
          </a:p>
          <a:p>
            <a:pPr algn="l" marL="274320" indent="-274320">
              <a:spcAft>
                <a:spcPts val="375"/>
              </a:spcAft>
              <a:buAutoNum type="arabicPeriod"/>
            </a:pPr>
            <a:r>
              <a:rPr sz="1500" b="0" i="0">
                <a:solidFill>
                  <a:srgbClr val="1B1B1B"/>
                </a:solidFill>
                <a:latin typeface="Calibri"/>
              </a:rPr>
              <a:t>Poids justifiés.</a:t>
            </a:r>
          </a:p>
          <a:p>
            <a:pPr algn="l" marL="274320" indent="-274320">
              <a:spcAft>
                <a:spcPts val="375"/>
              </a:spcAft>
              <a:buAutoNum type="arabicPeriod"/>
            </a:pPr>
            <a:r>
              <a:rPr sz="1500" b="0" i="0">
                <a:solidFill>
                  <a:srgbClr val="1B1B1B"/>
                </a:solidFill>
                <a:latin typeface="Calibri"/>
              </a:rPr>
              <a:t>Test de sensibilité sur le point faible.</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2377440"/>
                <a:gridCol w="5669280"/>
              </a:tblGrid>
              <a:tr h="237744">
                <a:tc>
                  <a:txBody>
                    <a:bodyPr wrap="square"/>
                    <a:lstStyle/>
                    <a:p>
                      <a:r>
                        <a:rPr sz="1700" b="1">
                          <a:solidFill>
                            <a:srgbClr val="FFFFFF"/>
                          </a:solidFill>
                          <a:latin typeface="Calibri"/>
                        </a:rPr>
                        <a:t>Critère de qualité</a:t>
                      </a:r>
                    </a:p>
                  </a:txBody>
                  <a:tcPr marL="73152" marR="73152" marT="36576" marB="36576">
                    <a:solidFill>
                      <a:srgbClr val="1F2A5C"/>
                    </a:solidFill>
                  </a:tcPr>
                </a:tc>
                <a:tc>
                  <a:txBody>
                    <a:bodyPr wrap="square"/>
                    <a:lstStyle/>
                    <a:p>
                      <a:r>
                        <a:rPr sz="1700" b="1">
                          <a:solidFill>
                            <a:srgbClr val="FFFFFF"/>
                          </a:solidFill>
                          <a:latin typeface="Calibri"/>
                        </a:rPr>
                        <a:t>Ce qui vaut le maximum</a:t>
                      </a:r>
                    </a:p>
                  </a:txBody>
                  <a:tcPr marL="73152" marR="73152" marT="36576" marB="36576">
                    <a:solidFill>
                      <a:srgbClr val="1F2A5C"/>
                    </a:solidFill>
                  </a:tcPr>
                </a:tc>
              </a:tr>
              <a:tr h="237744">
                <a:tc>
                  <a:txBody>
                    <a:bodyPr wrap="square"/>
                    <a:lstStyle/>
                    <a:p>
                      <a:r>
                        <a:rPr sz="1700" b="1">
                          <a:solidFill>
                            <a:srgbClr val="1B1B1B"/>
                          </a:solidFill>
                          <a:latin typeface="Calibri"/>
                        </a:rPr>
                        <a:t>Critères</a:t>
                      </a:r>
                    </a:p>
                  </a:txBody>
                  <a:tcPr marL="73152" marR="73152" marT="36576" marB="36576">
                    <a:solidFill>
                      <a:srgbClr val="FFFFFF"/>
                    </a:solidFill>
                  </a:tcPr>
                </a:tc>
                <a:tc>
                  <a:txBody>
                    <a:bodyPr wrap="square"/>
                    <a:lstStyle/>
                    <a:p>
                      <a:r>
                        <a:rPr sz="1700" b="0">
                          <a:solidFill>
                            <a:srgbClr val="1B1B1B"/>
                          </a:solidFill>
                          <a:latin typeface="Calibri"/>
                        </a:rPr>
                        <a:t>Comparables, mesurables, utiles à la décision</a:t>
                      </a:r>
                    </a:p>
                  </a:txBody>
                  <a:tcPr marL="73152" marR="73152" marT="36576" marB="36576">
                    <a:solidFill>
                      <a:srgbClr val="FFFFFF"/>
                    </a:solidFill>
                  </a:tcPr>
                </a:tc>
              </a:tr>
              <a:tr h="237744">
                <a:tc>
                  <a:txBody>
                    <a:bodyPr wrap="square"/>
                    <a:lstStyle/>
                    <a:p>
                      <a:r>
                        <a:rPr sz="1700" b="1">
                          <a:solidFill>
                            <a:srgbClr val="1B1B1B"/>
                          </a:solidFill>
                          <a:latin typeface="Calibri"/>
                        </a:rPr>
                        <a:t>Poids</a:t>
                      </a:r>
                    </a:p>
                  </a:txBody>
                  <a:tcPr marL="73152" marR="73152" marT="36576" marB="36576">
                    <a:solidFill>
                      <a:srgbClr val="F3F5F9"/>
                    </a:solidFill>
                  </a:tcPr>
                </a:tc>
                <a:tc>
                  <a:txBody>
                    <a:bodyPr wrap="square"/>
                    <a:lstStyle/>
                    <a:p>
                      <a:r>
                        <a:rPr sz="1700" b="0">
                          <a:solidFill>
                            <a:srgbClr val="1B1B1B"/>
                          </a:solidFill>
                          <a:latin typeface="Calibri"/>
                        </a:rPr>
                        <a:t>Justifiés par un besoin, somme égale à 100 %</a:t>
                      </a:r>
                    </a:p>
                  </a:txBody>
                  <a:tcPr marL="73152" marR="73152" marT="36576" marB="36576">
                    <a:solidFill>
                      <a:srgbClr val="F3F5F9"/>
                    </a:solidFill>
                  </a:tcPr>
                </a:tc>
              </a:tr>
              <a:tr h="237744">
                <a:tc>
                  <a:txBody>
                    <a:bodyPr wrap="square"/>
                    <a:lstStyle/>
                    <a:p>
                      <a:r>
                        <a:rPr sz="1700" b="1">
                          <a:solidFill>
                            <a:srgbClr val="1B1B1B"/>
                          </a:solidFill>
                          <a:latin typeface="Calibri"/>
                        </a:rPr>
                        <a:t>Scores</a:t>
                      </a:r>
                    </a:p>
                  </a:txBody>
                  <a:tcPr marL="73152" marR="73152" marT="36576" marB="36576">
                    <a:solidFill>
                      <a:srgbClr val="FFFFFF"/>
                    </a:solidFill>
                  </a:tcPr>
                </a:tc>
                <a:tc>
                  <a:txBody>
                    <a:bodyPr wrap="square"/>
                    <a:lstStyle/>
                    <a:p>
                      <a:r>
                        <a:rPr sz="1700" b="0">
                          <a:solidFill>
                            <a:srgbClr val="1B1B1B"/>
                          </a:solidFill>
                          <a:latin typeface="Calibri"/>
                        </a:rPr>
                        <a:t>Sourcés ; les estimations sont signalées</a:t>
                      </a:r>
                    </a:p>
                  </a:txBody>
                  <a:tcPr marL="73152" marR="73152" marT="36576" marB="36576">
                    <a:solidFill>
                      <a:srgbClr val="FFFFFF"/>
                    </a:solidFill>
                  </a:tcPr>
                </a:tc>
              </a:tr>
              <a:tr h="237744">
                <a:tc>
                  <a:txBody>
                    <a:bodyPr wrap="square"/>
                    <a:lstStyle/>
                    <a:p>
                      <a:r>
                        <a:rPr sz="1700" b="1">
                          <a:solidFill>
                            <a:srgbClr val="1B1B1B"/>
                          </a:solidFill>
                          <a:latin typeface="Calibri"/>
                        </a:rPr>
                        <a:t>Sensibilité</a:t>
                      </a:r>
                    </a:p>
                  </a:txBody>
                  <a:tcPr marL="73152" marR="73152" marT="36576" marB="36576">
                    <a:solidFill>
                      <a:srgbClr val="F3F5F9"/>
                    </a:solidFill>
                  </a:tcPr>
                </a:tc>
                <a:tc>
                  <a:txBody>
                    <a:bodyPr wrap="square"/>
                    <a:lstStyle/>
                    <a:p>
                      <a:r>
                        <a:rPr sz="1700" b="0">
                          <a:solidFill>
                            <a:srgbClr val="1B1B1B"/>
                          </a:solidFill>
                          <a:latin typeface="Calibri"/>
                        </a:rPr>
                        <a:t>Au moins un autre jeu de poids testé, résultat commenté</a:t>
                      </a:r>
                    </a:p>
                  </a:txBody>
                  <a:tcPr marL="73152" marR="73152" marT="36576" marB="36576">
                    <a:solidFill>
                      <a:srgbClr val="F3F5F9"/>
                    </a:solidFill>
                  </a:tcPr>
                </a:tc>
              </a:tr>
              <a:tr h="237744">
                <a:tc>
                  <a:txBody>
                    <a:bodyPr wrap="square"/>
                    <a:lstStyle/>
                    <a:p>
                      <a:r>
                        <a:rPr sz="1700" b="1">
                          <a:solidFill>
                            <a:srgbClr val="1B1B1B"/>
                          </a:solidFill>
                          <a:latin typeface="Calibri"/>
                        </a:rPr>
                        <a:t>Conclusion</a:t>
                      </a:r>
                    </a:p>
                  </a:txBody>
                  <a:tcPr marL="73152" marR="73152" marT="36576" marB="36576">
                    <a:solidFill>
                      <a:srgbClr val="FFFFFF"/>
                    </a:solidFill>
                  </a:tcPr>
                </a:tc>
                <a:tc>
                  <a:txBody>
                    <a:bodyPr wrap="square"/>
                    <a:lstStyle/>
                    <a:p>
                      <a:r>
                        <a:rPr sz="1700" b="0">
                          <a:solidFill>
                            <a:srgbClr val="1B1B1B"/>
                          </a:solidFill>
                          <a:latin typeface="Calibri"/>
                        </a:rPr>
                        <a:t>Recommandation avec qualificatif et réserve</a:t>
                      </a:r>
                    </a:p>
                  </a:txBody>
                  <a:tcPr marL="73152" marR="73152" marT="36576" marB="36576">
                    <a:solidFill>
                      <a:srgbClr val="FFFFFF"/>
                    </a:solidFill>
                  </a:tcPr>
                </a:tc>
              </a:tr>
              <a:tr h="237744">
                <a:tc>
                  <a:txBody>
                    <a:bodyPr wrap="square"/>
                    <a:lstStyle/>
                    <a:p>
                      <a:r>
                        <a:rPr sz="1700" b="1">
                          <a:solidFill>
                            <a:srgbClr val="1B1B1B"/>
                          </a:solidFill>
                          <a:latin typeface="Calibri"/>
                        </a:rPr>
                        <a:t>IA · critères proposés</a:t>
                      </a:r>
                    </a:p>
                  </a:txBody>
                  <a:tcPr marL="73152" marR="73152" marT="36576" marB="36576">
                    <a:solidFill>
                      <a:srgbClr val="F3F5F9"/>
                    </a:solidFill>
                  </a:tcPr>
                </a:tc>
                <a:tc>
                  <a:txBody>
                    <a:bodyPr wrap="square"/>
                    <a:lstStyle/>
                    <a:p>
                      <a:r>
                        <a:rPr sz="1700" b="0">
                          <a:solidFill>
                            <a:srgbClr val="1B1B1B"/>
                          </a:solidFill>
                          <a:latin typeface="Calibri"/>
                        </a:rPr>
                        <a:t>Gardez un critère s'il est mesurable, comparable et sourcé (voir « Choisir des critères mesurables »). Une IA propose souvent des critères flous (« innovation »).</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Des scores sans source.</a:t>
            </a:r>
          </a:p>
          <a:p>
            <a:pPr algn="l" marL="201168" indent="-201168">
              <a:spcAft>
                <a:spcPts val="110"/>
              </a:spcAft>
              <a:buChar char="•"/>
            </a:pPr>
            <a:r>
              <a:rPr sz="1100" b="0" i="0">
                <a:solidFill>
                  <a:srgbClr val="1B1B1B"/>
                </a:solidFill>
                <a:latin typeface="Calibri"/>
              </a:rPr>
              <a:t>Des critères qui se recouvrent (double comptage).</a:t>
            </a:r>
          </a:p>
          <a:p>
            <a:pPr algn="l" marL="201168" indent="-201168">
              <a:spcAft>
                <a:spcPts val="110"/>
              </a:spcAft>
              <a:buChar char="•"/>
            </a:pPr>
            <a:r>
              <a:rPr sz="1100" b="0" i="0">
                <a:solidFill>
                  <a:srgbClr val="1B1B1B"/>
                </a:solidFill>
                <a:latin typeface="Calibri"/>
              </a:rPr>
              <a:t>Un classement présenté comme une vérité.</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Le plan d'un état de l'art de deux pages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106</a:t>
            </a:r>
          </a:p>
        </p:txBody>
      </p:sp>
      <p:graphicFrame>
        <p:nvGraphicFramePr>
          <p:cNvPr id="6" name="Table 5"/>
          <p:cNvGraphicFramePr>
            <a:graphicFrameLocks noGrp="1"/>
          </p:cNvGraphicFramePr>
          <p:nvPr/>
        </p:nvGraphicFramePr>
        <p:xfrm>
          <a:off x="411480" y="1188720"/>
          <a:ext cx="11338559" cy="2926080"/>
        </p:xfrm>
        <a:graphic>
          <a:graphicData uri="http://schemas.openxmlformats.org/drawingml/2006/table">
            <a:tbl>
              <a:tblPr firstRow="0" bandRow="0">
                <a:tableStyleId>{5C22544A-7EE6-4342-B048-85BDC9FD1C3A}</a:tableStyleId>
              </a:tblPr>
              <a:tblGrid>
                <a:gridCol w="2948025"/>
                <a:gridCol w="6803136"/>
                <a:gridCol w="1587398"/>
              </a:tblGrid>
              <a:tr h="365760">
                <a:tc>
                  <a:txBody>
                    <a:bodyPr wrap="square"/>
                    <a:lstStyle/>
                    <a:p>
                      <a:r>
                        <a:rPr sz="1700" b="1">
                          <a:solidFill>
                            <a:srgbClr val="FFFFFF"/>
                          </a:solidFill>
                          <a:latin typeface="Calibri"/>
                        </a:rPr>
                        <a:t>Partie</a:t>
                      </a:r>
                    </a:p>
                  </a:txBody>
                  <a:tcPr marL="73152" marR="73152" marT="36576" marB="36576">
                    <a:solidFill>
                      <a:srgbClr val="1F2A5C"/>
                    </a:solidFill>
                  </a:tcPr>
                </a:tc>
                <a:tc>
                  <a:txBody>
                    <a:bodyPr wrap="square"/>
                    <a:lstStyle/>
                    <a:p>
                      <a:r>
                        <a:rPr sz="1700" b="1">
                          <a:solidFill>
                            <a:srgbClr val="FFFFFF"/>
                          </a:solidFill>
                          <a:latin typeface="Calibri"/>
                        </a:rPr>
                        <a:t>Contenu</a:t>
                      </a:r>
                    </a:p>
                  </a:txBody>
                  <a:tcPr marL="73152" marR="73152" marT="36576" marB="36576">
                    <a:solidFill>
                      <a:srgbClr val="1F2A5C"/>
                    </a:solidFill>
                  </a:tcPr>
                </a:tc>
                <a:tc>
                  <a:txBody>
                    <a:bodyPr wrap="square"/>
                    <a:lstStyle/>
                    <a:p>
                      <a:r>
                        <a:rPr sz="1700" b="1">
                          <a:solidFill>
                            <a:srgbClr val="FFFFFF"/>
                          </a:solidFill>
                          <a:latin typeface="Calibri"/>
                        </a:rPr>
                        <a:t>Longueur</a:t>
                      </a:r>
                    </a:p>
                  </a:txBody>
                  <a:tcPr marL="73152" marR="73152" marT="36576" marB="36576">
                    <a:solidFill>
                      <a:srgbClr val="1F2A5C"/>
                    </a:solidFill>
                  </a:tcPr>
                </a:tc>
              </a:tr>
              <a:tr h="365760">
                <a:tc>
                  <a:txBody>
                    <a:bodyPr wrap="square"/>
                    <a:lstStyle/>
                    <a:p>
                      <a:r>
                        <a:rPr sz="1700" b="1">
                          <a:solidFill>
                            <a:srgbClr val="1B1B1B"/>
                          </a:solidFill>
                          <a:latin typeface="Calibri"/>
                        </a:rPr>
                        <a:t>1. Question</a:t>
                      </a:r>
                    </a:p>
                  </a:txBody>
                  <a:tcPr marL="73152" marR="73152" marT="36576" marB="36576">
                    <a:solidFill>
                      <a:srgbClr val="FFFFFF"/>
                    </a:solidFill>
                  </a:tcPr>
                </a:tc>
                <a:tc>
                  <a:txBody>
                    <a:bodyPr wrap="square"/>
                    <a:lstStyle/>
                    <a:p>
                      <a:r>
                        <a:rPr sz="1700" b="0">
                          <a:solidFill>
                            <a:srgbClr val="1B1B1B"/>
                          </a:solidFill>
                          <a:latin typeface="Calibri"/>
                        </a:rPr>
                        <a:t>Contexte et décision à éclairer</a:t>
                      </a:r>
                    </a:p>
                  </a:txBody>
                  <a:tcPr marL="73152" marR="73152" marT="36576" marB="36576">
                    <a:solidFill>
                      <a:srgbClr val="FFFFFF"/>
                    </a:solidFill>
                  </a:tcPr>
                </a:tc>
                <a:tc>
                  <a:txBody>
                    <a:bodyPr wrap="square"/>
                    <a:lstStyle/>
                    <a:p>
                      <a:r>
                        <a:rPr sz="1700" b="0">
                          <a:solidFill>
                            <a:srgbClr val="1B1B1B"/>
                          </a:solidFill>
                          <a:latin typeface="Calibri"/>
                        </a:rPr>
                        <a:t>10 %</a:t>
                      </a:r>
                    </a:p>
                  </a:txBody>
                  <a:tcPr marL="73152" marR="73152" marT="36576" marB="36576">
                    <a:solidFill>
                      <a:srgbClr val="FFFFFF"/>
                    </a:solidFill>
                  </a:tcPr>
                </a:tc>
              </a:tr>
              <a:tr h="365760">
                <a:tc>
                  <a:txBody>
                    <a:bodyPr wrap="square"/>
                    <a:lstStyle/>
                    <a:p>
                      <a:r>
                        <a:rPr sz="1700" b="1">
                          <a:solidFill>
                            <a:srgbClr val="1B1B1B"/>
                          </a:solidFill>
                          <a:latin typeface="Calibri"/>
                        </a:rPr>
                        <a:t>2. Méthode de recherche</a:t>
                      </a:r>
                    </a:p>
                  </a:txBody>
                  <a:tcPr marL="73152" marR="73152" marT="36576" marB="36576">
                    <a:solidFill>
                      <a:srgbClr val="F3F5F9"/>
                    </a:solidFill>
                  </a:tcPr>
                </a:tc>
                <a:tc>
                  <a:txBody>
                    <a:bodyPr wrap="square"/>
                    <a:lstStyle/>
                    <a:p>
                      <a:r>
                        <a:rPr sz="1700" b="0">
                          <a:solidFill>
                            <a:srgbClr val="1B1B1B"/>
                          </a:solidFill>
                          <a:latin typeface="Calibri"/>
                        </a:rPr>
                        <a:t>Requêtes, bases, période, sources retenues et écartées</a:t>
                      </a:r>
                    </a:p>
                  </a:txBody>
                  <a:tcPr marL="73152" marR="73152" marT="36576" marB="36576">
                    <a:solidFill>
                      <a:srgbClr val="F3F5F9"/>
                    </a:solidFill>
                  </a:tcPr>
                </a:tc>
                <a:tc>
                  <a:txBody>
                    <a:bodyPr wrap="square"/>
                    <a:lstStyle/>
                    <a:p>
                      <a:r>
                        <a:rPr sz="1700" b="0">
                          <a:solidFill>
                            <a:srgbClr val="1B1B1B"/>
                          </a:solidFill>
                          <a:latin typeface="Calibri"/>
                        </a:rPr>
                        <a:t>15 %</a:t>
                      </a:r>
                    </a:p>
                  </a:txBody>
                  <a:tcPr marL="73152" marR="73152" marT="36576" marB="36576">
                    <a:solidFill>
                      <a:srgbClr val="F3F5F9"/>
                    </a:solidFill>
                  </a:tcPr>
                </a:tc>
              </a:tr>
              <a:tr h="365760">
                <a:tc>
                  <a:txBody>
                    <a:bodyPr wrap="square"/>
                    <a:lstStyle/>
                    <a:p>
                      <a:r>
                        <a:rPr sz="1700" b="1">
                          <a:solidFill>
                            <a:srgbClr val="1B1B1B"/>
                          </a:solidFill>
                          <a:latin typeface="Calibri"/>
                        </a:rPr>
                        <a:t>3. Panorama</a:t>
                      </a:r>
                    </a:p>
                  </a:txBody>
                  <a:tcPr marL="73152" marR="73152" marT="36576" marB="36576">
                    <a:solidFill>
                      <a:srgbClr val="FFFFFF"/>
                    </a:solidFill>
                  </a:tcPr>
                </a:tc>
                <a:tc>
                  <a:txBody>
                    <a:bodyPr wrap="square"/>
                    <a:lstStyle/>
                    <a:p>
                      <a:r>
                        <a:rPr sz="1700" b="0">
                          <a:solidFill>
                            <a:srgbClr val="1B1B1B"/>
                          </a:solidFill>
                          <a:latin typeface="Calibri"/>
                        </a:rPr>
                        <a:t>Les solutions, chacune avec ses sources</a:t>
                      </a:r>
                    </a:p>
                  </a:txBody>
                  <a:tcPr marL="73152" marR="73152" marT="36576" marB="36576">
                    <a:solidFill>
                      <a:srgbClr val="FFFFFF"/>
                    </a:solidFill>
                  </a:tcPr>
                </a:tc>
                <a:tc>
                  <a:txBody>
                    <a:bodyPr wrap="square"/>
                    <a:lstStyle/>
                    <a:p>
                      <a:r>
                        <a:rPr sz="1700" b="0">
                          <a:solidFill>
                            <a:srgbClr val="1B1B1B"/>
                          </a:solidFill>
                          <a:latin typeface="Calibri"/>
                        </a:rPr>
                        <a:t>25 %</a:t>
                      </a:r>
                    </a:p>
                  </a:txBody>
                  <a:tcPr marL="73152" marR="73152" marT="36576" marB="36576">
                    <a:solidFill>
                      <a:srgbClr val="FFFFFF"/>
                    </a:solidFill>
                  </a:tcPr>
                </a:tc>
              </a:tr>
              <a:tr h="365760">
                <a:tc>
                  <a:txBody>
                    <a:bodyPr wrap="square"/>
                    <a:lstStyle/>
                    <a:p>
                      <a:r>
                        <a:rPr sz="1700" b="1">
                          <a:solidFill>
                            <a:srgbClr val="1B1B1B"/>
                          </a:solidFill>
                          <a:latin typeface="Calibri"/>
                        </a:rPr>
                        <a:t>4. Comparaison</a:t>
                      </a:r>
                    </a:p>
                  </a:txBody>
                  <a:tcPr marL="73152" marR="73152" marT="36576" marB="36576">
                    <a:solidFill>
                      <a:srgbClr val="F3F5F9"/>
                    </a:solidFill>
                  </a:tcPr>
                </a:tc>
                <a:tc>
                  <a:txBody>
                    <a:bodyPr wrap="square"/>
                    <a:lstStyle/>
                    <a:p>
                      <a:r>
                        <a:rPr sz="1700" b="0">
                          <a:solidFill>
                            <a:srgbClr val="1B1B1B"/>
                          </a:solidFill>
                          <a:latin typeface="Calibri"/>
                        </a:rPr>
                        <a:t>Matrice, test de sensibilité</a:t>
                      </a:r>
                    </a:p>
                  </a:txBody>
                  <a:tcPr marL="73152" marR="73152" marT="36576" marB="36576">
                    <a:solidFill>
                      <a:srgbClr val="F3F5F9"/>
                    </a:solidFill>
                  </a:tcPr>
                </a:tc>
                <a:tc>
                  <a:txBody>
                    <a:bodyPr wrap="square"/>
                    <a:lstStyle/>
                    <a:p>
                      <a:r>
                        <a:rPr sz="1700" b="0">
                          <a:solidFill>
                            <a:srgbClr val="1B1B1B"/>
                          </a:solidFill>
                          <a:latin typeface="Calibri"/>
                        </a:rPr>
                        <a:t>25 %</a:t>
                      </a:r>
                    </a:p>
                  </a:txBody>
                  <a:tcPr marL="73152" marR="73152" marT="36576" marB="36576">
                    <a:solidFill>
                      <a:srgbClr val="F3F5F9"/>
                    </a:solidFill>
                  </a:tcPr>
                </a:tc>
              </a:tr>
              <a:tr h="365760">
                <a:tc>
                  <a:txBody>
                    <a:bodyPr wrap="square"/>
                    <a:lstStyle/>
                    <a:p>
                      <a:r>
                        <a:rPr sz="1700" b="1">
                          <a:solidFill>
                            <a:srgbClr val="1B1B1B"/>
                          </a:solidFill>
                          <a:latin typeface="Calibri"/>
                        </a:rPr>
                        <a:t>5. Discussion et limites</a:t>
                      </a:r>
                    </a:p>
                  </a:txBody>
                  <a:tcPr marL="73152" marR="73152" marT="36576" marB="36576">
                    <a:solidFill>
                      <a:srgbClr val="FFFFFF"/>
                    </a:solidFill>
                  </a:tcPr>
                </a:tc>
                <a:tc>
                  <a:txBody>
                    <a:bodyPr wrap="square"/>
                    <a:lstStyle/>
                    <a:p>
                      <a:r>
                        <a:rPr sz="1700" b="0">
                          <a:solidFill>
                            <a:srgbClr val="1B1B1B"/>
                          </a:solidFill>
                          <a:latin typeface="Calibri"/>
                        </a:rPr>
                        <a:t>Réfutations, ce que l'on ne sait pas</a:t>
                      </a:r>
                    </a:p>
                  </a:txBody>
                  <a:tcPr marL="73152" marR="73152" marT="36576" marB="36576">
                    <a:solidFill>
                      <a:srgbClr val="FFFFFF"/>
                    </a:solidFill>
                  </a:tcPr>
                </a:tc>
                <a:tc>
                  <a:txBody>
                    <a:bodyPr wrap="square"/>
                    <a:lstStyle/>
                    <a:p>
                      <a:r>
                        <a:rPr sz="1700" b="0">
                          <a:solidFill>
                            <a:srgbClr val="1B1B1B"/>
                          </a:solidFill>
                          <a:latin typeface="Calibri"/>
                        </a:rPr>
                        <a:t>15 %</a:t>
                      </a:r>
                    </a:p>
                  </a:txBody>
                  <a:tcPr marL="73152" marR="73152" marT="36576" marB="36576">
                    <a:solidFill>
                      <a:srgbClr val="FFFFFF"/>
                    </a:solidFill>
                  </a:tcPr>
                </a:tc>
              </a:tr>
              <a:tr h="365760">
                <a:tc>
                  <a:txBody>
                    <a:bodyPr wrap="square"/>
                    <a:lstStyle/>
                    <a:p>
                      <a:r>
                        <a:rPr sz="1700" b="1">
                          <a:solidFill>
                            <a:srgbClr val="1B1B1B"/>
                          </a:solidFill>
                          <a:latin typeface="Calibri"/>
                        </a:rPr>
                        <a:t>6. Conclusion</a:t>
                      </a:r>
                    </a:p>
                  </a:txBody>
                  <a:tcPr marL="73152" marR="73152" marT="36576" marB="36576">
                    <a:solidFill>
                      <a:srgbClr val="F3F5F9"/>
                    </a:solidFill>
                  </a:tcPr>
                </a:tc>
                <a:tc>
                  <a:txBody>
                    <a:bodyPr wrap="square"/>
                    <a:lstStyle/>
                    <a:p>
                      <a:r>
                        <a:rPr sz="1700" b="0">
                          <a:solidFill>
                            <a:srgbClr val="1B1B1B"/>
                          </a:solidFill>
                          <a:latin typeface="Calibri"/>
                        </a:rPr>
                        <a:t>Recommandation avec qualificatif et réserve</a:t>
                      </a:r>
                    </a:p>
                  </a:txBody>
                  <a:tcPr marL="73152" marR="73152" marT="36576" marB="36576">
                    <a:solidFill>
                      <a:srgbClr val="F3F5F9"/>
                    </a:solidFill>
                  </a:tcPr>
                </a:tc>
                <a:tc>
                  <a:txBody>
                    <a:bodyPr wrap="square"/>
                    <a:lstStyle/>
                    <a:p>
                      <a:r>
                        <a:rPr sz="1700" b="0">
                          <a:solidFill>
                            <a:srgbClr val="1B1B1B"/>
                          </a:solidFill>
                          <a:latin typeface="Calibri"/>
                        </a:rPr>
                        <a:t>10 %</a:t>
                      </a:r>
                    </a:p>
                  </a:txBody>
                  <a:tcPr marL="73152" marR="73152" marT="36576" marB="36576">
                    <a:solidFill>
                      <a:srgbClr val="F3F5F9"/>
                    </a:solidFill>
                  </a:tcPr>
                </a:tc>
              </a:tr>
              <a:tr h="365760">
                <a:tc>
                  <a:txBody>
                    <a:bodyPr wrap="square"/>
                    <a:lstStyle/>
                    <a:p>
                      <a:r>
                        <a:rPr sz="1700" b="1">
                          <a:solidFill>
                            <a:srgbClr val="1B1B1B"/>
                          </a:solidFill>
                          <a:latin typeface="Calibri"/>
                        </a:rPr>
                        <a:t>Références</a:t>
                      </a:r>
                    </a:p>
                  </a:txBody>
                  <a:tcPr marL="73152" marR="73152" marT="36576" marB="36576">
                    <a:solidFill>
                      <a:srgbClr val="FFFFFF"/>
                    </a:solidFill>
                  </a:tcPr>
                </a:tc>
                <a:tc>
                  <a:txBody>
                    <a:bodyPr wrap="square"/>
                    <a:lstStyle/>
                    <a:p>
                      <a:r>
                        <a:rPr sz="1700" b="0">
                          <a:solidFill>
                            <a:srgbClr val="1B1B1B"/>
                          </a:solidFill>
                          <a:latin typeface="Calibri"/>
                        </a:rPr>
                        <a:t>Bibliographie générée par Zotero</a:t>
                      </a:r>
                    </a:p>
                  </a:txBody>
                  <a:tcPr marL="73152" marR="73152" marT="36576" marB="36576">
                    <a:solidFill>
                      <a:srgbClr val="FFFFFF"/>
                    </a:solidFill>
                  </a:tcPr>
                </a:tc>
                <a:tc>
                  <a:txBody>
                    <a:bodyPr wrap="square"/>
                    <a:lstStyle/>
                    <a:p>
                      <a:r>
                        <a:rPr sz="1700" b="0">
                          <a:solidFill>
                            <a:srgbClr val="1B1B1B"/>
                          </a:solidFill>
                          <a:latin typeface="Calibri"/>
                        </a:rPr>
                        <a:t>Hors pages</a:t>
                      </a:r>
                    </a:p>
                  </a:txBody>
                  <a:tcPr marL="73152" marR="73152" marT="36576" marB="36576">
                    <a:solidFill>
                      <a:srgbClr val="FFFFFF"/>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Résumé d'ouverture de trois lignes en tête : question, méthode, conclusion.</a:t>
            </a:r>
          </a:p>
        </p:txBody>
      </p:sp>
      <p:sp>
        <p:nvSpPr>
          <p:cNvPr id="8" name="TextBox 7"/>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Plan propre au cours, inspiré de l'organisation des revues de littérature (synthèse pédagogique).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23</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Plan de l'état de l'art et résumé d'ouverture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EX23</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107</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20 min  ·  Carnet · chapitre 7  ·  Outil : dossier PowerPoint (section 12)</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Bâtir le plan et le résumé d'ouverture de votre état de l'art pour que le lecteur ait la réponse tout de suite.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Votre état de l'art tient en deux pages. Avant d'écrire, il faut un plan et un résumé d'ouverture de trois lignes (en journalisme on dit le chapô) : la question, la méthode et la conclusion, pour que le lecteur ait la réponse tout de suite.</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40"/>
              </a:spcAft>
              <a:buAutoNum type="arabicPeriod"/>
            </a:pPr>
            <a:r>
              <a:rPr sz="1800" b="0" i="0">
                <a:solidFill>
                  <a:srgbClr val="1B1B1B"/>
                </a:solidFill>
                <a:latin typeface="Calibri"/>
              </a:rPr>
              <a:t>Écrivez le plan : chaque partie en une ligne, avec sa longueur (en %).</a:t>
            </a:r>
          </a:p>
          <a:p>
            <a:pPr algn="l" marL="274320" indent="-274320">
              <a:spcAft>
                <a:spcPts val="540"/>
              </a:spcAft>
              <a:buAutoNum type="arabicPeriod"/>
            </a:pPr>
            <a:r>
              <a:rPr sz="1800" b="0" i="0">
                <a:solidFill>
                  <a:srgbClr val="1B1B1B"/>
                </a:solidFill>
                <a:latin typeface="Calibri"/>
              </a:rPr>
              <a:t>Écrivez le résumé d'ouverture : question, méthode, conclusion.</a:t>
            </a:r>
          </a:p>
          <a:p>
            <a:pPr algn="l" marL="274320" indent="-274320">
              <a:spcAft>
                <a:spcPts val="540"/>
              </a:spcAft>
              <a:buAutoNum type="arabicPeriod"/>
            </a:pPr>
            <a:r>
              <a:rPr sz="1800" b="0" i="0">
                <a:solidFill>
                  <a:srgbClr val="1B1B1B"/>
                </a:solidFill>
                <a:latin typeface="Calibri"/>
              </a:rPr>
              <a:t>Relisez : le lecteur a-t-il la réponse dans le résumé d'ouverture ?</a:t>
            </a:r>
          </a:p>
          <a:p>
            <a:pPr algn="l" marL="274320" indent="-274320">
              <a:spcAft>
                <a:spcPts val="540"/>
              </a:spcAft>
              <a:buAutoNum type="arabicPeriod"/>
            </a:pPr>
            <a:r>
              <a:rPr sz="1800" b="0" i="0">
                <a:solidFill>
                  <a:srgbClr val="1B1B1B"/>
                </a:solidFill>
                <a:latin typeface="Calibri"/>
              </a:rPr>
              <a:t>Avec Le Chat (Mistral) ou une autre IA (notez laquelle) : demandez-lui quelle décision elle comprend de votre résumé. Correspond-elle à votre conclusion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Le plan et le résumé d'ouverture de votre état de l'art. → Dossier, section 12.</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3.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839"/>
              </a:spcAft>
            </a:pPr>
            <a:r>
              <a:rPr sz="2400" b="1" i="0">
                <a:solidFill>
                  <a:srgbClr val="FFFFFF"/>
                </a:solidFill>
                <a:latin typeface="Calibri"/>
              </a:rPr>
              <a:t>Correction · EX 23 — Plan de l'état de l'art et résumé d'ouverture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EX23</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108</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Le plan suit la démarche.</a:t>
            </a:r>
          </a:p>
          <a:p>
            <a:pPr algn="l" marL="274320" indent="-274320">
              <a:spcAft>
                <a:spcPts val="375"/>
              </a:spcAft>
              <a:buAutoNum type="arabicPeriod"/>
            </a:pPr>
            <a:r>
              <a:rPr sz="1500" b="0" i="0">
                <a:solidFill>
                  <a:srgbClr val="1B1B1B"/>
                </a:solidFill>
                <a:latin typeface="Calibri"/>
              </a:rPr>
              <a:t>Le résumé d'ouverture donne la conclusion d'abord.</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2377440"/>
                <a:gridCol w="4572000"/>
                <a:gridCol w="1097280"/>
              </a:tblGrid>
              <a:tr h="237744">
                <a:tc>
                  <a:txBody>
                    <a:bodyPr wrap="square"/>
                    <a:lstStyle/>
                    <a:p>
                      <a:r>
                        <a:rPr sz="1700" b="1">
                          <a:solidFill>
                            <a:srgbClr val="FFFFFF"/>
                          </a:solidFill>
                          <a:latin typeface="Calibri"/>
                        </a:rPr>
                        <a:t>Partie</a:t>
                      </a:r>
                    </a:p>
                  </a:txBody>
                  <a:tcPr marL="73152" marR="73152" marT="36576" marB="36576">
                    <a:solidFill>
                      <a:srgbClr val="1F2A5C"/>
                    </a:solidFill>
                  </a:tcPr>
                </a:tc>
                <a:tc>
                  <a:txBody>
                    <a:bodyPr wrap="square"/>
                    <a:lstStyle/>
                    <a:p>
                      <a:r>
                        <a:rPr sz="1700" b="1">
                          <a:solidFill>
                            <a:srgbClr val="FFFFFF"/>
                          </a:solidFill>
                          <a:latin typeface="Calibri"/>
                        </a:rPr>
                        <a:t>Contenu</a:t>
                      </a:r>
                    </a:p>
                  </a:txBody>
                  <a:tcPr marL="73152" marR="73152" marT="36576" marB="36576">
                    <a:solidFill>
                      <a:srgbClr val="1F2A5C"/>
                    </a:solidFill>
                  </a:tcPr>
                </a:tc>
                <a:tc>
                  <a:txBody>
                    <a:bodyPr wrap="square"/>
                    <a:lstStyle/>
                    <a:p>
                      <a:r>
                        <a:rPr sz="1700" b="1">
                          <a:solidFill>
                            <a:srgbClr val="FFFFFF"/>
                          </a:solidFill>
                          <a:latin typeface="Calibri"/>
                        </a:rPr>
                        <a:t>Longueur</a:t>
                      </a:r>
                    </a:p>
                  </a:txBody>
                  <a:tcPr marL="73152" marR="73152" marT="36576" marB="36576">
                    <a:solidFill>
                      <a:srgbClr val="1F2A5C"/>
                    </a:solidFill>
                  </a:tcPr>
                </a:tc>
              </a:tr>
              <a:tr h="237744">
                <a:tc>
                  <a:txBody>
                    <a:bodyPr wrap="square"/>
                    <a:lstStyle/>
                    <a:p>
                      <a:r>
                        <a:rPr sz="1700" b="1">
                          <a:solidFill>
                            <a:srgbClr val="1B1B1B"/>
                          </a:solidFill>
                          <a:latin typeface="Calibri"/>
                        </a:rPr>
                        <a:t>1. Question</a:t>
                      </a:r>
                    </a:p>
                  </a:txBody>
                  <a:tcPr marL="73152" marR="73152" marT="36576" marB="36576">
                    <a:solidFill>
                      <a:srgbClr val="FFFFFF"/>
                    </a:solidFill>
                  </a:tcPr>
                </a:tc>
                <a:tc>
                  <a:txBody>
                    <a:bodyPr wrap="square"/>
                    <a:lstStyle/>
                    <a:p>
                      <a:r>
                        <a:rPr sz="1700" b="0">
                          <a:solidFill>
                            <a:srgbClr val="1B1B1B"/>
                          </a:solidFill>
                          <a:latin typeface="Calibri"/>
                        </a:rPr>
                        <a:t>Contexte et décision à éclairer</a:t>
                      </a:r>
                    </a:p>
                  </a:txBody>
                  <a:tcPr marL="73152" marR="73152" marT="36576" marB="36576">
                    <a:solidFill>
                      <a:srgbClr val="FFFFFF"/>
                    </a:solidFill>
                  </a:tcPr>
                </a:tc>
                <a:tc>
                  <a:txBody>
                    <a:bodyPr wrap="square"/>
                    <a:lstStyle/>
                    <a:p>
                      <a:r>
                        <a:rPr sz="1700" b="0">
                          <a:solidFill>
                            <a:srgbClr val="1B1B1B"/>
                          </a:solidFill>
                          <a:latin typeface="Calibri"/>
                        </a:rPr>
                        <a:t>10 %</a:t>
                      </a:r>
                    </a:p>
                  </a:txBody>
                  <a:tcPr marL="73152" marR="73152" marT="36576" marB="36576">
                    <a:solidFill>
                      <a:srgbClr val="FFFFFF"/>
                    </a:solidFill>
                  </a:tcPr>
                </a:tc>
              </a:tr>
              <a:tr h="237744">
                <a:tc>
                  <a:txBody>
                    <a:bodyPr wrap="square"/>
                    <a:lstStyle/>
                    <a:p>
                      <a:r>
                        <a:rPr sz="1700" b="1">
                          <a:solidFill>
                            <a:srgbClr val="1B1B1B"/>
                          </a:solidFill>
                          <a:latin typeface="Calibri"/>
                        </a:rPr>
                        <a:t>2. Méthode de recherche</a:t>
                      </a:r>
                    </a:p>
                  </a:txBody>
                  <a:tcPr marL="73152" marR="73152" marT="36576" marB="36576">
                    <a:solidFill>
                      <a:srgbClr val="F3F5F9"/>
                    </a:solidFill>
                  </a:tcPr>
                </a:tc>
                <a:tc>
                  <a:txBody>
                    <a:bodyPr wrap="square"/>
                    <a:lstStyle/>
                    <a:p>
                      <a:r>
                        <a:rPr sz="1700" b="0">
                          <a:solidFill>
                            <a:srgbClr val="1B1B1B"/>
                          </a:solidFill>
                          <a:latin typeface="Calibri"/>
                        </a:rPr>
                        <a:t>Requêtes, bases, période, sources retenues et écartées</a:t>
                      </a:r>
                    </a:p>
                  </a:txBody>
                  <a:tcPr marL="73152" marR="73152" marT="36576" marB="36576">
                    <a:solidFill>
                      <a:srgbClr val="F3F5F9"/>
                    </a:solidFill>
                  </a:tcPr>
                </a:tc>
                <a:tc>
                  <a:txBody>
                    <a:bodyPr wrap="square"/>
                    <a:lstStyle/>
                    <a:p>
                      <a:r>
                        <a:rPr sz="1700" b="0">
                          <a:solidFill>
                            <a:srgbClr val="1B1B1B"/>
                          </a:solidFill>
                          <a:latin typeface="Calibri"/>
                        </a:rPr>
                        <a:t>15 %</a:t>
                      </a:r>
                    </a:p>
                  </a:txBody>
                  <a:tcPr marL="73152" marR="73152" marT="36576" marB="36576">
                    <a:solidFill>
                      <a:srgbClr val="F3F5F9"/>
                    </a:solidFill>
                  </a:tcPr>
                </a:tc>
              </a:tr>
              <a:tr h="237744">
                <a:tc>
                  <a:txBody>
                    <a:bodyPr wrap="square"/>
                    <a:lstStyle/>
                    <a:p>
                      <a:r>
                        <a:rPr sz="1700" b="1">
                          <a:solidFill>
                            <a:srgbClr val="1B1B1B"/>
                          </a:solidFill>
                          <a:latin typeface="Calibri"/>
                        </a:rPr>
                        <a:t>3. Panorama</a:t>
                      </a:r>
                    </a:p>
                  </a:txBody>
                  <a:tcPr marL="73152" marR="73152" marT="36576" marB="36576">
                    <a:solidFill>
                      <a:srgbClr val="FFFFFF"/>
                    </a:solidFill>
                  </a:tcPr>
                </a:tc>
                <a:tc>
                  <a:txBody>
                    <a:bodyPr wrap="square"/>
                    <a:lstStyle/>
                    <a:p>
                      <a:r>
                        <a:rPr sz="1700" b="0">
                          <a:solidFill>
                            <a:srgbClr val="1B1B1B"/>
                          </a:solidFill>
                          <a:latin typeface="Calibri"/>
                        </a:rPr>
                        <a:t>Les solutions, chacune avec ses sources</a:t>
                      </a:r>
                    </a:p>
                  </a:txBody>
                  <a:tcPr marL="73152" marR="73152" marT="36576" marB="36576">
                    <a:solidFill>
                      <a:srgbClr val="FFFFFF"/>
                    </a:solidFill>
                  </a:tcPr>
                </a:tc>
                <a:tc>
                  <a:txBody>
                    <a:bodyPr wrap="square"/>
                    <a:lstStyle/>
                    <a:p>
                      <a:r>
                        <a:rPr sz="1700" b="0">
                          <a:solidFill>
                            <a:srgbClr val="1B1B1B"/>
                          </a:solidFill>
                          <a:latin typeface="Calibri"/>
                        </a:rPr>
                        <a:t>25 %</a:t>
                      </a:r>
                    </a:p>
                  </a:txBody>
                  <a:tcPr marL="73152" marR="73152" marT="36576" marB="36576">
                    <a:solidFill>
                      <a:srgbClr val="FFFFFF"/>
                    </a:solidFill>
                  </a:tcPr>
                </a:tc>
              </a:tr>
              <a:tr h="237744">
                <a:tc>
                  <a:txBody>
                    <a:bodyPr wrap="square"/>
                    <a:lstStyle/>
                    <a:p>
                      <a:r>
                        <a:rPr sz="1700" b="1">
                          <a:solidFill>
                            <a:srgbClr val="1B1B1B"/>
                          </a:solidFill>
                          <a:latin typeface="Calibri"/>
                        </a:rPr>
                        <a:t>4. Comparaison</a:t>
                      </a:r>
                    </a:p>
                  </a:txBody>
                  <a:tcPr marL="73152" marR="73152" marT="36576" marB="36576">
                    <a:solidFill>
                      <a:srgbClr val="F3F5F9"/>
                    </a:solidFill>
                  </a:tcPr>
                </a:tc>
                <a:tc>
                  <a:txBody>
                    <a:bodyPr wrap="square"/>
                    <a:lstStyle/>
                    <a:p>
                      <a:r>
                        <a:rPr sz="1700" b="0">
                          <a:solidFill>
                            <a:srgbClr val="1B1B1B"/>
                          </a:solidFill>
                          <a:latin typeface="Calibri"/>
                        </a:rPr>
                        <a:t>Matrice, test de sensibilité</a:t>
                      </a:r>
                    </a:p>
                  </a:txBody>
                  <a:tcPr marL="73152" marR="73152" marT="36576" marB="36576">
                    <a:solidFill>
                      <a:srgbClr val="F3F5F9"/>
                    </a:solidFill>
                  </a:tcPr>
                </a:tc>
                <a:tc>
                  <a:txBody>
                    <a:bodyPr wrap="square"/>
                    <a:lstStyle/>
                    <a:p>
                      <a:r>
                        <a:rPr sz="1700" b="0">
                          <a:solidFill>
                            <a:srgbClr val="1B1B1B"/>
                          </a:solidFill>
                          <a:latin typeface="Calibri"/>
                        </a:rPr>
                        <a:t>25 %</a:t>
                      </a:r>
                    </a:p>
                  </a:txBody>
                  <a:tcPr marL="73152" marR="73152" marT="36576" marB="36576">
                    <a:solidFill>
                      <a:srgbClr val="F3F5F9"/>
                    </a:solidFill>
                  </a:tcPr>
                </a:tc>
              </a:tr>
              <a:tr h="237744">
                <a:tc>
                  <a:txBody>
                    <a:bodyPr wrap="square"/>
                    <a:lstStyle/>
                    <a:p>
                      <a:r>
                        <a:rPr sz="1700" b="1">
                          <a:solidFill>
                            <a:srgbClr val="1B1B1B"/>
                          </a:solidFill>
                          <a:latin typeface="Calibri"/>
                        </a:rPr>
                        <a:t>5. Discussion et limites</a:t>
                      </a:r>
                    </a:p>
                  </a:txBody>
                  <a:tcPr marL="73152" marR="73152" marT="36576" marB="36576">
                    <a:solidFill>
                      <a:srgbClr val="FFFFFF"/>
                    </a:solidFill>
                  </a:tcPr>
                </a:tc>
                <a:tc>
                  <a:txBody>
                    <a:bodyPr wrap="square"/>
                    <a:lstStyle/>
                    <a:p>
                      <a:r>
                        <a:rPr sz="1700" b="0">
                          <a:solidFill>
                            <a:srgbClr val="1B1B1B"/>
                          </a:solidFill>
                          <a:latin typeface="Calibri"/>
                        </a:rPr>
                        <a:t>Réfutations, ce qu'on ne sait pas</a:t>
                      </a:r>
                    </a:p>
                  </a:txBody>
                  <a:tcPr marL="73152" marR="73152" marT="36576" marB="36576">
                    <a:solidFill>
                      <a:srgbClr val="FFFFFF"/>
                    </a:solidFill>
                  </a:tcPr>
                </a:tc>
                <a:tc>
                  <a:txBody>
                    <a:bodyPr wrap="square"/>
                    <a:lstStyle/>
                    <a:p>
                      <a:r>
                        <a:rPr sz="1700" b="0">
                          <a:solidFill>
                            <a:srgbClr val="1B1B1B"/>
                          </a:solidFill>
                          <a:latin typeface="Calibri"/>
                        </a:rPr>
                        <a:t>15 %</a:t>
                      </a:r>
                    </a:p>
                  </a:txBody>
                  <a:tcPr marL="73152" marR="73152" marT="36576" marB="36576">
                    <a:solidFill>
                      <a:srgbClr val="FFFFFF"/>
                    </a:solidFill>
                  </a:tcPr>
                </a:tc>
              </a:tr>
              <a:tr h="237744">
                <a:tc>
                  <a:txBody>
                    <a:bodyPr wrap="square"/>
                    <a:lstStyle/>
                    <a:p>
                      <a:r>
                        <a:rPr sz="1700" b="1">
                          <a:solidFill>
                            <a:srgbClr val="1B1B1B"/>
                          </a:solidFill>
                          <a:latin typeface="Calibri"/>
                        </a:rPr>
                        <a:t>6. Conclusion</a:t>
                      </a:r>
                    </a:p>
                  </a:txBody>
                  <a:tcPr marL="73152" marR="73152" marT="36576" marB="36576">
                    <a:solidFill>
                      <a:srgbClr val="F3F5F9"/>
                    </a:solidFill>
                  </a:tcPr>
                </a:tc>
                <a:tc>
                  <a:txBody>
                    <a:bodyPr wrap="square"/>
                    <a:lstStyle/>
                    <a:p>
                      <a:r>
                        <a:rPr sz="1700" b="0">
                          <a:solidFill>
                            <a:srgbClr val="1B1B1B"/>
                          </a:solidFill>
                          <a:latin typeface="Calibri"/>
                        </a:rPr>
                        <a:t>Recommandation avec qualificatif et réserve</a:t>
                      </a:r>
                    </a:p>
                  </a:txBody>
                  <a:tcPr marL="73152" marR="73152" marT="36576" marB="36576">
                    <a:solidFill>
                      <a:srgbClr val="F3F5F9"/>
                    </a:solidFill>
                  </a:tcPr>
                </a:tc>
                <a:tc>
                  <a:txBody>
                    <a:bodyPr wrap="square"/>
                    <a:lstStyle/>
                    <a:p>
                      <a:r>
                        <a:rPr sz="1700" b="0">
                          <a:solidFill>
                            <a:srgbClr val="1B1B1B"/>
                          </a:solidFill>
                          <a:latin typeface="Calibri"/>
                        </a:rPr>
                        <a:t>10 %</a:t>
                      </a:r>
                    </a:p>
                  </a:txBody>
                  <a:tcPr marL="73152" marR="73152" marT="36576" marB="36576">
                    <a:solidFill>
                      <a:srgbClr val="F3F5F9"/>
                    </a:solidFill>
                  </a:tcPr>
                </a:tc>
              </a:tr>
              <a:tr h="237744">
                <a:tc>
                  <a:txBody>
                    <a:bodyPr wrap="square"/>
                    <a:lstStyle/>
                    <a:p>
                      <a:r>
                        <a:rPr sz="1700" b="1">
                          <a:solidFill>
                            <a:srgbClr val="1B1B1B"/>
                          </a:solidFill>
                          <a:latin typeface="Calibri"/>
                        </a:rPr>
                        <a:t>Références</a:t>
                      </a:r>
                    </a:p>
                  </a:txBody>
                  <a:tcPr marL="73152" marR="73152" marT="36576" marB="36576">
                    <a:solidFill>
                      <a:srgbClr val="FFFFFF"/>
                    </a:solidFill>
                  </a:tcPr>
                </a:tc>
                <a:tc>
                  <a:txBody>
                    <a:bodyPr wrap="square"/>
                    <a:lstStyle/>
                    <a:p>
                      <a:r>
                        <a:rPr sz="1700" b="0">
                          <a:solidFill>
                            <a:srgbClr val="1B1B1B"/>
                          </a:solidFill>
                          <a:latin typeface="Calibri"/>
                        </a:rPr>
                        <a:t>Hors pages</a:t>
                      </a:r>
                    </a:p>
                  </a:txBody>
                  <a:tcPr marL="73152" marR="73152" marT="36576" marB="36576">
                    <a:solidFill>
                      <a:srgbClr val="FFFFFF"/>
                    </a:solidFill>
                  </a:tcPr>
                </a:tc>
                <a:tc>
                  <a:txBody>
                    <a:bodyPr wrap="square"/>
                    <a:lstStyle/>
                    <a:p>
                      <a:r>
                        <a:rPr sz="1700" b="0">
                          <a:solidFill>
                            <a:srgbClr val="1B1B1B"/>
                          </a:solidFill>
                          <a:latin typeface="Calibri"/>
                        </a:rPr>
                        <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Un panorama sans comparaison : on liste sans conclure.</a:t>
            </a:r>
          </a:p>
          <a:p>
            <a:pPr algn="l" marL="201168" indent="-201168">
              <a:spcAft>
                <a:spcPts val="110"/>
              </a:spcAft>
              <a:buChar char="•"/>
            </a:pPr>
            <a:r>
              <a:rPr sz="1100" b="0" i="0">
                <a:solidFill>
                  <a:srgbClr val="1B1B1B"/>
                </a:solidFill>
                <a:latin typeface="Calibri"/>
              </a:rPr>
              <a:t>Une méthode absente : le lecteur ne peut pas refaire la recherche.</a:t>
            </a:r>
          </a:p>
          <a:p>
            <a:pPr algn="l" marL="201168" indent="-201168">
              <a:spcAft>
                <a:spcPts val="110"/>
              </a:spcAft>
              <a:buChar char="•"/>
            </a:pPr>
            <a:r>
              <a:rPr sz="1100" b="0" i="0">
                <a:solidFill>
                  <a:srgbClr val="1B1B1B"/>
                </a:solidFill>
                <a:latin typeface="Calibri"/>
              </a:rPr>
              <a:t>Un résumé d'ouverture qui annonce le plan au lieu de la conclusion.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Citer sans exagérer : six débuts de phrase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109</a:t>
            </a:r>
          </a:p>
        </p:txBody>
      </p:sp>
      <p:graphicFrame>
        <p:nvGraphicFramePr>
          <p:cNvPr id="6" name="Table 5"/>
          <p:cNvGraphicFramePr>
            <a:graphicFrameLocks noGrp="1"/>
          </p:cNvGraphicFramePr>
          <p:nvPr/>
        </p:nvGraphicFramePr>
        <p:xfrm>
          <a:off x="411480" y="1188720"/>
          <a:ext cx="11338559" cy="2560320"/>
        </p:xfrm>
        <a:graphic>
          <a:graphicData uri="http://schemas.openxmlformats.org/drawingml/2006/table">
            <a:tbl>
              <a:tblPr firstRow="0" bandRow="0">
                <a:tableStyleId>{5C22544A-7EE6-4342-B048-85BDC9FD1C3A}</a:tableStyleId>
              </a:tblPr>
              <a:tblGrid>
                <a:gridCol w="1795271"/>
                <a:gridCol w="4724400"/>
                <a:gridCol w="4818888"/>
              </a:tblGrid>
              <a:tr h="365760">
                <a:tc>
                  <a:txBody>
                    <a:bodyPr wrap="square"/>
                    <a:lstStyle/>
                    <a:p>
                      <a:r>
                        <a:rPr sz="1700" b="1">
                          <a:solidFill>
                            <a:srgbClr val="FFFFFF"/>
                          </a:solidFill>
                          <a:latin typeface="Calibri"/>
                        </a:rPr>
                        <a:t>Je veux…</a:t>
                      </a:r>
                    </a:p>
                  </a:txBody>
                  <a:tcPr marL="73152" marR="73152" marT="36576" marB="36576">
                    <a:solidFill>
                      <a:srgbClr val="1F2A5C"/>
                    </a:solidFill>
                  </a:tcPr>
                </a:tc>
                <a:tc>
                  <a:txBody>
                    <a:bodyPr wrap="square"/>
                    <a:lstStyle/>
                    <a:p>
                      <a:r>
                        <a:rPr sz="1700" b="1">
                          <a:solidFill>
                            <a:srgbClr val="FFFFFF"/>
                          </a:solidFill>
                          <a:latin typeface="Calibri"/>
                        </a:rPr>
                        <a:t>Début de phrase</a:t>
                      </a:r>
                    </a:p>
                  </a:txBody>
                  <a:tcPr marL="73152" marR="73152" marT="36576" marB="36576">
                    <a:solidFill>
                      <a:srgbClr val="1F2A5C"/>
                    </a:solidFill>
                  </a:tcPr>
                </a:tc>
                <a:tc>
                  <a:txBody>
                    <a:bodyPr wrap="square"/>
                    <a:lstStyle/>
                    <a:p>
                      <a:r>
                        <a:rPr sz="1700" b="1">
                          <a:solidFill>
                            <a:srgbClr val="FFFFFF"/>
                          </a:solidFill>
                          <a:latin typeface="Calibri"/>
                        </a:rPr>
                        <a:t>Exemple</a:t>
                      </a:r>
                    </a:p>
                  </a:txBody>
                  <a:tcPr marL="73152" marR="73152" marT="36576" marB="36576">
                    <a:solidFill>
                      <a:srgbClr val="1F2A5C"/>
                    </a:solidFill>
                  </a:tcPr>
                </a:tc>
              </a:tr>
              <a:tr h="365760">
                <a:tc>
                  <a:txBody>
                    <a:bodyPr wrap="square"/>
                    <a:lstStyle/>
                    <a:p>
                      <a:r>
                        <a:rPr sz="1700" b="1">
                          <a:solidFill>
                            <a:srgbClr val="1B1B1B"/>
                          </a:solidFill>
                          <a:latin typeface="Calibri"/>
                        </a:rPr>
                        <a:t>Citer une étude</a:t>
                      </a:r>
                    </a:p>
                  </a:txBody>
                  <a:tcPr marL="73152" marR="73152" marT="36576" marB="36576">
                    <a:solidFill>
                      <a:srgbClr val="FFFFFF"/>
                    </a:solidFill>
                  </a:tcPr>
                </a:tc>
                <a:tc>
                  <a:txBody>
                    <a:bodyPr wrap="square"/>
                    <a:lstStyle/>
                    <a:p>
                      <a:r>
                        <a:rPr sz="1700" b="0">
                          <a:solidFill>
                            <a:srgbClr val="1B1B1B"/>
                          </a:solidFill>
                          <a:latin typeface="Calibri"/>
                        </a:rPr>
                        <a:t>« Selon [auteurs] ([année]), … »</a:t>
                      </a:r>
                    </a:p>
                  </a:txBody>
                  <a:tcPr marL="73152" marR="73152" marT="36576" marB="36576">
                    <a:solidFill>
                      <a:srgbClr val="FFFFFF"/>
                    </a:solidFill>
                  </a:tcPr>
                </a:tc>
                <a:tc>
                  <a:txBody>
                    <a:bodyPr wrap="square"/>
                    <a:lstStyle/>
                    <a:p>
                      <a:r>
                        <a:rPr sz="1700" b="0">
                          <a:solidFill>
                            <a:srgbClr val="1B1B1B"/>
                          </a:solidFill>
                          <a:latin typeface="Calibri"/>
                        </a:rPr>
                        <a:t>« Selon Meyer et al. (2023), le risque est réduit de 99,22 %. »</a:t>
                      </a:r>
                    </a:p>
                  </a:txBody>
                  <a:tcPr marL="73152" marR="73152" marT="36576" marB="36576">
                    <a:solidFill>
                      <a:srgbClr val="FFFFFF"/>
                    </a:solidFill>
                  </a:tcPr>
                </a:tc>
              </a:tr>
              <a:tr h="365760">
                <a:tc>
                  <a:txBody>
                    <a:bodyPr wrap="square"/>
                    <a:lstStyle/>
                    <a:p>
                      <a:r>
                        <a:rPr sz="1700" b="1">
                          <a:solidFill>
                            <a:srgbClr val="1B1B1B"/>
                          </a:solidFill>
                          <a:latin typeface="Calibri"/>
                        </a:rPr>
                        <a:t>Citer un fournisseur</a:t>
                      </a:r>
                    </a:p>
                  </a:txBody>
                  <a:tcPr marL="73152" marR="73152" marT="36576" marB="36576">
                    <a:solidFill>
                      <a:srgbClr val="F3F5F9"/>
                    </a:solidFill>
                  </a:tcPr>
                </a:tc>
                <a:tc>
                  <a:txBody>
                    <a:bodyPr wrap="square"/>
                    <a:lstStyle/>
                    <a:p>
                      <a:r>
                        <a:rPr sz="1700" b="0">
                          <a:solidFill>
                            <a:srgbClr val="1B1B1B"/>
                          </a:solidFill>
                          <a:latin typeface="Calibri"/>
                        </a:rPr>
                        <a:t>« Le fournisseur annonce … ; non vérifié par un tiers. »</a:t>
                      </a:r>
                    </a:p>
                  </a:txBody>
                  <a:tcPr marL="73152" marR="73152" marT="36576" marB="36576">
                    <a:solidFill>
                      <a:srgbClr val="F3F5F9"/>
                    </a:solidFill>
                  </a:tcPr>
                </a:tc>
                <a:tc>
                  <a:txBody>
                    <a:bodyPr wrap="square"/>
                    <a:lstStyle/>
                    <a:p>
                      <a:r>
                        <a:rPr sz="1700" b="0">
                          <a:solidFill>
                            <a:srgbClr val="1B1B1B"/>
                          </a:solidFill>
                          <a:latin typeface="Calibri"/>
                        </a:rPr>
                        <a:t>« … −70 % de restauration ; méthode non publiée. »</a:t>
                      </a:r>
                    </a:p>
                  </a:txBody>
                  <a:tcPr marL="73152" marR="73152" marT="36576" marB="36576">
                    <a:solidFill>
                      <a:srgbClr val="F3F5F9"/>
                    </a:solidFill>
                  </a:tcPr>
                </a:tc>
              </a:tr>
              <a:tr h="365760">
                <a:tc>
                  <a:txBody>
                    <a:bodyPr wrap="square"/>
                    <a:lstStyle/>
                    <a:p>
                      <a:r>
                        <a:rPr sz="1700" b="1">
                          <a:solidFill>
                            <a:srgbClr val="1B1B1B"/>
                          </a:solidFill>
                          <a:latin typeface="Calibri"/>
                        </a:rPr>
                        <a:t>Nuancer</a:t>
                      </a:r>
                    </a:p>
                  </a:txBody>
                  <a:tcPr marL="73152" marR="73152" marT="36576" marB="36576">
                    <a:solidFill>
                      <a:srgbClr val="FFFFFF"/>
                    </a:solidFill>
                  </a:tcPr>
                </a:tc>
                <a:tc>
                  <a:txBody>
                    <a:bodyPr wrap="square"/>
                    <a:lstStyle/>
                    <a:p>
                      <a:r>
                        <a:rPr sz="1700" b="0">
                          <a:solidFill>
                            <a:srgbClr val="1B1B1B"/>
                          </a:solidFill>
                          <a:latin typeface="Calibri"/>
                        </a:rPr>
                        <a:t>« probablement », « dans les conditions testées »</a:t>
                      </a:r>
                    </a:p>
                  </a:txBody>
                  <a:tcPr marL="73152" marR="73152" marT="36576" marB="36576">
                    <a:solidFill>
                      <a:srgbClr val="FFFFFF"/>
                    </a:solidFill>
                  </a:tcPr>
                </a:tc>
                <a:tc>
                  <a:txBody>
                    <a:bodyPr wrap="square"/>
                    <a:lstStyle/>
                    <a:p>
                      <a:r>
                        <a:rPr sz="1700" b="0">
                          <a:solidFill>
                            <a:srgbClr val="1B1B1B"/>
                          </a:solidFill>
                          <a:latin typeface="Calibri"/>
                        </a:rPr>
                        <a:t>« L'hybride est probablement la plus adaptée. »</a:t>
                      </a:r>
                    </a:p>
                  </a:txBody>
                  <a:tcPr marL="73152" marR="73152" marT="36576" marB="36576">
                    <a:solidFill>
                      <a:srgbClr val="FFFFFF"/>
                    </a:solidFill>
                  </a:tcPr>
                </a:tc>
              </a:tr>
              <a:tr h="365760">
                <a:tc>
                  <a:txBody>
                    <a:bodyPr wrap="square"/>
                    <a:lstStyle/>
                    <a:p>
                      <a:r>
                        <a:rPr sz="1700" b="1">
                          <a:solidFill>
                            <a:srgbClr val="1B1B1B"/>
                          </a:solidFill>
                          <a:latin typeface="Calibri"/>
                        </a:rPr>
                        <a:t>Dire une limite</a:t>
                      </a:r>
                    </a:p>
                  </a:txBody>
                  <a:tcPr marL="73152" marR="73152" marT="36576" marB="36576">
                    <a:solidFill>
                      <a:srgbClr val="F3F5F9"/>
                    </a:solidFill>
                  </a:tcPr>
                </a:tc>
                <a:tc>
                  <a:txBody>
                    <a:bodyPr wrap="square"/>
                    <a:lstStyle/>
                    <a:p>
                      <a:r>
                        <a:rPr sz="1700" b="0">
                          <a:solidFill>
                            <a:srgbClr val="1B1B1B"/>
                          </a:solidFill>
                          <a:latin typeface="Calibri"/>
                        </a:rPr>
                        <a:t>« Limite : … »</a:t>
                      </a:r>
                    </a:p>
                  </a:txBody>
                  <a:tcPr marL="73152" marR="73152" marT="36576" marB="36576">
                    <a:solidFill>
                      <a:srgbClr val="F3F5F9"/>
                    </a:solidFill>
                  </a:tcPr>
                </a:tc>
                <a:tc>
                  <a:txBody>
                    <a:bodyPr wrap="square"/>
                    <a:lstStyle/>
                    <a:p>
                      <a:r>
                        <a:rPr sz="1700" b="0">
                          <a:solidFill>
                            <a:srgbClr val="1B1B1B"/>
                          </a:solidFill>
                          <a:latin typeface="Calibri"/>
                        </a:rPr>
                        <a:t>« Limite : un seul essai de restauration. »</a:t>
                      </a:r>
                    </a:p>
                  </a:txBody>
                  <a:tcPr marL="73152" marR="73152" marT="36576" marB="36576">
                    <a:solidFill>
                      <a:srgbClr val="F3F5F9"/>
                    </a:solidFill>
                  </a:tcPr>
                </a:tc>
              </a:tr>
              <a:tr h="365760">
                <a:tc>
                  <a:txBody>
                    <a:bodyPr wrap="square"/>
                    <a:lstStyle/>
                    <a:p>
                      <a:r>
                        <a:rPr sz="1700" b="1">
                          <a:solidFill>
                            <a:srgbClr val="1B1B1B"/>
                          </a:solidFill>
                          <a:latin typeface="Calibri"/>
                        </a:rPr>
                        <a:t>Recommander</a:t>
                      </a:r>
                    </a:p>
                  </a:txBody>
                  <a:tcPr marL="73152" marR="73152" marT="36576" marB="36576">
                    <a:solidFill>
                      <a:srgbClr val="FFFFFF"/>
                    </a:solidFill>
                  </a:tcPr>
                </a:tc>
                <a:tc>
                  <a:txBody>
                    <a:bodyPr wrap="square"/>
                    <a:lstStyle/>
                    <a:p>
                      <a:r>
                        <a:rPr sz="1700" b="0">
                          <a:solidFill>
                            <a:srgbClr val="1B1B1B"/>
                          </a:solidFill>
                          <a:latin typeface="Calibri"/>
                        </a:rPr>
                        <a:t>« Nous recommandons … sous réserve de … »</a:t>
                      </a:r>
                    </a:p>
                  </a:txBody>
                  <a:tcPr marL="73152" marR="73152" marT="36576" marB="36576">
                    <a:solidFill>
                      <a:srgbClr val="FFFFFF"/>
                    </a:solidFill>
                  </a:tcPr>
                </a:tc>
                <a:tc>
                  <a:txBody>
                    <a:bodyPr wrap="square"/>
                    <a:lstStyle/>
                    <a:p>
                      <a:r>
                        <a:rPr sz="1700" b="0">
                          <a:solidFill>
                            <a:srgbClr val="1B1B1B"/>
                          </a:solidFill>
                          <a:latin typeface="Calibri"/>
                        </a:rPr>
                        <a:t>« … une copie hors site, sous réserve d'un test réseau. »</a:t>
                      </a:r>
                    </a:p>
                  </a:txBody>
                  <a:tcPr marL="73152" marR="73152" marT="36576" marB="36576">
                    <a:solidFill>
                      <a:srgbClr val="FFFFFF"/>
                    </a:solidFill>
                  </a:tcPr>
                </a:tc>
              </a:tr>
              <a:tr h="365760">
                <a:tc>
                  <a:txBody>
                    <a:bodyPr wrap="square"/>
                    <a:lstStyle/>
                    <a:p>
                      <a:r>
                        <a:rPr sz="1700" b="1">
                          <a:solidFill>
                            <a:srgbClr val="1B1B1B"/>
                          </a:solidFill>
                          <a:latin typeface="Calibri"/>
                        </a:rPr>
                        <a:t>Comparer</a:t>
                      </a:r>
                    </a:p>
                  </a:txBody>
                  <a:tcPr marL="73152" marR="73152" marT="36576" marB="36576">
                    <a:solidFill>
                      <a:srgbClr val="F3F5F9"/>
                    </a:solidFill>
                  </a:tcPr>
                </a:tc>
                <a:tc>
                  <a:txBody>
                    <a:bodyPr wrap="square"/>
                    <a:lstStyle/>
                    <a:p>
                      <a:r>
                        <a:rPr sz="1700" b="0">
                          <a:solidFill>
                            <a:srgbClr val="1B1B1B"/>
                          </a:solidFill>
                          <a:latin typeface="Calibri"/>
                        </a:rPr>
                        <a:t>« À critères pondérés, … ; si … pèse 50 %, le classement s'inverse. »</a:t>
                      </a:r>
                    </a:p>
                  </a:txBody>
                  <a:tcPr marL="73152" marR="73152" marT="36576" marB="36576">
                    <a:solidFill>
                      <a:srgbClr val="F3F5F9"/>
                    </a:solidFill>
                  </a:tcPr>
                </a:tc>
                <a:tc>
                  <a:txBody>
                    <a:bodyPr wrap="square"/>
                    <a:lstStyle/>
                    <a:p>
                      <a:r>
                        <a:rPr sz="1700" b="0">
                          <a:solidFill>
                            <a:srgbClr val="1B1B1B"/>
                          </a:solidFill>
                          <a:latin typeface="Calibri"/>
                        </a:rPr>
                        <a:t>« Le disque local passe premier si le coût pèse 50 %. »</a:t>
                      </a:r>
                    </a:p>
                  </a:txBody>
                  <a:tcPr marL="73152" marR="73152" marT="36576" marB="36576">
                    <a:solidFill>
                      <a:srgbClr val="F3F5F9"/>
                    </a:solidFill>
                  </a:tcPr>
                </a:tc>
              </a:tr>
            </a:tbl>
          </a:graphicData>
        </a:graphic>
      </p:graphicFrame>
      <p:sp>
        <p:nvSpPr>
          <p:cNvPr id="7" name="Rounded Rectangle 6"/>
          <p:cNvSpPr/>
          <p:nvPr/>
        </p:nvSpPr>
        <p:spPr>
          <a:xfrm>
            <a:off x="411480" y="5760720"/>
            <a:ext cx="603504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Une phrase d'état de l'art = source + chiffre + limite.</a:t>
            </a:r>
          </a:p>
        </p:txBody>
      </p:sp>
      <p:sp>
        <p:nvSpPr>
          <p:cNvPr id="8" name="Rounded Rectangle 7"/>
          <p:cNvSpPr/>
          <p:nvPr/>
        </p:nvSpPr>
        <p:spPr>
          <a:xfrm>
            <a:off x="6583680" y="5760720"/>
            <a:ext cx="5166360" cy="50292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84"/>
              </a:spcAft>
            </a:pPr>
            <a:r>
              <a:rPr sz="1100" b="0" i="0">
                <a:solidFill>
                  <a:srgbClr val="1B1B1B"/>
                </a:solidFill>
                <a:latin typeface="Calibri"/>
              </a:rPr>
              <a:t>Conseil IA : « Relis ces phrases : chaque chiffre a-t-il une source et une limite ? » Elle signale, vous corrigez.</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M3</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804"/>
              </a:spcAft>
            </a:pPr>
            <a:r>
              <a:rPr sz="2300" b="1" i="0">
                <a:solidFill>
                  <a:srgbClr val="FFFFFF"/>
                </a:solidFill>
                <a:latin typeface="Calibri"/>
              </a:rPr>
              <a:t>Mission : écrire la phrase honnête (source, chiffre, limite)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M3</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110</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20 min  ·  Carnet · chapitre 7  ·  Outil : modèle de phrase, IA (relecture)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0" i="0">
                <a:solidFill>
                  <a:srgbClr val="1B1B1B"/>
                </a:solidFill>
                <a:latin typeface="Calibri"/>
              </a:rPr>
              <a:t>écrire des phrases d'état de l'art qui citent la source, le chiffre et la limite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 état de l'art contient des phrases qui portent un chiffre. Chaque phrase suit le même modèle : « Selon [qui] ([année]), [chiffre avec ce qui est mesuré] ; [limite : échantillon, auteur, durée]. Verbe prudent. »</a:t>
            </a:r>
          </a:p>
          <a:p>
            <a:pPr algn="l">
              <a:spcAft>
                <a:spcPts val="480"/>
              </a:spcAft>
            </a:pPr>
            <a:r>
              <a:rPr sz="1600" b="0" i="0">
                <a:solidFill>
                  <a:srgbClr val="1B1B1B"/>
                </a:solidFill>
                <a:latin typeface="Calibri"/>
              </a:rPr>
              <a:t>Trois faits bruts. ① Étude de Microsoft (Meyer et al., 2023) : l'authentification multifacteur réduit de 99,22 % le risque de compromission de comptes Azure AD. ② Brochure d'un fournisseur de sauvegarde (2025) : « restauration 70 % plus rapide », sans méthode. ③ Test interne de TransLor (juin) : restauration en 9 h, un seul essai.</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09"/>
              </a:spcAft>
              <a:buAutoNum type="arabicPeriod"/>
            </a:pPr>
            <a:r>
              <a:rPr sz="1700" b="0" i="0">
                <a:solidFill>
                  <a:srgbClr val="1B1B1B"/>
                </a:solidFill>
                <a:latin typeface="Calibri"/>
              </a:rPr>
              <a:t>Écrivez la phrase d'état de l'art pour le fait ①.</a:t>
            </a:r>
          </a:p>
          <a:p>
            <a:pPr algn="l" marL="274320" indent="-274320">
              <a:spcAft>
                <a:spcPts val="509"/>
              </a:spcAft>
              <a:buAutoNum type="arabicPeriod"/>
            </a:pPr>
            <a:r>
              <a:rPr sz="1700" b="0" i="0">
                <a:solidFill>
                  <a:srgbClr val="1B1B1B"/>
                </a:solidFill>
                <a:latin typeface="Calibri"/>
              </a:rPr>
              <a:t>Écrivez la phrase pour le fait ②.</a:t>
            </a:r>
          </a:p>
          <a:p>
            <a:pPr algn="l" marL="274320" indent="-274320">
              <a:spcAft>
                <a:spcPts val="509"/>
              </a:spcAft>
              <a:buAutoNum type="arabicPeriod"/>
            </a:pPr>
            <a:r>
              <a:rPr sz="1700" b="0" i="0">
                <a:solidFill>
                  <a:srgbClr val="1B1B1B"/>
                </a:solidFill>
                <a:latin typeface="Calibri"/>
              </a:rPr>
              <a:t>Écrivez la phrase pour le fait ③.</a:t>
            </a:r>
          </a:p>
          <a:p>
            <a:pPr algn="l" marL="274320" indent="-274320">
              <a:spcAft>
                <a:spcPts val="509"/>
              </a:spcAft>
              <a:buAutoNum type="arabicPeriod"/>
            </a:pPr>
            <a:r>
              <a:rPr sz="1700" b="0" i="0">
                <a:solidFill>
                  <a:srgbClr val="1B1B1B"/>
                </a:solidFill>
                <a:latin typeface="Calibri"/>
              </a:rPr>
              <a:t>Écrivez une quatrième phrase, avec une vraie source de votre sujet (EX12).</a:t>
            </a:r>
          </a:p>
          <a:p>
            <a:pPr algn="l" marL="274320" indent="-274320">
              <a:spcAft>
                <a:spcPts val="509"/>
              </a:spcAft>
              <a:buAutoNum type="arabicPeriod"/>
            </a:pPr>
            <a:r>
              <a:rPr sz="1700" b="0" i="0">
                <a:solidFill>
                  <a:srgbClr val="1B1B1B"/>
                </a:solidFill>
                <a:latin typeface="Calibri"/>
              </a:rPr>
              <a:t>Avec Copilot ou une autre IA (notez laquelle) : demandez-lui de rendre vos phrases « plus percutantes ». Garde-t-elle la limite et le verbe prudent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Quatre phrases sourcées, à placer dans votre état de l'art → Dossier, section 13.</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M3.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700"/>
              </a:spcAft>
            </a:pPr>
            <a:r>
              <a:rPr sz="2000" b="1" i="0">
                <a:solidFill>
                  <a:srgbClr val="FFFFFF"/>
                </a:solidFill>
                <a:latin typeface="Calibri"/>
              </a:rPr>
              <a:t>Correction · M3 — Mission : écrire la phrase honnête (source, chiffre, limite)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M3</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111</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Qui dit quoi, et quand ? (source + année).</a:t>
            </a:r>
          </a:p>
          <a:p>
            <a:pPr algn="l" marL="274320" indent="-274320">
              <a:spcAft>
                <a:spcPts val="375"/>
              </a:spcAft>
              <a:buAutoNum type="arabicPeriod"/>
            </a:pPr>
            <a:r>
              <a:rPr sz="1500" b="0" i="0">
                <a:solidFill>
                  <a:srgbClr val="1B1B1B"/>
                </a:solidFill>
                <a:latin typeface="Calibri"/>
              </a:rPr>
              <a:t>Qu'est-ce qui est mesuré, avec quel chiffre ?</a:t>
            </a:r>
          </a:p>
          <a:p>
            <a:pPr algn="l" marL="274320" indent="-274320">
              <a:spcAft>
                <a:spcPts val="375"/>
              </a:spcAft>
              <a:buAutoNum type="arabicPeriod"/>
            </a:pPr>
            <a:r>
              <a:rPr sz="1500" b="0" i="0">
                <a:solidFill>
                  <a:srgbClr val="1B1B1B"/>
                </a:solidFill>
                <a:latin typeface="Calibri"/>
              </a:rPr>
              <a:t>Quelle limite : auteur, échantillon, durée, méthode ?</a:t>
            </a:r>
          </a:p>
          <a:p>
            <a:pPr algn="l" marL="274320" indent="-274320">
              <a:spcAft>
                <a:spcPts val="375"/>
              </a:spcAft>
              <a:buAutoNum type="arabicPeriod"/>
            </a:pPr>
            <a:r>
              <a:rPr sz="1500" b="0" i="0">
                <a:solidFill>
                  <a:srgbClr val="1B1B1B"/>
                </a:solidFill>
                <a:latin typeface="Calibri"/>
              </a:rPr>
              <a:t>Un verbe prudent : « indique », « annonce », « suggère ».</a:t>
            </a:r>
          </a:p>
        </p:txBody>
      </p:sp>
      <p:graphicFrame>
        <p:nvGraphicFramePr>
          <p:cNvPr id="9" name="Table 8"/>
          <p:cNvGraphicFramePr>
            <a:graphicFrameLocks noGrp="1"/>
          </p:cNvGraphicFramePr>
          <p:nvPr/>
        </p:nvGraphicFramePr>
        <p:xfrm>
          <a:off x="3703320" y="1097280"/>
          <a:ext cx="8046719" cy="1426464"/>
        </p:xfrm>
        <a:graphic>
          <a:graphicData uri="http://schemas.openxmlformats.org/drawingml/2006/table">
            <a:tbl>
              <a:tblPr firstRow="0" bandRow="0">
                <a:tableStyleId>{5C22544A-7EE6-4342-B048-85BDC9FD1C3A}</a:tableStyleId>
              </a:tblPr>
              <a:tblGrid>
                <a:gridCol w="1177568"/>
                <a:gridCol w="6869151"/>
              </a:tblGrid>
              <a:tr h="237744">
                <a:tc>
                  <a:txBody>
                    <a:bodyPr wrap="square"/>
                    <a:lstStyle/>
                    <a:p>
                      <a:r>
                        <a:rPr sz="1600" b="1">
                          <a:solidFill>
                            <a:srgbClr val="FFFFFF"/>
                          </a:solidFill>
                          <a:latin typeface="Calibri"/>
                        </a:rPr>
                        <a:t>Fait</a:t>
                      </a:r>
                    </a:p>
                  </a:txBody>
                  <a:tcPr marL="73152" marR="73152" marT="36576" marB="36576">
                    <a:solidFill>
                      <a:srgbClr val="1F2A5C"/>
                    </a:solidFill>
                  </a:tcPr>
                </a:tc>
                <a:tc>
                  <a:txBody>
                    <a:bodyPr wrap="square"/>
                    <a:lstStyle/>
                    <a:p>
                      <a:r>
                        <a:rPr sz="1600" b="1">
                          <a:solidFill>
                            <a:srgbClr val="FFFFFF"/>
                          </a:solidFill>
                          <a:latin typeface="Calibri"/>
                        </a:rPr>
                        <a:t>Phrase possible</a:t>
                      </a:r>
                    </a:p>
                  </a:txBody>
                  <a:tcPr marL="73152" marR="73152" marT="36576" marB="36576">
                    <a:solidFill>
                      <a:srgbClr val="1F2A5C"/>
                    </a:solidFill>
                  </a:tcPr>
                </a:tc>
              </a:tr>
              <a:tr h="237744">
                <a:tc>
                  <a:txBody>
                    <a:bodyPr wrap="square"/>
                    <a:lstStyle/>
                    <a:p>
                      <a:r>
                        <a:rPr sz="1600" b="1">
                          <a:solidFill>
                            <a:srgbClr val="1B1B1B"/>
                          </a:solidFill>
                          <a:latin typeface="Calibri"/>
                        </a:rPr>
                        <a:t>①</a:t>
                      </a:r>
                    </a:p>
                  </a:txBody>
                  <a:tcPr marL="73152" marR="73152" marT="36576" marB="36576">
                    <a:solidFill>
                      <a:srgbClr val="FFFFFF"/>
                    </a:solidFill>
                  </a:tcPr>
                </a:tc>
                <a:tc>
                  <a:txBody>
                    <a:bodyPr wrap="square"/>
                    <a:lstStyle/>
                    <a:p>
                      <a:r>
                        <a:rPr sz="1600" b="0">
                          <a:solidFill>
                            <a:srgbClr val="1B1B1B"/>
                          </a:solidFill>
                          <a:latin typeface="Calibri"/>
                        </a:rPr>
                        <a:t>« Selon une étude de Microsoft sur ses propres comptes Azure AD (Meyer et al., 2023), l'authentification multifacteur réduit de 99,22 % le risque de compromission ; l'étude est réalisée par l'éditeur du service. »</a:t>
                      </a:r>
                    </a:p>
                  </a:txBody>
                  <a:tcPr marL="73152" marR="73152" marT="36576" marB="36576">
                    <a:solidFill>
                      <a:srgbClr val="FFFFFF"/>
                    </a:solidFill>
                  </a:tcPr>
                </a:tc>
              </a:tr>
              <a:tr h="237744">
                <a:tc>
                  <a:txBody>
                    <a:bodyPr wrap="square"/>
                    <a:lstStyle/>
                    <a:p>
                      <a:r>
                        <a:rPr sz="1600" b="1">
                          <a:solidFill>
                            <a:srgbClr val="1B1B1B"/>
                          </a:solidFill>
                          <a:latin typeface="Calibri"/>
                        </a:rPr>
                        <a:t>②</a:t>
                      </a:r>
                    </a:p>
                  </a:txBody>
                  <a:tcPr marL="73152" marR="73152" marT="36576" marB="36576">
                    <a:solidFill>
                      <a:srgbClr val="F3F5F9"/>
                    </a:solidFill>
                  </a:tcPr>
                </a:tc>
                <a:tc>
                  <a:txBody>
                    <a:bodyPr wrap="square"/>
                    <a:lstStyle/>
                    <a:p>
                      <a:r>
                        <a:rPr sz="1600" b="0">
                          <a:solidFill>
                            <a:srgbClr val="1B1B1B"/>
                          </a:solidFill>
                          <a:latin typeface="Calibri"/>
                        </a:rPr>
                        <a:t>« Le fournisseur annonce une restauration 70 % plus rapide (brochure, 2025) ; la méthode et la base de comparaison ne sont pas publiées : à confirmer par un test. »</a:t>
                      </a:r>
                    </a:p>
                  </a:txBody>
                  <a:tcPr marL="73152" marR="73152" marT="36576" marB="36576">
                    <a:solidFill>
                      <a:srgbClr val="F3F5F9"/>
                    </a:solidFill>
                  </a:tcPr>
                </a:tc>
              </a:tr>
              <a:tr h="237744">
                <a:tc>
                  <a:txBody>
                    <a:bodyPr wrap="square"/>
                    <a:lstStyle/>
                    <a:p>
                      <a:r>
                        <a:rPr sz="1600" b="1">
                          <a:solidFill>
                            <a:srgbClr val="1B1B1B"/>
                          </a:solidFill>
                          <a:latin typeface="Calibri"/>
                        </a:rPr>
                        <a:t>③</a:t>
                      </a:r>
                    </a:p>
                  </a:txBody>
                  <a:tcPr marL="73152" marR="73152" marT="36576" marB="36576">
                    <a:solidFill>
                      <a:srgbClr val="FFFFFF"/>
                    </a:solidFill>
                  </a:tcPr>
                </a:tc>
                <a:tc>
                  <a:txBody>
                    <a:bodyPr wrap="square"/>
                    <a:lstStyle/>
                    <a:p>
                      <a:r>
                        <a:rPr sz="1600" b="0">
                          <a:solidFill>
                            <a:srgbClr val="1B1B1B"/>
                          </a:solidFill>
                          <a:latin typeface="Calibri"/>
                        </a:rPr>
                        <a:t>« Lors d'un test interne en juin, la restauration a pris 9 heures (un seul essai) ; à confirmer par plusieurs mesures. »</a:t>
                      </a:r>
                    </a:p>
                  </a:txBody>
                  <a:tcPr marL="73152" marR="73152" marT="36576" marB="36576">
                    <a:solidFill>
                      <a:srgbClr val="FFFFFF"/>
                    </a:solidFill>
                  </a:tcPr>
                </a:tc>
              </a:tr>
              <a:tr h="237744">
                <a:tc>
                  <a:txBody>
                    <a:bodyPr wrap="square"/>
                    <a:lstStyle/>
                    <a:p>
                      <a:r>
                        <a:rPr sz="1600" b="1">
                          <a:solidFill>
                            <a:srgbClr val="1B1B1B"/>
                          </a:solidFill>
                          <a:latin typeface="Calibri"/>
                        </a:rPr>
                        <a:t>④ votre sujet</a:t>
                      </a:r>
                    </a:p>
                  </a:txBody>
                  <a:tcPr marL="73152" marR="73152" marT="36576" marB="36576">
                    <a:solidFill>
                      <a:srgbClr val="F3F5F9"/>
                    </a:solidFill>
                  </a:tcPr>
                </a:tc>
                <a:tc>
                  <a:txBody>
                    <a:bodyPr wrap="square"/>
                    <a:lstStyle/>
                    <a:p>
                      <a:r>
                        <a:rPr sz="1600" b="0">
                          <a:solidFill>
                            <a:srgbClr val="1B1B1B"/>
                          </a:solidFill>
                          <a:latin typeface="Calibri"/>
                        </a:rPr>
                        <a:t>L'enseignant vérifie une phrase par équipe : la source est-elle ouverte et lue ? Le chiffre est-il bien celui de la source ? La limite est-elle dite ?</a:t>
                      </a:r>
                    </a:p>
                  </a:txBody>
                  <a:tcPr marL="73152" marR="73152" marT="36576" marB="36576">
                    <a:solidFill>
                      <a:srgbClr val="F3F5F9"/>
                    </a:solidFill>
                  </a:tcPr>
                </a:tc>
              </a:tr>
              <a:tr h="237744">
                <a:tc>
                  <a:txBody>
                    <a:bodyPr wrap="square"/>
                    <a:lstStyle/>
                    <a:p>
                      <a:r>
                        <a:rPr sz="1600" b="1">
                          <a:solidFill>
                            <a:srgbClr val="1B1B1B"/>
                          </a:solidFill>
                          <a:latin typeface="Calibri"/>
                        </a:rPr>
                        <a:t>IA · plus percutant</a:t>
                      </a:r>
                    </a:p>
                  </a:txBody>
                  <a:tcPr marL="73152" marR="73152" marT="36576" marB="36576">
                    <a:solidFill>
                      <a:srgbClr val="FFFFFF"/>
                    </a:solidFill>
                  </a:tcPr>
                </a:tc>
                <a:tc>
                  <a:txBody>
                    <a:bodyPr wrap="square"/>
                    <a:lstStyle/>
                    <a:p>
                      <a:r>
                        <a:rPr sz="1600" b="0">
                          <a:solidFill>
                            <a:srgbClr val="1B1B1B"/>
                          </a:solidFill>
                          <a:latin typeface="Calibri"/>
                        </a:rPr>
                        <a:t>Une IA enlève souvent la limite et durcit le verbe (« prouve »). Remettez la limite : une phrase honnête est plus crédible qu'une phrase forte.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Donner le chiffre sans dire ce qu'il mesure.</a:t>
            </a:r>
          </a:p>
          <a:p>
            <a:pPr algn="l" marL="201168" indent="-201168">
              <a:spcAft>
                <a:spcPts val="110"/>
              </a:spcAft>
              <a:buChar char="•"/>
            </a:pPr>
            <a:r>
              <a:rPr sz="1100" b="0" i="0">
                <a:solidFill>
                  <a:srgbClr val="1B1B1B"/>
                </a:solidFill>
                <a:latin typeface="Calibri"/>
              </a:rPr>
              <a:t>Oublier l'auteur ou son intérêt (éditeur, fournisseur).</a:t>
            </a:r>
          </a:p>
          <a:p>
            <a:pPr algn="l" marL="201168" indent="-201168">
              <a:spcAft>
                <a:spcPts val="110"/>
              </a:spcAft>
              <a:buChar char="•"/>
            </a:pPr>
            <a:r>
              <a:rPr sz="1100" b="0" i="0">
                <a:solidFill>
                  <a:srgbClr val="1B1B1B"/>
                </a:solidFill>
                <a:latin typeface="Calibri"/>
              </a:rPr>
              <a:t>Écrire « prouve » là où la source dit « suggère ».</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Citer ses sources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112</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Dans le texte</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Une affirmation de fait = une référence.</a:t>
            </a:r>
          </a:p>
          <a:p>
            <a:pPr algn="l">
              <a:spcAft>
                <a:spcPts val="509"/>
              </a:spcAft>
            </a:pPr>
            <a:r>
              <a:rPr sz="1700" b="0" i="0">
                <a:solidFill>
                  <a:srgbClr val="1B1B1B"/>
                </a:solidFill>
                <a:latin typeface="Calibri"/>
              </a:rPr>
              <a:t>Ex. : « La restauration a pris 9 h (test interne, 2026).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Bibliographie</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Générée par Zotero, dans un seul style.</a:t>
            </a:r>
          </a:p>
          <a:p>
            <a:pPr algn="l">
              <a:spcAft>
                <a:spcPts val="509"/>
              </a:spcAft>
            </a:pPr>
            <a:r>
              <a:rPr sz="1700" b="0" i="0">
                <a:solidFill>
                  <a:srgbClr val="1B1B1B"/>
                </a:solidFill>
                <a:latin typeface="Calibri"/>
              </a:rPr>
              <a:t>Ex. : NIST (2025). SP 800-63B-4.</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Citer ou paraphraser</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Entre guillemets si mot pour mot ; sinon reformuler et citer.</a:t>
            </a:r>
          </a:p>
          <a:p>
            <a:pPr algn="l">
              <a:spcAft>
                <a:spcPts val="509"/>
              </a:spcAft>
            </a:pPr>
            <a:r>
              <a:rPr sz="1700" b="0" i="0">
                <a:solidFill>
                  <a:srgbClr val="1B1B1B"/>
                </a:solidFill>
                <a:latin typeface="Calibri"/>
              </a:rPr>
              <a:t>Ex. : « … » (Auteur, année)</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Plagiat</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Reprendre sans citer, ou faire passer un texte d'IA pour le sien, est une faute.</a:t>
            </a:r>
          </a:p>
          <a:p>
            <a:pPr algn="l">
              <a:spcAft>
                <a:spcPts val="509"/>
              </a:spcAft>
            </a:pPr>
            <a:r>
              <a:rPr sz="1700" b="0" i="0">
                <a:solidFill>
                  <a:srgbClr val="1B1B1B"/>
                </a:solidFill>
                <a:latin typeface="Calibri"/>
              </a:rPr>
              <a:t>Ex. : un paragraphe copié d'une IA, non déclaré</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Styles courants : auteur-date (APA), numérique (IEEE). Suivre celui demandé par l'école.</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Relis ce paragraphe : clarté, orthographe, une affirmation sans source ? Ne le réécris pas. » Déclarez l'usage (dossier, section 18).</a:t>
            </a:r>
          </a:p>
        </p:txBody>
      </p:sp>
      <p:sp>
        <p:nvSpPr>
          <p:cNvPr id="20" name="TextBox 19"/>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Code de la propriété intellectuelle, art. L122-5 (courte citation) ; styles APA et IEEE ; règlement de l'école sur le plagiat.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24</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Rédiger l'état de l'art (2 pages)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EX24</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113</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document partagé  ·  70 min  ·  Carnet · chapitre 7  ·  Outil : document partagé + Zotero</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Rédiger deux pages sourcées, en commençant par la conclusion, avec une bibliographie générée par Zotero et l'usage de l'IA déclaré.</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Rédigez l'état de l'art de votre équipe en deux pages, avec le plan (EX23), la matrice (EX22) et les sources notées (EX12).</a:t>
            </a:r>
          </a:p>
          <a:p>
            <a:pPr algn="l">
              <a:spcAft>
                <a:spcPts val="600"/>
              </a:spcAft>
            </a:pPr>
            <a:r>
              <a:rPr sz="2000" b="0" i="0">
                <a:solidFill>
                  <a:srgbClr val="1B1B1B"/>
                </a:solidFill>
                <a:latin typeface="Calibri"/>
              </a:rPr>
              <a:t>Chaque affirmation de fait porte une référence ; la bibliographie vient de Zotero.</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509"/>
              </a:spcAft>
              <a:buAutoNum type="arabicPeriod"/>
            </a:pPr>
            <a:r>
              <a:rPr sz="1700" b="0" i="0">
                <a:solidFill>
                  <a:srgbClr val="1B1B1B"/>
                </a:solidFill>
                <a:latin typeface="Calibri"/>
              </a:rPr>
              <a:t>Répartissez les parties dans l'équipe.</a:t>
            </a:r>
          </a:p>
          <a:p>
            <a:pPr algn="l" marL="274320" indent="-274320">
              <a:spcAft>
                <a:spcPts val="509"/>
              </a:spcAft>
              <a:buAutoNum type="arabicPeriod"/>
            </a:pPr>
            <a:r>
              <a:rPr sz="1700" b="0" i="0">
                <a:solidFill>
                  <a:srgbClr val="1B1B1B"/>
                </a:solidFill>
                <a:latin typeface="Calibri"/>
              </a:rPr>
              <a:t>Rédigez en pyramide inversée, avec au moins 6 sources citées.</a:t>
            </a:r>
          </a:p>
          <a:p>
            <a:pPr algn="l" marL="274320" indent="-274320">
              <a:spcAft>
                <a:spcPts val="509"/>
              </a:spcAft>
              <a:buAutoNum type="arabicPeriod"/>
            </a:pPr>
            <a:r>
              <a:rPr sz="1700" b="0" i="0">
                <a:solidFill>
                  <a:srgbClr val="1B1B1B"/>
                </a:solidFill>
                <a:latin typeface="Calibri"/>
              </a:rPr>
              <a:t>Générez la bibliographie avec Zotero.</a:t>
            </a:r>
          </a:p>
          <a:p>
            <a:pPr algn="l" marL="274320" indent="-274320">
              <a:spcAft>
                <a:spcPts val="509"/>
              </a:spcAft>
              <a:buAutoNum type="arabicPeriod"/>
            </a:pPr>
            <a:r>
              <a:rPr sz="1700" b="0" i="0">
                <a:solidFill>
                  <a:srgbClr val="1B1B1B"/>
                </a:solidFill>
                <a:latin typeface="Calibri"/>
              </a:rPr>
              <a:t>Relisez avec la liste (question, méthode, sources, comparaison, réserve).</a:t>
            </a:r>
          </a:p>
          <a:p>
            <a:pPr algn="l" marL="274320" indent="-274320">
              <a:spcAft>
                <a:spcPts val="509"/>
              </a:spcAft>
              <a:buAutoNum type="arabicPeriod"/>
            </a:pPr>
            <a:r>
              <a:rPr sz="1700" b="0" i="0">
                <a:solidFill>
                  <a:srgbClr val="1B1B1B"/>
                </a:solidFill>
                <a:latin typeface="Calibri"/>
              </a:rPr>
              <a:t>Si vous avez utilisé une IA (laquelle ? notez-la) (relecture, reformulation), écrivez la phrase de déclaration à ajouter en fin de document : outil, usage, vérification.</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55"/>
              </a:spcAft>
            </a:pPr>
            <a:r>
              <a:rPr sz="1300" b="1" i="0">
                <a:solidFill>
                  <a:srgbClr val="1B1B1B"/>
                </a:solidFill>
                <a:latin typeface="Calibri"/>
              </a:rPr>
              <a:t>Livrable : L'état de l'art de 2 pages dans un document partagé (lien) avec sa bibliographie. → Dossier, section 13.</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4.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24 — Rédiger l'état de l'art (2 pages)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EX24</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114</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Plan d'abord, puis rédaction par partie.</a:t>
            </a:r>
          </a:p>
          <a:p>
            <a:pPr algn="l" marL="274320" indent="-274320">
              <a:spcAft>
                <a:spcPts val="375"/>
              </a:spcAft>
              <a:buAutoNum type="arabicPeriod"/>
            </a:pPr>
            <a:r>
              <a:rPr sz="1500" b="0" i="0">
                <a:solidFill>
                  <a:srgbClr val="1B1B1B"/>
                </a:solidFill>
                <a:latin typeface="Calibri"/>
              </a:rPr>
              <a:t>Une affirmation de fait = une référence.</a:t>
            </a:r>
          </a:p>
          <a:p>
            <a:pPr algn="l" marL="274320" indent="-274320">
              <a:spcAft>
                <a:spcPts val="375"/>
              </a:spcAft>
              <a:buAutoNum type="arabicPeriod"/>
            </a:pPr>
            <a:r>
              <a:rPr sz="1500" b="0" i="0">
                <a:solidFill>
                  <a:srgbClr val="1B1B1B"/>
                </a:solidFill>
                <a:latin typeface="Calibri"/>
              </a:rPr>
              <a:t>Relire avec la grille de notation.</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2194560"/>
                <a:gridCol w="822960"/>
                <a:gridCol w="5029200"/>
              </a:tblGrid>
              <a:tr h="237744">
                <a:tc>
                  <a:txBody>
                    <a:bodyPr wrap="square"/>
                    <a:lstStyle/>
                    <a:p>
                      <a:r>
                        <a:rPr sz="1500" b="1">
                          <a:solidFill>
                            <a:srgbClr val="FFFFFF"/>
                          </a:solidFill>
                          <a:latin typeface="Calibri"/>
                        </a:rPr>
                        <a:t>Critère</a:t>
                      </a:r>
                    </a:p>
                  </a:txBody>
                  <a:tcPr marL="73152" marR="73152" marT="36576" marB="36576">
                    <a:solidFill>
                      <a:srgbClr val="1F2A5C"/>
                    </a:solidFill>
                  </a:tcPr>
                </a:tc>
                <a:tc>
                  <a:txBody>
                    <a:bodyPr wrap="square"/>
                    <a:lstStyle/>
                    <a:p>
                      <a:r>
                        <a:rPr sz="1500" b="1">
                          <a:solidFill>
                            <a:srgbClr val="FFFFFF"/>
                          </a:solidFill>
                          <a:latin typeface="Calibri"/>
                        </a:rPr>
                        <a:t>Points</a:t>
                      </a:r>
                    </a:p>
                  </a:txBody>
                  <a:tcPr marL="73152" marR="73152" marT="36576" marB="36576">
                    <a:solidFill>
                      <a:srgbClr val="1F2A5C"/>
                    </a:solidFill>
                  </a:tcPr>
                </a:tc>
                <a:tc>
                  <a:txBody>
                    <a:bodyPr wrap="square"/>
                    <a:lstStyle/>
                    <a:p>
                      <a:r>
                        <a:rPr sz="1500" b="1">
                          <a:solidFill>
                            <a:srgbClr val="FFFFFF"/>
                          </a:solidFill>
                          <a:latin typeface="Calibri"/>
                        </a:rPr>
                        <a:t>Ce qui vaut le maximum</a:t>
                      </a:r>
                    </a:p>
                  </a:txBody>
                  <a:tcPr marL="73152" marR="73152" marT="36576" marB="36576">
                    <a:solidFill>
                      <a:srgbClr val="1F2A5C"/>
                    </a:solidFill>
                  </a:tcPr>
                </a:tc>
              </a:tr>
              <a:tr h="237744">
                <a:tc>
                  <a:txBody>
                    <a:bodyPr wrap="square"/>
                    <a:lstStyle/>
                    <a:p>
                      <a:r>
                        <a:rPr sz="1500" b="1">
                          <a:solidFill>
                            <a:srgbClr val="1B1B1B"/>
                          </a:solidFill>
                          <a:latin typeface="Calibri"/>
                        </a:rPr>
                        <a:t>Question et contexte</a:t>
                      </a:r>
                    </a:p>
                  </a:txBody>
                  <a:tcPr marL="73152" marR="73152" marT="36576" marB="36576">
                    <a:solidFill>
                      <a:srgbClr val="FFFFFF"/>
                    </a:solidFill>
                  </a:tcPr>
                </a:tc>
                <a:tc>
                  <a:txBody>
                    <a:bodyPr wrap="square"/>
                    <a:lstStyle/>
                    <a:p>
                      <a:r>
                        <a:rPr sz="1500" b="0">
                          <a:solidFill>
                            <a:srgbClr val="1B1B1B"/>
                          </a:solidFill>
                          <a:latin typeface="Calibri"/>
                        </a:rPr>
                        <a:t>2</a:t>
                      </a:r>
                    </a:p>
                  </a:txBody>
                  <a:tcPr marL="73152" marR="73152" marT="36576" marB="36576">
                    <a:solidFill>
                      <a:srgbClr val="FFFFFF"/>
                    </a:solidFill>
                  </a:tcPr>
                </a:tc>
                <a:tc>
                  <a:txBody>
                    <a:bodyPr wrap="square"/>
                    <a:lstStyle/>
                    <a:p>
                      <a:r>
                        <a:rPr sz="1500" b="0">
                          <a:solidFill>
                            <a:srgbClr val="1B1B1B"/>
                          </a:solidFill>
                          <a:latin typeface="Calibri"/>
                        </a:rPr>
                        <a:t>Décision claire, critères explicites</a:t>
                      </a:r>
                    </a:p>
                  </a:txBody>
                  <a:tcPr marL="73152" marR="73152" marT="36576" marB="36576">
                    <a:solidFill>
                      <a:srgbClr val="FFFFFF"/>
                    </a:solidFill>
                  </a:tcPr>
                </a:tc>
              </a:tr>
              <a:tr h="237744">
                <a:tc>
                  <a:txBody>
                    <a:bodyPr wrap="square"/>
                    <a:lstStyle/>
                    <a:p>
                      <a:r>
                        <a:rPr sz="1500" b="1">
                          <a:solidFill>
                            <a:srgbClr val="1B1B1B"/>
                          </a:solidFill>
                          <a:latin typeface="Calibri"/>
                        </a:rPr>
                        <a:t>Méthode de recherche</a:t>
                      </a:r>
                    </a:p>
                  </a:txBody>
                  <a:tcPr marL="73152" marR="73152" marT="36576" marB="36576">
                    <a:solidFill>
                      <a:srgbClr val="F3F5F9"/>
                    </a:solidFill>
                  </a:tcPr>
                </a:tc>
                <a:tc>
                  <a:txBody>
                    <a:bodyPr wrap="square"/>
                    <a:lstStyle/>
                    <a:p>
                      <a:r>
                        <a:rPr sz="1500" b="0">
                          <a:solidFill>
                            <a:srgbClr val="1B1B1B"/>
                          </a:solidFill>
                          <a:latin typeface="Calibri"/>
                        </a:rPr>
                        <a:t>3</a:t>
                      </a:r>
                    </a:p>
                  </a:txBody>
                  <a:tcPr marL="73152" marR="73152" marT="36576" marB="36576">
                    <a:solidFill>
                      <a:srgbClr val="F3F5F9"/>
                    </a:solidFill>
                  </a:tcPr>
                </a:tc>
                <a:tc>
                  <a:txBody>
                    <a:bodyPr wrap="square"/>
                    <a:lstStyle/>
                    <a:p>
                      <a:r>
                        <a:rPr sz="1500" b="0">
                          <a:solidFill>
                            <a:srgbClr val="1B1B1B"/>
                          </a:solidFill>
                          <a:latin typeface="Calibri"/>
                        </a:rPr>
                        <a:t>Requêtes, bases, dates, sources écartées : la recherche peut être refaite</a:t>
                      </a:r>
                    </a:p>
                  </a:txBody>
                  <a:tcPr marL="73152" marR="73152" marT="36576" marB="36576">
                    <a:solidFill>
                      <a:srgbClr val="F3F5F9"/>
                    </a:solidFill>
                  </a:tcPr>
                </a:tc>
              </a:tr>
              <a:tr h="237744">
                <a:tc>
                  <a:txBody>
                    <a:bodyPr wrap="square"/>
                    <a:lstStyle/>
                    <a:p>
                      <a:r>
                        <a:rPr sz="1500" b="1">
                          <a:solidFill>
                            <a:srgbClr val="1B1B1B"/>
                          </a:solidFill>
                          <a:latin typeface="Calibri"/>
                        </a:rPr>
                        <a:t>Qualité des sources</a:t>
                      </a:r>
                    </a:p>
                  </a:txBody>
                  <a:tcPr marL="73152" marR="73152" marT="36576" marB="36576">
                    <a:solidFill>
                      <a:srgbClr val="FFFFFF"/>
                    </a:solidFill>
                  </a:tcPr>
                </a:tc>
                <a:tc>
                  <a:txBody>
                    <a:bodyPr wrap="square"/>
                    <a:lstStyle/>
                    <a:p>
                      <a:r>
                        <a:rPr sz="1500" b="0">
                          <a:solidFill>
                            <a:srgbClr val="1B1B1B"/>
                          </a:solidFill>
                          <a:latin typeface="Calibri"/>
                        </a:rPr>
                        <a:t>4</a:t>
                      </a:r>
                    </a:p>
                  </a:txBody>
                  <a:tcPr marL="73152" marR="73152" marT="36576" marB="36576">
                    <a:solidFill>
                      <a:srgbClr val="FFFFFF"/>
                    </a:solidFill>
                  </a:tcPr>
                </a:tc>
                <a:tc>
                  <a:txBody>
                    <a:bodyPr wrap="square"/>
                    <a:lstStyle/>
                    <a:p>
                      <a:r>
                        <a:rPr sz="1500" b="0">
                          <a:solidFill>
                            <a:srgbClr val="1B1B1B"/>
                          </a:solidFill>
                          <a:latin typeface="Calibri"/>
                        </a:rPr>
                        <a:t>Sources variées, notées, avec au moins 3 fiables</a:t>
                      </a:r>
                    </a:p>
                  </a:txBody>
                  <a:tcPr marL="73152" marR="73152" marT="36576" marB="36576">
                    <a:solidFill>
                      <a:srgbClr val="FFFFFF"/>
                    </a:solidFill>
                  </a:tcPr>
                </a:tc>
              </a:tr>
              <a:tr h="237744">
                <a:tc>
                  <a:txBody>
                    <a:bodyPr wrap="square"/>
                    <a:lstStyle/>
                    <a:p>
                      <a:r>
                        <a:rPr sz="1500" b="1">
                          <a:solidFill>
                            <a:srgbClr val="1B1B1B"/>
                          </a:solidFill>
                          <a:latin typeface="Calibri"/>
                        </a:rPr>
                        <a:t>Comparaison</a:t>
                      </a:r>
                    </a:p>
                  </a:txBody>
                  <a:tcPr marL="73152" marR="73152" marT="36576" marB="36576">
                    <a:solidFill>
                      <a:srgbClr val="F3F5F9"/>
                    </a:solidFill>
                  </a:tcPr>
                </a:tc>
                <a:tc>
                  <a:txBody>
                    <a:bodyPr wrap="square"/>
                    <a:lstStyle/>
                    <a:p>
                      <a:r>
                        <a:rPr sz="1500" b="0">
                          <a:solidFill>
                            <a:srgbClr val="1B1B1B"/>
                          </a:solidFill>
                          <a:latin typeface="Calibri"/>
                        </a:rPr>
                        <a:t>4</a:t>
                      </a:r>
                    </a:p>
                  </a:txBody>
                  <a:tcPr marL="73152" marR="73152" marT="36576" marB="36576">
                    <a:solidFill>
                      <a:srgbClr val="F3F5F9"/>
                    </a:solidFill>
                  </a:tcPr>
                </a:tc>
                <a:tc>
                  <a:txBody>
                    <a:bodyPr wrap="square"/>
                    <a:lstStyle/>
                    <a:p>
                      <a:r>
                        <a:rPr sz="1500" b="0">
                          <a:solidFill>
                            <a:srgbClr val="1B1B1B"/>
                          </a:solidFill>
                          <a:latin typeface="Calibri"/>
                        </a:rPr>
                        <a:t>Matrice, test de sensibilité, résultats commentés</a:t>
                      </a:r>
                    </a:p>
                  </a:txBody>
                  <a:tcPr marL="73152" marR="73152" marT="36576" marB="36576">
                    <a:solidFill>
                      <a:srgbClr val="F3F5F9"/>
                    </a:solidFill>
                  </a:tcPr>
                </a:tc>
              </a:tr>
              <a:tr h="237744">
                <a:tc>
                  <a:txBody>
                    <a:bodyPr wrap="square"/>
                    <a:lstStyle/>
                    <a:p>
                      <a:r>
                        <a:rPr sz="1500" b="1">
                          <a:solidFill>
                            <a:srgbClr val="1B1B1B"/>
                          </a:solidFill>
                          <a:latin typeface="Calibri"/>
                        </a:rPr>
                        <a:t>Argumentation</a:t>
                      </a:r>
                    </a:p>
                  </a:txBody>
                  <a:tcPr marL="73152" marR="73152" marT="36576" marB="36576">
                    <a:solidFill>
                      <a:srgbClr val="FFFFFF"/>
                    </a:solidFill>
                  </a:tcPr>
                </a:tc>
                <a:tc>
                  <a:txBody>
                    <a:bodyPr wrap="square"/>
                    <a:lstStyle/>
                    <a:p>
                      <a:r>
                        <a:rPr sz="1500" b="0">
                          <a:solidFill>
                            <a:srgbClr val="1B1B1B"/>
                          </a:solidFill>
                          <a:latin typeface="Calibri"/>
                        </a:rPr>
                        <a:t>4</a:t>
                      </a:r>
                    </a:p>
                  </a:txBody>
                  <a:tcPr marL="73152" marR="73152" marT="36576" marB="36576">
                    <a:solidFill>
                      <a:srgbClr val="FFFFFF"/>
                    </a:solidFill>
                  </a:tcPr>
                </a:tc>
                <a:tc>
                  <a:txBody>
                    <a:bodyPr wrap="square"/>
                    <a:lstStyle/>
                    <a:p>
                      <a:r>
                        <a:rPr sz="1500" b="0">
                          <a:solidFill>
                            <a:srgbClr val="1B1B1B"/>
                          </a:solidFill>
                          <a:latin typeface="Calibri"/>
                        </a:rPr>
                        <a:t>Toulmin, réfutation, qualificatif et réserve</a:t>
                      </a:r>
                    </a:p>
                  </a:txBody>
                  <a:tcPr marL="73152" marR="73152" marT="36576" marB="36576">
                    <a:solidFill>
                      <a:srgbClr val="FFFFFF"/>
                    </a:solidFill>
                  </a:tcPr>
                </a:tc>
              </a:tr>
              <a:tr h="237744">
                <a:tc>
                  <a:txBody>
                    <a:bodyPr wrap="square"/>
                    <a:lstStyle/>
                    <a:p>
                      <a:r>
                        <a:rPr sz="1500" b="1">
                          <a:solidFill>
                            <a:srgbClr val="1B1B1B"/>
                          </a:solidFill>
                          <a:latin typeface="Calibri"/>
                        </a:rPr>
                        <a:t>Clarté et références</a:t>
                      </a:r>
                    </a:p>
                  </a:txBody>
                  <a:tcPr marL="73152" marR="73152" marT="36576" marB="36576">
                    <a:solidFill>
                      <a:srgbClr val="F3F5F9"/>
                    </a:solidFill>
                  </a:tcPr>
                </a:tc>
                <a:tc>
                  <a:txBody>
                    <a:bodyPr wrap="square"/>
                    <a:lstStyle/>
                    <a:p>
                      <a:r>
                        <a:rPr sz="1500" b="0">
                          <a:solidFill>
                            <a:srgbClr val="1B1B1B"/>
                          </a:solidFill>
                          <a:latin typeface="Calibri"/>
                        </a:rPr>
                        <a:t>3</a:t>
                      </a:r>
                    </a:p>
                  </a:txBody>
                  <a:tcPr marL="73152" marR="73152" marT="36576" marB="36576">
                    <a:solidFill>
                      <a:srgbClr val="F3F5F9"/>
                    </a:solidFill>
                  </a:tcPr>
                </a:tc>
                <a:tc>
                  <a:txBody>
                    <a:bodyPr wrap="square"/>
                    <a:lstStyle/>
                    <a:p>
                      <a:r>
                        <a:rPr sz="1500" b="0">
                          <a:solidFill>
                            <a:srgbClr val="1B1B1B"/>
                          </a:solidFill>
                          <a:latin typeface="Calibri"/>
                        </a:rPr>
                        <a:t>Pyramide inversée, bibliographie complète (total 20)</a:t>
                      </a:r>
                    </a:p>
                  </a:txBody>
                  <a:tcPr marL="73152" marR="73152" marT="36576" marB="36576">
                    <a:solidFill>
                      <a:srgbClr val="F3F5F9"/>
                    </a:solidFill>
                  </a:tcPr>
                </a:tc>
              </a:tr>
              <a:tr h="237744">
                <a:tc>
                  <a:txBody>
                    <a:bodyPr wrap="square"/>
                    <a:lstStyle/>
                    <a:p>
                      <a:r>
                        <a:rPr sz="1500" b="1">
                          <a:solidFill>
                            <a:srgbClr val="1B1B1B"/>
                          </a:solidFill>
                          <a:latin typeface="Calibri"/>
                        </a:rPr>
                        <a:t>IA · déclaration d'usage</a:t>
                      </a:r>
                    </a:p>
                  </a:txBody>
                  <a:tcPr marL="73152" marR="73152" marT="36576" marB="36576">
                    <a:solidFill>
                      <a:srgbClr val="FFFFFF"/>
                    </a:solidFill>
                  </a:tcPr>
                </a:tc>
                <a:tc>
                  <a:txBody>
                    <a:bodyPr wrap="square"/>
                    <a:lstStyle/>
                    <a:p>
                      <a:r>
                        <a:rPr sz="1500" b="0">
                          <a:solidFill>
                            <a:srgbClr val="1B1B1B"/>
                          </a:solidFill>
                          <a:latin typeface="Calibri"/>
                        </a:rPr>
                        <a:t/>
                      </a:r>
                    </a:p>
                  </a:txBody>
                  <a:tcPr marL="73152" marR="73152" marT="36576" marB="36576">
                    <a:solidFill>
                      <a:srgbClr val="FFFFFF"/>
                    </a:solidFill>
                  </a:tcPr>
                </a:tc>
                <a:tc>
                  <a:txBody>
                    <a:bodyPr wrap="square"/>
                    <a:lstStyle/>
                    <a:p>
                      <a:r>
                        <a:rPr sz="1500" b="0">
                          <a:solidFill>
                            <a:srgbClr val="1B1B1B"/>
                          </a:solidFill>
                          <a:latin typeface="Calibri"/>
                        </a:rPr>
                        <a:t>Exemple : « Une IA générative a servi à relire l'orthographe et à proposer des reformulations ; chaque source a été ouverte et lue par l'équipe. » L'IA n'est jamais citée comme source.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Lister des sources sans comparer.</a:t>
            </a:r>
          </a:p>
          <a:p>
            <a:pPr algn="l" marL="201168" indent="-201168">
              <a:spcAft>
                <a:spcPts val="110"/>
              </a:spcAft>
              <a:buChar char="•"/>
            </a:pPr>
            <a:r>
              <a:rPr sz="1100" b="0" i="0">
                <a:solidFill>
                  <a:srgbClr val="1B1B1B"/>
                </a:solidFill>
                <a:latin typeface="Calibri"/>
              </a:rPr>
              <a:t>Citer sans référence précise.</a:t>
            </a:r>
          </a:p>
          <a:p>
            <a:pPr algn="l" marL="201168" indent="-201168">
              <a:spcAft>
                <a:spcPts val="110"/>
              </a:spcAft>
              <a:buChar char="•"/>
            </a:pPr>
            <a:r>
              <a:rPr sz="1100" b="0" i="0">
                <a:solidFill>
                  <a:srgbClr val="1B1B1B"/>
                </a:solidFill>
                <a:latin typeface="Calibri"/>
              </a:rPr>
              <a:t>Une conclusion sans réserve.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Jeu 20 : Quiz Chercher, évaluer, argumenter (31 questions)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115</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Équipes</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2 à 5 équipes ; couleur attribuée à l'inscription : bleu, vert, orange, rouge, rose.</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Un tour</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Question projetée ; chaque équipe répond en secret sur son téléphone en 45 secondes.</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Points</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Bonne réponse : 1, 2 ou 3 points selon la carte.</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Fin</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Deux manches de 10 questions ; titre final selon le score.</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Les questions couvrent la recherche, l'évaluation et l'argumentation. L'animateur lance la partie depuis l'application : belmdeveloppement.github.io/communication-pro/#/jeu20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Jeu 20 · Manche 1 (10 questions)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Jeu</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116</a:t>
            </a:r>
          </a:p>
        </p:txBody>
      </p:sp>
      <p:sp>
        <p:nvSpPr>
          <p:cNvPr id="7" name="Rounded Rectangle 6"/>
          <p:cNvSpPr/>
          <p:nvPr/>
        </p:nvSpPr>
        <p:spPr>
          <a:xfrm>
            <a:off x="548640" y="1371600"/>
            <a:ext cx="7498079" cy="2926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630"/>
              </a:spcAft>
              <a:buChar char="•"/>
            </a:pPr>
            <a:r>
              <a:rPr sz="1800" b="0" i="0">
                <a:solidFill>
                  <a:srgbClr val="1B1B1B"/>
                </a:solidFill>
                <a:latin typeface="Calibri"/>
              </a:rPr>
              <a:t>Avant de scanner : l'animateur doit avoir créé la salle (page du jeu, bouton « Créer une salle ») et affiché le code. Sans salle, le code est refusé.</a:t>
            </a:r>
          </a:p>
          <a:p>
            <a:pPr algn="l" marL="201168" indent="-201168">
              <a:spcAft>
                <a:spcPts val="630"/>
              </a:spcAft>
              <a:buChar char="•"/>
            </a:pPr>
            <a:r>
              <a:rPr sz="1800" b="0" i="0">
                <a:solidFill>
                  <a:srgbClr val="1B1B1B"/>
                </a:solidFill>
                <a:latin typeface="Calibri"/>
              </a:rPr>
              <a:t>Chaque équipe scanne, saisit le code et son nom, puis reçoit sa couleur.</a:t>
            </a:r>
          </a:p>
          <a:p>
            <a:pPr algn="l" marL="201168" indent="-201168">
              <a:spcAft>
                <a:spcPts val="630"/>
              </a:spcAft>
              <a:buChar char="•"/>
            </a:pPr>
            <a:r>
              <a:rPr sz="1800" b="0" i="0">
                <a:solidFill>
                  <a:srgbClr val="1B1B1B"/>
                </a:solidFill>
                <a:latin typeface="Calibri"/>
              </a:rPr>
              <a:t>45 secondes par question ; la révélation donne l'explication.</a:t>
            </a:r>
          </a:p>
          <a:p>
            <a:pPr algn="l" marL="201168" indent="-201168">
              <a:spcAft>
                <a:spcPts val="630"/>
              </a:spcAft>
              <a:buChar char="•"/>
            </a:pPr>
            <a:r>
              <a:rPr sz="1800" b="0" i="0">
                <a:solidFill>
                  <a:srgbClr val="1B1B1B"/>
                </a:solidFill>
                <a:latin typeface="Calibri"/>
              </a:rPr>
              <a:t>Si le Wi-Fi bloque : partage de connexion de l'animateur.</a:t>
            </a:r>
          </a:p>
        </p:txBody>
      </p:sp>
      <p:pic>
        <p:nvPicPr>
          <p:cNvPr id="8" name="Picture 7" descr="jeu20.png"/>
          <p:cNvPicPr>
            <a:picLocks noChangeAspect="1"/>
          </p:cNvPicPr>
          <p:nvPr/>
        </p:nvPicPr>
        <p:blipFill>
          <a:blip r:embed="rId2"/>
          <a:stretch>
            <a:fillRect/>
          </a:stretch>
        </p:blipFill>
        <p:spPr>
          <a:xfrm>
            <a:off x="8778240" y="1554480"/>
            <a:ext cx="2377440" cy="2377440"/>
          </a:xfrm>
          <a:prstGeom prst="rect">
            <a:avLst/>
          </a:prstGeom>
        </p:spPr>
      </p:pic>
      <p:sp>
        <p:nvSpPr>
          <p:cNvPr id="9" name="TextBox 8"/>
          <p:cNvSpPr txBox="1"/>
          <p:nvPr/>
        </p:nvSpPr>
        <p:spPr>
          <a:xfrm>
            <a:off x="8321040" y="3913632"/>
            <a:ext cx="32918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
        <p:nvSpPr>
          <p:cNvPr id="10" name="TextBox 9"/>
          <p:cNvSpPr txBox="1"/>
          <p:nvPr/>
        </p:nvSpPr>
        <p:spPr>
          <a:xfrm>
            <a:off x="457200" y="5577840"/>
            <a:ext cx="10972800" cy="365760"/>
          </a:xfrm>
          <a:prstGeom prst="rect">
            <a:avLst/>
          </a:prstGeom>
          <a:noFill/>
        </p:spPr>
        <p:txBody>
          <a:bodyPr wrap="square" tIns="27432" bIns="27432">
            <a:spAutoFit/>
          </a:bodyPr>
          <a:lstStyle/>
          <a:p>
            <a:pPr algn="l"/>
            <a:r>
              <a:rPr sz="1400" u="sng">
                <a:solidFill>
                  <a:srgbClr val="1F5FBF"/>
                </a:solidFill>
                <a:latin typeface="Calibri"/>
                <a:hlinkClick r:id="rId3"/>
              </a:rPr>
              <a:t>Lien de l'animateur (bouton « Créer une salle ») : belmdeveloppement.github.io/communication-pro/#/jeu20</a:t>
            </a:r>
          </a:p>
        </p:txBody>
      </p:sp>
      <p:sp>
        <p:nvSpPr>
          <p:cNvPr id="11" name="TextBox 10"/>
          <p:cNvSpPr txBox="1"/>
          <p:nvPr/>
        </p:nvSpPr>
        <p:spPr>
          <a:xfrm>
            <a:off x="8229600" y="4023360"/>
            <a:ext cx="3474720" cy="822960"/>
          </a:xfrm>
          <a:prstGeom prst="rect">
            <a:avLst/>
          </a:prstGeom>
          <a:noFill/>
        </p:spPr>
        <p:txBody>
          <a:bodyPr wrap="square" anchor="t">
            <a:spAutoFit/>
          </a:bodyPr>
          <a:lstStyle/>
          <a:p>
            <a:pPr algn="ctr">
              <a:spcAft>
                <a:spcPts val="560"/>
              </a:spcAft>
            </a:pPr>
            <a:r>
              <a:rPr sz="1600" b="1" i="0">
                <a:solidFill>
                  <a:srgbClr val="1F2A5C"/>
                </a:solidFill>
                <a:latin typeface="Calibri"/>
              </a:rPr>
              <a:t>Scanner pour rejoindre la partie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Jeu 20 · Manche 2 (10 questions)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Jeu</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117</a:t>
            </a:r>
          </a:p>
        </p:txBody>
      </p:sp>
      <p:sp>
        <p:nvSpPr>
          <p:cNvPr id="7" name="Rounded Rectangle 6"/>
          <p:cNvSpPr/>
          <p:nvPr/>
        </p:nvSpPr>
        <p:spPr>
          <a:xfrm>
            <a:off x="548640" y="1371600"/>
            <a:ext cx="7498079" cy="2926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769"/>
              </a:spcAft>
              <a:buChar char="•"/>
            </a:pPr>
            <a:r>
              <a:rPr sz="2200" b="0" i="0">
                <a:solidFill>
                  <a:srgbClr val="1B1B1B"/>
                </a:solidFill>
                <a:latin typeface="Calibri"/>
              </a:rPr>
              <a:t>Même salle, mêmes équipes, nouvelles questions.</a:t>
            </a:r>
          </a:p>
          <a:p>
            <a:pPr algn="l" marL="201168" indent="-201168">
              <a:spcAft>
                <a:spcPts val="769"/>
              </a:spcAft>
              <a:buChar char="•"/>
            </a:pPr>
            <a:r>
              <a:rPr sz="2200" b="0" i="0">
                <a:solidFill>
                  <a:srgbClr val="1B1B1B"/>
                </a:solidFill>
                <a:latin typeface="Calibri"/>
              </a:rPr>
              <a:t>Lire attentivement chaque question et ses quatre réponses.</a:t>
            </a:r>
          </a:p>
          <a:p>
            <a:pPr algn="l" marL="201168" indent="-201168">
              <a:spcAft>
                <a:spcPts val="769"/>
              </a:spcAft>
              <a:buChar char="•"/>
            </a:pPr>
            <a:r>
              <a:rPr sz="2200" b="0" i="0">
                <a:solidFill>
                  <a:srgbClr val="1B1B1B"/>
                </a:solidFill>
                <a:latin typeface="Calibri"/>
              </a:rPr>
              <a:t>Classement final affiché par l'animateur.</a:t>
            </a:r>
          </a:p>
        </p:txBody>
      </p:sp>
      <p:pic>
        <p:nvPicPr>
          <p:cNvPr id="8" name="Picture 7" descr="jeu20.png"/>
          <p:cNvPicPr>
            <a:picLocks noChangeAspect="1"/>
          </p:cNvPicPr>
          <p:nvPr/>
        </p:nvPicPr>
        <p:blipFill>
          <a:blip r:embed="rId2"/>
          <a:stretch>
            <a:fillRect/>
          </a:stretch>
        </p:blipFill>
        <p:spPr>
          <a:xfrm>
            <a:off x="8778240" y="1554480"/>
            <a:ext cx="2377440" cy="2377440"/>
          </a:xfrm>
          <a:prstGeom prst="rect">
            <a:avLst/>
          </a:prstGeom>
        </p:spPr>
      </p:pic>
      <p:sp>
        <p:nvSpPr>
          <p:cNvPr id="9" name="TextBox 8"/>
          <p:cNvSpPr txBox="1"/>
          <p:nvPr/>
        </p:nvSpPr>
        <p:spPr>
          <a:xfrm>
            <a:off x="8321040" y="3913632"/>
            <a:ext cx="32918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
        <p:nvSpPr>
          <p:cNvPr id="10" name="TextBox 9"/>
          <p:cNvSpPr txBox="1"/>
          <p:nvPr/>
        </p:nvSpPr>
        <p:spPr>
          <a:xfrm>
            <a:off x="457200" y="5577840"/>
            <a:ext cx="10972800" cy="365760"/>
          </a:xfrm>
          <a:prstGeom prst="rect">
            <a:avLst/>
          </a:prstGeom>
          <a:noFill/>
        </p:spPr>
        <p:txBody>
          <a:bodyPr wrap="square" tIns="27432" bIns="27432">
            <a:spAutoFit/>
          </a:bodyPr>
          <a:lstStyle/>
          <a:p>
            <a:pPr algn="l"/>
            <a:r>
              <a:rPr sz="1400" u="sng">
                <a:solidFill>
                  <a:srgbClr val="1F5FBF"/>
                </a:solidFill>
                <a:latin typeface="Calibri"/>
                <a:hlinkClick r:id="rId3"/>
              </a:rPr>
              <a:t>Lien de l'animateur (bouton « Créer une salle ») : belmdeveloppement.github.io/communication-pro/#/jeu20</a:t>
            </a:r>
          </a:p>
        </p:txBody>
      </p:sp>
      <p:sp>
        <p:nvSpPr>
          <p:cNvPr id="11" name="TextBox 10"/>
          <p:cNvSpPr txBox="1"/>
          <p:nvPr/>
        </p:nvSpPr>
        <p:spPr>
          <a:xfrm>
            <a:off x="8229600" y="4023360"/>
            <a:ext cx="3474720" cy="822960"/>
          </a:xfrm>
          <a:prstGeom prst="rect">
            <a:avLst/>
          </a:prstGeom>
          <a:noFill/>
        </p:spPr>
        <p:txBody>
          <a:bodyPr wrap="square" anchor="t">
            <a:spAutoFit/>
          </a:bodyPr>
          <a:lstStyle/>
          <a:p>
            <a:pPr algn="ctr">
              <a:spcAft>
                <a:spcPts val="560"/>
              </a:spcAft>
            </a:pPr>
            <a:r>
              <a:rPr sz="1600" b="1" i="0">
                <a:solidFill>
                  <a:srgbClr val="1F2A5C"/>
                </a:solidFill>
                <a:latin typeface="Calibri"/>
              </a:rPr>
              <a:t>Scanner pour rejoindre la partie</a:t>
            </a:r>
          </a:p>
        </p:txBody>
      </p:sp>
      <p:sp>
        <p:nvSpPr>
          <p:cNvPr id="12" name="TextBox 11"/>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Débrief de 5 minutes à l'oral après la manche : quelle famille de questions a posé le plus de difficultés (chercher, évaluer ou argumenter) ? Quelle bonne réponse vous a surpris ? Quelle règle appliquez-vous déjà à votre état de l'art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G</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Relire, présenter, défendre</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Partie 2 du syllabus · exercices EX25, EX26, EX27</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Donner un retour qui améliore le texte (méthode SBI)</a:t>
            </a:r>
          </a:p>
          <a:p>
            <a:pPr algn="l" marL="201168" indent="-201168">
              <a:spcAft>
                <a:spcPts val="700"/>
              </a:spcAft>
              <a:buChar char="•"/>
            </a:pPr>
            <a:r>
              <a:rPr sz="2000" b="0" i="0">
                <a:solidFill>
                  <a:srgbClr val="FFFFFF"/>
                </a:solidFill>
                <a:latin typeface="Calibri"/>
              </a:rPr>
              <a:t>Construire un pitch de 5 minutes</a:t>
            </a:r>
          </a:p>
          <a:p>
            <a:pPr algn="l" marL="201168" indent="-201168">
              <a:spcAft>
                <a:spcPts val="700"/>
              </a:spcAft>
              <a:buChar char="•"/>
            </a:pPr>
            <a:r>
              <a:rPr sz="2000" b="0" i="0">
                <a:solidFill>
                  <a:srgbClr val="FFFFFF"/>
                </a:solidFill>
                <a:latin typeface="Calibri"/>
              </a:rPr>
              <a:t>Répondre à un jury sans perdre la face</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P2 · Se documenter et restituer un état de l'art, par écrit et à l'oral</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Le feedback SBI : présentation</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119</a:t>
            </a:r>
          </a:p>
        </p:txBody>
      </p:sp>
      <p:sp>
        <p:nvSpPr>
          <p:cNvPr id="6" name="Rounded Rectangle 5"/>
          <p:cNvSpPr/>
          <p:nvPr/>
        </p:nvSpPr>
        <p:spPr>
          <a:xfrm>
            <a:off x="411480" y="118872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557784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 · Situation</a:t>
            </a:r>
          </a:p>
        </p:txBody>
      </p:sp>
      <p:sp>
        <p:nvSpPr>
          <p:cNvPr id="8" name="TextBox 7"/>
          <p:cNvSpPr txBox="1"/>
          <p:nvPr/>
        </p:nvSpPr>
        <p:spPr>
          <a:xfrm>
            <a:off x="457200" y="178308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Le contexte précis : quand, où.</a:t>
            </a:r>
          </a:p>
          <a:p>
            <a:pPr algn="l">
              <a:spcAft>
                <a:spcPts val="509"/>
              </a:spcAft>
            </a:pPr>
            <a:r>
              <a:rPr sz="1700" b="0" i="0">
                <a:solidFill>
                  <a:srgbClr val="1B1B1B"/>
                </a:solidFill>
                <a:latin typeface="Calibri"/>
              </a:rPr>
              <a:t>Ex. : « Dans la partie 2 de votre état de l'art, »</a:t>
            </a:r>
          </a:p>
        </p:txBody>
      </p:sp>
      <p:sp>
        <p:nvSpPr>
          <p:cNvPr id="9" name="Rounded Rectangle 8"/>
          <p:cNvSpPr/>
          <p:nvPr/>
        </p:nvSpPr>
        <p:spPr>
          <a:xfrm>
            <a:off x="6172200" y="118872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72200" y="1188720"/>
            <a:ext cx="557784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B · Comportement</a:t>
            </a:r>
          </a:p>
        </p:txBody>
      </p:sp>
      <p:sp>
        <p:nvSpPr>
          <p:cNvPr id="11" name="TextBox 10"/>
          <p:cNvSpPr txBox="1"/>
          <p:nvPr/>
        </p:nvSpPr>
        <p:spPr>
          <a:xfrm>
            <a:off x="6217920" y="178308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Ce que j'ai vu ou lu, observable, sans interprétation.</a:t>
            </a:r>
          </a:p>
          <a:p>
            <a:pPr algn="l">
              <a:spcAft>
                <a:spcPts val="509"/>
              </a:spcAft>
            </a:pPr>
            <a:r>
              <a:rPr sz="1700" b="0" i="0">
                <a:solidFill>
                  <a:srgbClr val="1B1B1B"/>
                </a:solidFill>
                <a:latin typeface="Calibri"/>
              </a:rPr>
              <a:t>Ex. : « les requêtes ne sont pas données, »</a:t>
            </a:r>
          </a:p>
        </p:txBody>
      </p:sp>
      <p:sp>
        <p:nvSpPr>
          <p:cNvPr id="12" name="Rounded Rectangle 11"/>
          <p:cNvSpPr/>
          <p:nvPr/>
        </p:nvSpPr>
        <p:spPr>
          <a:xfrm>
            <a:off x="411480" y="354330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3543300"/>
            <a:ext cx="557784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I · Impact</a:t>
            </a:r>
          </a:p>
        </p:txBody>
      </p:sp>
      <p:sp>
        <p:nvSpPr>
          <p:cNvPr id="14" name="TextBox 13"/>
          <p:cNvSpPr txBox="1"/>
          <p:nvPr/>
        </p:nvSpPr>
        <p:spPr>
          <a:xfrm>
            <a:off x="457200" y="413766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L'effet concret sur le lecteur, l'équipe ou le client.</a:t>
            </a:r>
          </a:p>
          <a:p>
            <a:pPr algn="l">
              <a:spcAft>
                <a:spcPts val="509"/>
              </a:spcAft>
            </a:pPr>
            <a:r>
              <a:rPr sz="1700" b="0" i="0">
                <a:solidFill>
                  <a:srgbClr val="1B1B1B"/>
                </a:solidFill>
                <a:latin typeface="Calibri"/>
              </a:rPr>
              <a:t>Ex. : « un lecteur ne peut pas refaire la recherche. »</a:t>
            </a:r>
          </a:p>
        </p:txBody>
      </p:sp>
      <p:sp>
        <p:nvSpPr>
          <p:cNvPr id="15" name="Rounded Rectangle 14"/>
          <p:cNvSpPr/>
          <p:nvPr/>
        </p:nvSpPr>
        <p:spPr>
          <a:xfrm>
            <a:off x="6172200" y="3543300"/>
            <a:ext cx="5577840" cy="21717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72200" y="3543300"/>
            <a:ext cx="557784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À quoi ça sert ?</a:t>
            </a:r>
          </a:p>
        </p:txBody>
      </p:sp>
      <p:sp>
        <p:nvSpPr>
          <p:cNvPr id="17" name="TextBox 16"/>
          <p:cNvSpPr txBox="1"/>
          <p:nvPr/>
        </p:nvSpPr>
        <p:spPr>
          <a:xfrm>
            <a:off x="6217920" y="4137660"/>
            <a:ext cx="5486400" cy="1531620"/>
          </a:xfrm>
          <a:prstGeom prst="rect">
            <a:avLst/>
          </a:prstGeom>
          <a:noFill/>
        </p:spPr>
        <p:txBody>
          <a:bodyPr wrap="square" anchor="t">
            <a:spAutoFit/>
          </a:bodyPr>
          <a:lstStyle/>
          <a:p>
            <a:pPr algn="l">
              <a:spcAft>
                <a:spcPts val="509"/>
              </a:spcAft>
            </a:pPr>
            <a:r>
              <a:rPr sz="1700" b="0" i="0">
                <a:solidFill>
                  <a:srgbClr val="1B1B1B"/>
                </a:solidFill>
                <a:latin typeface="Calibri"/>
              </a:rPr>
              <a:t>Donner un retour utile : un fait et son effet, sans juger la personne. Modèle du Center for Creative Leadership, utilisé en management.</a:t>
            </a:r>
          </a:p>
          <a:p>
            <a:pPr algn="l">
              <a:spcAft>
                <a:spcPts val="509"/>
              </a:spcAft>
            </a:pPr>
            <a:r>
              <a:rPr sz="1700" b="0" i="0">
                <a:solidFill>
                  <a:srgbClr val="1B1B1B"/>
                </a:solidFill>
                <a:latin typeface="Calibri"/>
              </a:rPr>
              <a:t>Pour recevoir : écouter, reformuler, décider.</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1" i="0">
                <a:solidFill>
                  <a:srgbClr val="1B1B1B"/>
                </a:solidFill>
                <a:latin typeface="Calibri"/>
              </a:rPr>
              <a:t>Phrase complète : « Dans la partie 2, les requêtes ne sont pas données : un lecteur ne peut pas refaire la recherche. Comment voyez-vous les choses ? » À éviter : « c'est flou » (un jugement). Un fait se filme.</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Conseil IA : « Reformule ce retour en SBI (situation, comportement observé, impact), sans jugement : …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25</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Relecture croisée avec la grille</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EX25</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120</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croisées  ·  20 min  ·  Carnet · chapitre 7  ·  Outil : dossier de l'équipe voisine</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Relire le travail d'une autre équipe avec la grille et donner un feedback en SBI : un fait, un impact, sans juger la personne.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Échangez votre état de l'art avec une autre équipe. Relisez avec la grille de notation (EX24) pendant 10 minutes, puis donnez un feedback SBI.</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50"/>
              </a:spcAft>
              <a:buAutoNum type="arabicPeriod"/>
            </a:pPr>
            <a:r>
              <a:rPr sz="1500" b="0" i="0">
                <a:solidFill>
                  <a:srgbClr val="1B1B1B"/>
                </a:solidFill>
                <a:latin typeface="Calibri"/>
              </a:rPr>
              <a:t>Relisez le document de l'autre équipe avec la grille : deux points forts, deux améliorations, chacun avec un fait.</a:t>
            </a:r>
          </a:p>
          <a:p>
            <a:pPr algn="l" marL="274320" indent="-274320">
              <a:spcAft>
                <a:spcPts val="450"/>
              </a:spcAft>
              <a:buAutoNum type="arabicPeriod"/>
            </a:pPr>
            <a:r>
              <a:rPr sz="1500" b="0" i="0">
                <a:solidFill>
                  <a:srgbClr val="1B1B1B"/>
                </a:solidFill>
                <a:latin typeface="Calibri"/>
              </a:rPr>
              <a:t>Formulez un feedback en SBI : situation, comportement, impact.</a:t>
            </a:r>
          </a:p>
          <a:p>
            <a:pPr algn="l" marL="274320" indent="-274320">
              <a:spcAft>
                <a:spcPts val="450"/>
              </a:spcAft>
              <a:buAutoNum type="arabicPeriod"/>
            </a:pPr>
            <a:r>
              <a:rPr sz="1500" b="0" i="0">
                <a:solidFill>
                  <a:srgbClr val="1B1B1B"/>
                </a:solidFill>
                <a:latin typeface="Calibri"/>
              </a:rPr>
              <a:t>Écoutez le feedback reçu sans vous justifier ; décidez deux corrections.</a:t>
            </a:r>
          </a:p>
          <a:p>
            <a:pPr algn="l" marL="274320" indent="-274320">
              <a:spcAft>
                <a:spcPts val="450"/>
              </a:spcAft>
              <a:buAutoNum type="arabicPeriod"/>
            </a:pPr>
            <a:r>
              <a:rPr sz="1500" b="0" i="0">
                <a:solidFill>
                  <a:srgbClr val="1B1B1B"/>
                </a:solidFill>
                <a:latin typeface="Calibri"/>
              </a:rPr>
              <a:t>Avec ChatGPT ou une autre IA (notez laquelle ; document de l'autre équipe, si elle l'accepte) : demandez-lui une relecture avec la grille. Combien de ses remarques utiles n'aviez-vous pas relevées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Livrable : Deux points forts, deux améliorations, deux corrections décidées. → Dossier, section 14.</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5.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25 — Relecture croisée avec la grille</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EX25</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121</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Faits, pas jugements.</a:t>
            </a:r>
          </a:p>
          <a:p>
            <a:pPr algn="l" marL="274320" indent="-274320">
              <a:spcAft>
                <a:spcPts val="375"/>
              </a:spcAft>
              <a:buAutoNum type="arabicPeriod"/>
            </a:pPr>
            <a:r>
              <a:rPr sz="1500" b="0" i="0">
                <a:solidFill>
                  <a:srgbClr val="1B1B1B"/>
                </a:solidFill>
                <a:latin typeface="Calibri"/>
              </a:rPr>
              <a:t>SBI : situation, comportement, impact.</a:t>
            </a:r>
          </a:p>
          <a:p>
            <a:pPr algn="l" marL="274320" indent="-274320">
              <a:spcAft>
                <a:spcPts val="375"/>
              </a:spcAft>
              <a:buAutoNum type="arabicPeriod"/>
            </a:pPr>
            <a:r>
              <a:rPr sz="1500" b="0" i="0">
                <a:solidFill>
                  <a:srgbClr val="1B1B1B"/>
                </a:solidFill>
                <a:latin typeface="Calibri"/>
              </a:rPr>
              <a:t>Recevoir : écouter, reformuler, décider.</a:t>
            </a:r>
          </a:p>
        </p:txBody>
      </p:sp>
      <p:graphicFrame>
        <p:nvGraphicFramePr>
          <p:cNvPr id="9" name="Table 8"/>
          <p:cNvGraphicFramePr>
            <a:graphicFrameLocks noGrp="1"/>
          </p:cNvGraphicFramePr>
          <p:nvPr/>
        </p:nvGraphicFramePr>
        <p:xfrm>
          <a:off x="3703320" y="1097280"/>
          <a:ext cx="8046720" cy="950976"/>
        </p:xfrm>
        <a:graphic>
          <a:graphicData uri="http://schemas.openxmlformats.org/drawingml/2006/table">
            <a:tbl>
              <a:tblPr firstRow="0" bandRow="0">
                <a:tableStyleId>{5C22544A-7EE6-4342-B048-85BDC9FD1C3A}</a:tableStyleId>
              </a:tblPr>
              <a:tblGrid>
                <a:gridCol w="2743200"/>
                <a:gridCol w="5303520"/>
              </a:tblGrid>
              <a:tr h="237744">
                <a:tc>
                  <a:txBody>
                    <a:bodyPr wrap="square"/>
                    <a:lstStyle/>
                    <a:p>
                      <a:r>
                        <a:rPr sz="1700" b="1">
                          <a:solidFill>
                            <a:srgbClr val="FFFFFF"/>
                          </a:solidFill>
                          <a:latin typeface="Calibri"/>
                        </a:rPr>
                        <a:t>Feedback faible</a:t>
                      </a:r>
                    </a:p>
                  </a:txBody>
                  <a:tcPr marL="73152" marR="73152" marT="36576" marB="36576">
                    <a:solidFill>
                      <a:srgbClr val="1F2A5C"/>
                    </a:solidFill>
                  </a:tcPr>
                </a:tc>
                <a:tc>
                  <a:txBody>
                    <a:bodyPr wrap="square"/>
                    <a:lstStyle/>
                    <a:p>
                      <a:r>
                        <a:rPr sz="1700" b="1">
                          <a:solidFill>
                            <a:srgbClr val="FFFFFF"/>
                          </a:solidFill>
                          <a:latin typeface="Calibri"/>
                        </a:rPr>
                        <a:t>Feedback SBI (exemple)</a:t>
                      </a:r>
                    </a:p>
                  </a:txBody>
                  <a:tcPr marL="73152" marR="73152" marT="36576" marB="36576">
                    <a:solidFill>
                      <a:srgbClr val="1F2A5C"/>
                    </a:solidFill>
                  </a:tcPr>
                </a:tc>
              </a:tr>
              <a:tr h="237744">
                <a:tc>
                  <a:txBody>
                    <a:bodyPr wrap="square"/>
                    <a:lstStyle/>
                    <a:p>
                      <a:r>
                        <a:rPr sz="1700" b="1">
                          <a:solidFill>
                            <a:srgbClr val="1B1B1B"/>
                          </a:solidFill>
                          <a:latin typeface="Calibri"/>
                        </a:rPr>
                        <a:t>« Votre méthode est floue. »</a:t>
                      </a:r>
                    </a:p>
                  </a:txBody>
                  <a:tcPr marL="73152" marR="73152" marT="36576" marB="36576">
                    <a:solidFill>
                      <a:srgbClr val="FFFFFF"/>
                    </a:solidFill>
                  </a:tcPr>
                </a:tc>
                <a:tc>
                  <a:txBody>
                    <a:bodyPr wrap="square"/>
                    <a:lstStyle/>
                    <a:p>
                      <a:r>
                        <a:rPr sz="1700" b="0">
                          <a:solidFill>
                            <a:srgbClr val="1B1B1B"/>
                          </a:solidFill>
                          <a:latin typeface="Calibri"/>
                        </a:rPr>
                        <a:t>« Dans la partie 2 (S), les requêtes ne sont pas données (B) : un lecteur ne peut pas refaire la recherche (I). »</a:t>
                      </a:r>
                    </a:p>
                  </a:txBody>
                  <a:tcPr marL="73152" marR="73152" marT="36576" marB="36576">
                    <a:solidFill>
                      <a:srgbClr val="FFFFFF"/>
                    </a:solidFill>
                  </a:tcPr>
                </a:tc>
              </a:tr>
              <a:tr h="237744">
                <a:tc>
                  <a:txBody>
                    <a:bodyPr wrap="square"/>
                    <a:lstStyle/>
                    <a:p>
                      <a:r>
                        <a:rPr sz="1700" b="1">
                          <a:solidFill>
                            <a:srgbClr val="1B1B1B"/>
                          </a:solidFill>
                          <a:latin typeface="Calibri"/>
                        </a:rPr>
                        <a:t>« Bien écrit. »</a:t>
                      </a:r>
                    </a:p>
                  </a:txBody>
                  <a:tcPr marL="73152" marR="73152" marT="36576" marB="36576">
                    <a:solidFill>
                      <a:srgbClr val="F3F5F9"/>
                    </a:solidFill>
                  </a:tcPr>
                </a:tc>
                <a:tc>
                  <a:txBody>
                    <a:bodyPr wrap="square"/>
                    <a:lstStyle/>
                    <a:p>
                      <a:r>
                        <a:rPr sz="1700" b="0">
                          <a:solidFill>
                            <a:srgbClr val="1B1B1B"/>
                          </a:solidFill>
                          <a:latin typeface="Calibri"/>
                        </a:rPr>
                        <a:t>« Dans la conclusion (S), vous donnez une réserve précise (B) : le lecteur sait jusqu'où va votre recommandation (I). »</a:t>
                      </a:r>
                    </a:p>
                  </a:txBody>
                  <a:tcPr marL="73152" marR="73152" marT="36576" marB="36576">
                    <a:solidFill>
                      <a:srgbClr val="F3F5F9"/>
                    </a:solidFill>
                  </a:tcPr>
                </a:tc>
              </a:tr>
              <a:tr h="237744">
                <a:tc>
                  <a:txBody>
                    <a:bodyPr wrap="square"/>
                    <a:lstStyle/>
                    <a:p>
                      <a:r>
                        <a:rPr sz="1700" b="1">
                          <a:solidFill>
                            <a:srgbClr val="1B1B1B"/>
                          </a:solidFill>
                          <a:latin typeface="Calibri"/>
                        </a:rPr>
                        <a:t>IA · relecture par une IA</a:t>
                      </a:r>
                    </a:p>
                  </a:txBody>
                  <a:tcPr marL="73152" marR="73152" marT="36576" marB="36576">
                    <a:solidFill>
                      <a:srgbClr val="FFFFFF"/>
                    </a:solidFill>
                  </a:tcPr>
                </a:tc>
                <a:tc>
                  <a:txBody>
                    <a:bodyPr wrap="square"/>
                    <a:lstStyle/>
                    <a:p>
                      <a:r>
                        <a:rPr sz="1700" b="0">
                          <a:solidFill>
                            <a:srgbClr val="1B1B1B"/>
                          </a:solidFill>
                          <a:latin typeface="Calibri"/>
                        </a:rPr>
                        <a:t>Souvent 1 ou 2 (coquilles, redites). L'IA ne sait pas si une source existe : la vérification des références reste humaine.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30"/>
              </a:spcAft>
              <a:buChar char="•"/>
            </a:pPr>
            <a:r>
              <a:rPr sz="1300" b="0" i="0">
                <a:solidFill>
                  <a:srgbClr val="1B1B1B"/>
                </a:solidFill>
                <a:latin typeface="Calibri"/>
              </a:rPr>
              <a:t>Juger la personne au lieu de décrire le texte.</a:t>
            </a:r>
          </a:p>
          <a:p>
            <a:pPr algn="l" marL="201168" indent="-201168">
              <a:spcAft>
                <a:spcPts val="130"/>
              </a:spcAft>
              <a:buChar char="•"/>
            </a:pPr>
            <a:r>
              <a:rPr sz="1300" b="0" i="0">
                <a:solidFill>
                  <a:srgbClr val="1B1B1B"/>
                </a:solidFill>
                <a:latin typeface="Calibri"/>
              </a:rPr>
              <a:t>Se justifier au lieu de noter la correction.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Structurer un message oral</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122</a:t>
            </a:r>
          </a:p>
        </p:txBody>
      </p:sp>
      <p:sp>
        <p:nvSpPr>
          <p:cNvPr id="6" name="Rounded Rectangle 5"/>
          <p:cNvSpPr/>
          <p:nvPr/>
        </p:nvSpPr>
        <p:spPr>
          <a:xfrm>
            <a:off x="411480" y="1371600"/>
            <a:ext cx="201168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Accroche</a:t>
            </a:r>
          </a:p>
        </p:txBody>
      </p:sp>
      <p:sp>
        <p:nvSpPr>
          <p:cNvPr id="7" name="Rounded Rectangle 6"/>
          <p:cNvSpPr/>
          <p:nvPr/>
        </p:nvSpPr>
        <p:spPr>
          <a:xfrm>
            <a:off x="41148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Une scène ou un chiffre</a:t>
            </a:r>
          </a:p>
          <a:p>
            <a:pPr algn="l">
              <a:spcAft>
                <a:spcPts val="480"/>
              </a:spcAft>
            </a:pPr>
            <a:r>
              <a:rPr sz="1600" b="0" i="0">
                <a:solidFill>
                  <a:srgbClr val="1B1B1B"/>
                </a:solidFill>
                <a:latin typeface="Calibri"/>
              </a:rPr>
              <a:t>Ex. : « En juin, restaurer la sauvegarde a pris 9 heures. »</a:t>
            </a:r>
          </a:p>
        </p:txBody>
      </p:sp>
      <p:sp>
        <p:nvSpPr>
          <p:cNvPr id="8" name="Right Arrow 7"/>
          <p:cNvSpPr/>
          <p:nvPr/>
        </p:nvSpPr>
        <p:spPr>
          <a:xfrm>
            <a:off x="244144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0" y="1371600"/>
            <a:ext cx="201168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Problème</a:t>
            </a:r>
          </a:p>
        </p:txBody>
      </p:sp>
      <p:sp>
        <p:nvSpPr>
          <p:cNvPr id="10" name="Rounded Rectangle 9"/>
          <p:cNvSpPr/>
          <p:nvPr/>
        </p:nvSpPr>
        <p:spPr>
          <a:xfrm>
            <a:off x="274320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Ce qui coûte ou menace</a:t>
            </a:r>
          </a:p>
          <a:p>
            <a:pPr algn="l">
              <a:spcAft>
                <a:spcPts val="480"/>
              </a:spcAft>
            </a:pPr>
            <a:r>
              <a:rPr sz="1600" b="0" i="0">
                <a:solidFill>
                  <a:srgbClr val="1B1B1B"/>
                </a:solidFill>
                <a:latin typeface="Calibri"/>
              </a:rPr>
              <a:t>Ex. : « Un seul disque de 3 ans. »</a:t>
            </a:r>
          </a:p>
        </p:txBody>
      </p:sp>
      <p:sp>
        <p:nvSpPr>
          <p:cNvPr id="11" name="Right Arrow 10"/>
          <p:cNvSpPr/>
          <p:nvPr/>
        </p:nvSpPr>
        <p:spPr>
          <a:xfrm>
            <a:off x="477316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371600"/>
            <a:ext cx="201168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Solution</a:t>
            </a:r>
          </a:p>
        </p:txBody>
      </p:sp>
      <p:sp>
        <p:nvSpPr>
          <p:cNvPr id="13" name="Rounded Rectangle 12"/>
          <p:cNvSpPr/>
          <p:nvPr/>
        </p:nvSpPr>
        <p:spPr>
          <a:xfrm>
            <a:off x="507492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Votre recommandation</a:t>
            </a:r>
          </a:p>
          <a:p>
            <a:pPr algn="l">
              <a:spcAft>
                <a:spcPts val="480"/>
              </a:spcAft>
            </a:pPr>
            <a:r>
              <a:rPr sz="1600" b="0" i="0">
                <a:solidFill>
                  <a:srgbClr val="1B1B1B"/>
                </a:solidFill>
                <a:latin typeface="Calibri"/>
              </a:rPr>
              <a:t>Ex. : « Ajouter une copie hors site. »</a:t>
            </a:r>
          </a:p>
        </p:txBody>
      </p:sp>
      <p:sp>
        <p:nvSpPr>
          <p:cNvPr id="14" name="Right Arrow 13"/>
          <p:cNvSpPr/>
          <p:nvPr/>
        </p:nvSpPr>
        <p:spPr>
          <a:xfrm>
            <a:off x="710488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0" y="1371600"/>
            <a:ext cx="201168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Preuve</a:t>
            </a:r>
          </a:p>
        </p:txBody>
      </p:sp>
      <p:sp>
        <p:nvSpPr>
          <p:cNvPr id="16" name="Rounded Rectangle 15"/>
          <p:cNvSpPr/>
          <p:nvPr/>
        </p:nvSpPr>
        <p:spPr>
          <a:xfrm>
            <a:off x="740664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Fait, chiffre, source</a:t>
            </a:r>
          </a:p>
          <a:p>
            <a:pPr algn="l">
              <a:spcAft>
                <a:spcPts val="480"/>
              </a:spcAft>
            </a:pPr>
            <a:r>
              <a:rPr sz="1600" b="0" i="0">
                <a:solidFill>
                  <a:srgbClr val="1B1B1B"/>
                </a:solidFill>
                <a:latin typeface="Calibri"/>
              </a:rPr>
              <a:t>Ex. : « 9 h contre 3 h ; 10 % de risque annuel. »</a:t>
            </a:r>
          </a:p>
        </p:txBody>
      </p:sp>
      <p:sp>
        <p:nvSpPr>
          <p:cNvPr id="17" name="Right Arrow 16"/>
          <p:cNvSpPr/>
          <p:nvPr/>
        </p:nvSpPr>
        <p:spPr>
          <a:xfrm>
            <a:off x="943660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38360" y="1371600"/>
            <a:ext cx="2011680" cy="822960"/>
          </a:xfrm>
          <a:prstGeom prst="roundRect">
            <a:avLst>
              <a:gd name="adj" fmla="val 6000"/>
            </a:avLst>
          </a:prstGeom>
          <a:solidFill>
            <a:srgbClr val="7A5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Appel</a:t>
            </a:r>
          </a:p>
        </p:txBody>
      </p:sp>
      <p:sp>
        <p:nvSpPr>
          <p:cNvPr id="19" name="Rounded Rectangle 18"/>
          <p:cNvSpPr/>
          <p:nvPr/>
        </p:nvSpPr>
        <p:spPr>
          <a:xfrm>
            <a:off x="9738360" y="2286000"/>
            <a:ext cx="201168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La décision demandée</a:t>
            </a:r>
          </a:p>
          <a:p>
            <a:pPr algn="l">
              <a:spcAft>
                <a:spcPts val="480"/>
              </a:spcAft>
            </a:pPr>
            <a:r>
              <a:rPr sz="1600" b="0" i="0">
                <a:solidFill>
                  <a:srgbClr val="1B1B1B"/>
                </a:solidFill>
                <a:latin typeface="Calibri"/>
              </a:rPr>
              <a:t>Ex. : « Validez 1 800 € par an avant le 30. »</a:t>
            </a:r>
          </a:p>
        </p:txBody>
      </p:sp>
      <p:sp>
        <p:nvSpPr>
          <p:cNvPr id="20" name="Rounded Rectangle 19"/>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Un message clé : une phrase que la directrice peut répéter. Exemples fictifs.</a:t>
            </a:r>
          </a:p>
        </p:txBody>
      </p:sp>
      <p:sp>
        <p:nvSpPr>
          <p:cNvPr id="21" name="TextBox 20"/>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Structure de pitch usuelle (synthèse pédagogique) ; exemples fictifs de TransLor.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Vulgariser sans trahir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123</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Partir de l'enjeu</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Retard, argent, risque.</a:t>
            </a:r>
          </a:p>
          <a:p>
            <a:pPr algn="l">
              <a:spcAft>
                <a:spcPts val="509"/>
              </a:spcAft>
            </a:pPr>
            <a:r>
              <a:rPr sz="1700" b="0" i="0">
                <a:solidFill>
                  <a:srgbClr val="1B1B1B"/>
                </a:solidFill>
                <a:latin typeface="Calibri"/>
              </a:rPr>
              <a:t>Ex. : « Sans sauvegarde, une panne peut coûter une journée de livraisons.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Une analogie</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Une seule, simple.</a:t>
            </a:r>
          </a:p>
          <a:p>
            <a:pPr algn="l">
              <a:spcAft>
                <a:spcPts val="509"/>
              </a:spcAft>
            </a:pPr>
            <a:r>
              <a:rPr sz="1700" b="0" i="0">
                <a:solidFill>
                  <a:srgbClr val="1B1B1B"/>
                </a:solidFill>
                <a:latin typeface="Calibri"/>
              </a:rPr>
              <a:t>Ex. : « Une sauvegarde, c'est le double des clés. »</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Un chiffre parlant</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 Quatre heures de données » plutôt que « RPO de 4 h ».</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Le test</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Mon voisin peut-il répéter l'idée en une phrase ?</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Remplacer un sigle par un autre sigle n'est pas vulgariser.</a:t>
            </a:r>
          </a:p>
        </p:txBody>
      </p:sp>
      <p:sp>
        <p:nvSpPr>
          <p:cNvPr id="19" name="TextBox 1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Pratique usuelle de vulgarisation (synthèse pédagogique) ; exemples fictifs.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Défendre devant un jury averti</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124</a:t>
            </a:r>
          </a:p>
        </p:txBody>
      </p:sp>
      <p:sp>
        <p:nvSpPr>
          <p:cNvPr id="6" name="Rounded Rectangle 5"/>
          <p:cNvSpPr/>
          <p:nvPr/>
        </p:nvSpPr>
        <p:spPr>
          <a:xfrm>
            <a:off x="411480" y="1371600"/>
            <a:ext cx="2594610" cy="82296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Écouter</a:t>
            </a:r>
          </a:p>
        </p:txBody>
      </p:sp>
      <p:sp>
        <p:nvSpPr>
          <p:cNvPr id="7" name="Rounded Rectangle 6"/>
          <p:cNvSpPr/>
          <p:nvPr/>
        </p:nvSpPr>
        <p:spPr>
          <a:xfrm>
            <a:off x="4114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La question en entier</a:t>
            </a:r>
          </a:p>
          <a:p>
            <a:pPr algn="l">
              <a:spcAft>
                <a:spcPts val="480"/>
              </a:spcAft>
            </a:pPr>
            <a:r>
              <a:rPr sz="1600" b="0" i="0">
                <a:solidFill>
                  <a:srgbClr val="1B1B1B"/>
                </a:solidFill>
                <a:latin typeface="Calibri"/>
              </a:rPr>
              <a:t>Ex. : « Et si le débit est faible ? »</a:t>
            </a:r>
          </a:p>
        </p:txBody>
      </p:sp>
      <p:sp>
        <p:nvSpPr>
          <p:cNvPr id="8" name="Right Arrow 7"/>
          <p:cNvSpPr/>
          <p:nvPr/>
        </p:nvSpPr>
        <p:spPr>
          <a:xfrm>
            <a:off x="30243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26130" y="1371600"/>
            <a:ext cx="2594610" cy="82296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Reformuler</a:t>
            </a:r>
          </a:p>
        </p:txBody>
      </p:sp>
      <p:sp>
        <p:nvSpPr>
          <p:cNvPr id="10" name="Rounded Rectangle 9"/>
          <p:cNvSpPr/>
          <p:nvPr/>
        </p:nvSpPr>
        <p:spPr>
          <a:xfrm>
            <a:off x="33261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 Si je comprends bien… »</a:t>
            </a:r>
          </a:p>
          <a:p>
            <a:pPr algn="l">
              <a:spcAft>
                <a:spcPts val="480"/>
              </a:spcAft>
            </a:pPr>
            <a:r>
              <a:rPr sz="1600" b="0" i="0">
                <a:solidFill>
                  <a:srgbClr val="1B1B1B"/>
                </a:solidFill>
                <a:latin typeface="Calibri"/>
              </a:rPr>
              <a:t>Ex. : « Vous craignez une restauration trop lente ? »</a:t>
            </a:r>
          </a:p>
        </p:txBody>
      </p:sp>
      <p:sp>
        <p:nvSpPr>
          <p:cNvPr id="11" name="Right Arrow 10"/>
          <p:cNvSpPr/>
          <p:nvPr/>
        </p:nvSpPr>
        <p:spPr>
          <a:xfrm>
            <a:off x="593902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0780" y="1371600"/>
            <a:ext cx="2594610" cy="82296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Répondre</a:t>
            </a:r>
          </a:p>
        </p:txBody>
      </p:sp>
      <p:sp>
        <p:nvSpPr>
          <p:cNvPr id="13" name="Rounded Rectangle 12"/>
          <p:cNvSpPr/>
          <p:nvPr/>
        </p:nvSpPr>
        <p:spPr>
          <a:xfrm>
            <a:off x="624078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Un fait, une concession ou une réserve</a:t>
            </a:r>
          </a:p>
          <a:p>
            <a:pPr algn="l">
              <a:spcAft>
                <a:spcPts val="480"/>
              </a:spcAft>
            </a:pPr>
            <a:r>
              <a:rPr sz="1600" b="0" i="0">
                <a:solidFill>
                  <a:srgbClr val="1B1B1B"/>
                </a:solidFill>
                <a:latin typeface="Calibri"/>
              </a:rPr>
              <a:t>Ex. : « Je le teste avant la décision. »</a:t>
            </a:r>
          </a:p>
        </p:txBody>
      </p:sp>
      <p:sp>
        <p:nvSpPr>
          <p:cNvPr id="14" name="Right Arrow 13"/>
          <p:cNvSpPr/>
          <p:nvPr/>
        </p:nvSpPr>
        <p:spPr>
          <a:xfrm>
            <a:off x="8853678" y="1645920"/>
            <a:ext cx="283464" cy="320040"/>
          </a:xfrm>
          <a:prstGeom prst="rightArrow">
            <a:avLst/>
          </a:prstGeom>
          <a:solidFill>
            <a:srgbClr val="5B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55430" y="1371600"/>
            <a:ext cx="2594610" cy="82296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Vérifier</a:t>
            </a:r>
          </a:p>
        </p:txBody>
      </p:sp>
      <p:sp>
        <p:nvSpPr>
          <p:cNvPr id="16" name="Rounded Rectangle 15"/>
          <p:cNvSpPr/>
          <p:nvPr/>
        </p:nvSpPr>
        <p:spPr>
          <a:xfrm>
            <a:off x="9155430" y="2286000"/>
            <a:ext cx="2594610" cy="2377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480"/>
              </a:spcAft>
            </a:pPr>
            <a:r>
              <a:rPr sz="1600" b="0" i="0">
                <a:solidFill>
                  <a:srgbClr val="1B1B1B"/>
                </a:solidFill>
                <a:latin typeface="Calibri"/>
              </a:rPr>
              <a:t>« Est-ce que cela répond ? »</a:t>
            </a:r>
          </a:p>
          <a:p>
            <a:pPr algn="l">
              <a:spcAft>
                <a:spcPts val="480"/>
              </a:spcAft>
            </a:pPr>
            <a:r>
              <a:rPr sz="1600" b="0" i="0">
                <a:solidFill>
                  <a:srgbClr val="1B1B1B"/>
                </a:solidFill>
                <a:latin typeface="Calibri"/>
              </a:rPr>
              <a:t>Ex. : « Cela répond à votre question ? »</a:t>
            </a:r>
          </a:p>
        </p:txBody>
      </p:sp>
      <p:sp>
        <p:nvSpPr>
          <p:cNvPr id="17" name="Rounded Rectangle 16"/>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Une réserve annoncée vaut mieux qu'un doute découvert par le jury.</a:t>
            </a:r>
          </a:p>
        </p:txBody>
      </p:sp>
      <p:sp>
        <p:nvSpPr>
          <p:cNvPr id="18" name="Rounded Rectangle 17"/>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350"/>
              </a:spcAft>
            </a:pPr>
            <a:r>
              <a:rPr sz="1000" b="0" i="0">
                <a:solidFill>
                  <a:srgbClr val="1B1B1B"/>
                </a:solidFill>
                <a:latin typeface="Calibri"/>
              </a:rPr>
              <a:t>Conseil IA : « Tu es la directrice, non technique et sceptique. Pose-moi 3 questions sur ce pitch. » Répondez à voix haute ; sans donnée confidentielle.</a:t>
            </a:r>
          </a:p>
        </p:txBody>
      </p:sp>
      <p:sp>
        <p:nvSpPr>
          <p:cNvPr id="19" name="TextBox 18"/>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Synthèse pédagogique de l'enseignant ; exemples fictifs de TransLor.</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26</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Préparer le pitch de 5 minutes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EX26</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125</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  20 min  ·  Carnet · chapitre 8  ·  Outil : chronomètre, mémo vocal</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Préparer un pitch de 5 minutes pour un public non technique : un message clé, un plan, des réponses aux objections probables.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Vous défendez votre état de l'art en 5 minutes devant un jury composé de la directrice (non technique) et de ses collaborateurs. Puis 4 minutes de questions.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Écrivez le message clé en une phrase.</a:t>
            </a:r>
          </a:p>
          <a:p>
            <a:pPr algn="l" marL="274320" indent="-274320">
              <a:spcAft>
                <a:spcPts val="480"/>
              </a:spcAft>
              <a:buAutoNum type="arabicPeriod"/>
            </a:pPr>
            <a:r>
              <a:rPr sz="1600" b="0" i="0">
                <a:solidFill>
                  <a:srgbClr val="1B1B1B"/>
                </a:solidFill>
                <a:latin typeface="Calibri"/>
              </a:rPr>
              <a:t>Construisez le plan : accroche, problème, solution, preuve, appel à décision.</a:t>
            </a:r>
          </a:p>
          <a:p>
            <a:pPr algn="l" marL="274320" indent="-274320">
              <a:spcAft>
                <a:spcPts val="480"/>
              </a:spcAft>
              <a:buAutoNum type="arabicPeriod"/>
            </a:pPr>
            <a:r>
              <a:rPr sz="1600" b="0" i="0">
                <a:solidFill>
                  <a:srgbClr val="1B1B1B"/>
                </a:solidFill>
                <a:latin typeface="Calibri"/>
              </a:rPr>
              <a:t>Préparez les réponses aux 3 objections les plus probables.</a:t>
            </a:r>
          </a:p>
          <a:p>
            <a:pPr algn="l" marL="274320" indent="-274320">
              <a:spcAft>
                <a:spcPts val="480"/>
              </a:spcAft>
              <a:buAutoNum type="arabicPeriod"/>
            </a:pPr>
            <a:r>
              <a:rPr sz="1600" b="0" i="0">
                <a:solidFill>
                  <a:srgbClr val="1B1B1B"/>
                </a:solidFill>
                <a:latin typeface="Calibri"/>
              </a:rPr>
              <a:t>Chronométrez-vous une fois.</a:t>
            </a:r>
          </a:p>
          <a:p>
            <a:pPr algn="l" marL="274320" indent="-274320">
              <a:spcAft>
                <a:spcPts val="480"/>
              </a:spcAft>
              <a:buAutoNum type="arabicPeriod"/>
            </a:pPr>
            <a:r>
              <a:rPr sz="1600" b="0" i="0">
                <a:solidFill>
                  <a:srgbClr val="1B1B1B"/>
                </a:solidFill>
                <a:latin typeface="Calibri"/>
              </a:rPr>
              <a:t>Avec Claude ou une autre IA (notez laquelle) : demandez-lui de jouer la directrice non technique et de poser 3 questions sur votre pitch. Notez celle qui vous met le plus en difficulté.</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1" i="0">
                <a:solidFill>
                  <a:srgbClr val="1B1B1B"/>
                </a:solidFill>
                <a:latin typeface="Calibri"/>
              </a:rPr>
              <a:t>Livrable : Votre message clé, votre plan et les trois objections préparées. → Dossier, section 15.</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6.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26 — Préparer le pitch de 5 minutes</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EX26</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126</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Un message clé : une phrase que la directrice peut répéter.</a:t>
            </a:r>
          </a:p>
          <a:p>
            <a:pPr algn="l" marL="274320" indent="-274320">
              <a:spcAft>
                <a:spcPts val="375"/>
              </a:spcAft>
              <a:buAutoNum type="arabicPeriod"/>
            </a:pPr>
            <a:r>
              <a:rPr sz="1500" b="0" i="0">
                <a:solidFill>
                  <a:srgbClr val="1B1B1B"/>
                </a:solidFill>
                <a:latin typeface="Calibri"/>
              </a:rPr>
              <a:t>Un chiffre, une analogie, une demande.</a:t>
            </a:r>
          </a:p>
          <a:p>
            <a:pPr algn="l" marL="274320" indent="-274320">
              <a:spcAft>
                <a:spcPts val="375"/>
              </a:spcAft>
              <a:buAutoNum type="arabicPeriod"/>
            </a:pPr>
            <a:r>
              <a:rPr sz="1500" b="0" i="0">
                <a:solidFill>
                  <a:srgbClr val="1B1B1B"/>
                </a:solidFill>
                <a:latin typeface="Calibri"/>
              </a:rPr>
              <a:t>S'entraîner à voix haute, chronomètre en main.</a:t>
            </a:r>
          </a:p>
        </p:txBody>
      </p:sp>
      <p:graphicFrame>
        <p:nvGraphicFramePr>
          <p:cNvPr id="9" name="Table 8"/>
          <p:cNvGraphicFramePr>
            <a:graphicFrameLocks noGrp="1"/>
          </p:cNvGraphicFramePr>
          <p:nvPr/>
        </p:nvGraphicFramePr>
        <p:xfrm>
          <a:off x="3703320" y="1097280"/>
          <a:ext cx="8046720" cy="1901952"/>
        </p:xfrm>
        <a:graphic>
          <a:graphicData uri="http://schemas.openxmlformats.org/drawingml/2006/table">
            <a:tbl>
              <a:tblPr firstRow="0" bandRow="0">
                <a:tableStyleId>{5C22544A-7EE6-4342-B048-85BDC9FD1C3A}</a:tableStyleId>
              </a:tblPr>
              <a:tblGrid>
                <a:gridCol w="1828800"/>
                <a:gridCol w="6217920"/>
              </a:tblGrid>
              <a:tr h="237744">
                <a:tc>
                  <a:txBody>
                    <a:bodyPr wrap="square"/>
                    <a:lstStyle/>
                    <a:p>
                      <a:r>
                        <a:rPr sz="1700" b="1">
                          <a:solidFill>
                            <a:srgbClr val="FFFFFF"/>
                          </a:solidFill>
                          <a:latin typeface="Calibri"/>
                        </a:rPr>
                        <a:t>Étape</a:t>
                      </a:r>
                    </a:p>
                  </a:txBody>
                  <a:tcPr marL="73152" marR="73152" marT="36576" marB="36576">
                    <a:solidFill>
                      <a:srgbClr val="1F2A5C"/>
                    </a:solidFill>
                  </a:tcPr>
                </a:tc>
                <a:tc>
                  <a:txBody>
                    <a:bodyPr wrap="square"/>
                    <a:lstStyle/>
                    <a:p>
                      <a:r>
                        <a:rPr sz="1700" b="1">
                          <a:solidFill>
                            <a:srgbClr val="FFFFFF"/>
                          </a:solidFill>
                          <a:latin typeface="Calibri"/>
                        </a:rPr>
                        <a:t>Exemple (fictif)</a:t>
                      </a:r>
                    </a:p>
                  </a:txBody>
                  <a:tcPr marL="73152" marR="73152" marT="36576" marB="36576">
                    <a:solidFill>
                      <a:srgbClr val="1F2A5C"/>
                    </a:solidFill>
                  </a:tcPr>
                </a:tc>
              </a:tr>
              <a:tr h="237744">
                <a:tc>
                  <a:txBody>
                    <a:bodyPr wrap="square"/>
                    <a:lstStyle/>
                    <a:p>
                      <a:r>
                        <a:rPr sz="1700" b="1">
                          <a:solidFill>
                            <a:srgbClr val="1B1B1B"/>
                          </a:solidFill>
                          <a:latin typeface="Calibri"/>
                        </a:rPr>
                        <a:t>Message clé</a:t>
                      </a:r>
                    </a:p>
                  </a:txBody>
                  <a:tcPr marL="73152" marR="73152" marT="36576" marB="36576">
                    <a:solidFill>
                      <a:srgbClr val="FFFFFF"/>
                    </a:solidFill>
                  </a:tcPr>
                </a:tc>
                <a:tc>
                  <a:txBody>
                    <a:bodyPr wrap="square"/>
                    <a:lstStyle/>
                    <a:p>
                      <a:r>
                        <a:rPr sz="1700" b="0">
                          <a:solidFill>
                            <a:srgbClr val="1B1B1B"/>
                          </a:solidFill>
                          <a:latin typeface="Calibri"/>
                        </a:rPr>
                        <a:t>« Une copie hors site coûte 1 800 € par an et évite une perte attendue de 4 000 €. »</a:t>
                      </a:r>
                    </a:p>
                  </a:txBody>
                  <a:tcPr marL="73152" marR="73152" marT="36576" marB="36576">
                    <a:solidFill>
                      <a:srgbClr val="FFFFFF"/>
                    </a:solidFill>
                  </a:tcPr>
                </a:tc>
              </a:tr>
              <a:tr h="237744">
                <a:tc>
                  <a:txBody>
                    <a:bodyPr wrap="square"/>
                    <a:lstStyle/>
                    <a:p>
                      <a:r>
                        <a:rPr sz="1700" b="1">
                          <a:solidFill>
                            <a:srgbClr val="1B1B1B"/>
                          </a:solidFill>
                          <a:latin typeface="Calibri"/>
                        </a:rPr>
                        <a:t>Accroche</a:t>
                      </a:r>
                    </a:p>
                  </a:txBody>
                  <a:tcPr marL="73152" marR="73152" marT="36576" marB="36576">
                    <a:solidFill>
                      <a:srgbClr val="F3F5F9"/>
                    </a:solidFill>
                  </a:tcPr>
                </a:tc>
                <a:tc>
                  <a:txBody>
                    <a:bodyPr wrap="square"/>
                    <a:lstStyle/>
                    <a:p>
                      <a:r>
                        <a:rPr sz="1700" b="0">
                          <a:solidFill>
                            <a:srgbClr val="1B1B1B"/>
                          </a:solidFill>
                          <a:latin typeface="Calibri"/>
                        </a:rPr>
                        <a:t>« En juin, restaurer la sauvegarde a pris 9 heures. »</a:t>
                      </a:r>
                    </a:p>
                  </a:txBody>
                  <a:tcPr marL="73152" marR="73152" marT="36576" marB="36576">
                    <a:solidFill>
                      <a:srgbClr val="F3F5F9"/>
                    </a:solidFill>
                  </a:tcPr>
                </a:tc>
              </a:tr>
              <a:tr h="237744">
                <a:tc>
                  <a:txBody>
                    <a:bodyPr wrap="square"/>
                    <a:lstStyle/>
                    <a:p>
                      <a:r>
                        <a:rPr sz="1700" b="1">
                          <a:solidFill>
                            <a:srgbClr val="1B1B1B"/>
                          </a:solidFill>
                          <a:latin typeface="Calibri"/>
                        </a:rPr>
                        <a:t>Problème</a:t>
                      </a:r>
                    </a:p>
                  </a:txBody>
                  <a:tcPr marL="73152" marR="73152" marT="36576" marB="36576">
                    <a:solidFill>
                      <a:srgbClr val="FFFFFF"/>
                    </a:solidFill>
                  </a:tcPr>
                </a:tc>
                <a:tc>
                  <a:txBody>
                    <a:bodyPr wrap="square"/>
                    <a:lstStyle/>
                    <a:p>
                      <a:r>
                        <a:rPr sz="1700" b="0">
                          <a:solidFill>
                            <a:srgbClr val="1B1B1B"/>
                          </a:solidFill>
                          <a:latin typeface="Calibri"/>
                        </a:rPr>
                        <a:t>« Un seul disque de 3 ans porte toute notre sauvegarde. »</a:t>
                      </a:r>
                    </a:p>
                  </a:txBody>
                  <a:tcPr marL="73152" marR="73152" marT="36576" marB="36576">
                    <a:solidFill>
                      <a:srgbClr val="FFFFFF"/>
                    </a:solidFill>
                  </a:tcPr>
                </a:tc>
              </a:tr>
              <a:tr h="237744">
                <a:tc>
                  <a:txBody>
                    <a:bodyPr wrap="square"/>
                    <a:lstStyle/>
                    <a:p>
                      <a:r>
                        <a:rPr sz="1700" b="1">
                          <a:solidFill>
                            <a:srgbClr val="1B1B1B"/>
                          </a:solidFill>
                          <a:latin typeface="Calibri"/>
                        </a:rPr>
                        <a:t>Solution</a:t>
                      </a:r>
                    </a:p>
                  </a:txBody>
                  <a:tcPr marL="73152" marR="73152" marT="36576" marB="36576">
                    <a:solidFill>
                      <a:srgbClr val="F3F5F9"/>
                    </a:solidFill>
                  </a:tcPr>
                </a:tc>
                <a:tc>
                  <a:txBody>
                    <a:bodyPr wrap="square"/>
                    <a:lstStyle/>
                    <a:p>
                      <a:r>
                        <a:rPr sz="1700" b="0">
                          <a:solidFill>
                            <a:srgbClr val="1B1B1B"/>
                          </a:solidFill>
                          <a:latin typeface="Calibri"/>
                        </a:rPr>
                        <a:t>« Ajouter une copie hors site, avec un test de restauration. »</a:t>
                      </a:r>
                    </a:p>
                  </a:txBody>
                  <a:tcPr marL="73152" marR="73152" marT="36576" marB="36576">
                    <a:solidFill>
                      <a:srgbClr val="F3F5F9"/>
                    </a:solidFill>
                  </a:tcPr>
                </a:tc>
              </a:tr>
              <a:tr h="237744">
                <a:tc>
                  <a:txBody>
                    <a:bodyPr wrap="square"/>
                    <a:lstStyle/>
                    <a:p>
                      <a:r>
                        <a:rPr sz="1700" b="1">
                          <a:solidFill>
                            <a:srgbClr val="1B1B1B"/>
                          </a:solidFill>
                          <a:latin typeface="Calibri"/>
                        </a:rPr>
                        <a:t>Preuve</a:t>
                      </a:r>
                    </a:p>
                  </a:txBody>
                  <a:tcPr marL="73152" marR="73152" marT="36576" marB="36576">
                    <a:solidFill>
                      <a:srgbClr val="FFFFFF"/>
                    </a:solidFill>
                  </a:tcPr>
                </a:tc>
                <a:tc>
                  <a:txBody>
                    <a:bodyPr wrap="square"/>
                    <a:lstStyle/>
                    <a:p>
                      <a:r>
                        <a:rPr sz="1700" b="0">
                          <a:solidFill>
                            <a:srgbClr val="1B1B1B"/>
                          </a:solidFill>
                          <a:latin typeface="Calibri"/>
                        </a:rPr>
                        <a:t>« 9 h contre 3 h ; 10 % de risque annuel (estimation). »</a:t>
                      </a:r>
                    </a:p>
                  </a:txBody>
                  <a:tcPr marL="73152" marR="73152" marT="36576" marB="36576">
                    <a:solidFill>
                      <a:srgbClr val="FFFFFF"/>
                    </a:solidFill>
                  </a:tcPr>
                </a:tc>
              </a:tr>
              <a:tr h="237744">
                <a:tc>
                  <a:txBody>
                    <a:bodyPr wrap="square"/>
                    <a:lstStyle/>
                    <a:p>
                      <a:r>
                        <a:rPr sz="1700" b="1">
                          <a:solidFill>
                            <a:srgbClr val="1B1B1B"/>
                          </a:solidFill>
                          <a:latin typeface="Calibri"/>
                        </a:rPr>
                        <a:t>Appel</a:t>
                      </a:r>
                    </a:p>
                  </a:txBody>
                  <a:tcPr marL="73152" marR="73152" marT="36576" marB="36576">
                    <a:solidFill>
                      <a:srgbClr val="F3F5F9"/>
                    </a:solidFill>
                  </a:tcPr>
                </a:tc>
                <a:tc>
                  <a:txBody>
                    <a:bodyPr wrap="square"/>
                    <a:lstStyle/>
                    <a:p>
                      <a:r>
                        <a:rPr sz="1700" b="0">
                          <a:solidFill>
                            <a:srgbClr val="1B1B1B"/>
                          </a:solidFill>
                          <a:latin typeface="Calibri"/>
                        </a:rPr>
                        <a:t>« Validez 1 800 € par an avant la fin du mois. »</a:t>
                      </a:r>
                    </a:p>
                  </a:txBody>
                  <a:tcPr marL="73152" marR="73152" marT="36576" marB="36576">
                    <a:solidFill>
                      <a:srgbClr val="F3F5F9"/>
                    </a:solidFill>
                  </a:tcPr>
                </a:tc>
              </a:tr>
              <a:tr h="237744">
                <a:tc>
                  <a:txBody>
                    <a:bodyPr wrap="square"/>
                    <a:lstStyle/>
                    <a:p>
                      <a:r>
                        <a:rPr sz="1700" b="1">
                          <a:solidFill>
                            <a:srgbClr val="1B1B1B"/>
                          </a:solidFill>
                          <a:latin typeface="Calibri"/>
                        </a:rPr>
                        <a:t>IA · jury simulé</a:t>
                      </a:r>
                    </a:p>
                  </a:txBody>
                  <a:tcPr marL="73152" marR="73152" marT="36576" marB="36576">
                    <a:solidFill>
                      <a:srgbClr val="FFFFFF"/>
                    </a:solidFill>
                  </a:tcPr>
                </a:tc>
                <a:tc>
                  <a:txBody>
                    <a:bodyPr wrap="square"/>
                    <a:lstStyle/>
                    <a:p>
                      <a:r>
                        <a:rPr sz="1700" b="0">
                          <a:solidFill>
                            <a:srgbClr val="1B1B1B"/>
                          </a:solidFill>
                          <a:latin typeface="Calibri"/>
                        </a:rPr>
                        <a:t>Gardez la question la plus difficile et préparez une réponse en trois temps : reformuler, fait, réserve.</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Tout dire : 5 minutes = un message.</a:t>
            </a:r>
          </a:p>
          <a:p>
            <a:pPr algn="l" marL="201168" indent="-201168">
              <a:spcAft>
                <a:spcPts val="110"/>
              </a:spcAft>
              <a:buChar char="•"/>
            </a:pPr>
            <a:r>
              <a:rPr sz="1100" b="0" i="0">
                <a:solidFill>
                  <a:srgbClr val="1B1B1B"/>
                </a:solidFill>
                <a:latin typeface="Calibri"/>
              </a:rPr>
              <a:t>Lire ses notes.</a:t>
            </a:r>
          </a:p>
          <a:p>
            <a:pPr algn="l" marL="201168" indent="-201168">
              <a:spcAft>
                <a:spcPts val="110"/>
              </a:spcAft>
              <a:buChar char="•"/>
            </a:pPr>
            <a:r>
              <a:rPr sz="1100" b="0" i="0">
                <a:solidFill>
                  <a:srgbClr val="1B1B1B"/>
                </a:solidFill>
                <a:latin typeface="Calibri"/>
              </a:rPr>
              <a:t>Oublier l'appel à décision.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Règles du pitch et du jury</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127</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Temps</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5 minutes de pitch chronométrées, puis 4 minutes de questions.</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Jury</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La directrice et ses collaborateurs : questions courtes, feedback SBI.</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Observateurs</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Les autres équipes notent avec la grille sur 20 dans l'application.</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Après chaque équipe</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Une minute de feedback du jury.</a:t>
            </a:r>
          </a:p>
        </p:txBody>
      </p:sp>
      <p:sp>
        <p:nvSpPr>
          <p:cNvPr id="18" name="Rounded Rectangle 17"/>
          <p:cNvSpPr/>
          <p:nvPr/>
        </p:nvSpPr>
        <p:spPr>
          <a:xfrm>
            <a:off x="411480" y="5669280"/>
            <a:ext cx="1133856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Grille de notation : message clé, structure, clarté, preuves, réponses, voix (EX27).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27</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Pitch et défense devant le jury</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EX27</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128</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Équipes, jury  ·  65 min  ·  Carnet · chapitre 8  ·  Outil : grille de jury (application)</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Défendre votre état de l'art devant un jury : présenter, répondre en reformulant puis en donnant un fait, une concession ou une réserve.</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Chaque équipe présente 5 minutes, puis répond aux questions du jury 4 minutes. Les autres équipes observent et notent avec la grille (sur 20).</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Présentez votre état de l'art (5 minutes chronométrées).</a:t>
            </a:r>
          </a:p>
          <a:p>
            <a:pPr algn="l" marL="274320" indent="-274320">
              <a:spcAft>
                <a:spcPts val="600"/>
              </a:spcAft>
              <a:buAutoNum type="arabicPeriod"/>
            </a:pPr>
            <a:r>
              <a:rPr sz="2000" b="0" i="0">
                <a:solidFill>
                  <a:srgbClr val="1B1B1B"/>
                </a:solidFill>
                <a:latin typeface="Calibri"/>
              </a:rPr>
              <a:t>Répondez aux questions : reformuler, puis fait, concession ou réserve.</a:t>
            </a:r>
          </a:p>
          <a:p>
            <a:pPr algn="l" marL="274320" indent="-274320">
              <a:spcAft>
                <a:spcPts val="600"/>
              </a:spcAft>
              <a:buAutoNum type="arabicPeriod"/>
            </a:pPr>
            <a:r>
              <a:rPr sz="2000" b="0" i="0">
                <a:solidFill>
                  <a:srgbClr val="1B1B1B"/>
                </a:solidFill>
                <a:latin typeface="Calibri"/>
              </a:rPr>
              <a:t>Observateurs : notez avec la grille et écrivez un feedback SBI.</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La grille de notation de chaque équipe et un feedback SBI. → Dossier, section 15.</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7.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Correction · EX 27 — Pitch et défense devant le jury</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EX27</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129</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Jury : un barème, des questions préparées, un feedback SBI.</a:t>
            </a:r>
          </a:p>
          <a:p>
            <a:pPr algn="l" marL="274320" indent="-274320">
              <a:spcAft>
                <a:spcPts val="375"/>
              </a:spcAft>
              <a:buAutoNum type="arabicPeriod"/>
            </a:pPr>
            <a:r>
              <a:rPr sz="1500" b="0" i="0">
                <a:solidFill>
                  <a:srgbClr val="1B1B1B"/>
                </a:solidFill>
                <a:latin typeface="Calibri"/>
              </a:rPr>
              <a:t>Équipe : message clé, preuve, réserve.</a:t>
            </a:r>
          </a:p>
        </p:txBody>
      </p:sp>
      <p:graphicFrame>
        <p:nvGraphicFramePr>
          <p:cNvPr id="9" name="Table 8"/>
          <p:cNvGraphicFramePr>
            <a:graphicFrameLocks noGrp="1"/>
          </p:cNvGraphicFramePr>
          <p:nvPr/>
        </p:nvGraphicFramePr>
        <p:xfrm>
          <a:off x="3703320" y="1097280"/>
          <a:ext cx="8046720" cy="1664208"/>
        </p:xfrm>
        <a:graphic>
          <a:graphicData uri="http://schemas.openxmlformats.org/drawingml/2006/table">
            <a:tbl>
              <a:tblPr firstRow="0" bandRow="0">
                <a:tableStyleId>{5C22544A-7EE6-4342-B048-85BDC9FD1C3A}</a:tableStyleId>
              </a:tblPr>
              <a:tblGrid>
                <a:gridCol w="2194560"/>
                <a:gridCol w="822960"/>
                <a:gridCol w="5029200"/>
              </a:tblGrid>
              <a:tr h="237744">
                <a:tc>
                  <a:txBody>
                    <a:bodyPr wrap="square"/>
                    <a:lstStyle/>
                    <a:p>
                      <a:r>
                        <a:rPr sz="1700" b="1">
                          <a:solidFill>
                            <a:srgbClr val="FFFFFF"/>
                          </a:solidFill>
                          <a:latin typeface="Calibri"/>
                        </a:rPr>
                        <a:t>Critère</a:t>
                      </a:r>
                    </a:p>
                  </a:txBody>
                  <a:tcPr marL="73152" marR="73152" marT="36576" marB="36576">
                    <a:solidFill>
                      <a:srgbClr val="1F2A5C"/>
                    </a:solidFill>
                  </a:tcPr>
                </a:tc>
                <a:tc>
                  <a:txBody>
                    <a:bodyPr wrap="square"/>
                    <a:lstStyle/>
                    <a:p>
                      <a:r>
                        <a:rPr sz="1700" b="1">
                          <a:solidFill>
                            <a:srgbClr val="FFFFFF"/>
                          </a:solidFill>
                          <a:latin typeface="Calibri"/>
                        </a:rPr>
                        <a:t>Points</a:t>
                      </a:r>
                    </a:p>
                  </a:txBody>
                  <a:tcPr marL="73152" marR="73152" marT="36576" marB="36576">
                    <a:solidFill>
                      <a:srgbClr val="1F2A5C"/>
                    </a:solidFill>
                  </a:tcPr>
                </a:tc>
                <a:tc>
                  <a:txBody>
                    <a:bodyPr wrap="square"/>
                    <a:lstStyle/>
                    <a:p>
                      <a:r>
                        <a:rPr sz="1700" b="1">
                          <a:solidFill>
                            <a:srgbClr val="FFFFFF"/>
                          </a:solidFill>
                          <a:latin typeface="Calibri"/>
                        </a:rPr>
                        <a:t>Ce qui vaut le maximum</a:t>
                      </a:r>
                    </a:p>
                  </a:txBody>
                  <a:tcPr marL="73152" marR="73152" marT="36576" marB="36576">
                    <a:solidFill>
                      <a:srgbClr val="1F2A5C"/>
                    </a:solidFill>
                  </a:tcPr>
                </a:tc>
              </a:tr>
              <a:tr h="237744">
                <a:tc>
                  <a:txBody>
                    <a:bodyPr wrap="square"/>
                    <a:lstStyle/>
                    <a:p>
                      <a:r>
                        <a:rPr sz="1700" b="1">
                          <a:solidFill>
                            <a:srgbClr val="1B1B1B"/>
                          </a:solidFill>
                          <a:latin typeface="Calibri"/>
                        </a:rPr>
                        <a:t>Message clé</a:t>
                      </a:r>
                    </a:p>
                  </a:txBody>
                  <a:tcPr marL="73152" marR="73152" marT="36576" marB="36576">
                    <a:solidFill>
                      <a:srgbClr val="FFFFFF"/>
                    </a:solidFill>
                  </a:tcPr>
                </a:tc>
                <a:tc>
                  <a:txBody>
                    <a:bodyPr wrap="square"/>
                    <a:lstStyle/>
                    <a:p>
                      <a:r>
                        <a:rPr sz="1700" b="0">
                          <a:solidFill>
                            <a:srgbClr val="1B1B1B"/>
                          </a:solidFill>
                          <a:latin typeface="Calibri"/>
                        </a:rPr>
                        <a:t>3</a:t>
                      </a:r>
                    </a:p>
                  </a:txBody>
                  <a:tcPr marL="73152" marR="73152" marT="36576" marB="36576">
                    <a:solidFill>
                      <a:srgbClr val="FFFFFF"/>
                    </a:solidFill>
                  </a:tcPr>
                </a:tc>
                <a:tc>
                  <a:txBody>
                    <a:bodyPr wrap="square"/>
                    <a:lstStyle/>
                    <a:p>
                      <a:r>
                        <a:rPr sz="1700" b="0">
                          <a:solidFill>
                            <a:srgbClr val="1B1B1B"/>
                          </a:solidFill>
                          <a:latin typeface="Calibri"/>
                        </a:rPr>
                        <a:t>Une phrase claire, répétée à la fin</a:t>
                      </a:r>
                    </a:p>
                  </a:txBody>
                  <a:tcPr marL="73152" marR="73152" marT="36576" marB="36576">
                    <a:solidFill>
                      <a:srgbClr val="FFFFFF"/>
                    </a:solidFill>
                  </a:tcPr>
                </a:tc>
              </a:tr>
              <a:tr h="237744">
                <a:tc>
                  <a:txBody>
                    <a:bodyPr wrap="square"/>
                    <a:lstStyle/>
                    <a:p>
                      <a:r>
                        <a:rPr sz="1700" b="1">
                          <a:solidFill>
                            <a:srgbClr val="1B1B1B"/>
                          </a:solidFill>
                          <a:latin typeface="Calibri"/>
                        </a:rPr>
                        <a:t>Structure</a:t>
                      </a:r>
                    </a:p>
                  </a:txBody>
                  <a:tcPr marL="73152" marR="73152" marT="36576" marB="36576">
                    <a:solidFill>
                      <a:srgbClr val="F3F5F9"/>
                    </a:solidFill>
                  </a:tcPr>
                </a:tc>
                <a:tc>
                  <a:txBody>
                    <a:bodyPr wrap="square"/>
                    <a:lstStyle/>
                    <a:p>
                      <a:r>
                        <a:rPr sz="1700" b="0">
                          <a:solidFill>
                            <a:srgbClr val="1B1B1B"/>
                          </a:solidFill>
                          <a:latin typeface="Calibri"/>
                        </a:rPr>
                        <a:t>3</a:t>
                      </a:r>
                    </a:p>
                  </a:txBody>
                  <a:tcPr marL="73152" marR="73152" marT="36576" marB="36576">
                    <a:solidFill>
                      <a:srgbClr val="F3F5F9"/>
                    </a:solidFill>
                  </a:tcPr>
                </a:tc>
                <a:tc>
                  <a:txBody>
                    <a:bodyPr wrap="square"/>
                    <a:lstStyle/>
                    <a:p>
                      <a:r>
                        <a:rPr sz="1700" b="0">
                          <a:solidFill>
                            <a:srgbClr val="1B1B1B"/>
                          </a:solidFill>
                          <a:latin typeface="Calibri"/>
                        </a:rPr>
                        <a:t>Accroche, problème, solution, preuve, appel enchaînés</a:t>
                      </a:r>
                    </a:p>
                  </a:txBody>
                  <a:tcPr marL="73152" marR="73152" marT="36576" marB="36576">
                    <a:solidFill>
                      <a:srgbClr val="F3F5F9"/>
                    </a:solidFill>
                  </a:tcPr>
                </a:tc>
              </a:tr>
              <a:tr h="237744">
                <a:tc>
                  <a:txBody>
                    <a:bodyPr wrap="square"/>
                    <a:lstStyle/>
                    <a:p>
                      <a:r>
                        <a:rPr sz="1700" b="1">
                          <a:solidFill>
                            <a:srgbClr val="1B1B1B"/>
                          </a:solidFill>
                          <a:latin typeface="Calibri"/>
                        </a:rPr>
                        <a:t>Clarté et vulgarisation</a:t>
                      </a:r>
                    </a:p>
                  </a:txBody>
                  <a:tcPr marL="73152" marR="73152" marT="36576" marB="36576">
                    <a:solidFill>
                      <a:srgbClr val="FFFFFF"/>
                    </a:solidFill>
                  </a:tcPr>
                </a:tc>
                <a:tc>
                  <a:txBody>
                    <a:bodyPr wrap="square"/>
                    <a:lstStyle/>
                    <a:p>
                      <a:r>
                        <a:rPr sz="1700" b="0">
                          <a:solidFill>
                            <a:srgbClr val="1B1B1B"/>
                          </a:solidFill>
                          <a:latin typeface="Calibri"/>
                        </a:rPr>
                        <a:t>3</a:t>
                      </a:r>
                    </a:p>
                  </a:txBody>
                  <a:tcPr marL="73152" marR="73152" marT="36576" marB="36576">
                    <a:solidFill>
                      <a:srgbClr val="FFFFFF"/>
                    </a:solidFill>
                  </a:tcPr>
                </a:tc>
                <a:tc>
                  <a:txBody>
                    <a:bodyPr wrap="square"/>
                    <a:lstStyle/>
                    <a:p>
                      <a:r>
                        <a:rPr sz="1700" b="0">
                          <a:solidFill>
                            <a:srgbClr val="1B1B1B"/>
                          </a:solidFill>
                          <a:latin typeface="Calibri"/>
                        </a:rPr>
                        <a:t>Aucun jargon non expliqué ; une analogie</a:t>
                      </a:r>
                    </a:p>
                  </a:txBody>
                  <a:tcPr marL="73152" marR="73152" marT="36576" marB="36576">
                    <a:solidFill>
                      <a:srgbClr val="FFFFFF"/>
                    </a:solidFill>
                  </a:tcPr>
                </a:tc>
              </a:tr>
              <a:tr h="237744">
                <a:tc>
                  <a:txBody>
                    <a:bodyPr wrap="square"/>
                    <a:lstStyle/>
                    <a:p>
                      <a:r>
                        <a:rPr sz="1700" b="1">
                          <a:solidFill>
                            <a:srgbClr val="1B1B1B"/>
                          </a:solidFill>
                          <a:latin typeface="Calibri"/>
                        </a:rPr>
                        <a:t>Preuves et sources</a:t>
                      </a:r>
                    </a:p>
                  </a:txBody>
                  <a:tcPr marL="73152" marR="73152" marT="36576" marB="36576">
                    <a:solidFill>
                      <a:srgbClr val="F3F5F9"/>
                    </a:solidFill>
                  </a:tcPr>
                </a:tc>
                <a:tc>
                  <a:txBody>
                    <a:bodyPr wrap="square"/>
                    <a:lstStyle/>
                    <a:p>
                      <a:r>
                        <a:rPr sz="1700" b="0">
                          <a:solidFill>
                            <a:srgbClr val="1B1B1B"/>
                          </a:solidFill>
                          <a:latin typeface="Calibri"/>
                        </a:rPr>
                        <a:t>4</a:t>
                      </a:r>
                    </a:p>
                  </a:txBody>
                  <a:tcPr marL="73152" marR="73152" marT="36576" marB="36576">
                    <a:solidFill>
                      <a:srgbClr val="F3F5F9"/>
                    </a:solidFill>
                  </a:tcPr>
                </a:tc>
                <a:tc>
                  <a:txBody>
                    <a:bodyPr wrap="square"/>
                    <a:lstStyle/>
                    <a:p>
                      <a:r>
                        <a:rPr sz="1700" b="0">
                          <a:solidFill>
                            <a:srgbClr val="1B1B1B"/>
                          </a:solidFill>
                          <a:latin typeface="Calibri"/>
                        </a:rPr>
                        <a:t>Chiffres sourcés, sources citées oralement</a:t>
                      </a:r>
                    </a:p>
                  </a:txBody>
                  <a:tcPr marL="73152" marR="73152" marT="36576" marB="36576">
                    <a:solidFill>
                      <a:srgbClr val="F3F5F9"/>
                    </a:solidFill>
                  </a:tcPr>
                </a:tc>
              </a:tr>
              <a:tr h="237744">
                <a:tc>
                  <a:txBody>
                    <a:bodyPr wrap="square"/>
                    <a:lstStyle/>
                    <a:p>
                      <a:r>
                        <a:rPr sz="1700" b="1">
                          <a:solidFill>
                            <a:srgbClr val="1B1B1B"/>
                          </a:solidFill>
                          <a:latin typeface="Calibri"/>
                        </a:rPr>
                        <a:t>Réponse aux questions</a:t>
                      </a:r>
                    </a:p>
                  </a:txBody>
                  <a:tcPr marL="73152" marR="73152" marT="36576" marB="36576">
                    <a:solidFill>
                      <a:srgbClr val="FFFFFF"/>
                    </a:solidFill>
                  </a:tcPr>
                </a:tc>
                <a:tc>
                  <a:txBody>
                    <a:bodyPr wrap="square"/>
                    <a:lstStyle/>
                    <a:p>
                      <a:r>
                        <a:rPr sz="1700" b="0">
                          <a:solidFill>
                            <a:srgbClr val="1B1B1B"/>
                          </a:solidFill>
                          <a:latin typeface="Calibri"/>
                        </a:rPr>
                        <a:t>4</a:t>
                      </a:r>
                    </a:p>
                  </a:txBody>
                  <a:tcPr marL="73152" marR="73152" marT="36576" marB="36576">
                    <a:solidFill>
                      <a:srgbClr val="FFFFFF"/>
                    </a:solidFill>
                  </a:tcPr>
                </a:tc>
                <a:tc>
                  <a:txBody>
                    <a:bodyPr wrap="square"/>
                    <a:lstStyle/>
                    <a:p>
                      <a:r>
                        <a:rPr sz="1700" b="0">
                          <a:solidFill>
                            <a:srgbClr val="1B1B1B"/>
                          </a:solidFill>
                          <a:latin typeface="Calibri"/>
                        </a:rPr>
                        <a:t>Reformule, répond par un fait, une concession ou une réserve</a:t>
                      </a:r>
                    </a:p>
                  </a:txBody>
                  <a:tcPr marL="73152" marR="73152" marT="36576" marB="36576">
                    <a:solidFill>
                      <a:srgbClr val="FFFFFF"/>
                    </a:solidFill>
                  </a:tcPr>
                </a:tc>
              </a:tr>
              <a:tr h="237744">
                <a:tc>
                  <a:txBody>
                    <a:bodyPr wrap="square"/>
                    <a:lstStyle/>
                    <a:p>
                      <a:r>
                        <a:rPr sz="1700" b="1">
                          <a:solidFill>
                            <a:srgbClr val="1B1B1B"/>
                          </a:solidFill>
                          <a:latin typeface="Calibri"/>
                        </a:rPr>
                        <a:t>Voix et posture</a:t>
                      </a:r>
                    </a:p>
                  </a:txBody>
                  <a:tcPr marL="73152" marR="73152" marT="36576" marB="36576">
                    <a:solidFill>
                      <a:srgbClr val="F3F5F9"/>
                    </a:solidFill>
                  </a:tcPr>
                </a:tc>
                <a:tc>
                  <a:txBody>
                    <a:bodyPr wrap="square"/>
                    <a:lstStyle/>
                    <a:p>
                      <a:r>
                        <a:rPr sz="1700" b="0">
                          <a:solidFill>
                            <a:srgbClr val="1B1B1B"/>
                          </a:solidFill>
                          <a:latin typeface="Calibri"/>
                        </a:rPr>
                        <a:t>3</a:t>
                      </a:r>
                    </a:p>
                  </a:txBody>
                  <a:tcPr marL="73152" marR="73152" marT="36576" marB="36576">
                    <a:solidFill>
                      <a:srgbClr val="F3F5F9"/>
                    </a:solidFill>
                  </a:tcPr>
                </a:tc>
                <a:tc>
                  <a:txBody>
                    <a:bodyPr wrap="square"/>
                    <a:lstStyle/>
                    <a:p>
                      <a:r>
                        <a:rPr sz="1700" b="0">
                          <a:solidFill>
                            <a:srgbClr val="1B1B1B"/>
                          </a:solidFill>
                          <a:latin typeface="Calibri"/>
                        </a:rPr>
                        <a:t>Débit calme, regard, pas de lecture (total 20)</a:t>
                      </a:r>
                    </a:p>
                  </a:txBody>
                  <a:tcPr marL="73152" marR="73152" marT="36576" marB="36576">
                    <a:solidFill>
                      <a:srgbClr val="F3F5F9"/>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Dépasser le temps.</a:t>
            </a:r>
          </a:p>
          <a:p>
            <a:pPr algn="l" marL="201168" indent="-201168">
              <a:spcAft>
                <a:spcPts val="110"/>
              </a:spcAft>
              <a:buChar char="•"/>
            </a:pPr>
            <a:r>
              <a:rPr sz="1100" b="0" i="0">
                <a:solidFill>
                  <a:srgbClr val="1B1B1B"/>
                </a:solidFill>
                <a:latin typeface="Calibri"/>
              </a:rPr>
              <a:t>Répondre sans reformuler la question.</a:t>
            </a:r>
          </a:p>
          <a:p>
            <a:pPr algn="l" marL="201168" indent="-201168">
              <a:spcAft>
                <a:spcPts val="110"/>
              </a:spcAft>
              <a:buChar char="•"/>
            </a:pPr>
            <a:r>
              <a:rPr sz="1100" b="0" i="0">
                <a:solidFill>
                  <a:srgbClr val="1B1B1B"/>
                </a:solidFill>
                <a:latin typeface="Calibri"/>
              </a:rPr>
              <a:t>Défendre sa conclusion sans réserve.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I</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Examen, quiz final et boîte à outils</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Évaluation du syllabus · EX29 · quiz final · exit ticket F9</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Répondre avec la méthode du cours à des questions courtes</a:t>
            </a:r>
          </a:p>
          <a:p>
            <a:pPr algn="l" marL="201168" indent="-201168">
              <a:spcAft>
                <a:spcPts val="700"/>
              </a:spcAft>
              <a:buChar char="•"/>
            </a:pPr>
            <a:r>
              <a:rPr sz="2000" b="0" i="0">
                <a:solidFill>
                  <a:srgbClr val="FFFFFF"/>
                </a:solidFill>
                <a:latin typeface="Calibri"/>
              </a:rPr>
              <a:t>Repartir avec 30 sites et outils à garder</a:t>
            </a:r>
          </a:p>
          <a:p>
            <a:pPr algn="l" marL="201168" indent="-201168">
              <a:spcAft>
                <a:spcPts val="700"/>
              </a:spcAft>
              <a:buChar char="•"/>
            </a:pPr>
            <a:r>
              <a:rPr sz="2000" b="0" i="0">
                <a:solidFill>
                  <a:srgbClr val="FFFFFF"/>
                </a:solidFill>
                <a:latin typeface="Calibri"/>
              </a:rPr>
              <a:t>Planifier la suite : veille et projet tutoré</a:t>
            </a:r>
          </a:p>
        </p:txBody>
      </p:sp>
      <p:sp>
        <p:nvSpPr>
          <p:cNvPr id="7" name="Rounded Rectangle 6"/>
          <p:cNvSpPr/>
          <p:nvPr/>
        </p:nvSpPr>
        <p:spPr>
          <a:xfrm>
            <a:off x="731520" y="5760720"/>
            <a:ext cx="1078992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F2A5C"/>
                </a:solidFill>
                <a:latin typeface="Calibri"/>
              </a:rPr>
              <a:t>Objectif du syllabus : EV · Évaluation : examen écrit</a:t>
            </a:r>
          </a:p>
        </p:txBody>
      </p:sp>
      <p:sp>
        <p:nvSpPr>
          <p:cNvPr id="8" name="TextBox 7"/>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9" name="TextBox 8"/>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Réussir une question d'examen</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131</a:t>
            </a:r>
          </a:p>
        </p:txBody>
      </p:sp>
      <p:sp>
        <p:nvSpPr>
          <p:cNvPr id="6" name="Rounded Rectangle 5"/>
          <p:cNvSpPr/>
          <p:nvPr/>
        </p:nvSpPr>
        <p:spPr>
          <a:xfrm>
            <a:off x="41148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188720"/>
            <a:ext cx="2697480" cy="548640"/>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Lire la consigne</a:t>
            </a:r>
          </a:p>
        </p:txBody>
      </p:sp>
      <p:sp>
        <p:nvSpPr>
          <p:cNvPr id="8" name="TextBox 7"/>
          <p:cNvSpPr txBox="1"/>
          <p:nvPr/>
        </p:nvSpPr>
        <p:spPr>
          <a:xfrm>
            <a:off x="45720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Que demande-t-on : nommer, noter, reformuler, rédiger ?</a:t>
            </a:r>
          </a:p>
          <a:p>
            <a:pPr algn="l">
              <a:spcAft>
                <a:spcPts val="509"/>
              </a:spcAft>
            </a:pPr>
            <a:r>
              <a:rPr sz="1700" b="0" i="0">
                <a:solidFill>
                  <a:srgbClr val="1B1B1B"/>
                </a:solidFill>
                <a:latin typeface="Calibri"/>
              </a:rPr>
              <a:t>Ex. : « Nommez » n'est pas « expliquez »</a:t>
            </a:r>
          </a:p>
        </p:txBody>
      </p:sp>
      <p:sp>
        <p:nvSpPr>
          <p:cNvPr id="9" name="Rounded Rectangle 8"/>
          <p:cNvSpPr/>
          <p:nvPr/>
        </p:nvSpPr>
        <p:spPr>
          <a:xfrm>
            <a:off x="329184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188720"/>
            <a:ext cx="2697480" cy="548640"/>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Utiliser la méthode</a:t>
            </a:r>
          </a:p>
        </p:txBody>
      </p:sp>
      <p:sp>
        <p:nvSpPr>
          <p:cNvPr id="11" name="TextBox 10"/>
          <p:cNvSpPr txBox="1"/>
          <p:nvPr/>
        </p:nvSpPr>
        <p:spPr>
          <a:xfrm>
            <a:off x="333756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Toulmin, grille en six questions, opérateurs, pyramide.</a:t>
            </a:r>
          </a:p>
          <a:p>
            <a:pPr algn="l">
              <a:spcAft>
                <a:spcPts val="509"/>
              </a:spcAft>
            </a:pPr>
            <a:r>
              <a:rPr sz="1700" b="0" i="0">
                <a:solidFill>
                  <a:srgbClr val="1B1B1B"/>
                </a:solidFill>
                <a:latin typeface="Calibri"/>
              </a:rPr>
              <a:t>Ex. : six questions pour noter une source</a:t>
            </a:r>
          </a:p>
        </p:txBody>
      </p:sp>
      <p:sp>
        <p:nvSpPr>
          <p:cNvPr id="12" name="Rounded Rectangle 11"/>
          <p:cNvSpPr/>
          <p:nvPr/>
        </p:nvSpPr>
        <p:spPr>
          <a:xfrm>
            <a:off x="617220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188720"/>
            <a:ext cx="269748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94"/>
              </a:spcAft>
            </a:pPr>
            <a:r>
              <a:rPr sz="1700" b="1" i="0">
                <a:solidFill>
                  <a:srgbClr val="FFFFFF"/>
                </a:solidFill>
                <a:latin typeface="Calibri"/>
              </a:rPr>
              <a:t>Citer un terme précis</a:t>
            </a:r>
          </a:p>
        </p:txBody>
      </p:sp>
      <p:sp>
        <p:nvSpPr>
          <p:cNvPr id="14" name="TextBox 13"/>
          <p:cNvSpPr txBox="1"/>
          <p:nvPr/>
        </p:nvSpPr>
        <p:spPr>
          <a:xfrm>
            <a:off x="621792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Nommer le sophisme, le biais, l'opérateur.</a:t>
            </a:r>
          </a:p>
          <a:p>
            <a:pPr algn="l">
              <a:spcAft>
                <a:spcPts val="509"/>
              </a:spcAft>
            </a:pPr>
            <a:r>
              <a:rPr sz="1700" b="0" i="0">
                <a:solidFill>
                  <a:srgbClr val="1B1B1B"/>
                </a:solidFill>
                <a:latin typeface="Calibri"/>
              </a:rPr>
              <a:t>Ex. : « pente glissante », « biais du survivant »</a:t>
            </a:r>
          </a:p>
        </p:txBody>
      </p:sp>
      <p:sp>
        <p:nvSpPr>
          <p:cNvPr id="15" name="Rounded Rectangle 14"/>
          <p:cNvSpPr/>
          <p:nvPr/>
        </p:nvSpPr>
        <p:spPr>
          <a:xfrm>
            <a:off x="9052560" y="1188720"/>
            <a:ext cx="2697480" cy="4526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52560" y="1188720"/>
            <a:ext cx="2697480" cy="548640"/>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30"/>
              </a:spcAft>
            </a:pPr>
            <a:r>
              <a:rPr sz="1800" b="1" i="0">
                <a:solidFill>
                  <a:srgbClr val="FFFFFF"/>
                </a:solidFill>
                <a:latin typeface="Calibri"/>
              </a:rPr>
              <a:t>Conclure honnêtement</a:t>
            </a:r>
          </a:p>
        </p:txBody>
      </p:sp>
      <p:sp>
        <p:nvSpPr>
          <p:cNvPr id="17" name="TextBox 16"/>
          <p:cNvSpPr txBox="1"/>
          <p:nvPr/>
        </p:nvSpPr>
        <p:spPr>
          <a:xfrm>
            <a:off x="9098280" y="1783080"/>
            <a:ext cx="2606040" cy="3886200"/>
          </a:xfrm>
          <a:prstGeom prst="rect">
            <a:avLst/>
          </a:prstGeom>
          <a:noFill/>
        </p:spPr>
        <p:txBody>
          <a:bodyPr wrap="square" anchor="t">
            <a:spAutoFit/>
          </a:bodyPr>
          <a:lstStyle/>
          <a:p>
            <a:pPr algn="l">
              <a:spcAft>
                <a:spcPts val="509"/>
              </a:spcAft>
            </a:pPr>
            <a:r>
              <a:rPr sz="1700" b="0" i="0">
                <a:solidFill>
                  <a:srgbClr val="1B1B1B"/>
                </a:solidFill>
                <a:latin typeface="Calibri"/>
              </a:rPr>
              <a:t>Qualificatif et réserve quand la question le permet.</a:t>
            </a:r>
          </a:p>
          <a:p>
            <a:pPr algn="l">
              <a:spcAft>
                <a:spcPts val="509"/>
              </a:spcAft>
            </a:pPr>
            <a:r>
              <a:rPr sz="1700" b="0" i="0">
                <a:solidFill>
                  <a:srgbClr val="1B1B1B"/>
                </a:solidFill>
                <a:latin typeface="Calibri"/>
              </a:rPr>
              <a:t>Ex. : « probablement, sous réserve de… »</a:t>
            </a:r>
          </a:p>
        </p:txBody>
      </p:sp>
      <p:sp>
        <p:nvSpPr>
          <p:cNvPr id="18" name="Rounded Rectangle 17"/>
          <p:cNvSpPr/>
          <p:nvPr/>
        </p:nvSpPr>
        <p:spPr>
          <a:xfrm>
            <a:off x="411480" y="5669280"/>
            <a:ext cx="6035040" cy="64008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Le format réel de l'examen dépend de l'école ; EX29 est un entraînement.</a:t>
            </a:r>
          </a:p>
        </p:txBody>
      </p:sp>
      <p:sp>
        <p:nvSpPr>
          <p:cNvPr id="19" name="Rounded Rectangle 18"/>
          <p:cNvSpPr/>
          <p:nvPr/>
        </p:nvSpPr>
        <p:spPr>
          <a:xfrm>
            <a:off x="6583680" y="5669280"/>
            <a:ext cx="5166360" cy="640080"/>
          </a:xfrm>
          <a:prstGeom prst="roundRect">
            <a:avLst>
              <a:gd name="adj" fmla="val 6000"/>
            </a:avLst>
          </a:prstGeom>
          <a:solidFill>
            <a:srgbClr val="EDE7FA"/>
          </a:solidFill>
          <a:ln w="15875">
            <a:solidFill>
              <a:srgbClr val="7A5A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19"/>
              </a:spcAft>
            </a:pPr>
            <a:r>
              <a:rPr sz="1200" b="0" i="0">
                <a:solidFill>
                  <a:srgbClr val="1B1B1B"/>
                </a:solidFill>
                <a:latin typeface="Calibri"/>
              </a:rPr>
              <a:t>Conseil IA : à l'examen, l'IA n'est probablement pas autorisée : vérifiez le règlement de l'école et entraînez-vous sans.</a:t>
            </a:r>
          </a:p>
        </p:txBody>
      </p:sp>
      <p:sp>
        <p:nvSpPr>
          <p:cNvPr id="20" name="TextBox 19"/>
          <p:cNvSpPr txBox="1"/>
          <p:nvPr/>
        </p:nvSpPr>
        <p:spPr>
          <a:xfrm>
            <a:off x="411480" y="6272784"/>
            <a:ext cx="11338560" cy="201168"/>
          </a:xfrm>
          <a:prstGeom prst="rect">
            <a:avLst/>
          </a:prstGeom>
          <a:noFill/>
        </p:spPr>
        <p:txBody>
          <a:bodyPr wrap="square" anchor="t">
            <a:spAutoFit/>
          </a:bodyPr>
          <a:lstStyle/>
          <a:p>
            <a:pPr algn="l">
              <a:spcAft>
                <a:spcPts val="280"/>
              </a:spcAft>
            </a:pPr>
            <a:r>
              <a:rPr sz="800" b="0" i="1">
                <a:solidFill>
                  <a:srgbClr val="5B6478"/>
                </a:solidFill>
                <a:latin typeface="Calibri"/>
              </a:rPr>
              <a:t>Sources : Conseils généraux de méthode (synthèse de l'enseignant) ; le format réel de l'examen est inconnu.</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EX 29</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Entraînement : questions de type examen</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EX29</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132</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  15 min  ·  Carnet · chapitre 10</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Vous entraîner à répondre aux questions courtes de l'examen écrit avec les méthodes du cours.</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Format d'examen écrit (inventé : à adapter à votre format réel). Cinq questions courtes.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118104"/>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480"/>
              </a:spcAft>
              <a:buAutoNum type="arabicPeriod"/>
            </a:pPr>
            <a:r>
              <a:rPr sz="1600" b="0" i="0">
                <a:solidFill>
                  <a:srgbClr val="1B1B1B"/>
                </a:solidFill>
                <a:latin typeface="Calibri"/>
              </a:rPr>
              <a:t>Q1. Complétez la carte de Toulmin de : « Il faut passer au cloud : tous nos concurrents l'ont fait. »</a:t>
            </a:r>
          </a:p>
          <a:p>
            <a:pPr algn="l" marL="274320" indent="-274320">
              <a:spcAft>
                <a:spcPts val="480"/>
              </a:spcAft>
              <a:buAutoNum type="arabicPeriod"/>
            </a:pPr>
            <a:r>
              <a:rPr sz="1600" b="0" i="0">
                <a:solidFill>
                  <a:srgbClr val="1B1B1B"/>
                </a:solidFill>
                <a:latin typeface="Calibri"/>
              </a:rPr>
              <a:t>Q2. Notez la source « blog anonyme, 2022, chiffres sans source » avec la grille en six questions.</a:t>
            </a:r>
          </a:p>
          <a:p>
            <a:pPr algn="l" marL="274320" indent="-274320">
              <a:spcAft>
                <a:spcPts val="480"/>
              </a:spcAft>
              <a:buAutoNum type="arabicPeriod"/>
            </a:pPr>
            <a:r>
              <a:rPr sz="1600" b="0" i="0">
                <a:solidFill>
                  <a:srgbClr val="1B1B1B"/>
                </a:solidFill>
                <a:latin typeface="Calibri"/>
              </a:rPr>
              <a:t>Q3. Quel sophisme dans « Soit on migre ce mois-ci, soit on perd nos clients » ?</a:t>
            </a:r>
          </a:p>
          <a:p>
            <a:pPr algn="l" marL="274320" indent="-274320">
              <a:spcAft>
                <a:spcPts val="480"/>
              </a:spcAft>
              <a:buAutoNum type="arabicPeriod"/>
            </a:pPr>
            <a:r>
              <a:rPr sz="1600" b="0" i="0">
                <a:solidFill>
                  <a:srgbClr val="1B1B1B"/>
                </a:solidFill>
                <a:latin typeface="Calibri"/>
              </a:rPr>
              <a:t>Q4. Réécrivez avec un qualificatif et une réserve : « Les passkeys sont meilleurs que les mots de passe. »</a:t>
            </a:r>
          </a:p>
        </p:txBody>
      </p:sp>
      <p:sp>
        <p:nvSpPr>
          <p:cNvPr id="15" name="Rounded Rectangle 14"/>
          <p:cNvSpPr/>
          <p:nvPr/>
        </p:nvSpPr>
        <p:spPr>
          <a:xfrm>
            <a:off x="411480" y="5486400"/>
            <a:ext cx="10058400" cy="566928"/>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25"/>
              </a:spcAft>
            </a:pPr>
            <a:r>
              <a:rPr sz="1500" b="1" i="0">
                <a:solidFill>
                  <a:srgbClr val="1B1B1B"/>
                </a:solidFill>
                <a:latin typeface="Calibri"/>
              </a:rPr>
              <a:t>Livrable : Vos réponses, comparées à la correction.</a:t>
            </a:r>
          </a:p>
        </p:txBody>
      </p:sp>
      <p:sp>
        <p:nvSpPr>
          <p:cNvPr id="16" name="TextBox 15"/>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7" name="Picture 16" descr="EX29.png"/>
          <p:cNvPicPr>
            <a:picLocks noChangeAspect="1"/>
          </p:cNvPicPr>
          <p:nvPr/>
        </p:nvPicPr>
        <p:blipFill>
          <a:blip r:embed="rId4"/>
          <a:stretch>
            <a:fillRect/>
          </a:stretch>
        </p:blipFill>
        <p:spPr>
          <a:xfrm>
            <a:off x="10744200" y="5257800"/>
            <a:ext cx="1005840" cy="1005840"/>
          </a:xfrm>
          <a:prstGeom prst="rect">
            <a:avLst/>
          </a:prstGeom>
        </p:spPr>
      </p:pic>
      <p:sp>
        <p:nvSpPr>
          <p:cNvPr id="18" name="TextBox 17"/>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DCEB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Correction · EX 29 — Entraînement : questions de type examen</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EX29</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133</a:t>
            </a:r>
          </a:p>
        </p:txBody>
      </p:sp>
      <p:sp>
        <p:nvSpPr>
          <p:cNvPr id="7" name="Rounded Rectangle 6"/>
          <p:cNvSpPr/>
          <p:nvPr/>
        </p:nvSpPr>
        <p:spPr>
          <a:xfrm>
            <a:off x="411480" y="1097280"/>
            <a:ext cx="3108960" cy="365760"/>
          </a:xfrm>
          <a:prstGeom prst="roundRect">
            <a:avLst>
              <a:gd name="adj" fmla="val 6000"/>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Méthode</a:t>
            </a:r>
          </a:p>
        </p:txBody>
      </p:sp>
      <p:sp>
        <p:nvSpPr>
          <p:cNvPr id="8" name="Rounded Rectangle 7"/>
          <p:cNvSpPr/>
          <p:nvPr/>
        </p:nvSpPr>
        <p:spPr>
          <a:xfrm>
            <a:off x="411480" y="1481328"/>
            <a:ext cx="31089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375"/>
              </a:spcAft>
              <a:buAutoNum type="arabicPeriod"/>
            </a:pPr>
            <a:r>
              <a:rPr sz="1500" b="0" i="0">
                <a:solidFill>
                  <a:srgbClr val="1B1B1B"/>
                </a:solidFill>
                <a:latin typeface="Calibri"/>
              </a:rPr>
              <a:t>Répondre à la question posée, avec la méthode du cours.</a:t>
            </a:r>
          </a:p>
          <a:p>
            <a:pPr algn="l" marL="274320" indent="-274320">
              <a:spcAft>
                <a:spcPts val="375"/>
              </a:spcAft>
              <a:buAutoNum type="arabicPeriod"/>
            </a:pPr>
            <a:r>
              <a:rPr sz="1500" b="0" i="0">
                <a:solidFill>
                  <a:srgbClr val="1B1B1B"/>
                </a:solidFill>
                <a:latin typeface="Calibri"/>
              </a:rPr>
              <a:t>Citer un critère ou un terme précis.</a:t>
            </a:r>
          </a:p>
        </p:txBody>
      </p:sp>
      <p:graphicFrame>
        <p:nvGraphicFramePr>
          <p:cNvPr id="9" name="Table 8"/>
          <p:cNvGraphicFramePr>
            <a:graphicFrameLocks noGrp="1"/>
          </p:cNvGraphicFramePr>
          <p:nvPr/>
        </p:nvGraphicFramePr>
        <p:xfrm>
          <a:off x="3703320" y="1097280"/>
          <a:ext cx="8046720" cy="1426464"/>
        </p:xfrm>
        <a:graphic>
          <a:graphicData uri="http://schemas.openxmlformats.org/drawingml/2006/table">
            <a:tbl>
              <a:tblPr firstRow="0" bandRow="0">
                <a:tableStyleId>{5C22544A-7EE6-4342-B048-85BDC9FD1C3A}</a:tableStyleId>
              </a:tblPr>
              <a:tblGrid>
                <a:gridCol w="914400"/>
                <a:gridCol w="7132320"/>
              </a:tblGrid>
              <a:tr h="237744">
                <a:tc>
                  <a:txBody>
                    <a:bodyPr wrap="square"/>
                    <a:lstStyle/>
                    <a:p>
                      <a:r>
                        <a:rPr sz="1700" b="1">
                          <a:solidFill>
                            <a:srgbClr val="FFFFFF"/>
                          </a:solidFill>
                          <a:latin typeface="Calibri"/>
                        </a:rPr>
                        <a:t>Question</a:t>
                      </a:r>
                    </a:p>
                  </a:txBody>
                  <a:tcPr marL="73152" marR="73152" marT="36576" marB="36576">
                    <a:solidFill>
                      <a:srgbClr val="1F2A5C"/>
                    </a:solidFill>
                  </a:tcPr>
                </a:tc>
                <a:tc>
                  <a:txBody>
                    <a:bodyPr wrap="square"/>
                    <a:lstStyle/>
                    <a:p>
                      <a:r>
                        <a:rPr sz="1700" b="1">
                          <a:solidFill>
                            <a:srgbClr val="FFFFFF"/>
                          </a:solidFill>
                          <a:latin typeface="Calibri"/>
                        </a:rPr>
                        <a:t>Réponse attendue</a:t>
                      </a:r>
                    </a:p>
                  </a:txBody>
                  <a:tcPr marL="73152" marR="73152" marT="36576" marB="36576">
                    <a:solidFill>
                      <a:srgbClr val="1F2A5C"/>
                    </a:solidFill>
                  </a:tcPr>
                </a:tc>
              </a:tr>
              <a:tr h="237744">
                <a:tc>
                  <a:txBody>
                    <a:bodyPr wrap="square"/>
                    <a:lstStyle/>
                    <a:p>
                      <a:r>
                        <a:rPr sz="1700" b="1">
                          <a:solidFill>
                            <a:srgbClr val="1B1B1B"/>
                          </a:solidFill>
                          <a:latin typeface="Calibri"/>
                        </a:rPr>
                        <a:t>Q1</a:t>
                      </a:r>
                    </a:p>
                  </a:txBody>
                  <a:tcPr marL="73152" marR="73152" marT="36576" marB="36576">
                    <a:solidFill>
                      <a:srgbClr val="FFFFFF"/>
                    </a:solidFill>
                  </a:tcPr>
                </a:tc>
                <a:tc>
                  <a:txBody>
                    <a:bodyPr wrap="square"/>
                    <a:lstStyle/>
                    <a:p>
                      <a:r>
                        <a:rPr sz="1700" b="0">
                          <a:solidFill>
                            <a:srgbClr val="1B1B1B"/>
                          </a:solidFill>
                          <a:latin typeface="Calibri"/>
                        </a:rPr>
                        <a:t>Affirmation : passer au cloud. Données : « tous nos concurrents l'ont fait » (popularité, pas une donnée). Garantie manquante. Réfutation et qualificatif manquants.</a:t>
                      </a:r>
                    </a:p>
                  </a:txBody>
                  <a:tcPr marL="73152" marR="73152" marT="36576" marB="36576">
                    <a:solidFill>
                      <a:srgbClr val="FFFFFF"/>
                    </a:solidFill>
                  </a:tcPr>
                </a:tc>
              </a:tr>
              <a:tr h="237744">
                <a:tc>
                  <a:txBody>
                    <a:bodyPr wrap="square"/>
                    <a:lstStyle/>
                    <a:p>
                      <a:r>
                        <a:rPr sz="1700" b="1">
                          <a:solidFill>
                            <a:srgbClr val="1B1B1B"/>
                          </a:solidFill>
                          <a:latin typeface="Calibri"/>
                        </a:rPr>
                        <a:t>Q2</a:t>
                      </a:r>
                    </a:p>
                  </a:txBody>
                  <a:tcPr marL="73152" marR="73152" marT="36576" marB="36576">
                    <a:solidFill>
                      <a:srgbClr val="F3F5F9"/>
                    </a:solidFill>
                  </a:tcPr>
                </a:tc>
                <a:tc>
                  <a:txBody>
                    <a:bodyPr wrap="square"/>
                    <a:lstStyle/>
                    <a:p>
                      <a:r>
                        <a:rPr sz="1700" b="0">
                          <a:solidFill>
                            <a:srgbClr val="1B1B1B"/>
                          </a:solidFill>
                          <a:latin typeface="Calibri"/>
                        </a:rPr>
                        <a:t>Qui 0, Quand 1, Pourquoi 0 ou 1, Sur quoi 0, Recoupé 0, Reproductible 0 : total 1 à 2 sur 12 : écarter</a:t>
                      </a:r>
                    </a:p>
                  </a:txBody>
                  <a:tcPr marL="73152" marR="73152" marT="36576" marB="36576">
                    <a:solidFill>
                      <a:srgbClr val="F3F5F9"/>
                    </a:solidFill>
                  </a:tcPr>
                </a:tc>
              </a:tr>
              <a:tr h="237744">
                <a:tc>
                  <a:txBody>
                    <a:bodyPr wrap="square"/>
                    <a:lstStyle/>
                    <a:p>
                      <a:r>
                        <a:rPr sz="1700" b="1">
                          <a:solidFill>
                            <a:srgbClr val="1B1B1B"/>
                          </a:solidFill>
                          <a:latin typeface="Calibri"/>
                        </a:rPr>
                        <a:t>Q3</a:t>
                      </a:r>
                    </a:p>
                  </a:txBody>
                  <a:tcPr marL="73152" marR="73152" marT="36576" marB="36576">
                    <a:solidFill>
                      <a:srgbClr val="FFFFFF"/>
                    </a:solidFill>
                  </a:tcPr>
                </a:tc>
                <a:tc>
                  <a:txBody>
                    <a:bodyPr wrap="square"/>
                    <a:lstStyle/>
                    <a:p>
                      <a:r>
                        <a:rPr sz="1700" b="0">
                          <a:solidFill>
                            <a:srgbClr val="1B1B1B"/>
                          </a:solidFill>
                          <a:latin typeface="Calibri"/>
                        </a:rPr>
                        <a:t>Faux dilemme : d'autres options existent (migration progressive, test sur un service)</a:t>
                      </a:r>
                    </a:p>
                  </a:txBody>
                  <a:tcPr marL="73152" marR="73152" marT="36576" marB="36576">
                    <a:solidFill>
                      <a:srgbClr val="FFFFFF"/>
                    </a:solidFill>
                  </a:tcPr>
                </a:tc>
              </a:tr>
              <a:tr h="237744">
                <a:tc>
                  <a:txBody>
                    <a:bodyPr wrap="square"/>
                    <a:lstStyle/>
                    <a:p>
                      <a:r>
                        <a:rPr sz="1700" b="1">
                          <a:solidFill>
                            <a:srgbClr val="1B1B1B"/>
                          </a:solidFill>
                          <a:latin typeface="Calibri"/>
                        </a:rPr>
                        <a:t>Q4</a:t>
                      </a:r>
                    </a:p>
                  </a:txBody>
                  <a:tcPr marL="73152" marR="73152" marT="36576" marB="36576">
                    <a:solidFill>
                      <a:srgbClr val="F3F5F9"/>
                    </a:solidFill>
                  </a:tcPr>
                </a:tc>
                <a:tc>
                  <a:txBody>
                    <a:bodyPr wrap="square"/>
                    <a:lstStyle/>
                    <a:p>
                      <a:r>
                        <a:rPr sz="1700" b="0">
                          <a:solidFill>
                            <a:srgbClr val="1B1B1B"/>
                          </a:solidFill>
                          <a:latin typeface="Calibri"/>
                        </a:rPr>
                        <a:t>« sauvegarde hors site » OR « off-site backup » OR « offsite backup », avec le filtre de dates</a:t>
                      </a:r>
                    </a:p>
                  </a:txBody>
                  <a:tcPr marL="73152" marR="73152" marT="36576" marB="36576">
                    <a:solidFill>
                      <a:srgbClr val="F3F5F9"/>
                    </a:solidFill>
                  </a:tcPr>
                </a:tc>
              </a:tr>
              <a:tr h="237744">
                <a:tc>
                  <a:txBody>
                    <a:bodyPr wrap="square"/>
                    <a:lstStyle/>
                    <a:p>
                      <a:r>
                        <a:rPr sz="1700" b="1">
                          <a:solidFill>
                            <a:srgbClr val="1B1B1B"/>
                          </a:solidFill>
                          <a:latin typeface="Calibri"/>
                        </a:rPr>
                        <a:t>Q5</a:t>
                      </a:r>
                    </a:p>
                  </a:txBody>
                  <a:tcPr marL="73152" marR="73152" marT="36576" marB="36576">
                    <a:solidFill>
                      <a:srgbClr val="FFFFFF"/>
                    </a:solidFill>
                  </a:tcPr>
                </a:tc>
                <a:tc>
                  <a:txBody>
                    <a:bodyPr wrap="square"/>
                    <a:lstStyle/>
                    <a:p>
                      <a:r>
                        <a:rPr sz="1700" b="0">
                          <a:solidFill>
                            <a:srgbClr val="1B1B1B"/>
                          </a:solidFill>
                          <a:latin typeface="Calibri"/>
                        </a:rPr>
                        <a:t>« Les passkeys sont probablement plus sûrs que les mots de passe pour l'hameçonnage ; réserve : compatibilité et coût de déploiement à chiffrer. »</a:t>
                      </a:r>
                    </a:p>
                  </a:txBody>
                  <a:tcPr marL="73152" marR="73152" marT="36576" marB="36576">
                    <a:solidFill>
                      <a:srgbClr val="FFFFFF"/>
                    </a:solidFill>
                  </a:tcPr>
                </a:tc>
              </a:tr>
            </a:tbl>
          </a:graphicData>
        </a:graphic>
      </p:graphicFrame>
      <p:sp>
        <p:nvSpPr>
          <p:cNvPr id="10" name="Rounded Rectangle 9"/>
          <p:cNvSpPr/>
          <p:nvPr/>
        </p:nvSpPr>
        <p:spPr>
          <a:xfrm>
            <a:off x="411480" y="5394960"/>
            <a:ext cx="11338560" cy="256032"/>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19"/>
              </a:spcAft>
            </a:pPr>
            <a:r>
              <a:rPr sz="1200" b="1" i="0">
                <a:solidFill>
                  <a:srgbClr val="FFFFFF"/>
                </a:solidFill>
                <a:latin typeface="Calibri"/>
              </a:rPr>
              <a:t>Erreurs fréquentes</a:t>
            </a:r>
          </a:p>
        </p:txBody>
      </p:sp>
      <p:sp>
        <p:nvSpPr>
          <p:cNvPr id="11" name="Rounded Rectangle 10"/>
          <p:cNvSpPr/>
          <p:nvPr/>
        </p:nvSpPr>
        <p:spPr>
          <a:xfrm>
            <a:off x="411480" y="5669280"/>
            <a:ext cx="11338560" cy="65836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110"/>
              </a:spcAft>
              <a:buChar char="•"/>
            </a:pPr>
            <a:r>
              <a:rPr sz="1100" b="0" i="0">
                <a:solidFill>
                  <a:srgbClr val="1B1B1B"/>
                </a:solidFill>
                <a:latin typeface="Calibri"/>
              </a:rPr>
              <a:t>Répondre hors sujet : relire la consigne.</a:t>
            </a:r>
          </a:p>
          <a:p>
            <a:pPr algn="l" marL="201168" indent="-201168">
              <a:spcAft>
                <a:spcPts val="110"/>
              </a:spcAft>
              <a:buChar char="•"/>
            </a:pPr>
            <a:r>
              <a:rPr sz="1100" b="0" i="0">
                <a:solidFill>
                  <a:srgbClr val="1B1B1B"/>
                </a:solidFill>
                <a:latin typeface="Calibri"/>
              </a:rPr>
              <a:t>Oublier la réserve dans une conclusion.</a:t>
            </a:r>
          </a:p>
          <a:p>
            <a:pPr algn="l" marL="201168" indent="-201168">
              <a:spcAft>
                <a:spcPts val="110"/>
              </a:spcAft>
              <a:buChar char="•"/>
            </a:pPr>
            <a:r>
              <a:rPr sz="1100" b="0" i="0">
                <a:solidFill>
                  <a:srgbClr val="1B1B1B"/>
                </a:solidFill>
                <a:latin typeface="Calibri"/>
              </a:rPr>
              <a:t>Écrire une requête sans synonymes.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Quiz final (10 questions, individuel)</a:t>
            </a:r>
          </a:p>
        </p:txBody>
      </p:sp>
      <p:sp>
        <p:nvSpPr>
          <p:cNvPr id="4" name="TextBox 3"/>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Jeu</a:t>
            </a:r>
          </a:p>
        </p:txBody>
      </p:sp>
      <p:sp>
        <p:nvSpPr>
          <p:cNvPr id="5" name="TextBox 4"/>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6" name="TextBox 5"/>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134</a:t>
            </a:r>
          </a:p>
        </p:txBody>
      </p:sp>
      <p:sp>
        <p:nvSpPr>
          <p:cNvPr id="7" name="Rounded Rectangle 6"/>
          <p:cNvSpPr/>
          <p:nvPr/>
        </p:nvSpPr>
        <p:spPr>
          <a:xfrm>
            <a:off x="548640" y="1371600"/>
            <a:ext cx="7498079" cy="2926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01168" indent="-201168">
              <a:spcAft>
                <a:spcPts val="769"/>
              </a:spcAft>
              <a:buChar char="•"/>
            </a:pPr>
            <a:r>
              <a:rPr sz="2200" b="0" i="0">
                <a:solidFill>
                  <a:srgbClr val="1B1B1B"/>
                </a:solidFill>
                <a:latin typeface="Calibri"/>
              </a:rPr>
              <a:t>Chaque étudiant scanne le QR et répond seul.</a:t>
            </a:r>
          </a:p>
          <a:p>
            <a:pPr algn="l" marL="201168" indent="-201168">
              <a:spcAft>
                <a:spcPts val="769"/>
              </a:spcAft>
              <a:buChar char="•"/>
            </a:pPr>
            <a:r>
              <a:rPr sz="2200" b="0" i="0">
                <a:solidFill>
                  <a:srgbClr val="1B1B1B"/>
                </a:solidFill>
                <a:latin typeface="Calibri"/>
              </a:rPr>
              <a:t>10 questions tirées au hasard dans les 31 du Jeu 20.</a:t>
            </a:r>
          </a:p>
          <a:p>
            <a:pPr algn="l" marL="201168" indent="-201168">
              <a:spcAft>
                <a:spcPts val="769"/>
              </a:spcAft>
              <a:buChar char="•"/>
            </a:pPr>
            <a:r>
              <a:rPr sz="2200" b="0" i="0">
                <a:solidFill>
                  <a:srgbClr val="1B1B1B"/>
                </a:solidFill>
                <a:latin typeface="Calibri"/>
              </a:rPr>
              <a:t>Le score s'affiche à la fin, avec les explications.</a:t>
            </a:r>
          </a:p>
        </p:txBody>
      </p:sp>
      <p:pic>
        <p:nvPicPr>
          <p:cNvPr id="8" name="Picture 7" descr="quiz-final.png"/>
          <p:cNvPicPr>
            <a:picLocks noChangeAspect="1"/>
          </p:cNvPicPr>
          <p:nvPr/>
        </p:nvPicPr>
        <p:blipFill>
          <a:blip r:embed="rId2"/>
          <a:stretch>
            <a:fillRect/>
          </a:stretch>
        </p:blipFill>
        <p:spPr>
          <a:xfrm>
            <a:off x="8778240" y="1554480"/>
            <a:ext cx="2377440" cy="2377440"/>
          </a:xfrm>
          <a:prstGeom prst="rect">
            <a:avLst/>
          </a:prstGeom>
        </p:spPr>
      </p:pic>
      <p:sp>
        <p:nvSpPr>
          <p:cNvPr id="9" name="TextBox 8"/>
          <p:cNvSpPr txBox="1"/>
          <p:nvPr/>
        </p:nvSpPr>
        <p:spPr>
          <a:xfrm>
            <a:off x="8321040" y="3913632"/>
            <a:ext cx="32918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
        <p:nvSpPr>
          <p:cNvPr id="10" name="TextBox 9"/>
          <p:cNvSpPr txBox="1"/>
          <p:nvPr/>
        </p:nvSpPr>
        <p:spPr>
          <a:xfrm>
            <a:off x="457200" y="5577840"/>
            <a:ext cx="10972800" cy="365760"/>
          </a:xfrm>
          <a:prstGeom prst="rect">
            <a:avLst/>
          </a:prstGeom>
          <a:noFill/>
        </p:spPr>
        <p:txBody>
          <a:bodyPr wrap="square" tIns="27432" bIns="27432">
            <a:spAutoFit/>
          </a:bodyPr>
          <a:lstStyle/>
          <a:p>
            <a:pPr algn="l"/>
            <a:r>
              <a:rPr sz="1400" u="sng">
                <a:solidFill>
                  <a:srgbClr val="1F5FBF"/>
                </a:solidFill>
                <a:latin typeface="Calibri"/>
                <a:hlinkClick r:id="rId3"/>
              </a:rPr>
              <a:t>Lien de l'animateur (bouton « Créer une salle ») : belmdeveloppement.github.io/communication-pro/#/quiz-final</a:t>
            </a:r>
          </a:p>
        </p:txBody>
      </p:sp>
      <p:sp>
        <p:nvSpPr>
          <p:cNvPr id="11" name="TextBox 10"/>
          <p:cNvSpPr txBox="1"/>
          <p:nvPr/>
        </p:nvSpPr>
        <p:spPr>
          <a:xfrm>
            <a:off x="8229600" y="4023360"/>
            <a:ext cx="3474720" cy="822960"/>
          </a:xfrm>
          <a:prstGeom prst="rect">
            <a:avLst/>
          </a:prstGeom>
          <a:noFill/>
        </p:spPr>
        <p:txBody>
          <a:bodyPr wrap="square" anchor="t">
            <a:spAutoFit/>
          </a:bodyPr>
          <a:lstStyle/>
          <a:p>
            <a:pPr algn="ctr">
              <a:spcAft>
                <a:spcPts val="560"/>
              </a:spcAft>
            </a:pPr>
            <a:r>
              <a:rPr sz="1600" b="1" i="0">
                <a:solidFill>
                  <a:srgbClr val="1F2A5C"/>
                </a:solidFill>
                <a:latin typeface="Calibri"/>
              </a:rPr>
              <a:t>Scanner pour rejoindre la partie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1143000" cy="54864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769"/>
              </a:spcAft>
            </a:pPr>
            <a:r>
              <a:rPr sz="2200" b="1" i="0">
                <a:solidFill>
                  <a:srgbClr val="1F2A5C"/>
                </a:solidFill>
                <a:latin typeface="Calibri"/>
              </a:rPr>
              <a:t>F 9</a:t>
            </a:r>
          </a:p>
        </p:txBody>
      </p:sp>
      <p:sp>
        <p:nvSpPr>
          <p:cNvPr id="4" name="TextBox 3"/>
          <p:cNvSpPr txBox="1"/>
          <p:nvPr/>
        </p:nvSpPr>
        <p:spPr>
          <a:xfrm>
            <a:off x="1691640" y="109728"/>
            <a:ext cx="9829800" cy="713232"/>
          </a:xfrm>
          <a:prstGeom prst="rect">
            <a:avLst/>
          </a:prstGeom>
          <a:noFill/>
        </p:spPr>
        <p:txBody>
          <a:bodyPr wrap="square" anchor="ctr">
            <a:spAutoFit/>
          </a:bodyPr>
          <a:lstStyle/>
          <a:p>
            <a:pPr algn="l">
              <a:spcAft>
                <a:spcPts val="979"/>
              </a:spcAft>
            </a:pPr>
            <a:r>
              <a:rPr sz="2800" b="1" i="0">
                <a:solidFill>
                  <a:srgbClr val="FFFFFF"/>
                </a:solidFill>
                <a:latin typeface="Calibri"/>
              </a:rPr>
              <a:t>Exit ticket · fin du cours</a:t>
            </a:r>
          </a:p>
        </p:txBody>
      </p:sp>
      <p:sp>
        <p:nvSpPr>
          <p:cNvPr id="5" name="TextBox 4"/>
          <p:cNvSpPr txBox="1"/>
          <p:nvPr/>
        </p:nvSpPr>
        <p:spPr>
          <a:xfrm>
            <a:off x="8229600" y="6473952"/>
            <a:ext cx="2743200" cy="274320"/>
          </a:xfrm>
          <a:prstGeom prst="rect">
            <a:avLst/>
          </a:prstGeom>
          <a:noFill/>
        </p:spPr>
        <p:txBody>
          <a:bodyPr wrap="square" anchor="t">
            <a:spAutoFit/>
          </a:bodyPr>
          <a:lstStyle/>
          <a:p>
            <a:pPr algn="r">
              <a:spcAft>
                <a:spcPts val="350"/>
              </a:spcAft>
            </a:pPr>
            <a:r>
              <a:rPr sz="1000" b="0" i="0">
                <a:solidFill>
                  <a:srgbClr val="5B6478"/>
                </a:solidFill>
                <a:latin typeface="Calibri"/>
              </a:rPr>
              <a:t>F9</a:t>
            </a:r>
          </a:p>
        </p:txBody>
      </p:sp>
      <p:sp>
        <p:nvSpPr>
          <p:cNvPr id="6" name="TextBox 5"/>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7" name="TextBox 6"/>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135</a:t>
            </a:r>
          </a:p>
        </p:txBody>
      </p:sp>
      <p:sp>
        <p:nvSpPr>
          <p:cNvPr id="8" name="TextBox 7"/>
          <p:cNvSpPr txBox="1"/>
          <p:nvPr/>
        </p:nvSpPr>
        <p:spPr>
          <a:xfrm>
            <a:off x="411480" y="941832"/>
            <a:ext cx="11338560" cy="274320"/>
          </a:xfrm>
          <a:prstGeom prst="rect">
            <a:avLst/>
          </a:prstGeom>
          <a:noFill/>
        </p:spPr>
        <p:txBody>
          <a:bodyPr wrap="square" anchor="t">
            <a:spAutoFit/>
          </a:bodyPr>
          <a:lstStyle/>
          <a:p>
            <a:pPr algn="l">
              <a:spcAft>
                <a:spcPts val="455"/>
              </a:spcAft>
            </a:pPr>
            <a:r>
              <a:rPr sz="1300" b="1" i="0">
                <a:solidFill>
                  <a:srgbClr val="5B6478"/>
                </a:solidFill>
                <a:latin typeface="Calibri"/>
              </a:rPr>
              <a:t>Individuel  ·  5 min  ·  Carnet · tous chapitres</a:t>
            </a:r>
          </a:p>
        </p:txBody>
      </p:sp>
      <p:sp>
        <p:nvSpPr>
          <p:cNvPr id="9" name="Rounded Rectangle 8"/>
          <p:cNvSpPr/>
          <p:nvPr/>
        </p:nvSpPr>
        <p:spPr>
          <a:xfrm>
            <a:off x="411480" y="1243584"/>
            <a:ext cx="2103120" cy="621792"/>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525"/>
              </a:spcAft>
            </a:pPr>
            <a:r>
              <a:rPr sz="1500" b="1" i="0">
                <a:solidFill>
                  <a:srgbClr val="1F2A5C"/>
                </a:solidFill>
                <a:latin typeface="Calibri"/>
              </a:rPr>
              <a:t>But de l'exercice</a:t>
            </a:r>
          </a:p>
        </p:txBody>
      </p:sp>
      <p:sp>
        <p:nvSpPr>
          <p:cNvPr id="10" name="Rounded Rectangle 9"/>
          <p:cNvSpPr/>
          <p:nvPr/>
        </p:nvSpPr>
        <p:spPr>
          <a:xfrm>
            <a:off x="2560320" y="1243584"/>
            <a:ext cx="9189720" cy="621792"/>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89"/>
              </a:spcAft>
            </a:pPr>
            <a:r>
              <a:rPr sz="1400" b="0" i="0">
                <a:solidFill>
                  <a:srgbClr val="1B1B1B"/>
                </a:solidFill>
                <a:latin typeface="Calibri"/>
              </a:rPr>
              <a:t>Faire le bilan : ce qui vous a été utile, ce que vous ferez différemment, ce qui manquait.</a:t>
            </a:r>
          </a:p>
        </p:txBody>
      </p:sp>
      <p:sp>
        <p:nvSpPr>
          <p:cNvPr id="11" name="Rounded Rectangle 10"/>
          <p:cNvSpPr/>
          <p:nvPr/>
        </p:nvSpPr>
        <p:spPr>
          <a:xfrm>
            <a:off x="411480" y="1920240"/>
            <a:ext cx="5760720" cy="310896"/>
          </a:xfrm>
          <a:prstGeom prst="roundRect">
            <a:avLst>
              <a:gd name="adj" fmla="val 6000"/>
            </a:avLst>
          </a:prstGeom>
          <a:solidFill>
            <a:srgbClr val="3B6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Mise en situation</a:t>
            </a:r>
          </a:p>
        </p:txBody>
      </p:sp>
      <p:sp>
        <p:nvSpPr>
          <p:cNvPr id="12" name="Rounded Rectangle 11"/>
          <p:cNvSpPr/>
          <p:nvPr/>
        </p:nvSpPr>
        <p:spPr>
          <a:xfrm>
            <a:off x="411480" y="2267712"/>
            <a:ext cx="576072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600"/>
              </a:spcAft>
            </a:pPr>
            <a:r>
              <a:rPr sz="2000" b="0" i="0">
                <a:solidFill>
                  <a:srgbClr val="1B1B1B"/>
                </a:solidFill>
                <a:latin typeface="Calibri"/>
              </a:rPr>
              <a:t>Sur une demi-page du carnet, en 5 minutes.</a:t>
            </a:r>
          </a:p>
        </p:txBody>
      </p:sp>
      <p:sp>
        <p:nvSpPr>
          <p:cNvPr id="13" name="Rounded Rectangle 12"/>
          <p:cNvSpPr/>
          <p:nvPr/>
        </p:nvSpPr>
        <p:spPr>
          <a:xfrm>
            <a:off x="6355080" y="1920240"/>
            <a:ext cx="5394960" cy="310896"/>
          </a:xfrm>
          <a:prstGeom prst="roundRect">
            <a:avLst>
              <a:gd name="adj" fmla="val 6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89"/>
              </a:spcAft>
            </a:pPr>
            <a:r>
              <a:rPr sz="1400" b="1" i="0">
                <a:solidFill>
                  <a:srgbClr val="FFFFFF"/>
                </a:solidFill>
                <a:latin typeface="Calibri"/>
              </a:rPr>
              <a:t>À faire</a:t>
            </a:r>
          </a:p>
        </p:txBody>
      </p:sp>
      <p:sp>
        <p:nvSpPr>
          <p:cNvPr id="14" name="Rounded Rectangle 13"/>
          <p:cNvSpPr/>
          <p:nvPr/>
        </p:nvSpPr>
        <p:spPr>
          <a:xfrm>
            <a:off x="6355080" y="2267712"/>
            <a:ext cx="5394960" cy="3712463"/>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marL="274320" indent="-274320">
              <a:spcAft>
                <a:spcPts val="600"/>
              </a:spcAft>
              <a:buAutoNum type="arabicPeriod"/>
            </a:pPr>
            <a:r>
              <a:rPr sz="2000" b="0" i="0">
                <a:solidFill>
                  <a:srgbClr val="1B1B1B"/>
                </a:solidFill>
                <a:latin typeface="Calibri"/>
              </a:rPr>
              <a:t>Ce que j'ai appris de plus utile.</a:t>
            </a:r>
          </a:p>
          <a:p>
            <a:pPr algn="l" marL="274320" indent="-274320">
              <a:spcAft>
                <a:spcPts val="600"/>
              </a:spcAft>
              <a:buAutoNum type="arabicPeriod"/>
            </a:pPr>
            <a:r>
              <a:rPr sz="2000" b="0" i="0">
                <a:solidFill>
                  <a:srgbClr val="1B1B1B"/>
                </a:solidFill>
                <a:latin typeface="Calibri"/>
              </a:rPr>
              <a:t>Ce que je fais différemment dès lundi.</a:t>
            </a:r>
          </a:p>
          <a:p>
            <a:pPr algn="l" marL="274320" indent="-274320">
              <a:spcAft>
                <a:spcPts val="600"/>
              </a:spcAft>
              <a:buAutoNum type="arabicPeriod"/>
            </a:pPr>
            <a:r>
              <a:rPr sz="2000" b="0" i="0">
                <a:solidFill>
                  <a:srgbClr val="1B1B1B"/>
                </a:solidFill>
                <a:latin typeface="Calibri"/>
              </a:rPr>
              <a:t>Ce qui manquait ou était de trop dans ce cours.</a:t>
            </a:r>
          </a:p>
          <a:p>
            <a:pPr algn="l" marL="274320" indent="-274320">
              <a:spcAft>
                <a:spcPts val="600"/>
              </a:spcAft>
              <a:buAutoNum type="arabicPeriod"/>
            </a:pPr>
            <a:r>
              <a:rPr sz="2000" b="0" i="0">
                <a:solidFill>
                  <a:srgbClr val="1B1B1B"/>
                </a:solidFill>
                <a:latin typeface="Calibri"/>
              </a:rPr>
              <a:t>Une note de 1 à 5 : utilité en entreprise.</a:t>
            </a:r>
          </a:p>
        </p:txBody>
      </p:sp>
      <p:sp>
        <p:nvSpPr>
          <p:cNvPr id="15" name="TextBox 14"/>
          <p:cNvSpPr txBox="1"/>
          <p:nvPr/>
        </p:nvSpPr>
        <p:spPr>
          <a:xfrm>
            <a:off x="320040" y="6089904"/>
            <a:ext cx="8686800" cy="274320"/>
          </a:xfrm>
          <a:prstGeom prst="rect">
            <a:avLst/>
          </a:prstGeom>
          <a:noFill/>
        </p:spPr>
        <p:txBody>
          <a:bodyPr wrap="square" tIns="27432" bIns="27432">
            <a:spAutoFit/>
          </a:bodyPr>
          <a:lstStyle/>
          <a:p>
            <a:pPr algn="l"/>
            <a:r>
              <a:rPr sz="1000" u="sng">
                <a:solidFill>
                  <a:srgbClr val="1F5FBF"/>
                </a:solidFill>
                <a:latin typeface="Calibri"/>
                <a:hlinkClick r:id="rId3"/>
              </a:rPr>
              <a:t>Animateur (enseignant) · réponses en direct : belmdeveloppement.github.io/communication-pro/#/prof</a:t>
            </a:r>
          </a:p>
        </p:txBody>
      </p:sp>
      <p:pic>
        <p:nvPicPr>
          <p:cNvPr id="16" name="Picture 15" descr="F9.png"/>
          <p:cNvPicPr>
            <a:picLocks noChangeAspect="1"/>
          </p:cNvPicPr>
          <p:nvPr/>
        </p:nvPicPr>
        <p:blipFill>
          <a:blip r:embed="rId4"/>
          <a:stretch>
            <a:fillRect/>
          </a:stretch>
        </p:blipFill>
        <p:spPr>
          <a:xfrm>
            <a:off x="10744200" y="5257800"/>
            <a:ext cx="1005840" cy="1005840"/>
          </a:xfrm>
          <a:prstGeom prst="rect">
            <a:avLst/>
          </a:prstGeom>
        </p:spPr>
      </p:pic>
      <p:sp>
        <p:nvSpPr>
          <p:cNvPr id="17" name="TextBox 16"/>
          <p:cNvSpPr txBox="1"/>
          <p:nvPr/>
        </p:nvSpPr>
        <p:spPr>
          <a:xfrm>
            <a:off x="10287000" y="6245352"/>
            <a:ext cx="1920240"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Boîte à outils (1/2) : chercher, vérifier, lire</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136</a:t>
            </a:r>
          </a:p>
        </p:txBody>
      </p:sp>
      <p:graphicFrame>
        <p:nvGraphicFramePr>
          <p:cNvPr id="6" name="Table 5"/>
          <p:cNvGraphicFramePr>
            <a:graphicFrameLocks noGrp="1"/>
          </p:cNvGraphicFramePr>
          <p:nvPr/>
        </p:nvGraphicFramePr>
        <p:xfrm>
          <a:off x="411480" y="1188720"/>
          <a:ext cx="11338560" cy="3291840"/>
        </p:xfrm>
        <a:graphic>
          <a:graphicData uri="http://schemas.openxmlformats.org/drawingml/2006/table">
            <a:tbl>
              <a:tblPr firstRow="0" bandRow="0">
                <a:tableStyleId>{5C22544A-7EE6-4342-B048-85BDC9FD1C3A}</a:tableStyleId>
              </a:tblPr>
              <a:tblGrid>
                <a:gridCol w="2267712"/>
                <a:gridCol w="4346448"/>
                <a:gridCol w="4724400"/>
              </a:tblGrid>
              <a:tr h="365760">
                <a:tc>
                  <a:txBody>
                    <a:bodyPr wrap="square"/>
                    <a:lstStyle/>
                    <a:p>
                      <a:r>
                        <a:rPr sz="1700" b="1">
                          <a:solidFill>
                            <a:srgbClr val="FFFFFF"/>
                          </a:solidFill>
                          <a:latin typeface="Calibri"/>
                        </a:rPr>
                        <a:t>Geste</a:t>
                      </a:r>
                    </a:p>
                  </a:txBody>
                  <a:tcPr marL="73152" marR="73152" marT="36576" marB="36576">
                    <a:solidFill>
                      <a:srgbClr val="1F2A5C"/>
                    </a:solidFill>
                  </a:tcPr>
                </a:tc>
                <a:tc>
                  <a:txBody>
                    <a:bodyPr wrap="square"/>
                    <a:lstStyle/>
                    <a:p>
                      <a:r>
                        <a:rPr sz="1700" b="1">
                          <a:solidFill>
                            <a:srgbClr val="FFFFFF"/>
                          </a:solidFill>
                          <a:latin typeface="Calibri"/>
                        </a:rPr>
                        <a:t>Outil ou site</a:t>
                      </a:r>
                    </a:p>
                  </a:txBody>
                  <a:tcPr marL="73152" marR="73152" marT="36576" marB="36576">
                    <a:solidFill>
                      <a:srgbClr val="1F2A5C"/>
                    </a:solidFill>
                  </a:tcPr>
                </a:tc>
                <a:tc>
                  <a:txBody>
                    <a:bodyPr wrap="square"/>
                    <a:lstStyle/>
                    <a:p>
                      <a:r>
                        <a:rPr sz="1700" b="1">
                          <a:solidFill>
                            <a:srgbClr val="FFFFFF"/>
                          </a:solidFill>
                          <a:latin typeface="Calibri"/>
                        </a:rPr>
                        <a:t>Adresse</a:t>
                      </a:r>
                    </a:p>
                  </a:txBody>
                  <a:tcPr marL="73152" marR="73152" marT="36576" marB="36576">
                    <a:solidFill>
                      <a:srgbClr val="1F2A5C"/>
                    </a:solidFill>
                  </a:tcPr>
                </a:tc>
              </a:tr>
              <a:tr h="365760">
                <a:tc>
                  <a:txBody>
                    <a:bodyPr wrap="square"/>
                    <a:lstStyle/>
                    <a:p>
                      <a:r>
                        <a:rPr sz="1700" b="1">
                          <a:solidFill>
                            <a:srgbClr val="1B1B1B"/>
                          </a:solidFill>
                          <a:latin typeface="Calibri"/>
                        </a:rPr>
                        <a:t>Écrire une requête</a:t>
                      </a:r>
                    </a:p>
                  </a:txBody>
                  <a:tcPr marL="73152" marR="73152" marT="36576" marB="36576">
                    <a:solidFill>
                      <a:srgbClr val="FFFFFF"/>
                    </a:solidFill>
                  </a:tcPr>
                </a:tc>
                <a:tc>
                  <a:txBody>
                    <a:bodyPr wrap="square"/>
                    <a:lstStyle/>
                    <a:p>
                      <a:r>
                        <a:rPr sz="1700" b="0">
                          <a:solidFill>
                            <a:srgbClr val="1B1B1B"/>
                          </a:solidFill>
                          <a:latin typeface="Calibri"/>
                        </a:rPr>
                        <a:t>Google : « » OR - site: filetype: intitle:</a:t>
                      </a:r>
                    </a:p>
                  </a:txBody>
                  <a:tcPr marL="73152" marR="73152" marT="36576" marB="36576">
                    <a:solidFill>
                      <a:srgbClr val="FFFFFF"/>
                    </a:solidFill>
                  </a:tcPr>
                </a:tc>
                <a:tc>
                  <a:txBody>
                    <a:bodyPr wrap="square"/>
                    <a:lstStyle/>
                    <a:p>
                      <a:r>
                        <a:rPr sz="1700" b="0">
                          <a:solidFill>
                            <a:srgbClr val="1B1B1B"/>
                          </a:solidFill>
                          <a:latin typeface="Calibri"/>
                        </a:rPr>
                        <a:t>google.com</a:t>
                      </a:r>
                    </a:p>
                  </a:txBody>
                  <a:tcPr marL="73152" marR="73152" marT="36576" marB="36576">
                    <a:solidFill>
                      <a:srgbClr val="FFFFFF"/>
                    </a:solidFill>
                  </a:tcPr>
                </a:tc>
              </a:tr>
              <a:tr h="365760">
                <a:tc>
                  <a:txBody>
                    <a:bodyPr wrap="square"/>
                    <a:lstStyle/>
                    <a:p>
                      <a:r>
                        <a:rPr sz="1700" b="1">
                          <a:solidFill>
                            <a:srgbClr val="1B1B1B"/>
                          </a:solidFill>
                          <a:latin typeface="Calibri"/>
                        </a:rPr>
                        <a:t>Articles scientifiques</a:t>
                      </a:r>
                    </a:p>
                  </a:txBody>
                  <a:tcPr marL="73152" marR="73152" marT="36576" marB="36576">
                    <a:solidFill>
                      <a:srgbClr val="F3F5F9"/>
                    </a:solidFill>
                  </a:tcPr>
                </a:tc>
                <a:tc>
                  <a:txBody>
                    <a:bodyPr wrap="square"/>
                    <a:lstStyle/>
                    <a:p>
                      <a:r>
                        <a:rPr sz="1700" b="0">
                          <a:solidFill>
                            <a:srgbClr val="1B1B1B"/>
                          </a:solidFill>
                          <a:latin typeface="Calibri"/>
                        </a:rPr>
                        <a:t>Google Scholar, Semantic Scholar, HAL, arXiv</a:t>
                      </a:r>
                    </a:p>
                  </a:txBody>
                  <a:tcPr marL="73152" marR="73152" marT="36576" marB="36576">
                    <a:solidFill>
                      <a:srgbClr val="F3F5F9"/>
                    </a:solidFill>
                  </a:tcPr>
                </a:tc>
                <a:tc>
                  <a:txBody>
                    <a:bodyPr wrap="square"/>
                    <a:lstStyle/>
                    <a:p>
                      <a:r>
                        <a:rPr sz="1700" b="0">
                          <a:solidFill>
                            <a:srgbClr val="1B1B1B"/>
                          </a:solidFill>
                          <a:latin typeface="Calibri"/>
                        </a:rPr>
                        <a:t>scholar.google.com, semanticscholar.org, hal.science, arxiv.org</a:t>
                      </a:r>
                    </a:p>
                  </a:txBody>
                  <a:tcPr marL="73152" marR="73152" marT="36576" marB="36576">
                    <a:solidFill>
                      <a:srgbClr val="F3F5F9"/>
                    </a:solidFill>
                  </a:tcPr>
                </a:tc>
              </a:tr>
              <a:tr h="365760">
                <a:tc>
                  <a:txBody>
                    <a:bodyPr wrap="square"/>
                    <a:lstStyle/>
                    <a:p>
                      <a:r>
                        <a:rPr sz="1700" b="1">
                          <a:solidFill>
                            <a:srgbClr val="1B1B1B"/>
                          </a:solidFill>
                          <a:latin typeface="Calibri"/>
                        </a:rPr>
                        <a:t>Version gratuite</a:t>
                      </a:r>
                    </a:p>
                  </a:txBody>
                  <a:tcPr marL="73152" marR="73152" marT="36576" marB="36576">
                    <a:solidFill>
                      <a:srgbClr val="FFFFFF"/>
                    </a:solidFill>
                  </a:tcPr>
                </a:tc>
                <a:tc>
                  <a:txBody>
                    <a:bodyPr wrap="square"/>
                    <a:lstStyle/>
                    <a:p>
                      <a:r>
                        <a:rPr sz="1700" b="0">
                          <a:solidFill>
                            <a:srgbClr val="1B1B1B"/>
                          </a:solidFill>
                          <a:latin typeface="Calibri"/>
                        </a:rPr>
                        <a:t>Unpaywall, CORE, DOAJ</a:t>
                      </a:r>
                    </a:p>
                  </a:txBody>
                  <a:tcPr marL="73152" marR="73152" marT="36576" marB="36576">
                    <a:solidFill>
                      <a:srgbClr val="FFFFFF"/>
                    </a:solidFill>
                  </a:tcPr>
                </a:tc>
                <a:tc>
                  <a:txBody>
                    <a:bodyPr wrap="square"/>
                    <a:lstStyle/>
                    <a:p>
                      <a:r>
                        <a:rPr sz="1700" b="0">
                          <a:solidFill>
                            <a:srgbClr val="1B1B1B"/>
                          </a:solidFill>
                          <a:latin typeface="Calibri"/>
                        </a:rPr>
                        <a:t>unpaywall.org, core.ac.uk, doaj.org</a:t>
                      </a:r>
                    </a:p>
                  </a:txBody>
                  <a:tcPr marL="73152" marR="73152" marT="36576" marB="36576">
                    <a:solidFill>
                      <a:srgbClr val="FFFFFF"/>
                    </a:solidFill>
                  </a:tcPr>
                </a:tc>
              </a:tr>
              <a:tr h="365760">
                <a:tc>
                  <a:txBody>
                    <a:bodyPr wrap="square"/>
                    <a:lstStyle/>
                    <a:p>
                      <a:r>
                        <a:rPr sz="1700" b="1">
                          <a:solidFill>
                            <a:srgbClr val="1B1B1B"/>
                          </a:solidFill>
                          <a:latin typeface="Calibri"/>
                        </a:rPr>
                        <a:t>Textes officiels</a:t>
                      </a:r>
                    </a:p>
                  </a:txBody>
                  <a:tcPr marL="73152" marR="73152" marT="36576" marB="36576">
                    <a:solidFill>
                      <a:srgbClr val="F3F5F9"/>
                    </a:solidFill>
                  </a:tcPr>
                </a:tc>
                <a:tc>
                  <a:txBody>
                    <a:bodyPr wrap="square"/>
                    <a:lstStyle/>
                    <a:p>
                      <a:r>
                        <a:rPr sz="1700" b="0">
                          <a:solidFill>
                            <a:srgbClr val="1B1B1B"/>
                          </a:solidFill>
                          <a:latin typeface="Calibri"/>
                        </a:rPr>
                        <a:t>Légifrance, EUR-Lex, ANSSI, CNIL, NIST, ENISA</a:t>
                      </a:r>
                    </a:p>
                  </a:txBody>
                  <a:tcPr marL="73152" marR="73152" marT="36576" marB="36576">
                    <a:solidFill>
                      <a:srgbClr val="F3F5F9"/>
                    </a:solidFill>
                  </a:tcPr>
                </a:tc>
                <a:tc>
                  <a:txBody>
                    <a:bodyPr wrap="square"/>
                    <a:lstStyle/>
                    <a:p>
                      <a:r>
                        <a:rPr sz="1700" b="0">
                          <a:solidFill>
                            <a:srgbClr val="1B1B1B"/>
                          </a:solidFill>
                          <a:latin typeface="Calibri"/>
                        </a:rPr>
                        <a:t>legifrance.gouv.fr, eur-lex.europa.eu, cyber.gouv.fr, cnil.fr, nist.gov, enisa.europa.eu</a:t>
                      </a:r>
                    </a:p>
                  </a:txBody>
                  <a:tcPr marL="73152" marR="73152" marT="36576" marB="36576">
                    <a:solidFill>
                      <a:srgbClr val="F3F5F9"/>
                    </a:solidFill>
                  </a:tcPr>
                </a:tc>
              </a:tr>
              <a:tr h="365760">
                <a:tc>
                  <a:txBody>
                    <a:bodyPr wrap="square"/>
                    <a:lstStyle/>
                    <a:p>
                      <a:r>
                        <a:rPr sz="1700" b="1">
                          <a:solidFill>
                            <a:srgbClr val="1B1B1B"/>
                          </a:solidFill>
                          <a:latin typeface="Calibri"/>
                        </a:rPr>
                        <a:t>Vérifier une référence</a:t>
                      </a:r>
                    </a:p>
                  </a:txBody>
                  <a:tcPr marL="73152" marR="73152" marT="36576" marB="36576">
                    <a:solidFill>
                      <a:srgbClr val="FFFFFF"/>
                    </a:solidFill>
                  </a:tcPr>
                </a:tc>
                <a:tc>
                  <a:txBody>
                    <a:bodyPr wrap="square"/>
                    <a:lstStyle/>
                    <a:p>
                      <a:r>
                        <a:rPr sz="1700" b="0">
                          <a:solidFill>
                            <a:srgbClr val="1B1B1B"/>
                          </a:solidFill>
                          <a:latin typeface="Calibri"/>
                        </a:rPr>
                        <a:t>doi.org, Crossref, Retraction Watch</a:t>
                      </a:r>
                    </a:p>
                  </a:txBody>
                  <a:tcPr marL="73152" marR="73152" marT="36576" marB="36576">
                    <a:solidFill>
                      <a:srgbClr val="FFFFFF"/>
                    </a:solidFill>
                  </a:tcPr>
                </a:tc>
                <a:tc>
                  <a:txBody>
                    <a:bodyPr wrap="square"/>
                    <a:lstStyle/>
                    <a:p>
                      <a:r>
                        <a:rPr sz="1700" b="0">
                          <a:solidFill>
                            <a:srgbClr val="1B1B1B"/>
                          </a:solidFill>
                          <a:latin typeface="Calibri"/>
                        </a:rPr>
                        <a:t>doi.org, search.crossref.org, retractiondatabase.org</a:t>
                      </a:r>
                    </a:p>
                  </a:txBody>
                  <a:tcPr marL="73152" marR="73152" marT="36576" marB="36576">
                    <a:solidFill>
                      <a:srgbClr val="FFFFFF"/>
                    </a:solidFill>
                  </a:tcPr>
                </a:tc>
              </a:tr>
              <a:tr h="365760">
                <a:tc>
                  <a:txBody>
                    <a:bodyPr wrap="square"/>
                    <a:lstStyle/>
                    <a:p>
                      <a:r>
                        <a:rPr sz="1700" b="1">
                          <a:solidFill>
                            <a:srgbClr val="1B1B1B"/>
                          </a:solidFill>
                          <a:latin typeface="Calibri"/>
                        </a:rPr>
                        <a:t>Voir une page avant</a:t>
                      </a:r>
                    </a:p>
                  </a:txBody>
                  <a:tcPr marL="73152" marR="73152" marT="36576" marB="36576">
                    <a:solidFill>
                      <a:srgbClr val="F3F5F9"/>
                    </a:solidFill>
                  </a:tcPr>
                </a:tc>
                <a:tc>
                  <a:txBody>
                    <a:bodyPr wrap="square"/>
                    <a:lstStyle/>
                    <a:p>
                      <a:r>
                        <a:rPr sz="1700" b="0">
                          <a:solidFill>
                            <a:srgbClr val="1B1B1B"/>
                          </a:solidFill>
                          <a:latin typeface="Calibri"/>
                        </a:rPr>
                        <a:t>Wayback Machine</a:t>
                      </a:r>
                    </a:p>
                  </a:txBody>
                  <a:tcPr marL="73152" marR="73152" marT="36576" marB="36576">
                    <a:solidFill>
                      <a:srgbClr val="F3F5F9"/>
                    </a:solidFill>
                  </a:tcPr>
                </a:tc>
                <a:tc>
                  <a:txBody>
                    <a:bodyPr wrap="square"/>
                    <a:lstStyle/>
                    <a:p>
                      <a:r>
                        <a:rPr sz="1700" b="0">
                          <a:solidFill>
                            <a:srgbClr val="1B1B1B"/>
                          </a:solidFill>
                          <a:latin typeface="Calibri"/>
                        </a:rPr>
                        <a:t>web.archive.org</a:t>
                      </a:r>
                    </a:p>
                  </a:txBody>
                  <a:tcPr marL="73152" marR="73152" marT="36576" marB="36576">
                    <a:solidFill>
                      <a:srgbClr val="F3F5F9"/>
                    </a:solidFill>
                  </a:tcPr>
                </a:tc>
              </a:tr>
              <a:tr h="365760">
                <a:tc>
                  <a:txBody>
                    <a:bodyPr wrap="square"/>
                    <a:lstStyle/>
                    <a:p>
                      <a:r>
                        <a:rPr sz="1700" b="1">
                          <a:solidFill>
                            <a:srgbClr val="1B1B1B"/>
                          </a:solidFill>
                          <a:latin typeface="Calibri"/>
                        </a:rPr>
                        <a:t>Ranger et citer</a:t>
                      </a:r>
                    </a:p>
                  </a:txBody>
                  <a:tcPr marL="73152" marR="73152" marT="36576" marB="36576">
                    <a:solidFill>
                      <a:srgbClr val="FFFFFF"/>
                    </a:solidFill>
                  </a:tcPr>
                </a:tc>
                <a:tc>
                  <a:txBody>
                    <a:bodyPr wrap="square"/>
                    <a:lstStyle/>
                    <a:p>
                      <a:r>
                        <a:rPr sz="1700" b="0">
                          <a:solidFill>
                            <a:srgbClr val="1B1B1B"/>
                          </a:solidFill>
                          <a:latin typeface="Calibri"/>
                        </a:rPr>
                        <a:t>Zotero</a:t>
                      </a:r>
                    </a:p>
                  </a:txBody>
                  <a:tcPr marL="73152" marR="73152" marT="36576" marB="36576">
                    <a:solidFill>
                      <a:srgbClr val="FFFFFF"/>
                    </a:solidFill>
                  </a:tcPr>
                </a:tc>
                <a:tc>
                  <a:txBody>
                    <a:bodyPr wrap="square"/>
                    <a:lstStyle/>
                    <a:p>
                      <a:r>
                        <a:rPr sz="1700" b="0">
                          <a:solidFill>
                            <a:srgbClr val="1B1B1B"/>
                          </a:solidFill>
                          <a:latin typeface="Calibri"/>
                        </a:rPr>
                        <a:t>zotero.org</a:t>
                      </a:r>
                    </a:p>
                  </a:txBody>
                  <a:tcPr marL="73152" marR="73152" marT="36576" marB="36576">
                    <a:solidFill>
                      <a:srgbClr val="FFFFFF"/>
                    </a:solidFill>
                  </a:tcPr>
                </a:tc>
              </a:tr>
              <a:tr h="365760">
                <a:tc>
                  <a:txBody>
                    <a:bodyPr wrap="square"/>
                    <a:lstStyle/>
                    <a:p>
                      <a:r>
                        <a:rPr sz="1700" b="1">
                          <a:solidFill>
                            <a:srgbClr val="1B1B1B"/>
                          </a:solidFill>
                          <a:latin typeface="Calibri"/>
                        </a:rPr>
                        <a:t>Lire et interroger un document</a:t>
                      </a:r>
                    </a:p>
                  </a:txBody>
                  <a:tcPr marL="73152" marR="73152" marT="36576" marB="36576">
                    <a:solidFill>
                      <a:srgbClr val="F3F5F9"/>
                    </a:solidFill>
                  </a:tcPr>
                </a:tc>
                <a:tc>
                  <a:txBody>
                    <a:bodyPr wrap="square"/>
                    <a:lstStyle/>
                    <a:p>
                      <a:r>
                        <a:rPr sz="1700" b="0">
                          <a:solidFill>
                            <a:srgbClr val="1B1B1B"/>
                          </a:solidFill>
                          <a:latin typeface="Calibri"/>
                        </a:rPr>
                        <a:t>NotebookLM, Elicit, Consensus, Perplexity</a:t>
                      </a:r>
                    </a:p>
                  </a:txBody>
                  <a:tcPr marL="73152" marR="73152" marT="36576" marB="36576">
                    <a:solidFill>
                      <a:srgbClr val="F3F5F9"/>
                    </a:solidFill>
                  </a:tcPr>
                </a:tc>
                <a:tc>
                  <a:txBody>
                    <a:bodyPr wrap="square"/>
                    <a:lstStyle/>
                    <a:p>
                      <a:r>
                        <a:rPr sz="1700" b="0">
                          <a:solidFill>
                            <a:srgbClr val="1B1B1B"/>
                          </a:solidFill>
                          <a:latin typeface="Calibri"/>
                        </a:rPr>
                        <a:t>notebooklm.google.com, elicit.com, consensus.app, perplexity.ai</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Version cliquable dans l'application (QR) : page « Outils ».</a:t>
            </a:r>
          </a:p>
        </p:txBody>
      </p:sp>
      <p:pic>
        <p:nvPicPr>
          <p:cNvPr id="8" name="Picture 7" descr="outils.png"/>
          <p:cNvPicPr>
            <a:picLocks noChangeAspect="1"/>
          </p:cNvPicPr>
          <p:nvPr/>
        </p:nvPicPr>
        <p:blipFill>
          <a:blip r:embed="rId3"/>
          <a:stretch>
            <a:fillRect/>
          </a:stretch>
        </p:blipFill>
        <p:spPr>
          <a:xfrm>
            <a:off x="11292840" y="73152"/>
            <a:ext cx="768096" cy="768096"/>
          </a:xfrm>
          <a:prstGeom prst="rect">
            <a:avLst/>
          </a:prstGeom>
        </p:spPr>
      </p:pic>
      <p:sp>
        <p:nvSpPr>
          <p:cNvPr id="9" name="TextBox 8"/>
          <p:cNvSpPr txBox="1"/>
          <p:nvPr/>
        </p:nvSpPr>
        <p:spPr>
          <a:xfrm>
            <a:off x="10835640" y="822959"/>
            <a:ext cx="1682495" cy="274320"/>
          </a:xfrm>
          <a:prstGeom prst="rect">
            <a:avLst/>
          </a:prstGeom>
          <a:noFill/>
        </p:spPr>
        <p:txBody>
          <a:bodyPr wrap="square" anchor="t">
            <a:spAutoFit/>
          </a:bodyPr>
          <a:lstStyle/>
          <a:p>
            <a:pPr algn="ctr">
              <a:spcAft>
                <a:spcPts val="315"/>
              </a:spcAft>
            </a:pPr>
            <a:r>
              <a:rPr sz="900" b="0" i="0">
                <a:solidFill>
                  <a:srgbClr val="5B6478"/>
                </a:solidFill>
                <a:latin typeface="Calibri"/>
              </a:rPr>
              <a:t>App · QR</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44"/>
              </a:spcAft>
            </a:pPr>
            <a:r>
              <a:rPr sz="2700" b="1" i="0">
                <a:solidFill>
                  <a:srgbClr val="FFFFFF"/>
                </a:solidFill>
                <a:latin typeface="Calibri"/>
              </a:rPr>
              <a:t>Boîte à outils (2/2) : veiller, calculer, rédiger, présenter</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137</a:t>
            </a:r>
          </a:p>
        </p:txBody>
      </p:sp>
      <p:graphicFrame>
        <p:nvGraphicFramePr>
          <p:cNvPr id="6" name="Table 5"/>
          <p:cNvGraphicFramePr>
            <a:graphicFrameLocks noGrp="1"/>
          </p:cNvGraphicFramePr>
          <p:nvPr/>
        </p:nvGraphicFramePr>
        <p:xfrm>
          <a:off x="411480" y="1188720"/>
          <a:ext cx="11338560" cy="3291840"/>
        </p:xfrm>
        <a:graphic>
          <a:graphicData uri="http://schemas.openxmlformats.org/drawingml/2006/table">
            <a:tbl>
              <a:tblPr firstRow="0" bandRow="0">
                <a:tableStyleId>{5C22544A-7EE6-4342-B048-85BDC9FD1C3A}</a:tableStyleId>
              </a:tblPr>
              <a:tblGrid>
                <a:gridCol w="2267712"/>
                <a:gridCol w="4346448"/>
                <a:gridCol w="4724400"/>
              </a:tblGrid>
              <a:tr h="365760">
                <a:tc>
                  <a:txBody>
                    <a:bodyPr wrap="square"/>
                    <a:lstStyle/>
                    <a:p>
                      <a:r>
                        <a:rPr sz="1700" b="1">
                          <a:solidFill>
                            <a:srgbClr val="FFFFFF"/>
                          </a:solidFill>
                          <a:latin typeface="Calibri"/>
                        </a:rPr>
                        <a:t>Geste</a:t>
                      </a:r>
                    </a:p>
                  </a:txBody>
                  <a:tcPr marL="73152" marR="73152" marT="36576" marB="36576">
                    <a:solidFill>
                      <a:srgbClr val="1F2A5C"/>
                    </a:solidFill>
                  </a:tcPr>
                </a:tc>
                <a:tc>
                  <a:txBody>
                    <a:bodyPr wrap="square"/>
                    <a:lstStyle/>
                    <a:p>
                      <a:r>
                        <a:rPr sz="1700" b="1">
                          <a:solidFill>
                            <a:srgbClr val="FFFFFF"/>
                          </a:solidFill>
                          <a:latin typeface="Calibri"/>
                        </a:rPr>
                        <a:t>Outil ou site</a:t>
                      </a:r>
                    </a:p>
                  </a:txBody>
                  <a:tcPr marL="73152" marR="73152" marT="36576" marB="36576">
                    <a:solidFill>
                      <a:srgbClr val="1F2A5C"/>
                    </a:solidFill>
                  </a:tcPr>
                </a:tc>
                <a:tc>
                  <a:txBody>
                    <a:bodyPr wrap="square"/>
                    <a:lstStyle/>
                    <a:p>
                      <a:r>
                        <a:rPr sz="1700" b="1">
                          <a:solidFill>
                            <a:srgbClr val="FFFFFF"/>
                          </a:solidFill>
                          <a:latin typeface="Calibri"/>
                        </a:rPr>
                        <a:t>Adresse</a:t>
                      </a:r>
                    </a:p>
                  </a:txBody>
                  <a:tcPr marL="73152" marR="73152" marT="36576" marB="36576">
                    <a:solidFill>
                      <a:srgbClr val="1F2A5C"/>
                    </a:solidFill>
                  </a:tcPr>
                </a:tc>
              </a:tr>
              <a:tr h="365760">
                <a:tc>
                  <a:txBody>
                    <a:bodyPr wrap="square"/>
                    <a:lstStyle/>
                    <a:p>
                      <a:r>
                        <a:rPr sz="1700" b="1">
                          <a:solidFill>
                            <a:srgbClr val="1B1B1B"/>
                          </a:solidFill>
                          <a:latin typeface="Calibri"/>
                        </a:rPr>
                        <a:t>Alerte sur un mot-clé</a:t>
                      </a:r>
                    </a:p>
                  </a:txBody>
                  <a:tcPr marL="73152" marR="73152" marT="36576" marB="36576">
                    <a:solidFill>
                      <a:srgbClr val="FFFFFF"/>
                    </a:solidFill>
                  </a:tcPr>
                </a:tc>
                <a:tc>
                  <a:txBody>
                    <a:bodyPr wrap="square"/>
                    <a:lstStyle/>
                    <a:p>
                      <a:r>
                        <a:rPr sz="1700" b="0">
                          <a:solidFill>
                            <a:srgbClr val="1B1B1B"/>
                          </a:solidFill>
                          <a:latin typeface="Calibri"/>
                        </a:rPr>
                        <a:t>Google Alerts</a:t>
                      </a:r>
                    </a:p>
                  </a:txBody>
                  <a:tcPr marL="73152" marR="73152" marT="36576" marB="36576">
                    <a:solidFill>
                      <a:srgbClr val="FFFFFF"/>
                    </a:solidFill>
                  </a:tcPr>
                </a:tc>
                <a:tc>
                  <a:txBody>
                    <a:bodyPr wrap="square"/>
                    <a:lstStyle/>
                    <a:p>
                      <a:r>
                        <a:rPr sz="1700" b="0">
                          <a:solidFill>
                            <a:srgbClr val="1B1B1B"/>
                          </a:solidFill>
                          <a:latin typeface="Calibri"/>
                        </a:rPr>
                        <a:t>google.com/alerts</a:t>
                      </a:r>
                    </a:p>
                  </a:txBody>
                  <a:tcPr marL="73152" marR="73152" marT="36576" marB="36576">
                    <a:solidFill>
                      <a:srgbClr val="FFFFFF"/>
                    </a:solidFill>
                  </a:tcPr>
                </a:tc>
              </a:tr>
              <a:tr h="365760">
                <a:tc>
                  <a:txBody>
                    <a:bodyPr wrap="square"/>
                    <a:lstStyle/>
                    <a:p>
                      <a:r>
                        <a:rPr sz="1700" b="1">
                          <a:solidFill>
                            <a:srgbClr val="1B1B1B"/>
                          </a:solidFill>
                          <a:latin typeface="Calibri"/>
                        </a:rPr>
                        <a:t>Suivre des flux</a:t>
                      </a:r>
                    </a:p>
                  </a:txBody>
                  <a:tcPr marL="73152" marR="73152" marT="36576" marB="36576">
                    <a:solidFill>
                      <a:srgbClr val="F3F5F9"/>
                    </a:solidFill>
                  </a:tcPr>
                </a:tc>
                <a:tc>
                  <a:txBody>
                    <a:bodyPr wrap="square"/>
                    <a:lstStyle/>
                    <a:p>
                      <a:r>
                        <a:rPr sz="1700" b="0">
                          <a:solidFill>
                            <a:srgbClr val="1B1B1B"/>
                          </a:solidFill>
                          <a:latin typeface="Calibri"/>
                        </a:rPr>
                        <a:t>Inoreader (RSS)</a:t>
                      </a:r>
                    </a:p>
                  </a:txBody>
                  <a:tcPr marL="73152" marR="73152" marT="36576" marB="36576">
                    <a:solidFill>
                      <a:srgbClr val="F3F5F9"/>
                    </a:solidFill>
                  </a:tcPr>
                </a:tc>
                <a:tc>
                  <a:txBody>
                    <a:bodyPr wrap="square"/>
                    <a:lstStyle/>
                    <a:p>
                      <a:r>
                        <a:rPr sz="1700" b="0">
                          <a:solidFill>
                            <a:srgbClr val="1B1B1B"/>
                          </a:solidFill>
                          <a:latin typeface="Calibri"/>
                        </a:rPr>
                        <a:t>inoreader.com</a:t>
                      </a:r>
                    </a:p>
                  </a:txBody>
                  <a:tcPr marL="73152" marR="73152" marT="36576" marB="36576">
                    <a:solidFill>
                      <a:srgbClr val="F3F5F9"/>
                    </a:solidFill>
                  </a:tcPr>
                </a:tc>
              </a:tr>
              <a:tr h="365760">
                <a:tc>
                  <a:txBody>
                    <a:bodyPr wrap="square"/>
                    <a:lstStyle/>
                    <a:p>
                      <a:r>
                        <a:rPr sz="1700" b="1">
                          <a:solidFill>
                            <a:srgbClr val="1B1B1B"/>
                          </a:solidFill>
                          <a:latin typeface="Calibri"/>
                        </a:rPr>
                        <a:t>Alertes de sécurité</a:t>
                      </a:r>
                    </a:p>
                  </a:txBody>
                  <a:tcPr marL="73152" marR="73152" marT="36576" marB="36576">
                    <a:solidFill>
                      <a:srgbClr val="FFFFFF"/>
                    </a:solidFill>
                  </a:tcPr>
                </a:tc>
                <a:tc>
                  <a:txBody>
                    <a:bodyPr wrap="square"/>
                    <a:lstStyle/>
                    <a:p>
                      <a:r>
                        <a:rPr sz="1700" b="0">
                          <a:solidFill>
                            <a:srgbClr val="1B1B1B"/>
                          </a:solidFill>
                          <a:latin typeface="Calibri"/>
                        </a:rPr>
                        <a:t>CERT-FR, CISA KEV, NVD, EPSS, EUVD</a:t>
                      </a:r>
                    </a:p>
                  </a:txBody>
                  <a:tcPr marL="73152" marR="73152" marT="36576" marB="36576">
                    <a:solidFill>
                      <a:srgbClr val="FFFFFF"/>
                    </a:solidFill>
                  </a:tcPr>
                </a:tc>
                <a:tc>
                  <a:txBody>
                    <a:bodyPr wrap="square"/>
                    <a:lstStyle/>
                    <a:p>
                      <a:r>
                        <a:rPr sz="1700" b="0">
                          <a:solidFill>
                            <a:srgbClr val="1B1B1B"/>
                          </a:solidFill>
                          <a:latin typeface="Calibri"/>
                        </a:rPr>
                        <a:t>cert.cyber.gouv.fr, cisa.gov, nvd.nist.gov, first.org/epss, euvd.enisa.europa.eu</a:t>
                      </a:r>
                    </a:p>
                  </a:txBody>
                  <a:tcPr marL="73152" marR="73152" marT="36576" marB="36576">
                    <a:solidFill>
                      <a:srgbClr val="FFFFFF"/>
                    </a:solidFill>
                  </a:tcPr>
                </a:tc>
              </a:tr>
              <a:tr h="365760">
                <a:tc>
                  <a:txBody>
                    <a:bodyPr wrap="square"/>
                    <a:lstStyle/>
                    <a:p>
                      <a:r>
                        <a:rPr sz="1700" b="1">
                          <a:solidFill>
                            <a:srgbClr val="1B1B1B"/>
                          </a:solidFill>
                          <a:latin typeface="Calibri"/>
                        </a:rPr>
                        <a:t>Comparer des solutions</a:t>
                      </a:r>
                    </a:p>
                  </a:txBody>
                  <a:tcPr marL="73152" marR="73152" marT="36576" marB="36576">
                    <a:solidFill>
                      <a:srgbClr val="F3F5F9"/>
                    </a:solidFill>
                  </a:tcPr>
                </a:tc>
                <a:tc>
                  <a:txBody>
                    <a:bodyPr wrap="square"/>
                    <a:lstStyle/>
                    <a:p>
                      <a:r>
                        <a:rPr sz="1700" b="0">
                          <a:solidFill>
                            <a:srgbClr val="1B1B1B"/>
                          </a:solidFill>
                          <a:latin typeface="Calibri"/>
                        </a:rPr>
                        <a:t>Tableur : SOMMEPROD, MOYENNE, ECARTYPE</a:t>
                      </a:r>
                    </a:p>
                  </a:txBody>
                  <a:tcPr marL="73152" marR="73152" marT="36576" marB="36576">
                    <a:solidFill>
                      <a:srgbClr val="F3F5F9"/>
                    </a:solidFill>
                  </a:tcPr>
                </a:tc>
                <a:tc>
                  <a:txBody>
                    <a:bodyPr wrap="square"/>
                    <a:lstStyle/>
                    <a:p>
                      <a:r>
                        <a:rPr sz="1700" b="0">
                          <a:solidFill>
                            <a:srgbClr val="1B1B1B"/>
                          </a:solidFill>
                          <a:latin typeface="Calibri"/>
                        </a:rPr>
                        <a:t>Excel, Google Sheets, LibreOffice Calc</a:t>
                      </a:r>
                    </a:p>
                  </a:txBody>
                  <a:tcPr marL="73152" marR="73152" marT="36576" marB="36576">
                    <a:solidFill>
                      <a:srgbClr val="F3F5F9"/>
                    </a:solidFill>
                  </a:tcPr>
                </a:tc>
              </a:tr>
              <a:tr h="365760">
                <a:tc>
                  <a:txBody>
                    <a:bodyPr wrap="square"/>
                    <a:lstStyle/>
                    <a:p>
                      <a:r>
                        <a:rPr sz="1700" b="1">
                          <a:solidFill>
                            <a:srgbClr val="1B1B1B"/>
                          </a:solidFill>
                          <a:latin typeface="Calibri"/>
                        </a:rPr>
                        <a:t>Brevets</a:t>
                      </a:r>
                    </a:p>
                  </a:txBody>
                  <a:tcPr marL="73152" marR="73152" marT="36576" marB="36576">
                    <a:solidFill>
                      <a:srgbClr val="FFFFFF"/>
                    </a:solidFill>
                  </a:tcPr>
                </a:tc>
                <a:tc>
                  <a:txBody>
                    <a:bodyPr wrap="square"/>
                    <a:lstStyle/>
                    <a:p>
                      <a:r>
                        <a:rPr sz="1700" b="0">
                          <a:solidFill>
                            <a:srgbClr val="1B1B1B"/>
                          </a:solidFill>
                          <a:latin typeface="Calibri"/>
                        </a:rPr>
                        <a:t>Espacenet, INPI</a:t>
                      </a:r>
                    </a:p>
                  </a:txBody>
                  <a:tcPr marL="73152" marR="73152" marT="36576" marB="36576">
                    <a:solidFill>
                      <a:srgbClr val="FFFFFF"/>
                    </a:solidFill>
                  </a:tcPr>
                </a:tc>
                <a:tc>
                  <a:txBody>
                    <a:bodyPr wrap="square"/>
                    <a:lstStyle/>
                    <a:p>
                      <a:r>
                        <a:rPr sz="1700" b="0">
                          <a:solidFill>
                            <a:srgbClr val="1B1B1B"/>
                          </a:solidFill>
                          <a:latin typeface="Calibri"/>
                        </a:rPr>
                        <a:t>worldwide.espacenet.com, inpi.fr</a:t>
                      </a:r>
                    </a:p>
                  </a:txBody>
                  <a:tcPr marL="73152" marR="73152" marT="36576" marB="36576">
                    <a:solidFill>
                      <a:srgbClr val="FFFFFF"/>
                    </a:solidFill>
                  </a:tcPr>
                </a:tc>
              </a:tr>
              <a:tr h="365760">
                <a:tc>
                  <a:txBody>
                    <a:bodyPr wrap="square"/>
                    <a:lstStyle/>
                    <a:p>
                      <a:r>
                        <a:rPr sz="1700" b="1">
                          <a:solidFill>
                            <a:srgbClr val="1B1B1B"/>
                          </a:solidFill>
                          <a:latin typeface="Calibri"/>
                        </a:rPr>
                        <a:t>Statistiques officielles</a:t>
                      </a:r>
                    </a:p>
                  </a:txBody>
                  <a:tcPr marL="73152" marR="73152" marT="36576" marB="36576">
                    <a:solidFill>
                      <a:srgbClr val="F3F5F9"/>
                    </a:solidFill>
                  </a:tcPr>
                </a:tc>
                <a:tc>
                  <a:txBody>
                    <a:bodyPr wrap="square"/>
                    <a:lstStyle/>
                    <a:p>
                      <a:r>
                        <a:rPr sz="1700" b="0">
                          <a:solidFill>
                            <a:srgbClr val="1B1B1B"/>
                          </a:solidFill>
                          <a:latin typeface="Calibri"/>
                        </a:rPr>
                        <a:t>INSEE, Eurostat</a:t>
                      </a:r>
                    </a:p>
                  </a:txBody>
                  <a:tcPr marL="73152" marR="73152" marT="36576" marB="36576">
                    <a:solidFill>
                      <a:srgbClr val="F3F5F9"/>
                    </a:solidFill>
                  </a:tcPr>
                </a:tc>
                <a:tc>
                  <a:txBody>
                    <a:bodyPr wrap="square"/>
                    <a:lstStyle/>
                    <a:p>
                      <a:r>
                        <a:rPr sz="1700" b="0">
                          <a:solidFill>
                            <a:srgbClr val="1B1B1B"/>
                          </a:solidFill>
                          <a:latin typeface="Calibri"/>
                        </a:rPr>
                        <a:t>insee.fr, ec.europa.eu/eurostat</a:t>
                      </a:r>
                    </a:p>
                  </a:txBody>
                  <a:tcPr marL="73152" marR="73152" marT="36576" marB="36576">
                    <a:solidFill>
                      <a:srgbClr val="F3F5F9"/>
                    </a:solidFill>
                  </a:tcPr>
                </a:tc>
              </a:tr>
              <a:tr h="365760">
                <a:tc>
                  <a:txBody>
                    <a:bodyPr wrap="square"/>
                    <a:lstStyle/>
                    <a:p>
                      <a:r>
                        <a:rPr sz="1700" b="1">
                          <a:solidFill>
                            <a:srgbClr val="1B1B1B"/>
                          </a:solidFill>
                          <a:latin typeface="Calibri"/>
                        </a:rPr>
                        <a:t>Relire et s'entraîner (IA)</a:t>
                      </a:r>
                    </a:p>
                  </a:txBody>
                  <a:tcPr marL="73152" marR="73152" marT="36576" marB="36576">
                    <a:solidFill>
                      <a:srgbClr val="FFFFFF"/>
                    </a:solidFill>
                  </a:tcPr>
                </a:tc>
                <a:tc>
                  <a:txBody>
                    <a:bodyPr wrap="square"/>
                    <a:lstStyle/>
                    <a:p>
                      <a:r>
                        <a:rPr sz="1700" b="0">
                          <a:solidFill>
                            <a:srgbClr val="1B1B1B"/>
                          </a:solidFill>
                          <a:latin typeface="Calibri"/>
                        </a:rPr>
                        <a:t>ChatGPT, Claude, Gemini, Copilot, Le Chat</a:t>
                      </a:r>
                    </a:p>
                  </a:txBody>
                  <a:tcPr marL="73152" marR="73152" marT="36576" marB="36576">
                    <a:solidFill>
                      <a:srgbClr val="FFFFFF"/>
                    </a:solidFill>
                  </a:tcPr>
                </a:tc>
                <a:tc>
                  <a:txBody>
                    <a:bodyPr wrap="square"/>
                    <a:lstStyle/>
                    <a:p>
                      <a:r>
                        <a:rPr sz="1700" b="0">
                          <a:solidFill>
                            <a:srgbClr val="1B1B1B"/>
                          </a:solidFill>
                          <a:latin typeface="Calibri"/>
                        </a:rPr>
                        <a:t>selon votre école : sans donnée confidentielle</a:t>
                      </a:r>
                    </a:p>
                  </a:txBody>
                  <a:tcPr marL="73152" marR="73152" marT="36576" marB="36576">
                    <a:solidFill>
                      <a:srgbClr val="FFFFFF"/>
                    </a:solidFill>
                  </a:tcPr>
                </a:tc>
              </a:tr>
              <a:tr h="365760">
                <a:tc>
                  <a:txBody>
                    <a:bodyPr wrap="square"/>
                    <a:lstStyle/>
                    <a:p>
                      <a:r>
                        <a:rPr sz="1700" b="1">
                          <a:solidFill>
                            <a:srgbClr val="1B1B1B"/>
                          </a:solidFill>
                          <a:latin typeface="Calibri"/>
                        </a:rPr>
                        <a:t>Chronométrer un pitch</a:t>
                      </a:r>
                    </a:p>
                  </a:txBody>
                  <a:tcPr marL="73152" marR="73152" marT="36576" marB="36576">
                    <a:solidFill>
                      <a:srgbClr val="F3F5F9"/>
                    </a:solidFill>
                  </a:tcPr>
                </a:tc>
                <a:tc>
                  <a:txBody>
                    <a:bodyPr wrap="square"/>
                    <a:lstStyle/>
                    <a:p>
                      <a:r>
                        <a:rPr sz="1700" b="0">
                          <a:solidFill>
                            <a:srgbClr val="1B1B1B"/>
                          </a:solidFill>
                          <a:latin typeface="Calibri"/>
                        </a:rPr>
                        <a:t>Minuteur du téléphone, mémo vocal</a:t>
                      </a:r>
                    </a:p>
                  </a:txBody>
                  <a:tcPr marL="73152" marR="73152" marT="36576" marB="36576">
                    <a:solidFill>
                      <a:srgbClr val="F3F5F9"/>
                    </a:solidFill>
                  </a:tcPr>
                </a:tc>
                <a:tc>
                  <a:txBody>
                    <a:bodyPr wrap="square"/>
                    <a:lstStyle/>
                    <a:p>
                      <a:r>
                        <a:rPr sz="1700" b="0">
                          <a:solidFill>
                            <a:srgbClr val="1B1B1B"/>
                          </a:solidFill>
                          <a:latin typeface="Calibri"/>
                        </a:rPr>
                        <a:t>votre téléphone</a:t>
                      </a:r>
                    </a:p>
                  </a:txBody>
                  <a:tcPr marL="73152" marR="73152" marT="36576" marB="36576">
                    <a:solidFill>
                      <a:srgbClr val="F3F5F9"/>
                    </a:solidFill>
                  </a:tcPr>
                </a:tc>
              </a:tr>
            </a:tbl>
          </a:graphicData>
        </a:graphic>
      </p:graphicFrame>
      <p:sp>
        <p:nvSpPr>
          <p:cNvPr id="7" name="Rounded Rectangle 6"/>
          <p:cNvSpPr/>
          <p:nvPr/>
        </p:nvSpPr>
        <p:spPr>
          <a:xfrm>
            <a:off x="411480" y="5760720"/>
            <a:ext cx="11338560" cy="502920"/>
          </a:xfrm>
          <a:prstGeom prst="roundRect">
            <a:avLst>
              <a:gd name="adj" fmla="val 6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594"/>
              </a:spcAft>
            </a:pPr>
            <a:r>
              <a:rPr sz="1700" b="1" i="0">
                <a:solidFill>
                  <a:srgbClr val="1B1B1B"/>
                </a:solidFill>
                <a:latin typeface="Calibri"/>
              </a:rPr>
              <a:t>Gardez ce mémo : ce sont les mêmes outils qu'en entreprise.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Merci · pour aller plus loin</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138</a:t>
            </a:r>
          </a:p>
        </p:txBody>
      </p:sp>
      <p:sp>
        <p:nvSpPr>
          <p:cNvPr id="6" name="TextBox 5"/>
          <p:cNvSpPr txBox="1"/>
          <p:nvPr/>
        </p:nvSpPr>
        <p:spPr>
          <a:xfrm>
            <a:off x="411480" y="1143000"/>
            <a:ext cx="11338560" cy="5212080"/>
          </a:xfrm>
          <a:prstGeom prst="rect">
            <a:avLst/>
          </a:prstGeom>
          <a:noFill/>
        </p:spPr>
        <p:txBody>
          <a:bodyPr wrap="square" anchor="t">
            <a:spAutoFit/>
          </a:bodyPr>
          <a:lstStyle/>
          <a:p>
            <a:pPr algn="l" marL="201168" indent="-201168">
              <a:spcAft>
                <a:spcPts val="839"/>
              </a:spcAft>
              <a:buChar char="•"/>
            </a:pPr>
            <a:r>
              <a:rPr sz="2400" b="0" i="0">
                <a:solidFill>
                  <a:srgbClr val="1B1B1B"/>
                </a:solidFill>
                <a:latin typeface="Calibri"/>
              </a:rPr>
              <a:t>Votre dossier d'état de l'art est votre livrable ; la fiche de vulnérabilité du projet tutoré (annexe H du support complet) est à remettre à votre tuteur</a:t>
            </a:r>
          </a:p>
          <a:p>
            <a:pPr algn="l" marL="201168" indent="-201168">
              <a:spcAft>
                <a:spcPts val="839"/>
              </a:spcAft>
              <a:buChar char="•"/>
            </a:pPr>
            <a:r>
              <a:rPr sz="2400" b="0" i="0">
                <a:solidFill>
                  <a:srgbClr val="1B1B1B"/>
                </a:solidFill>
                <a:latin typeface="Calibri"/>
              </a:rPr>
              <a:t>Guides de l'ANSSI, de la CNIL, de l'ENISA : sources institutionnelles de référence</a:t>
            </a:r>
          </a:p>
          <a:p>
            <a:pPr algn="l" marL="201168" indent="-201168">
              <a:spcAft>
                <a:spcPts val="839"/>
              </a:spcAft>
              <a:buChar char="•"/>
            </a:pPr>
            <a:r>
              <a:rPr sz="2400" b="0" i="0">
                <a:solidFill>
                  <a:srgbClr val="1B1B1B"/>
                </a:solidFill>
                <a:latin typeface="Calibri"/>
              </a:rPr>
              <a:t>S. Toulmin, The Uses of Argument (1958) : modèle de l'argument</a:t>
            </a:r>
          </a:p>
          <a:p>
            <a:pPr algn="l" marL="201168" indent="-201168">
              <a:spcAft>
                <a:spcPts val="839"/>
              </a:spcAft>
              <a:buChar char="•"/>
            </a:pPr>
            <a:r>
              <a:rPr sz="2400" b="0" i="0">
                <a:solidFill>
                  <a:srgbClr val="1B1B1B"/>
                </a:solidFill>
                <a:latin typeface="Calibri"/>
              </a:rPr>
              <a:t>P. Bernhard, Apprendre à « maîtriser » l'information (Éducation et francophonie, 1998) : source du syllabus</a:t>
            </a:r>
          </a:p>
          <a:p>
            <a:pPr algn="l" marL="201168" indent="-201168">
              <a:spcAft>
                <a:spcPts val="839"/>
              </a:spcAft>
              <a:buChar char="•"/>
            </a:pPr>
            <a:r>
              <a:rPr sz="2400" b="0" i="0">
                <a:solidFill>
                  <a:srgbClr val="1B1B1B"/>
                </a:solidFill>
                <a:latin typeface="Calibri"/>
              </a:rPr>
              <a:t>Norme AFNOR XP X 50-053 et référentiel de la Commission des titres d'ingénieur (CTI) : veille et attendus de l'ingénieur</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2A5C"/>
        </a:solidFill>
        <a:effectLst/>
      </p:bgPr>
    </p:bg>
    <p:spTree>
      <p:nvGrpSpPr>
        <p:cNvPr id="1" name=""/>
        <p:cNvGrpSpPr/>
        <p:nvPr/>
      </p:nvGrpSpPr>
      <p:grpSpPr/>
      <p:sp>
        <p:nvSpPr>
          <p:cNvPr id="2" name="Rounded Rectangle 1"/>
          <p:cNvSpPr/>
          <p:nvPr/>
        </p:nvSpPr>
        <p:spPr>
          <a:xfrm>
            <a:off x="731520" y="822960"/>
            <a:ext cx="2011680" cy="1188720"/>
          </a:xfrm>
          <a:prstGeom prst="roundRect">
            <a:avLst>
              <a:gd name="adj" fmla="val 6000"/>
            </a:avLst>
          </a:prstGeom>
          <a:solidFill>
            <a:srgbClr val="E9A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89"/>
              </a:spcAft>
            </a:pPr>
            <a:r>
              <a:rPr sz="5400" b="1" i="0">
                <a:solidFill>
                  <a:srgbClr val="1F2A5C"/>
                </a:solidFill>
                <a:latin typeface="Calibri"/>
              </a:rPr>
              <a:t>A</a:t>
            </a:r>
          </a:p>
        </p:txBody>
      </p:sp>
      <p:sp>
        <p:nvSpPr>
          <p:cNvPr id="3" name="TextBox 2"/>
          <p:cNvSpPr txBox="1"/>
          <p:nvPr/>
        </p:nvSpPr>
        <p:spPr>
          <a:xfrm>
            <a:off x="3017520" y="822960"/>
            <a:ext cx="8503920" cy="1188720"/>
          </a:xfrm>
          <a:prstGeom prst="rect">
            <a:avLst/>
          </a:prstGeom>
          <a:noFill/>
        </p:spPr>
        <p:txBody>
          <a:bodyPr wrap="square" anchor="ctr">
            <a:spAutoFit/>
          </a:bodyPr>
          <a:lstStyle/>
          <a:p>
            <a:pPr algn="l">
              <a:spcAft>
                <a:spcPts val="1260"/>
              </a:spcAft>
            </a:pPr>
            <a:r>
              <a:rPr sz="3600" b="1" i="0">
                <a:solidFill>
                  <a:srgbClr val="FFFFFF"/>
                </a:solidFill>
                <a:latin typeface="Calibri"/>
              </a:rPr>
              <a:t>Annexes</a:t>
            </a:r>
          </a:p>
        </p:txBody>
      </p:sp>
      <p:sp>
        <p:nvSpPr>
          <p:cNvPr id="4" name="TextBox 3"/>
          <p:cNvSpPr txBox="1"/>
          <p:nvPr/>
        </p:nvSpPr>
        <p:spPr>
          <a:xfrm>
            <a:off x="3017520" y="2057400"/>
            <a:ext cx="8503920" cy="457200"/>
          </a:xfrm>
          <a:prstGeom prst="rect">
            <a:avLst/>
          </a:prstGeom>
          <a:noFill/>
        </p:spPr>
        <p:txBody>
          <a:bodyPr wrap="square" anchor="t">
            <a:spAutoFit/>
          </a:bodyPr>
          <a:lstStyle/>
          <a:p>
            <a:pPr algn="l">
              <a:spcAft>
                <a:spcPts val="630"/>
              </a:spcAft>
            </a:pPr>
            <a:r>
              <a:rPr sz="1800" b="1" i="0">
                <a:solidFill>
                  <a:srgbClr val="E9A400"/>
                </a:solidFill>
                <a:latin typeface="Calibri"/>
              </a:rPr>
              <a:t>Lien avec le syllabus et index des exercices</a:t>
            </a:r>
          </a:p>
        </p:txBody>
      </p:sp>
      <p:sp>
        <p:nvSpPr>
          <p:cNvPr id="5" name="TextBox 4"/>
          <p:cNvSpPr txBox="1"/>
          <p:nvPr/>
        </p:nvSpPr>
        <p:spPr>
          <a:xfrm>
            <a:off x="731520" y="2926080"/>
            <a:ext cx="10789920" cy="365760"/>
          </a:xfrm>
          <a:prstGeom prst="rect">
            <a:avLst/>
          </a:prstGeom>
          <a:noFill/>
        </p:spPr>
        <p:txBody>
          <a:bodyPr wrap="square" anchor="t">
            <a:spAutoFit/>
          </a:bodyPr>
          <a:lstStyle/>
          <a:p>
            <a:pPr algn="l">
              <a:spcAft>
                <a:spcPts val="560"/>
              </a:spcAft>
            </a:pPr>
            <a:r>
              <a:rPr sz="1600" b="1" i="0">
                <a:solidFill>
                  <a:srgbClr val="DCE3F5"/>
                </a:solidFill>
                <a:latin typeface="Calibri"/>
              </a:rPr>
              <a:t>À la fin de ce module, vous saurez :</a:t>
            </a:r>
          </a:p>
        </p:txBody>
      </p:sp>
      <p:sp>
        <p:nvSpPr>
          <p:cNvPr id="6" name="TextBox 5"/>
          <p:cNvSpPr txBox="1"/>
          <p:nvPr/>
        </p:nvSpPr>
        <p:spPr>
          <a:xfrm>
            <a:off x="731520" y="3337560"/>
            <a:ext cx="10789920" cy="2377440"/>
          </a:xfrm>
          <a:prstGeom prst="rect">
            <a:avLst/>
          </a:prstGeom>
          <a:noFill/>
        </p:spPr>
        <p:txBody>
          <a:bodyPr wrap="square" anchor="t">
            <a:spAutoFit/>
          </a:bodyPr>
          <a:lstStyle/>
          <a:p>
            <a:pPr algn="l" marL="201168" indent="-201168">
              <a:spcAft>
                <a:spcPts val="700"/>
              </a:spcAft>
              <a:buChar char="•"/>
            </a:pPr>
            <a:r>
              <a:rPr sz="2000" b="0" i="0">
                <a:solidFill>
                  <a:srgbClr val="FFFFFF"/>
                </a:solidFill>
                <a:latin typeface="Calibri"/>
              </a:rPr>
              <a:t>Annexe A : syllabus ECUE-S7-1-2 et cours</a:t>
            </a:r>
          </a:p>
          <a:p>
            <a:pPr algn="l" marL="201168" indent="-201168">
              <a:spcAft>
                <a:spcPts val="700"/>
              </a:spcAft>
              <a:buChar char="•"/>
            </a:pPr>
            <a:r>
              <a:rPr sz="2000" b="0" i="0">
                <a:solidFill>
                  <a:srgbClr val="FFFFFF"/>
                </a:solidFill>
                <a:latin typeface="Calibri"/>
              </a:rPr>
              <a:t>Annexe B : index des exercices</a:t>
            </a:r>
          </a:p>
        </p:txBody>
      </p:sp>
      <p:sp>
        <p:nvSpPr>
          <p:cNvPr id="7" name="TextBox 6"/>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B9C4E8"/>
                </a:solidFill>
                <a:latin typeface="Calibri"/>
              </a:rPr>
              <a:t>© 2026 SAS BELM DEVELOPPEMENT. Tous droits réservés. Créé avec l'aide de Claude (Anthropic), relu par l'auteur.</a:t>
            </a:r>
          </a:p>
        </p:txBody>
      </p:sp>
      <p:sp>
        <p:nvSpPr>
          <p:cNvPr id="8" name="TextBox 7"/>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B9C4E8"/>
                </a:solidFill>
                <a:latin typeface="Calibri"/>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Annexe A · Syllabus ECUE-S7-1-2 ↔ cours</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140</a:t>
            </a:r>
          </a:p>
        </p:txBody>
      </p:sp>
      <p:graphicFrame>
        <p:nvGraphicFramePr>
          <p:cNvPr id="6" name="Table 5"/>
          <p:cNvGraphicFramePr>
            <a:graphicFrameLocks noGrp="1"/>
          </p:cNvGraphicFramePr>
          <p:nvPr/>
        </p:nvGraphicFramePr>
        <p:xfrm>
          <a:off x="411480" y="1188720"/>
          <a:ext cx="11338560" cy="2926080"/>
        </p:xfrm>
        <a:graphic>
          <a:graphicData uri="http://schemas.openxmlformats.org/drawingml/2006/table">
            <a:tbl>
              <a:tblPr firstRow="0" bandRow="0">
                <a:tableStyleId>{5C22544A-7EE6-4342-B048-85BDC9FD1C3A}</a:tableStyleId>
              </a:tblPr>
              <a:tblGrid>
                <a:gridCol w="4913376"/>
                <a:gridCol w="3212592"/>
                <a:gridCol w="3212592"/>
              </a:tblGrid>
              <a:tr h="365760">
                <a:tc>
                  <a:txBody>
                    <a:bodyPr wrap="square"/>
                    <a:lstStyle/>
                    <a:p>
                      <a:r>
                        <a:rPr sz="1700" b="1">
                          <a:solidFill>
                            <a:srgbClr val="FFFFFF"/>
                          </a:solidFill>
                          <a:latin typeface="Calibri"/>
                        </a:rPr>
                        <a:t>Syllabus</a:t>
                      </a:r>
                    </a:p>
                  </a:txBody>
                  <a:tcPr marL="73152" marR="73152" marT="36576" marB="36576">
                    <a:solidFill>
                      <a:srgbClr val="1F2A5C"/>
                    </a:solidFill>
                  </a:tcPr>
                </a:tc>
                <a:tc>
                  <a:txBody>
                    <a:bodyPr wrap="square"/>
                    <a:lstStyle/>
                    <a:p>
                      <a:r>
                        <a:rPr sz="1700" b="1">
                          <a:solidFill>
                            <a:srgbClr val="FFFFFF"/>
                          </a:solidFill>
                          <a:latin typeface="Calibri"/>
                        </a:rPr>
                        <a:t>Dans le cours</a:t>
                      </a:r>
                    </a:p>
                  </a:txBody>
                  <a:tcPr marL="73152" marR="73152" marT="36576" marB="36576">
                    <a:solidFill>
                      <a:srgbClr val="1F2A5C"/>
                    </a:solidFill>
                  </a:tcPr>
                </a:tc>
                <a:tc>
                  <a:txBody>
                    <a:bodyPr wrap="square"/>
                    <a:lstStyle/>
                    <a:p>
                      <a:r>
                        <a:rPr sz="1700" b="1">
                          <a:solidFill>
                            <a:srgbClr val="FFFFFF"/>
                          </a:solidFill>
                          <a:latin typeface="Calibri"/>
                        </a:rPr>
                        <a:t>Exercices</a:t>
                      </a:r>
                    </a:p>
                  </a:txBody>
                  <a:tcPr marL="73152" marR="73152" marT="36576" marB="36576">
                    <a:solidFill>
                      <a:srgbClr val="1F2A5C"/>
                    </a:solidFill>
                  </a:tcPr>
                </a:tc>
              </a:tr>
              <a:tr h="365760">
                <a:tc>
                  <a:txBody>
                    <a:bodyPr wrap="square"/>
                    <a:lstStyle/>
                    <a:p>
                      <a:r>
                        <a:rPr sz="1700" b="1">
                          <a:solidFill>
                            <a:srgbClr val="1B1B1B"/>
                          </a:solidFill>
                          <a:latin typeface="Calibri"/>
                        </a:rPr>
                        <a:t>O1 · Argumenter à partir des états des techniques et de l'art</a:t>
                      </a:r>
                    </a:p>
                  </a:txBody>
                  <a:tcPr marL="73152" marR="73152" marT="36576" marB="36576">
                    <a:solidFill>
                      <a:srgbClr val="FFFFFF"/>
                    </a:solidFill>
                  </a:tcPr>
                </a:tc>
                <a:tc>
                  <a:txBody>
                    <a:bodyPr wrap="square"/>
                    <a:lstStyle/>
                    <a:p>
                      <a:r>
                        <a:rPr sz="1700" b="0">
                          <a:solidFill>
                            <a:srgbClr val="1B1B1B"/>
                          </a:solidFill>
                          <a:latin typeface="Calibri"/>
                        </a:rPr>
                        <a:t>Bloc E, bloc F</a:t>
                      </a:r>
                    </a:p>
                  </a:txBody>
                  <a:tcPr marL="73152" marR="73152" marT="36576" marB="36576">
                    <a:solidFill>
                      <a:srgbClr val="FFFFFF"/>
                    </a:solidFill>
                  </a:tcPr>
                </a:tc>
                <a:tc>
                  <a:txBody>
                    <a:bodyPr wrap="square"/>
                    <a:lstStyle/>
                    <a:p>
                      <a:r>
                        <a:rPr sz="1700" b="0">
                          <a:solidFill>
                            <a:srgbClr val="1B1B1B"/>
                          </a:solidFill>
                          <a:latin typeface="Calibri"/>
                        </a:rPr>
                        <a:t>EX16 à EX20, EX21, EX22</a:t>
                      </a:r>
                    </a:p>
                  </a:txBody>
                  <a:tcPr marL="73152" marR="73152" marT="36576" marB="36576">
                    <a:solidFill>
                      <a:srgbClr val="FFFFFF"/>
                    </a:solidFill>
                  </a:tcPr>
                </a:tc>
              </a:tr>
              <a:tr h="365760">
                <a:tc>
                  <a:txBody>
                    <a:bodyPr wrap="square"/>
                    <a:lstStyle/>
                    <a:p>
                      <a:r>
                        <a:rPr sz="1700" b="1">
                          <a:solidFill>
                            <a:srgbClr val="1B1B1B"/>
                          </a:solidFill>
                          <a:latin typeface="Calibri"/>
                        </a:rPr>
                        <a:t>O2 · Maîtriser l'information spécialisée</a:t>
                      </a:r>
                    </a:p>
                  </a:txBody>
                  <a:tcPr marL="73152" marR="73152" marT="36576" marB="36576">
                    <a:solidFill>
                      <a:srgbClr val="F3F5F9"/>
                    </a:solidFill>
                  </a:tcPr>
                </a:tc>
                <a:tc>
                  <a:txBody>
                    <a:bodyPr wrap="square"/>
                    <a:lstStyle/>
                    <a:p>
                      <a:r>
                        <a:rPr sz="1700" b="0">
                          <a:solidFill>
                            <a:srgbClr val="1B1B1B"/>
                          </a:solidFill>
                          <a:latin typeface="Calibri"/>
                        </a:rPr>
                        <a:t>Bloc D2</a:t>
                      </a:r>
                    </a:p>
                  </a:txBody>
                  <a:tcPr marL="73152" marR="73152" marT="36576" marB="36576">
                    <a:solidFill>
                      <a:srgbClr val="F3F5F9"/>
                    </a:solidFill>
                  </a:tcPr>
                </a:tc>
                <a:tc>
                  <a:txBody>
                    <a:bodyPr wrap="square"/>
                    <a:lstStyle/>
                    <a:p>
                      <a:r>
                        <a:rPr sz="1700" b="0">
                          <a:solidFill>
                            <a:srgbClr val="1B1B1B"/>
                          </a:solidFill>
                          <a:latin typeface="Calibri"/>
                        </a:rPr>
                        <a:t>EX14, EX15, F6, M2</a:t>
                      </a:r>
                    </a:p>
                  </a:txBody>
                  <a:tcPr marL="73152" marR="73152" marT="36576" marB="36576">
                    <a:solidFill>
                      <a:srgbClr val="F3F5F9"/>
                    </a:solidFill>
                  </a:tcPr>
                </a:tc>
              </a:tr>
              <a:tr h="365760">
                <a:tc>
                  <a:txBody>
                    <a:bodyPr wrap="square"/>
                    <a:lstStyle/>
                    <a:p>
                      <a:r>
                        <a:rPr sz="1700" b="1">
                          <a:solidFill>
                            <a:srgbClr val="1B1B1B"/>
                          </a:solidFill>
                          <a:latin typeface="Calibri"/>
                        </a:rPr>
                        <a:t>O3 · Chercher, évaluer, valider l'information</a:t>
                      </a:r>
                    </a:p>
                  </a:txBody>
                  <a:tcPr marL="73152" marR="73152" marT="36576" marB="36576">
                    <a:solidFill>
                      <a:srgbClr val="FFFFFF"/>
                    </a:solidFill>
                  </a:tcPr>
                </a:tc>
                <a:tc>
                  <a:txBody>
                    <a:bodyPr wrap="square"/>
                    <a:lstStyle/>
                    <a:p>
                      <a:r>
                        <a:rPr sz="1700" b="0">
                          <a:solidFill>
                            <a:srgbClr val="1B1B1B"/>
                          </a:solidFill>
                          <a:latin typeface="Calibri"/>
                        </a:rPr>
                        <a:t>Blocs C et D1</a:t>
                      </a:r>
                    </a:p>
                  </a:txBody>
                  <a:tcPr marL="73152" marR="73152" marT="36576" marB="36576">
                    <a:solidFill>
                      <a:srgbClr val="FFFFFF"/>
                    </a:solidFill>
                  </a:tcPr>
                </a:tc>
                <a:tc>
                  <a:txBody>
                    <a:bodyPr wrap="square"/>
                    <a:lstStyle/>
                    <a:p>
                      <a:r>
                        <a:rPr sz="1700" b="0">
                          <a:solidFill>
                            <a:srgbClr val="1B1B1B"/>
                          </a:solidFill>
                          <a:latin typeface="Calibri"/>
                        </a:rPr>
                        <a:t>EX7 à EX13, M1, M2, M4, V4</a:t>
                      </a:r>
                    </a:p>
                  </a:txBody>
                  <a:tcPr marL="73152" marR="73152" marT="36576" marB="36576">
                    <a:solidFill>
                      <a:srgbClr val="FFFFFF"/>
                    </a:solidFill>
                  </a:tcPr>
                </a:tc>
              </a:tr>
              <a:tr h="365760">
                <a:tc>
                  <a:txBody>
                    <a:bodyPr wrap="square"/>
                    <a:lstStyle/>
                    <a:p>
                      <a:r>
                        <a:rPr sz="1700" b="1">
                          <a:solidFill>
                            <a:srgbClr val="1B1B1B"/>
                          </a:solidFill>
                          <a:latin typeface="Calibri"/>
                        </a:rPr>
                        <a:t>P1 · Information et communication en posture d'ingénieur</a:t>
                      </a:r>
                    </a:p>
                  </a:txBody>
                  <a:tcPr marL="73152" marR="73152" marT="36576" marB="36576">
                    <a:solidFill>
                      <a:srgbClr val="F3F5F9"/>
                    </a:solidFill>
                  </a:tcPr>
                </a:tc>
                <a:tc>
                  <a:txBody>
                    <a:bodyPr wrap="square"/>
                    <a:lstStyle/>
                    <a:p>
                      <a:r>
                        <a:rPr sz="1700" b="0">
                          <a:solidFill>
                            <a:srgbClr val="1B1B1B"/>
                          </a:solidFill>
                          <a:latin typeface="Calibri"/>
                        </a:rPr>
                        <a:t>Bloc B</a:t>
                      </a:r>
                    </a:p>
                  </a:txBody>
                  <a:tcPr marL="73152" marR="73152" marT="36576" marB="36576">
                    <a:solidFill>
                      <a:srgbClr val="F3F5F9"/>
                    </a:solidFill>
                  </a:tcPr>
                </a:tc>
                <a:tc>
                  <a:txBody>
                    <a:bodyPr wrap="square"/>
                    <a:lstStyle/>
                    <a:p>
                      <a:r>
                        <a:rPr sz="1700" b="0">
                          <a:solidFill>
                            <a:srgbClr val="1B1B1B"/>
                          </a:solidFill>
                          <a:latin typeface="Calibri"/>
                        </a:rPr>
                        <a:t>EX4, EX5, EX6</a:t>
                      </a:r>
                    </a:p>
                  </a:txBody>
                  <a:tcPr marL="73152" marR="73152" marT="36576" marB="36576">
                    <a:solidFill>
                      <a:srgbClr val="F3F5F9"/>
                    </a:solidFill>
                  </a:tcPr>
                </a:tc>
              </a:tr>
              <a:tr h="365760">
                <a:tc>
                  <a:txBody>
                    <a:bodyPr wrap="square"/>
                    <a:lstStyle/>
                    <a:p>
                      <a:r>
                        <a:rPr sz="1700" b="1">
                          <a:solidFill>
                            <a:srgbClr val="1B1B1B"/>
                          </a:solidFill>
                          <a:latin typeface="Calibri"/>
                        </a:rPr>
                        <a:t>P2 · Se documenter, restituer un état de l'art par écrit et à l'oral</a:t>
                      </a:r>
                    </a:p>
                  </a:txBody>
                  <a:tcPr marL="73152" marR="73152" marT="36576" marB="36576">
                    <a:solidFill>
                      <a:srgbClr val="FFFFFF"/>
                    </a:solidFill>
                  </a:tcPr>
                </a:tc>
                <a:tc>
                  <a:txBody>
                    <a:bodyPr wrap="square"/>
                    <a:lstStyle/>
                    <a:p>
                      <a:r>
                        <a:rPr sz="1700" b="0">
                          <a:solidFill>
                            <a:srgbClr val="1B1B1B"/>
                          </a:solidFill>
                          <a:latin typeface="Calibri"/>
                        </a:rPr>
                        <a:t>Blocs F2 et G</a:t>
                      </a:r>
                    </a:p>
                  </a:txBody>
                  <a:tcPr marL="73152" marR="73152" marT="36576" marB="36576">
                    <a:solidFill>
                      <a:srgbClr val="FFFFFF"/>
                    </a:solidFill>
                  </a:tcPr>
                </a:tc>
                <a:tc>
                  <a:txBody>
                    <a:bodyPr wrap="square"/>
                    <a:lstStyle/>
                    <a:p>
                      <a:r>
                        <a:rPr sz="1700" b="0">
                          <a:solidFill>
                            <a:srgbClr val="1B1B1B"/>
                          </a:solidFill>
                          <a:latin typeface="Calibri"/>
                        </a:rPr>
                        <a:t>EX21 à EX27, V7, V8, M3</a:t>
                      </a:r>
                    </a:p>
                  </a:txBody>
                  <a:tcPr marL="73152" marR="73152" marT="36576" marB="36576">
                    <a:solidFill>
                      <a:srgbClr val="FFFFFF"/>
                    </a:solidFill>
                  </a:tcPr>
                </a:tc>
              </a:tr>
              <a:tr h="365760">
                <a:tc>
                  <a:txBody>
                    <a:bodyPr wrap="square"/>
                    <a:lstStyle/>
                    <a:p>
                      <a:r>
                        <a:rPr sz="1700" b="1">
                          <a:solidFill>
                            <a:srgbClr val="1B1B1B"/>
                          </a:solidFill>
                          <a:latin typeface="Calibri"/>
                        </a:rPr>
                        <a:t>Projet tutoré : vulnérabilités clés de l'organisation</a:t>
                      </a:r>
                    </a:p>
                  </a:txBody>
                  <a:tcPr marL="73152" marR="73152" marT="36576" marB="36576">
                    <a:solidFill>
                      <a:srgbClr val="F3F5F9"/>
                    </a:solidFill>
                  </a:tcPr>
                </a:tc>
                <a:tc>
                  <a:txBody>
                    <a:bodyPr wrap="square"/>
                    <a:lstStyle/>
                    <a:p>
                      <a:r>
                        <a:rPr sz="1700" b="0">
                          <a:solidFill>
                            <a:srgbClr val="1B1B1B"/>
                          </a:solidFill>
                          <a:latin typeface="Calibri"/>
                        </a:rPr>
                        <a:t>Annexe H du support complet (v9)</a:t>
                      </a:r>
                    </a:p>
                  </a:txBody>
                  <a:tcPr marL="73152" marR="73152" marT="36576" marB="36576">
                    <a:solidFill>
                      <a:srgbClr val="F3F5F9"/>
                    </a:solidFill>
                  </a:tcPr>
                </a:tc>
                <a:tc>
                  <a:txBody>
                    <a:bodyPr wrap="square"/>
                    <a:lstStyle/>
                    <a:p>
                      <a:r>
                        <a:rPr sz="1700" b="0">
                          <a:solidFill>
                            <a:srgbClr val="1B1B1B"/>
                          </a:solidFill>
                          <a:latin typeface="Calibri"/>
                        </a:rPr>
                        <a:t>V5, EX28</a:t>
                      </a:r>
                    </a:p>
                  </a:txBody>
                  <a:tcPr marL="73152" marR="73152" marT="36576" marB="36576">
                    <a:solidFill>
                      <a:srgbClr val="F3F5F9"/>
                    </a:solidFill>
                  </a:tcPr>
                </a:tc>
              </a:tr>
              <a:tr h="365760">
                <a:tc>
                  <a:txBody>
                    <a:bodyPr wrap="square"/>
                    <a:lstStyle/>
                    <a:p>
                      <a:r>
                        <a:rPr sz="1700" b="1">
                          <a:solidFill>
                            <a:srgbClr val="1B1B1B"/>
                          </a:solidFill>
                          <a:latin typeface="Calibri"/>
                        </a:rPr>
                        <a:t>Évaluation : examen écrit</a:t>
                      </a:r>
                    </a:p>
                  </a:txBody>
                  <a:tcPr marL="73152" marR="73152" marT="36576" marB="36576">
                    <a:solidFill>
                      <a:srgbClr val="FFFFFF"/>
                    </a:solidFill>
                  </a:tcPr>
                </a:tc>
                <a:tc>
                  <a:txBody>
                    <a:bodyPr wrap="square"/>
                    <a:lstStyle/>
                    <a:p>
                      <a:r>
                        <a:rPr sz="1700" b="0">
                          <a:solidFill>
                            <a:srgbClr val="1B1B1B"/>
                          </a:solidFill>
                          <a:latin typeface="Calibri"/>
                        </a:rPr>
                        <a:t>Bloc I</a:t>
                      </a:r>
                    </a:p>
                  </a:txBody>
                  <a:tcPr marL="73152" marR="73152" marT="36576" marB="36576">
                    <a:solidFill>
                      <a:srgbClr val="FFFFFF"/>
                    </a:solidFill>
                  </a:tcPr>
                </a:tc>
                <a:tc>
                  <a:txBody>
                    <a:bodyPr wrap="square"/>
                    <a:lstStyle/>
                    <a:p>
                      <a:r>
                        <a:rPr sz="1700" b="0">
                          <a:solidFill>
                            <a:srgbClr val="1B1B1B"/>
                          </a:solidFill>
                          <a:latin typeface="Calibri"/>
                        </a:rPr>
                        <a:t>EX29, quiz final, F9</a:t>
                      </a:r>
                    </a:p>
                  </a:txBody>
                  <a:tcPr marL="73152" marR="73152" marT="36576" marB="36576">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Annexe B · Index des exercices (1/2)</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141</a:t>
            </a:r>
          </a:p>
        </p:txBody>
      </p:sp>
      <p:graphicFrame>
        <p:nvGraphicFramePr>
          <p:cNvPr id="6" name="Table 5"/>
          <p:cNvGraphicFramePr>
            <a:graphicFrameLocks noGrp="1"/>
          </p:cNvGraphicFramePr>
          <p:nvPr/>
        </p:nvGraphicFramePr>
        <p:xfrm>
          <a:off x="411480" y="1188720"/>
          <a:ext cx="11338558" cy="7315200"/>
        </p:xfrm>
        <a:graphic>
          <a:graphicData uri="http://schemas.openxmlformats.org/drawingml/2006/table">
            <a:tbl>
              <a:tblPr firstRow="0" bandRow="0">
                <a:tableStyleId>{5C22544A-7EE6-4342-B048-85BDC9FD1C3A}</a:tableStyleId>
              </a:tblPr>
              <a:tblGrid>
                <a:gridCol w="872196"/>
                <a:gridCol w="7195624"/>
                <a:gridCol w="1090246"/>
                <a:gridCol w="2180492"/>
              </a:tblGrid>
              <a:tr h="365760">
                <a:tc>
                  <a:txBody>
                    <a:bodyPr wrap="square"/>
                    <a:lstStyle/>
                    <a:p>
                      <a:r>
                        <a:rPr sz="1200" b="1">
                          <a:solidFill>
                            <a:srgbClr val="FFFFFF"/>
                          </a:solidFill>
                          <a:latin typeface="Calibri"/>
                        </a:rPr>
                        <a:t>N°</a:t>
                      </a:r>
                    </a:p>
                  </a:txBody>
                  <a:tcPr marL="73152" marR="73152" marT="36576" marB="36576">
                    <a:solidFill>
                      <a:srgbClr val="1F2A5C"/>
                    </a:solidFill>
                  </a:tcPr>
                </a:tc>
                <a:tc>
                  <a:txBody>
                    <a:bodyPr wrap="square"/>
                    <a:lstStyle/>
                    <a:p>
                      <a:r>
                        <a:rPr sz="1200" b="1">
                          <a:solidFill>
                            <a:srgbClr val="FFFFFF"/>
                          </a:solidFill>
                          <a:latin typeface="Calibri"/>
                        </a:rPr>
                        <a:t>Titre</a:t>
                      </a:r>
                    </a:p>
                  </a:txBody>
                  <a:tcPr marL="73152" marR="73152" marT="36576" marB="36576">
                    <a:solidFill>
                      <a:srgbClr val="1F2A5C"/>
                    </a:solidFill>
                  </a:tcPr>
                </a:tc>
                <a:tc>
                  <a:txBody>
                    <a:bodyPr wrap="square"/>
                    <a:lstStyle/>
                    <a:p>
                      <a:r>
                        <a:rPr sz="1200" b="1">
                          <a:solidFill>
                            <a:srgbClr val="FFFFFF"/>
                          </a:solidFill>
                          <a:latin typeface="Calibri"/>
                        </a:rPr>
                        <a:t>Durée</a:t>
                      </a:r>
                    </a:p>
                  </a:txBody>
                  <a:tcPr marL="73152" marR="73152" marT="36576" marB="36576">
                    <a:solidFill>
                      <a:srgbClr val="1F2A5C"/>
                    </a:solidFill>
                  </a:tcPr>
                </a:tc>
                <a:tc>
                  <a:txBody>
                    <a:bodyPr wrap="square"/>
                    <a:lstStyle/>
                    <a:p>
                      <a:r>
                        <a:rPr sz="1200" b="1">
                          <a:solidFill>
                            <a:srgbClr val="FFFFFF"/>
                          </a:solidFill>
                          <a:latin typeface="Calibri"/>
                        </a:rPr>
                        <a:t>Mode</a:t>
                      </a:r>
                    </a:p>
                  </a:txBody>
                  <a:tcPr marL="73152" marR="73152" marT="36576" marB="36576">
                    <a:solidFill>
                      <a:srgbClr val="1F2A5C"/>
                    </a:solidFill>
                  </a:tcPr>
                </a:tc>
              </a:tr>
              <a:tr h="365760">
                <a:tc>
                  <a:txBody>
                    <a:bodyPr wrap="square"/>
                    <a:lstStyle/>
                    <a:p>
                      <a:r>
                        <a:rPr sz="1200" b="1">
                          <a:solidFill>
                            <a:srgbClr val="1B1B1B"/>
                          </a:solidFill>
                          <a:latin typeface="Calibri"/>
                        </a:rPr>
                        <a:t>F0</a:t>
                      </a:r>
                    </a:p>
                  </a:txBody>
                  <a:tcPr marL="73152" marR="73152" marT="36576" marB="36576">
                    <a:solidFill>
                      <a:srgbClr val="FFFFFF"/>
                    </a:solidFill>
                  </a:tcPr>
                </a:tc>
                <a:tc>
                  <a:txBody>
                    <a:bodyPr wrap="square"/>
                    <a:lstStyle/>
                    <a:p>
                      <a:r>
                        <a:rPr sz="1200" b="0">
                          <a:solidFill>
                            <a:srgbClr val="1B1B1B"/>
                          </a:solidFill>
                          <a:latin typeface="Calibri"/>
                        </a:rPr>
                        <a:t>Débat, puis vérification : deux phrases entendues</a:t>
                      </a:r>
                    </a:p>
                  </a:txBody>
                  <a:tcPr marL="73152" marR="73152" marT="36576" marB="36576">
                    <a:solidFill>
                      <a:srgbClr val="FFFFFF"/>
                    </a:solidFill>
                  </a:tcPr>
                </a:tc>
                <a:tc>
                  <a:txBody>
                    <a:bodyPr wrap="square"/>
                    <a:lstStyle/>
                    <a:p>
                      <a:r>
                        <a:rPr sz="1200" b="0">
                          <a:solidFill>
                            <a:srgbClr val="1B1B1B"/>
                          </a:solidFill>
                          <a:latin typeface="Calibri"/>
                        </a:rPr>
                        <a:t>12 min</a:t>
                      </a:r>
                    </a:p>
                  </a:txBody>
                  <a:tcPr marL="73152" marR="73152" marT="36576" marB="36576">
                    <a:solidFill>
                      <a:srgbClr val="FFFFFF"/>
                    </a:solidFill>
                  </a:tcPr>
                </a:tc>
                <a:tc>
                  <a:txBody>
                    <a:bodyPr wrap="square"/>
                    <a:lstStyle/>
                    <a:p>
                      <a:r>
                        <a:rPr sz="1200" b="0">
                          <a:solidFill>
                            <a:srgbClr val="1B1B1B"/>
                          </a:solidFill>
                          <a:latin typeface="Calibri"/>
                        </a:rPr>
                        <a:t>Binômes, ordinateur</a:t>
                      </a:r>
                    </a:p>
                  </a:txBody>
                  <a:tcPr marL="73152" marR="73152" marT="36576" marB="36576">
                    <a:solidFill>
                      <a:srgbClr val="FFFFFF"/>
                    </a:solidFill>
                  </a:tcPr>
                </a:tc>
              </a:tr>
              <a:tr h="365760">
                <a:tc>
                  <a:txBody>
                    <a:bodyPr wrap="square"/>
                    <a:lstStyle/>
                    <a:p>
                      <a:r>
                        <a:rPr sz="1200" b="1">
                          <a:solidFill>
                            <a:srgbClr val="1B1B1B"/>
                          </a:solidFill>
                          <a:latin typeface="Calibri"/>
                        </a:rPr>
                        <a:t>EX0</a:t>
                      </a:r>
                    </a:p>
                  </a:txBody>
                  <a:tcPr marL="73152" marR="73152" marT="36576" marB="36576">
                    <a:solidFill>
                      <a:srgbClr val="F3F5F9"/>
                    </a:solidFill>
                  </a:tcPr>
                </a:tc>
                <a:tc>
                  <a:txBody>
                    <a:bodyPr wrap="square"/>
                    <a:lstStyle/>
                    <a:p>
                      <a:r>
                        <a:rPr sz="1200" b="0">
                          <a:solidFill>
                            <a:srgbClr val="1B1B1B"/>
                          </a:solidFill>
                          <a:latin typeface="Calibri"/>
                        </a:rPr>
                        <a:t>Lire une offre d'emploi d'ingénieur : que demande-t-on vraiment ?</a:t>
                      </a:r>
                    </a:p>
                  </a:txBody>
                  <a:tcPr marL="73152" marR="73152" marT="36576" marB="36576">
                    <a:solidFill>
                      <a:srgbClr val="F3F5F9"/>
                    </a:solidFill>
                  </a:tcPr>
                </a:tc>
                <a:tc>
                  <a:txBody>
                    <a:bodyPr wrap="square"/>
                    <a:lstStyle/>
                    <a:p>
                      <a:r>
                        <a:rPr sz="1200" b="0">
                          <a:solidFill>
                            <a:srgbClr val="1B1B1B"/>
                          </a:solidFill>
                          <a:latin typeface="Calibri"/>
                        </a:rPr>
                        <a:t>10 min</a:t>
                      </a:r>
                    </a:p>
                  </a:txBody>
                  <a:tcPr marL="73152" marR="73152" marT="36576" marB="36576">
                    <a:solidFill>
                      <a:srgbClr val="F3F5F9"/>
                    </a:solidFill>
                  </a:tcPr>
                </a:tc>
                <a:tc>
                  <a:txBody>
                    <a:bodyPr wrap="square"/>
                    <a:lstStyle/>
                    <a:p>
                      <a:r>
                        <a:rPr sz="1200" b="0">
                          <a:solidFill>
                            <a:srgbClr val="1B1B1B"/>
                          </a:solidFill>
                          <a:latin typeface="Calibri"/>
                        </a:rPr>
                        <a:t>Individuel, ordinateur</a:t>
                      </a:r>
                    </a:p>
                  </a:txBody>
                  <a:tcPr marL="73152" marR="73152" marT="36576" marB="36576">
                    <a:solidFill>
                      <a:srgbClr val="F3F5F9"/>
                    </a:solidFill>
                  </a:tcPr>
                </a:tc>
              </a:tr>
              <a:tr h="365760">
                <a:tc>
                  <a:txBody>
                    <a:bodyPr wrap="square"/>
                    <a:lstStyle/>
                    <a:p>
                      <a:r>
                        <a:rPr sz="1200" b="1">
                          <a:solidFill>
                            <a:srgbClr val="1B1B1B"/>
                          </a:solidFill>
                          <a:latin typeface="Calibri"/>
                        </a:rPr>
                        <a:t>EX1</a:t>
                      </a:r>
                    </a:p>
                  </a:txBody>
                  <a:tcPr marL="73152" marR="73152" marT="36576" marB="36576">
                    <a:solidFill>
                      <a:srgbClr val="FFFFFF"/>
                    </a:solidFill>
                  </a:tcPr>
                </a:tc>
                <a:tc>
                  <a:txBody>
                    <a:bodyPr wrap="square"/>
                    <a:lstStyle/>
                    <a:p>
                      <a:r>
                        <a:rPr sz="1200" b="0">
                          <a:solidFill>
                            <a:srgbClr val="1B1B1B"/>
                          </a:solidFill>
                          <a:latin typeface="Calibri"/>
                        </a:rPr>
                        <a:t>Choisir et formuler votre question de décision</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Équipes</a:t>
                      </a:r>
                    </a:p>
                  </a:txBody>
                  <a:tcPr marL="73152" marR="73152" marT="36576" marB="36576">
                    <a:solidFill>
                      <a:srgbClr val="FFFFFF"/>
                    </a:solidFill>
                  </a:tcPr>
                </a:tc>
              </a:tr>
              <a:tr h="365760">
                <a:tc>
                  <a:txBody>
                    <a:bodyPr wrap="square"/>
                    <a:lstStyle/>
                    <a:p>
                      <a:r>
                        <a:rPr sz="1200" b="1">
                          <a:solidFill>
                            <a:srgbClr val="1B1B1B"/>
                          </a:solidFill>
                          <a:latin typeface="Calibri"/>
                        </a:rPr>
                        <a:t>EX5</a:t>
                      </a:r>
                    </a:p>
                  </a:txBody>
                  <a:tcPr marL="73152" marR="73152" marT="36576" marB="36576">
                    <a:solidFill>
                      <a:srgbClr val="F3F5F9"/>
                    </a:solidFill>
                  </a:tcPr>
                </a:tc>
                <a:tc>
                  <a:txBody>
                    <a:bodyPr wrap="square"/>
                    <a:lstStyle/>
                    <a:p>
                      <a:r>
                        <a:rPr sz="1200" b="0">
                          <a:solidFill>
                            <a:srgbClr val="1B1B1B"/>
                          </a:solidFill>
                          <a:latin typeface="Calibri"/>
                        </a:rPr>
                        <a:t>Corriger trois e-mails : avant / après</a:t>
                      </a:r>
                    </a:p>
                  </a:txBody>
                  <a:tcPr marL="73152" marR="73152" marT="36576" marB="36576">
                    <a:solidFill>
                      <a:srgbClr val="F3F5F9"/>
                    </a:solidFill>
                  </a:tcPr>
                </a:tc>
                <a:tc>
                  <a:txBody>
                    <a:bodyPr wrap="square"/>
                    <a:lstStyle/>
                    <a:p>
                      <a:r>
                        <a:rPr sz="1200" b="0">
                          <a:solidFill>
                            <a:srgbClr val="1B1B1B"/>
                          </a:solidFill>
                          <a:latin typeface="Calibri"/>
                        </a:rPr>
                        <a:t>15 min</a:t>
                      </a:r>
                    </a:p>
                  </a:txBody>
                  <a:tcPr marL="73152" marR="73152" marT="36576" marB="36576">
                    <a:solidFill>
                      <a:srgbClr val="F3F5F9"/>
                    </a:solidFill>
                  </a:tcPr>
                </a:tc>
                <a:tc>
                  <a:txBody>
                    <a:bodyPr wrap="square"/>
                    <a:lstStyle/>
                    <a:p>
                      <a:r>
                        <a:rPr sz="1200" b="0">
                          <a:solidFill>
                            <a:srgbClr val="1B1B1B"/>
                          </a:solidFill>
                          <a:latin typeface="Calibri"/>
                        </a:rPr>
                        <a:t>Binôme</a:t>
                      </a:r>
                    </a:p>
                  </a:txBody>
                  <a:tcPr marL="73152" marR="73152" marT="36576" marB="36576">
                    <a:solidFill>
                      <a:srgbClr val="F3F5F9"/>
                    </a:solidFill>
                  </a:tcPr>
                </a:tc>
              </a:tr>
              <a:tr h="365760">
                <a:tc>
                  <a:txBody>
                    <a:bodyPr wrap="square"/>
                    <a:lstStyle/>
                    <a:p>
                      <a:r>
                        <a:rPr sz="1200" b="1">
                          <a:solidFill>
                            <a:srgbClr val="1B1B1B"/>
                          </a:solidFill>
                          <a:latin typeface="Calibri"/>
                        </a:rPr>
                        <a:t>EX6</a:t>
                      </a:r>
                    </a:p>
                  </a:txBody>
                  <a:tcPr marL="73152" marR="73152" marT="36576" marB="36576">
                    <a:solidFill>
                      <a:srgbClr val="FFFFFF"/>
                    </a:solidFill>
                  </a:tcPr>
                </a:tc>
                <a:tc>
                  <a:txBody>
                    <a:bodyPr wrap="square"/>
                    <a:lstStyle/>
                    <a:p>
                      <a:r>
                        <a:rPr sz="1200" b="0">
                          <a:solidFill>
                            <a:srgbClr val="1B1B1B"/>
                          </a:solidFill>
                          <a:latin typeface="Calibri"/>
                        </a:rPr>
                        <a:t>Rédiger une note de synthèse d'une page</a:t>
                      </a:r>
                    </a:p>
                  </a:txBody>
                  <a:tcPr marL="73152" marR="73152" marT="36576" marB="36576">
                    <a:solidFill>
                      <a:srgbClr val="FFFFFF"/>
                    </a:solidFill>
                  </a:tcPr>
                </a:tc>
                <a:tc>
                  <a:txBody>
                    <a:bodyPr wrap="square"/>
                    <a:lstStyle/>
                    <a:p>
                      <a:r>
                        <a:rPr sz="1200" b="0">
                          <a:solidFill>
                            <a:srgbClr val="1B1B1B"/>
                          </a:solidFill>
                          <a:latin typeface="Calibri"/>
                        </a:rPr>
                        <a:t>20 min</a:t>
                      </a:r>
                    </a:p>
                  </a:txBody>
                  <a:tcPr marL="73152" marR="73152" marT="36576" marB="36576">
                    <a:solidFill>
                      <a:srgbClr val="FFFFFF"/>
                    </a:solidFill>
                  </a:tcPr>
                </a:tc>
                <a:tc>
                  <a:txBody>
                    <a:bodyPr wrap="square"/>
                    <a:lstStyle/>
                    <a:p>
                      <a:r>
                        <a:rPr sz="1200" b="0">
                          <a:solidFill>
                            <a:srgbClr val="1B1B1B"/>
                          </a:solidFill>
                          <a:latin typeface="Calibri"/>
                        </a:rPr>
                        <a:t>Individuel</a:t>
                      </a:r>
                    </a:p>
                  </a:txBody>
                  <a:tcPr marL="73152" marR="73152" marT="36576" marB="36576">
                    <a:solidFill>
                      <a:srgbClr val="FFFFFF"/>
                    </a:solidFill>
                  </a:tcPr>
                </a:tc>
              </a:tr>
              <a:tr h="365760">
                <a:tc>
                  <a:txBody>
                    <a:bodyPr wrap="square"/>
                    <a:lstStyle/>
                    <a:p>
                      <a:r>
                        <a:rPr sz="1200" b="1">
                          <a:solidFill>
                            <a:srgbClr val="1B1B1B"/>
                          </a:solidFill>
                          <a:latin typeface="Calibri"/>
                        </a:rPr>
                        <a:t>EX4</a:t>
                      </a:r>
                    </a:p>
                  </a:txBody>
                  <a:tcPr marL="73152" marR="73152" marT="36576" marB="36576">
                    <a:solidFill>
                      <a:srgbClr val="F3F5F9"/>
                    </a:solidFill>
                  </a:tcPr>
                </a:tc>
                <a:tc>
                  <a:txBody>
                    <a:bodyPr wrap="square"/>
                    <a:lstStyle/>
                    <a:p>
                      <a:r>
                        <a:rPr sz="1200" b="0">
                          <a:solidFill>
                            <a:srgbClr val="1B1B1B"/>
                          </a:solidFill>
                          <a:latin typeface="Calibri"/>
                        </a:rPr>
                        <a:t>Recueillir un besoin : l'entretien avec Marc</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Binôme (enquêteur / Marc)</a:t>
                      </a:r>
                    </a:p>
                  </a:txBody>
                  <a:tcPr marL="73152" marR="73152" marT="36576" marB="36576">
                    <a:solidFill>
                      <a:srgbClr val="F3F5F9"/>
                    </a:solidFill>
                  </a:tcPr>
                </a:tc>
              </a:tr>
              <a:tr h="365760">
                <a:tc>
                  <a:txBody>
                    <a:bodyPr wrap="square"/>
                    <a:lstStyle/>
                    <a:p>
                      <a:r>
                        <a:rPr sz="1200" b="1">
                          <a:solidFill>
                            <a:srgbClr val="1B1B1B"/>
                          </a:solidFill>
                          <a:latin typeface="Calibri"/>
                        </a:rPr>
                        <a:t>EX7</a:t>
                      </a:r>
                    </a:p>
                  </a:txBody>
                  <a:tcPr marL="73152" marR="73152" marT="36576" marB="36576">
                    <a:solidFill>
                      <a:srgbClr val="FFFFFF"/>
                    </a:solidFill>
                  </a:tcPr>
                </a:tc>
                <a:tc>
                  <a:txBody>
                    <a:bodyPr wrap="square"/>
                    <a:lstStyle/>
                    <a:p>
                      <a:r>
                        <a:rPr sz="1200" b="0">
                          <a:solidFill>
                            <a:srgbClr val="1B1B1B"/>
                          </a:solidFill>
                          <a:latin typeface="Calibri"/>
                        </a:rPr>
                        <a:t>Décomposer une question en mots-clés</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Binôme</a:t>
                      </a:r>
                    </a:p>
                  </a:txBody>
                  <a:tcPr marL="73152" marR="73152" marT="36576" marB="36576">
                    <a:solidFill>
                      <a:srgbClr val="FFFFFF"/>
                    </a:solidFill>
                  </a:tcPr>
                </a:tc>
              </a:tr>
              <a:tr h="365760">
                <a:tc>
                  <a:txBody>
                    <a:bodyPr wrap="square"/>
                    <a:lstStyle/>
                    <a:p>
                      <a:r>
                        <a:rPr sz="1200" b="1">
                          <a:solidFill>
                            <a:srgbClr val="1B1B1B"/>
                          </a:solidFill>
                          <a:latin typeface="Calibri"/>
                        </a:rPr>
                        <a:t>M1</a:t>
                      </a:r>
                    </a:p>
                  </a:txBody>
                  <a:tcPr marL="73152" marR="73152" marT="36576" marB="36576">
                    <a:solidFill>
                      <a:srgbClr val="F3F5F9"/>
                    </a:solidFill>
                  </a:tcPr>
                </a:tc>
                <a:tc>
                  <a:txBody>
                    <a:bodyPr wrap="square"/>
                    <a:lstStyle/>
                    <a:p>
                      <a:r>
                        <a:rPr sz="1200" b="0">
                          <a:solidFill>
                            <a:srgbClr val="1B1B1B"/>
                          </a:solidFill>
                          <a:latin typeface="Calibri"/>
                        </a:rPr>
                        <a:t>Défi chrono : retrouver le texte officiel en 3 minutes</a:t>
                      </a:r>
                    </a:p>
                  </a:txBody>
                  <a:tcPr marL="73152" marR="73152" marT="36576" marB="36576">
                    <a:solidFill>
                      <a:srgbClr val="F3F5F9"/>
                    </a:solidFill>
                  </a:tcPr>
                </a:tc>
                <a:tc>
                  <a:txBody>
                    <a:bodyPr wrap="square"/>
                    <a:lstStyle/>
                    <a:p>
                      <a:r>
                        <a:rPr sz="1200" b="0">
                          <a:solidFill>
                            <a:srgbClr val="1B1B1B"/>
                          </a:solidFill>
                          <a:latin typeface="Calibri"/>
                        </a:rPr>
                        <a:t>15 min</a:t>
                      </a:r>
                    </a:p>
                  </a:txBody>
                  <a:tcPr marL="73152" marR="73152" marT="36576" marB="36576">
                    <a:solidFill>
                      <a:srgbClr val="F3F5F9"/>
                    </a:solidFill>
                  </a:tcPr>
                </a:tc>
                <a:tc>
                  <a:txBody>
                    <a:bodyPr wrap="square"/>
                    <a:lstStyle/>
                    <a:p>
                      <a:r>
                        <a:rPr sz="1200" b="0">
                          <a:solidFill>
                            <a:srgbClr val="1B1B1B"/>
                          </a:solidFill>
                          <a:latin typeface="Calibri"/>
                        </a:rPr>
                        <a:t>Binômes, ordinateur</a:t>
                      </a:r>
                    </a:p>
                  </a:txBody>
                  <a:tcPr marL="73152" marR="73152" marT="36576" marB="36576">
                    <a:solidFill>
                      <a:srgbClr val="F3F5F9"/>
                    </a:solidFill>
                  </a:tcPr>
                </a:tc>
              </a:tr>
              <a:tr h="365760">
                <a:tc>
                  <a:txBody>
                    <a:bodyPr wrap="square"/>
                    <a:lstStyle/>
                    <a:p>
                      <a:r>
                        <a:rPr sz="1200" b="1">
                          <a:solidFill>
                            <a:srgbClr val="1B1B1B"/>
                          </a:solidFill>
                          <a:latin typeface="Calibri"/>
                        </a:rPr>
                        <a:t>EX8</a:t>
                      </a:r>
                    </a:p>
                  </a:txBody>
                  <a:tcPr marL="73152" marR="73152" marT="36576" marB="36576">
                    <a:solidFill>
                      <a:srgbClr val="FFFFFF"/>
                    </a:solidFill>
                  </a:tcPr>
                </a:tc>
                <a:tc>
                  <a:txBody>
                    <a:bodyPr wrap="square"/>
                    <a:lstStyle/>
                    <a:p>
                      <a:r>
                        <a:rPr sz="1200" b="0">
                          <a:solidFill>
                            <a:srgbClr val="1B1B1B"/>
                          </a:solidFill>
                          <a:latin typeface="Calibri"/>
                        </a:rPr>
                        <a:t>Chercher dans Google Scholar avec des opérateurs</a:t>
                      </a:r>
                    </a:p>
                  </a:txBody>
                  <a:tcPr marL="73152" marR="73152" marT="36576" marB="36576">
                    <a:solidFill>
                      <a:srgbClr val="FFFFFF"/>
                    </a:solidFill>
                  </a:tcPr>
                </a:tc>
                <a:tc>
                  <a:txBody>
                    <a:bodyPr wrap="square"/>
                    <a:lstStyle/>
                    <a:p>
                      <a:r>
                        <a:rPr sz="1200" b="0">
                          <a:solidFill>
                            <a:srgbClr val="1B1B1B"/>
                          </a:solidFill>
                          <a:latin typeface="Calibri"/>
                        </a:rPr>
                        <a:t>20 min</a:t>
                      </a:r>
                    </a:p>
                  </a:txBody>
                  <a:tcPr marL="73152" marR="73152" marT="36576" marB="36576">
                    <a:solidFill>
                      <a:srgbClr val="FFFFFF"/>
                    </a:solidFill>
                  </a:tcPr>
                </a:tc>
                <a:tc>
                  <a:txBody>
                    <a:bodyPr wrap="square"/>
                    <a:lstStyle/>
                    <a:p>
                      <a:r>
                        <a:rPr sz="1200" b="0">
                          <a:solidFill>
                            <a:srgbClr val="1B1B1B"/>
                          </a:solidFill>
                          <a:latin typeface="Calibri"/>
                        </a:rPr>
                        <a:t>Individuel, ordinateur</a:t>
                      </a:r>
                    </a:p>
                  </a:txBody>
                  <a:tcPr marL="73152" marR="73152" marT="36576" marB="36576">
                    <a:solidFill>
                      <a:srgbClr val="FFFFFF"/>
                    </a:solidFill>
                  </a:tcPr>
                </a:tc>
              </a:tr>
              <a:tr h="365760">
                <a:tc>
                  <a:txBody>
                    <a:bodyPr wrap="square"/>
                    <a:lstStyle/>
                    <a:p>
                      <a:r>
                        <a:rPr sz="1200" b="1">
                          <a:solidFill>
                            <a:srgbClr val="1B1B1B"/>
                          </a:solidFill>
                          <a:latin typeface="Calibri"/>
                        </a:rPr>
                        <a:t>EX9</a:t>
                      </a:r>
                    </a:p>
                  </a:txBody>
                  <a:tcPr marL="73152" marR="73152" marT="36576" marB="36576">
                    <a:solidFill>
                      <a:srgbClr val="F3F5F9"/>
                    </a:solidFill>
                  </a:tcPr>
                </a:tc>
                <a:tc>
                  <a:txBody>
                    <a:bodyPr wrap="square"/>
                    <a:lstStyle/>
                    <a:p>
                      <a:r>
                        <a:rPr sz="1200" b="0">
                          <a:solidFill>
                            <a:srgbClr val="1B1B1B"/>
                          </a:solidFill>
                          <a:latin typeface="Calibri"/>
                        </a:rPr>
                        <a:t>Trouver deux sources institutionnelles</a:t>
                      </a:r>
                    </a:p>
                  </a:txBody>
                  <a:tcPr marL="73152" marR="73152" marT="36576" marB="36576">
                    <a:solidFill>
                      <a:srgbClr val="F3F5F9"/>
                    </a:solidFill>
                  </a:tcPr>
                </a:tc>
                <a:tc>
                  <a:txBody>
                    <a:bodyPr wrap="square"/>
                    <a:lstStyle/>
                    <a:p>
                      <a:r>
                        <a:rPr sz="1200" b="0">
                          <a:solidFill>
                            <a:srgbClr val="1B1B1B"/>
                          </a:solidFill>
                          <a:latin typeface="Calibri"/>
                        </a:rPr>
                        <a:t>15 min</a:t>
                      </a:r>
                    </a:p>
                  </a:txBody>
                  <a:tcPr marL="73152" marR="73152" marT="36576" marB="36576">
                    <a:solidFill>
                      <a:srgbClr val="F3F5F9"/>
                    </a:solidFill>
                  </a:tcPr>
                </a:tc>
                <a:tc>
                  <a:txBody>
                    <a:bodyPr wrap="square"/>
                    <a:lstStyle/>
                    <a:p>
                      <a:r>
                        <a:rPr sz="1200" b="0">
                          <a:solidFill>
                            <a:srgbClr val="1B1B1B"/>
                          </a:solidFill>
                          <a:latin typeface="Calibri"/>
                        </a:rPr>
                        <a:t>Équipes</a:t>
                      </a:r>
                    </a:p>
                  </a:txBody>
                  <a:tcPr marL="73152" marR="73152" marT="36576" marB="36576">
                    <a:solidFill>
                      <a:srgbClr val="F3F5F9"/>
                    </a:solidFill>
                  </a:tcPr>
                </a:tc>
              </a:tr>
              <a:tr h="365760">
                <a:tc>
                  <a:txBody>
                    <a:bodyPr wrap="square"/>
                    <a:lstStyle/>
                    <a:p>
                      <a:r>
                        <a:rPr sz="1200" b="1">
                          <a:solidFill>
                            <a:srgbClr val="1B1B1B"/>
                          </a:solidFill>
                          <a:latin typeface="Calibri"/>
                        </a:rPr>
                        <a:t>M2</a:t>
                      </a:r>
                    </a:p>
                  </a:txBody>
                  <a:tcPr marL="73152" marR="73152" marT="36576" marB="36576">
                    <a:solidFill>
                      <a:srgbClr val="FFFFFF"/>
                    </a:solidFill>
                  </a:tcPr>
                </a:tc>
                <a:tc>
                  <a:txBody>
                    <a:bodyPr wrap="square"/>
                    <a:lstStyle/>
                    <a:p>
                      <a:r>
                        <a:rPr sz="1200" b="0">
                          <a:solidFill>
                            <a:srgbClr val="1B1B1B"/>
                          </a:solidFill>
                          <a:latin typeface="Calibri"/>
                        </a:rPr>
                        <a:t>Défi chrono : trouver l'article en accès libre</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Binômes, ordinateur</a:t>
                      </a:r>
                    </a:p>
                  </a:txBody>
                  <a:tcPr marL="73152" marR="73152" marT="36576" marB="36576">
                    <a:solidFill>
                      <a:srgbClr val="FFFFFF"/>
                    </a:solidFill>
                  </a:tcPr>
                </a:tc>
              </a:tr>
              <a:tr h="365760">
                <a:tc>
                  <a:txBody>
                    <a:bodyPr wrap="square"/>
                    <a:lstStyle/>
                    <a:p>
                      <a:r>
                        <a:rPr sz="1200" b="1">
                          <a:solidFill>
                            <a:srgbClr val="1B1B1B"/>
                          </a:solidFill>
                          <a:latin typeface="Calibri"/>
                        </a:rPr>
                        <a:t>EX10</a:t>
                      </a:r>
                    </a:p>
                  </a:txBody>
                  <a:tcPr marL="73152" marR="73152" marT="36576" marB="36576">
                    <a:solidFill>
                      <a:srgbClr val="F3F5F9"/>
                    </a:solidFill>
                  </a:tcPr>
                </a:tc>
                <a:tc>
                  <a:txBody>
                    <a:bodyPr wrap="square"/>
                    <a:lstStyle/>
                    <a:p>
                      <a:r>
                        <a:rPr sz="1200" b="0">
                          <a:solidFill>
                            <a:srgbClr val="1B1B1B"/>
                          </a:solidFill>
                          <a:latin typeface="Calibri"/>
                        </a:rPr>
                        <a:t>Atelier Zotero : enregistrer et citer</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Individuel, ordinateur</a:t>
                      </a:r>
                    </a:p>
                  </a:txBody>
                  <a:tcPr marL="73152" marR="73152" marT="36576" marB="36576">
                    <a:solidFill>
                      <a:srgbClr val="F3F5F9"/>
                    </a:solidFill>
                  </a:tcPr>
                </a:tc>
              </a:tr>
              <a:tr h="365760">
                <a:tc>
                  <a:txBody>
                    <a:bodyPr wrap="square"/>
                    <a:lstStyle/>
                    <a:p>
                      <a:r>
                        <a:rPr sz="1200" b="1">
                          <a:solidFill>
                            <a:srgbClr val="1B1B1B"/>
                          </a:solidFill>
                          <a:latin typeface="Calibri"/>
                        </a:rPr>
                        <a:t>V4</a:t>
                      </a:r>
                    </a:p>
                  </a:txBody>
                  <a:tcPr marL="73152" marR="73152" marT="36576" marB="36576">
                    <a:solidFill>
                      <a:srgbClr val="FFFFFF"/>
                    </a:solidFill>
                  </a:tcPr>
                </a:tc>
                <a:tc>
                  <a:txBody>
                    <a:bodyPr wrap="square"/>
                    <a:lstStyle/>
                    <a:p>
                      <a:r>
                        <a:rPr sz="1200" b="0">
                          <a:solidFill>
                            <a:srgbClr val="1B1B1B"/>
                          </a:solidFill>
                          <a:latin typeface="Calibri"/>
                        </a:rPr>
                        <a:t>Monter sa veille en 15 minutes</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Individuel, ordinateur</a:t>
                      </a:r>
                    </a:p>
                  </a:txBody>
                  <a:tcPr marL="73152" marR="73152" marT="36576" marB="36576">
                    <a:solidFill>
                      <a:srgbClr val="FFFFFF"/>
                    </a:solidFill>
                  </a:tcPr>
                </a:tc>
              </a:tr>
              <a:tr h="365760">
                <a:tc>
                  <a:txBody>
                    <a:bodyPr wrap="square"/>
                    <a:lstStyle/>
                    <a:p>
                      <a:r>
                        <a:rPr sz="1200" b="1">
                          <a:solidFill>
                            <a:srgbClr val="1B1B1B"/>
                          </a:solidFill>
                          <a:latin typeface="Calibri"/>
                        </a:rPr>
                        <a:t>EX11b</a:t>
                      </a:r>
                    </a:p>
                  </a:txBody>
                  <a:tcPr marL="73152" marR="73152" marT="36576" marB="36576">
                    <a:solidFill>
                      <a:srgbClr val="F3F5F9"/>
                    </a:solidFill>
                  </a:tcPr>
                </a:tc>
                <a:tc>
                  <a:txBody>
                    <a:bodyPr wrap="square"/>
                    <a:lstStyle/>
                    <a:p>
                      <a:r>
                        <a:rPr sz="1200" b="0">
                          <a:solidFill>
                            <a:srgbClr val="1B1B1B"/>
                          </a:solidFill>
                          <a:latin typeface="Calibri"/>
                        </a:rPr>
                        <a:t>Évaluer de vrais documents sur l'authentification</a:t>
                      </a:r>
                    </a:p>
                  </a:txBody>
                  <a:tcPr marL="73152" marR="73152" marT="36576" marB="36576">
                    <a:solidFill>
                      <a:srgbClr val="F3F5F9"/>
                    </a:solidFill>
                  </a:tcPr>
                </a:tc>
                <a:tc>
                  <a:txBody>
                    <a:bodyPr wrap="square"/>
                    <a:lstStyle/>
                    <a:p>
                      <a:r>
                        <a:rPr sz="1200" b="0">
                          <a:solidFill>
                            <a:srgbClr val="1B1B1B"/>
                          </a:solidFill>
                          <a:latin typeface="Calibri"/>
                        </a:rPr>
                        <a:t>15 min</a:t>
                      </a:r>
                    </a:p>
                  </a:txBody>
                  <a:tcPr marL="73152" marR="73152" marT="36576" marB="36576">
                    <a:solidFill>
                      <a:srgbClr val="F3F5F9"/>
                    </a:solidFill>
                  </a:tcPr>
                </a:tc>
                <a:tc>
                  <a:txBody>
                    <a:bodyPr wrap="square"/>
                    <a:lstStyle/>
                    <a:p>
                      <a:r>
                        <a:rPr sz="1200" b="0">
                          <a:solidFill>
                            <a:srgbClr val="1B1B1B"/>
                          </a:solidFill>
                          <a:latin typeface="Calibri"/>
                        </a:rPr>
                        <a:t>Binôme, ordinateur</a:t>
                      </a:r>
                    </a:p>
                  </a:txBody>
                  <a:tcPr marL="73152" marR="73152" marT="36576" marB="36576">
                    <a:solidFill>
                      <a:srgbClr val="F3F5F9"/>
                    </a:solidFill>
                  </a:tcPr>
                </a:tc>
              </a:tr>
              <a:tr h="365760">
                <a:tc>
                  <a:txBody>
                    <a:bodyPr wrap="square"/>
                    <a:lstStyle/>
                    <a:p>
                      <a:r>
                        <a:rPr sz="1200" b="1">
                          <a:solidFill>
                            <a:srgbClr val="1B1B1B"/>
                          </a:solidFill>
                          <a:latin typeface="Calibri"/>
                        </a:rPr>
                        <a:t>EX12</a:t>
                      </a:r>
                    </a:p>
                  </a:txBody>
                  <a:tcPr marL="73152" marR="73152" marT="36576" marB="36576">
                    <a:solidFill>
                      <a:srgbClr val="FFFFFF"/>
                    </a:solidFill>
                  </a:tcPr>
                </a:tc>
                <a:tc>
                  <a:txBody>
                    <a:bodyPr wrap="square"/>
                    <a:lstStyle/>
                    <a:p>
                      <a:r>
                        <a:rPr sz="1200" b="0">
                          <a:solidFill>
                            <a:srgbClr val="1B1B1B"/>
                          </a:solidFill>
                          <a:latin typeface="Calibri"/>
                        </a:rPr>
                        <a:t>Évaluer vos propres sources</a:t>
                      </a:r>
                    </a:p>
                  </a:txBody>
                  <a:tcPr marL="73152" marR="73152" marT="36576" marB="36576">
                    <a:solidFill>
                      <a:srgbClr val="FFFFFF"/>
                    </a:solidFill>
                  </a:tcPr>
                </a:tc>
                <a:tc>
                  <a:txBody>
                    <a:bodyPr wrap="square"/>
                    <a:lstStyle/>
                    <a:p>
                      <a:r>
                        <a:rPr sz="1200" b="0">
                          <a:solidFill>
                            <a:srgbClr val="1B1B1B"/>
                          </a:solidFill>
                          <a:latin typeface="Calibri"/>
                        </a:rPr>
                        <a:t>30 min</a:t>
                      </a:r>
                    </a:p>
                  </a:txBody>
                  <a:tcPr marL="73152" marR="73152" marT="36576" marB="36576">
                    <a:solidFill>
                      <a:srgbClr val="FFFFFF"/>
                    </a:solidFill>
                  </a:tcPr>
                </a:tc>
                <a:tc>
                  <a:txBody>
                    <a:bodyPr wrap="square"/>
                    <a:lstStyle/>
                    <a:p>
                      <a:r>
                        <a:rPr sz="1200" b="0">
                          <a:solidFill>
                            <a:srgbClr val="1B1B1B"/>
                          </a:solidFill>
                          <a:latin typeface="Calibri"/>
                        </a:rPr>
                        <a:t>Individuel, ordinateur</a:t>
                      </a:r>
                    </a:p>
                  </a:txBody>
                  <a:tcPr marL="73152" marR="73152" marT="36576" marB="36576">
                    <a:solidFill>
                      <a:srgbClr val="FFFFFF"/>
                    </a:solidFill>
                  </a:tcPr>
                </a:tc>
              </a:tr>
              <a:tr h="365760">
                <a:tc>
                  <a:txBody>
                    <a:bodyPr wrap="square"/>
                    <a:lstStyle/>
                    <a:p>
                      <a:r>
                        <a:rPr sz="1200" b="1">
                          <a:solidFill>
                            <a:srgbClr val="1B1B1B"/>
                          </a:solidFill>
                          <a:latin typeface="Calibri"/>
                        </a:rPr>
                        <a:t>EX13</a:t>
                      </a:r>
                    </a:p>
                  </a:txBody>
                  <a:tcPr marL="73152" marR="73152" marT="36576" marB="36576">
                    <a:solidFill>
                      <a:srgbClr val="F3F5F9"/>
                    </a:solidFill>
                  </a:tcPr>
                </a:tc>
                <a:tc>
                  <a:txBody>
                    <a:bodyPr wrap="square"/>
                    <a:lstStyle/>
                    <a:p>
                      <a:r>
                        <a:rPr sz="1200" b="0">
                          <a:solidFill>
                            <a:srgbClr val="1B1B1B"/>
                          </a:solidFill>
                          <a:latin typeface="Calibri"/>
                        </a:rPr>
                        <a:t>Remonter à la source d'un chiffre</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Binôme, ordinateur</a:t>
                      </a:r>
                    </a:p>
                  </a:txBody>
                  <a:tcPr marL="73152" marR="73152" marT="36576" marB="36576">
                    <a:solidFill>
                      <a:srgbClr val="F3F5F9"/>
                    </a:solidFill>
                  </a:tcPr>
                </a:tc>
              </a:tr>
              <a:tr h="365760">
                <a:tc>
                  <a:txBody>
                    <a:bodyPr wrap="square"/>
                    <a:lstStyle/>
                    <a:p>
                      <a:r>
                        <a:rPr sz="1200" b="1">
                          <a:solidFill>
                            <a:srgbClr val="1B1B1B"/>
                          </a:solidFill>
                          <a:latin typeface="Calibri"/>
                        </a:rPr>
                        <a:t>M4</a:t>
                      </a:r>
                    </a:p>
                  </a:txBody>
                  <a:tcPr marL="73152" marR="73152" marT="36576" marB="36576">
                    <a:solidFill>
                      <a:srgbClr val="FFFFFF"/>
                    </a:solidFill>
                  </a:tcPr>
                </a:tc>
                <a:tc>
                  <a:txBody>
                    <a:bodyPr wrap="square"/>
                    <a:lstStyle/>
                    <a:p>
                      <a:r>
                        <a:rPr sz="1200" b="0">
                          <a:solidFill>
                            <a:srgbClr val="1B1B1B"/>
                          </a:solidFill>
                          <a:latin typeface="Calibri"/>
                        </a:rPr>
                        <a:t>Défi chrono : que disait la page avant ?</a:t>
                      </a:r>
                    </a:p>
                  </a:txBody>
                  <a:tcPr marL="73152" marR="73152" marT="36576" marB="36576">
                    <a:solidFill>
                      <a:srgbClr val="FFFFFF"/>
                    </a:solidFill>
                  </a:tcPr>
                </a:tc>
                <a:tc>
                  <a:txBody>
                    <a:bodyPr wrap="square"/>
                    <a:lstStyle/>
                    <a:p>
                      <a:r>
                        <a:rPr sz="1200" b="0">
                          <a:solidFill>
                            <a:srgbClr val="1B1B1B"/>
                          </a:solidFill>
                          <a:latin typeface="Calibri"/>
                        </a:rPr>
                        <a:t>10 min</a:t>
                      </a:r>
                    </a:p>
                  </a:txBody>
                  <a:tcPr marL="73152" marR="73152" marT="36576" marB="36576">
                    <a:solidFill>
                      <a:srgbClr val="FFFFFF"/>
                    </a:solidFill>
                  </a:tcPr>
                </a:tc>
                <a:tc>
                  <a:txBody>
                    <a:bodyPr wrap="square"/>
                    <a:lstStyle/>
                    <a:p>
                      <a:r>
                        <a:rPr sz="1200" b="0">
                          <a:solidFill>
                            <a:srgbClr val="1B1B1B"/>
                          </a:solidFill>
                          <a:latin typeface="Calibri"/>
                        </a:rPr>
                        <a:t>Binômes, ordinateur</a:t>
                      </a:r>
                    </a:p>
                  </a:txBody>
                  <a:tcPr marL="73152" marR="73152" marT="36576" marB="36576">
                    <a:solidFill>
                      <a:srgbClr val="FFFFFF"/>
                    </a:solidFill>
                  </a:tcPr>
                </a:tc>
              </a:tr>
              <a:tr h="365760">
                <a:tc>
                  <a:txBody>
                    <a:bodyPr wrap="square"/>
                    <a:lstStyle/>
                    <a:p>
                      <a:r>
                        <a:rPr sz="1200" b="1">
                          <a:solidFill>
                            <a:srgbClr val="1B1B1B"/>
                          </a:solidFill>
                          <a:latin typeface="Calibri"/>
                        </a:rPr>
                        <a:t>EX14</a:t>
                      </a:r>
                    </a:p>
                  </a:txBody>
                  <a:tcPr marL="73152" marR="73152" marT="36576" marB="36576">
                    <a:solidFill>
                      <a:srgbClr val="F3F5F9"/>
                    </a:solidFill>
                  </a:tcPr>
                </a:tc>
                <a:tc>
                  <a:txBody>
                    <a:bodyPr wrap="square"/>
                    <a:lstStyle/>
                    <a:p>
                      <a:r>
                        <a:rPr sz="1200" b="0">
                          <a:solidFill>
                            <a:srgbClr val="1B1B1B"/>
                          </a:solidFill>
                          <a:latin typeface="Calibri"/>
                        </a:rPr>
                        <a:t>Lire un vrai article en 10 minutes</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Individuel, ordinateur</a:t>
                      </a:r>
                    </a:p>
                  </a:txBody>
                  <a:tcPr marL="73152" marR="73152" marT="36576" marB="36576">
                    <a:solidFill>
                      <a:srgbClr val="F3F5F9"/>
                    </a:solidFill>
                  </a:tcPr>
                </a:tc>
              </a:tr>
              <a:tr h="365760">
                <a:tc>
                  <a:txBody>
                    <a:bodyPr wrap="square"/>
                    <a:lstStyle/>
                    <a:p>
                      <a:r>
                        <a:rPr sz="1200" b="1">
                          <a:solidFill>
                            <a:srgbClr val="1B1B1B"/>
                          </a:solidFill>
                          <a:latin typeface="Calibri"/>
                        </a:rPr>
                        <a:t>F6</a:t>
                      </a:r>
                    </a:p>
                  </a:txBody>
                  <a:tcPr marL="73152" marR="73152" marT="36576" marB="36576">
                    <a:solidFill>
                      <a:srgbClr val="FFFFFF"/>
                    </a:solidFill>
                  </a:tcPr>
                </a:tc>
                <a:tc>
                  <a:txBody>
                    <a:bodyPr wrap="square"/>
                    <a:lstStyle/>
                    <a:p>
                      <a:r>
                        <a:rPr sz="1200" b="0">
                          <a:solidFill>
                            <a:srgbClr val="1B1B1B"/>
                          </a:solidFill>
                          <a:latin typeface="Calibri"/>
                        </a:rPr>
                        <a:t>Flash · Quel biais ? (téléphone)</a:t>
                      </a:r>
                    </a:p>
                  </a:txBody>
                  <a:tcPr marL="73152" marR="73152" marT="36576" marB="36576">
                    <a:solidFill>
                      <a:srgbClr val="FFFFFF"/>
                    </a:solidFill>
                  </a:tcPr>
                </a:tc>
                <a:tc>
                  <a:txBody>
                    <a:bodyPr wrap="square"/>
                    <a:lstStyle/>
                    <a:p>
                      <a:r>
                        <a:rPr sz="1200" b="0">
                          <a:solidFill>
                            <a:srgbClr val="1B1B1B"/>
                          </a:solidFill>
                          <a:latin typeface="Calibri"/>
                        </a:rPr>
                        <a:t>5 min</a:t>
                      </a:r>
                    </a:p>
                  </a:txBody>
                  <a:tcPr marL="73152" marR="73152" marT="36576" marB="36576">
                    <a:solidFill>
                      <a:srgbClr val="FFFFFF"/>
                    </a:solidFill>
                  </a:tcPr>
                </a:tc>
                <a:tc>
                  <a:txBody>
                    <a:bodyPr wrap="square"/>
                    <a:lstStyle/>
                    <a:p>
                      <a:r>
                        <a:rPr sz="1200" b="0">
                          <a:solidFill>
                            <a:srgbClr val="1B1B1B"/>
                          </a:solidFill>
                          <a:latin typeface="Calibri"/>
                        </a:rPr>
                        <a:t>Individuel, téléphone</a:t>
                      </a:r>
                    </a:p>
                  </a:txBody>
                  <a:tcPr marL="73152" marR="73152" marT="36576" marB="36576">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109960" cy="713232"/>
          </a:xfrm>
          <a:prstGeom prst="rect">
            <a:avLst/>
          </a:prstGeom>
          <a:noFill/>
        </p:spPr>
        <p:txBody>
          <a:bodyPr wrap="square" anchor="ctr">
            <a:spAutoFit/>
          </a:bodyPr>
          <a:lstStyle/>
          <a:p>
            <a:pPr algn="l">
              <a:spcAft>
                <a:spcPts val="979"/>
              </a:spcAft>
            </a:pPr>
            <a:r>
              <a:rPr sz="2800" b="1" i="0">
                <a:solidFill>
                  <a:srgbClr val="FFFFFF"/>
                </a:solidFill>
                <a:latin typeface="Calibri"/>
              </a:rPr>
              <a:t>Annexe B · Index des exercices (2/2)</a:t>
            </a:r>
          </a:p>
        </p:txBody>
      </p:sp>
      <p:sp>
        <p:nvSpPr>
          <p:cNvPr id="4" name="TextBox 3"/>
          <p:cNvSpPr txBox="1"/>
          <p:nvPr/>
        </p:nvSpPr>
        <p:spPr>
          <a:xfrm>
            <a:off x="365760" y="6473952"/>
            <a:ext cx="7772400" cy="274320"/>
          </a:xfrm>
          <a:prstGeom prst="rect">
            <a:avLst/>
          </a:prstGeom>
          <a:noFill/>
        </p:spPr>
        <p:txBody>
          <a:bodyPr wrap="square" anchor="t">
            <a:spAutoFit/>
          </a:bodyPr>
          <a:lstStyle/>
          <a:p>
            <a:pPr algn="l">
              <a:spcAft>
                <a:spcPts val="315"/>
              </a:spcAft>
            </a:pPr>
            <a:r>
              <a:rPr sz="900" b="0" i="0">
                <a:solidFill>
                  <a:srgbClr val="5B6478"/>
                </a:solidFill>
                <a:latin typeface="Calibri"/>
              </a:rPr>
              <a:t>© 2026 SAS BELM DEVELOPPEMENT. Tous droits réservés. Créé avec l'aide de Claude (Anthropic), relu par l'auteur.</a:t>
            </a:r>
          </a:p>
        </p:txBody>
      </p:sp>
      <p:sp>
        <p:nvSpPr>
          <p:cNvPr id="5" name="TextBox 4"/>
          <p:cNvSpPr txBox="1"/>
          <p:nvPr/>
        </p:nvSpPr>
        <p:spPr>
          <a:xfrm>
            <a:off x="11155680" y="6473952"/>
            <a:ext cx="731520" cy="274320"/>
          </a:xfrm>
          <a:prstGeom prst="rect">
            <a:avLst/>
          </a:prstGeom>
          <a:noFill/>
        </p:spPr>
        <p:txBody>
          <a:bodyPr wrap="square" anchor="t">
            <a:spAutoFit/>
          </a:bodyPr>
          <a:lstStyle/>
          <a:p>
            <a:pPr algn="r">
              <a:spcAft>
                <a:spcPts val="350"/>
              </a:spcAft>
            </a:pPr>
            <a:r>
              <a:rPr sz="1000" b="0" i="0">
                <a:solidFill>
                  <a:srgbClr val="5B6478"/>
                </a:solidFill>
                <a:latin typeface="Calibri"/>
              </a:rPr>
              <a:t>142</a:t>
            </a:r>
          </a:p>
        </p:txBody>
      </p:sp>
      <p:graphicFrame>
        <p:nvGraphicFramePr>
          <p:cNvPr id="6" name="Table 5"/>
          <p:cNvGraphicFramePr>
            <a:graphicFrameLocks noGrp="1"/>
          </p:cNvGraphicFramePr>
          <p:nvPr/>
        </p:nvGraphicFramePr>
        <p:xfrm>
          <a:off x="411480" y="1188720"/>
          <a:ext cx="11338558" cy="6949440"/>
        </p:xfrm>
        <a:graphic>
          <a:graphicData uri="http://schemas.openxmlformats.org/drawingml/2006/table">
            <a:tbl>
              <a:tblPr firstRow="0" bandRow="0">
                <a:tableStyleId>{5C22544A-7EE6-4342-B048-85BDC9FD1C3A}</a:tableStyleId>
              </a:tblPr>
              <a:tblGrid>
                <a:gridCol w="872196"/>
                <a:gridCol w="7195624"/>
                <a:gridCol w="1090246"/>
                <a:gridCol w="2180492"/>
              </a:tblGrid>
              <a:tr h="365760">
                <a:tc>
                  <a:txBody>
                    <a:bodyPr wrap="square"/>
                    <a:lstStyle/>
                    <a:p>
                      <a:r>
                        <a:rPr sz="1200" b="1">
                          <a:solidFill>
                            <a:srgbClr val="FFFFFF"/>
                          </a:solidFill>
                          <a:latin typeface="Calibri"/>
                        </a:rPr>
                        <a:t>N°</a:t>
                      </a:r>
                    </a:p>
                  </a:txBody>
                  <a:tcPr marL="73152" marR="73152" marT="36576" marB="36576">
                    <a:solidFill>
                      <a:srgbClr val="1F2A5C"/>
                    </a:solidFill>
                  </a:tcPr>
                </a:tc>
                <a:tc>
                  <a:txBody>
                    <a:bodyPr wrap="square"/>
                    <a:lstStyle/>
                    <a:p>
                      <a:r>
                        <a:rPr sz="1200" b="1">
                          <a:solidFill>
                            <a:srgbClr val="FFFFFF"/>
                          </a:solidFill>
                          <a:latin typeface="Calibri"/>
                        </a:rPr>
                        <a:t>Titre</a:t>
                      </a:r>
                    </a:p>
                  </a:txBody>
                  <a:tcPr marL="73152" marR="73152" marT="36576" marB="36576">
                    <a:solidFill>
                      <a:srgbClr val="1F2A5C"/>
                    </a:solidFill>
                  </a:tcPr>
                </a:tc>
                <a:tc>
                  <a:txBody>
                    <a:bodyPr wrap="square"/>
                    <a:lstStyle/>
                    <a:p>
                      <a:r>
                        <a:rPr sz="1200" b="1">
                          <a:solidFill>
                            <a:srgbClr val="FFFFFF"/>
                          </a:solidFill>
                          <a:latin typeface="Calibri"/>
                        </a:rPr>
                        <a:t>Durée</a:t>
                      </a:r>
                    </a:p>
                  </a:txBody>
                  <a:tcPr marL="73152" marR="73152" marT="36576" marB="36576">
                    <a:solidFill>
                      <a:srgbClr val="1F2A5C"/>
                    </a:solidFill>
                  </a:tcPr>
                </a:tc>
                <a:tc>
                  <a:txBody>
                    <a:bodyPr wrap="square"/>
                    <a:lstStyle/>
                    <a:p>
                      <a:r>
                        <a:rPr sz="1200" b="1">
                          <a:solidFill>
                            <a:srgbClr val="FFFFFF"/>
                          </a:solidFill>
                          <a:latin typeface="Calibri"/>
                        </a:rPr>
                        <a:t>Mode</a:t>
                      </a:r>
                    </a:p>
                  </a:txBody>
                  <a:tcPr marL="73152" marR="73152" marT="36576" marB="36576">
                    <a:solidFill>
                      <a:srgbClr val="1F2A5C"/>
                    </a:solidFill>
                  </a:tcPr>
                </a:tc>
              </a:tr>
              <a:tr h="365760">
                <a:tc>
                  <a:txBody>
                    <a:bodyPr wrap="square"/>
                    <a:lstStyle/>
                    <a:p>
                      <a:r>
                        <a:rPr sz="1200" b="1">
                          <a:solidFill>
                            <a:srgbClr val="1B1B1B"/>
                          </a:solidFill>
                          <a:latin typeface="Calibri"/>
                        </a:rPr>
                        <a:t>EX15</a:t>
                      </a:r>
                    </a:p>
                  </a:txBody>
                  <a:tcPr marL="73152" marR="73152" marT="36576" marB="36576">
                    <a:solidFill>
                      <a:srgbClr val="FFFFFF"/>
                    </a:solidFill>
                  </a:tcPr>
                </a:tc>
                <a:tc>
                  <a:txBody>
                    <a:bodyPr wrap="square"/>
                    <a:lstStyle/>
                    <a:p>
                      <a:r>
                        <a:rPr sz="1200" b="0">
                          <a:solidFill>
                            <a:srgbClr val="1B1B1B"/>
                          </a:solidFill>
                          <a:latin typeface="Calibri"/>
                        </a:rPr>
                        <a:t>Faire inventer des références à une IA, puis les vérifier</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Binôme, ordinateur</a:t>
                      </a:r>
                    </a:p>
                  </a:txBody>
                  <a:tcPr marL="73152" marR="73152" marT="36576" marB="36576">
                    <a:solidFill>
                      <a:srgbClr val="FFFFFF"/>
                    </a:solidFill>
                  </a:tcPr>
                </a:tc>
              </a:tr>
              <a:tr h="365760">
                <a:tc>
                  <a:txBody>
                    <a:bodyPr wrap="square"/>
                    <a:lstStyle/>
                    <a:p>
                      <a:r>
                        <a:rPr sz="1200" b="1">
                          <a:solidFill>
                            <a:srgbClr val="1B1B1B"/>
                          </a:solidFill>
                          <a:latin typeface="Calibri"/>
                        </a:rPr>
                        <a:t>EX16</a:t>
                      </a:r>
                    </a:p>
                  </a:txBody>
                  <a:tcPr marL="73152" marR="73152" marT="36576" marB="36576">
                    <a:solidFill>
                      <a:srgbClr val="F3F5F9"/>
                    </a:solidFill>
                  </a:tcPr>
                </a:tc>
                <a:tc>
                  <a:txBody>
                    <a:bodyPr wrap="square"/>
                    <a:lstStyle/>
                    <a:p>
                      <a:r>
                        <a:rPr sz="1200" b="0">
                          <a:solidFill>
                            <a:srgbClr val="1B1B1B"/>
                          </a:solidFill>
                          <a:latin typeface="Calibri"/>
                        </a:rPr>
                        <a:t>Cartographier un argument avec Toulmin</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Équipes</a:t>
                      </a:r>
                    </a:p>
                  </a:txBody>
                  <a:tcPr marL="73152" marR="73152" marT="36576" marB="36576">
                    <a:solidFill>
                      <a:srgbClr val="F3F5F9"/>
                    </a:solidFill>
                  </a:tcPr>
                </a:tc>
              </a:tr>
              <a:tr h="365760">
                <a:tc>
                  <a:txBody>
                    <a:bodyPr wrap="square"/>
                    <a:lstStyle/>
                    <a:p>
                      <a:r>
                        <a:rPr sz="1200" b="1">
                          <a:solidFill>
                            <a:srgbClr val="1B1B1B"/>
                          </a:solidFill>
                          <a:latin typeface="Calibri"/>
                        </a:rPr>
                        <a:t>EX17</a:t>
                      </a:r>
                    </a:p>
                  </a:txBody>
                  <a:tcPr marL="73152" marR="73152" marT="36576" marB="36576">
                    <a:solidFill>
                      <a:srgbClr val="FFFFFF"/>
                    </a:solidFill>
                  </a:tcPr>
                </a:tc>
                <a:tc>
                  <a:txBody>
                    <a:bodyPr wrap="square"/>
                    <a:lstStyle/>
                    <a:p>
                      <a:r>
                        <a:rPr sz="1200" b="0">
                          <a:solidFill>
                            <a:srgbClr val="1B1B1B"/>
                          </a:solidFill>
                          <a:latin typeface="Calibri"/>
                        </a:rPr>
                        <a:t>Chasser les sophismes (téléphone)</a:t>
                      </a:r>
                    </a:p>
                  </a:txBody>
                  <a:tcPr marL="73152" marR="73152" marT="36576" marB="36576">
                    <a:solidFill>
                      <a:srgbClr val="FFFFFF"/>
                    </a:solidFill>
                  </a:tcPr>
                </a:tc>
                <a:tc>
                  <a:txBody>
                    <a:bodyPr wrap="square"/>
                    <a:lstStyle/>
                    <a:p>
                      <a:r>
                        <a:rPr sz="1200" b="0">
                          <a:solidFill>
                            <a:srgbClr val="1B1B1B"/>
                          </a:solidFill>
                          <a:latin typeface="Calibri"/>
                        </a:rPr>
                        <a:t>8 min</a:t>
                      </a:r>
                    </a:p>
                  </a:txBody>
                  <a:tcPr marL="73152" marR="73152" marT="36576" marB="36576">
                    <a:solidFill>
                      <a:srgbClr val="FFFFFF"/>
                    </a:solidFill>
                  </a:tcPr>
                </a:tc>
                <a:tc>
                  <a:txBody>
                    <a:bodyPr wrap="square"/>
                    <a:lstStyle/>
                    <a:p>
                      <a:r>
                        <a:rPr sz="1200" b="0">
                          <a:solidFill>
                            <a:srgbClr val="1B1B1B"/>
                          </a:solidFill>
                          <a:latin typeface="Calibri"/>
                        </a:rPr>
                        <a:t>Individuel, téléphone</a:t>
                      </a:r>
                    </a:p>
                  </a:txBody>
                  <a:tcPr marL="73152" marR="73152" marT="36576" marB="36576">
                    <a:solidFill>
                      <a:srgbClr val="FFFFFF"/>
                    </a:solidFill>
                  </a:tcPr>
                </a:tc>
              </a:tr>
              <a:tr h="365760">
                <a:tc>
                  <a:txBody>
                    <a:bodyPr wrap="square"/>
                    <a:lstStyle/>
                    <a:p>
                      <a:r>
                        <a:rPr sz="1200" b="1">
                          <a:solidFill>
                            <a:srgbClr val="1B1B1B"/>
                          </a:solidFill>
                          <a:latin typeface="Calibri"/>
                        </a:rPr>
                        <a:t>EX18</a:t>
                      </a:r>
                    </a:p>
                  </a:txBody>
                  <a:tcPr marL="73152" marR="73152" marT="36576" marB="36576">
                    <a:solidFill>
                      <a:srgbClr val="F3F5F9"/>
                    </a:solidFill>
                  </a:tcPr>
                </a:tc>
                <a:tc>
                  <a:txBody>
                    <a:bodyPr wrap="square"/>
                    <a:lstStyle/>
                    <a:p>
                      <a:r>
                        <a:rPr sz="1200" b="0">
                          <a:solidFill>
                            <a:srgbClr val="1B1B1B"/>
                          </a:solidFill>
                          <a:latin typeface="Calibri"/>
                        </a:rPr>
                        <a:t>Interroger un vrai chiffre de fournisseur</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Individuel, ordinateur (une phrase par étudiant)</a:t>
                      </a:r>
                    </a:p>
                  </a:txBody>
                  <a:tcPr marL="73152" marR="73152" marT="36576" marB="36576">
                    <a:solidFill>
                      <a:srgbClr val="F3F5F9"/>
                    </a:solidFill>
                  </a:tcPr>
                </a:tc>
              </a:tr>
              <a:tr h="365760">
                <a:tc>
                  <a:txBody>
                    <a:bodyPr wrap="square"/>
                    <a:lstStyle/>
                    <a:p>
                      <a:r>
                        <a:rPr sz="1200" b="1">
                          <a:solidFill>
                            <a:srgbClr val="1B1B1B"/>
                          </a:solidFill>
                          <a:latin typeface="Calibri"/>
                        </a:rPr>
                        <a:t>EX19</a:t>
                      </a:r>
                    </a:p>
                  </a:txBody>
                  <a:tcPr marL="73152" marR="73152" marT="36576" marB="36576">
                    <a:solidFill>
                      <a:srgbClr val="FFFFFF"/>
                    </a:solidFill>
                  </a:tcPr>
                </a:tc>
                <a:tc>
                  <a:txBody>
                    <a:bodyPr wrap="square"/>
                    <a:lstStyle/>
                    <a:p>
                      <a:r>
                        <a:rPr sz="1200" b="0">
                          <a:solidFill>
                            <a:srgbClr val="1B1B1B"/>
                          </a:solidFill>
                          <a:latin typeface="Calibri"/>
                        </a:rPr>
                        <a:t>Construire l'argument de votre équipe</a:t>
                      </a:r>
                    </a:p>
                  </a:txBody>
                  <a:tcPr marL="73152" marR="73152" marT="36576" marB="36576">
                    <a:solidFill>
                      <a:srgbClr val="FFFFFF"/>
                    </a:solidFill>
                  </a:tcPr>
                </a:tc>
                <a:tc>
                  <a:txBody>
                    <a:bodyPr wrap="square"/>
                    <a:lstStyle/>
                    <a:p>
                      <a:r>
                        <a:rPr sz="1200" b="0">
                          <a:solidFill>
                            <a:srgbClr val="1B1B1B"/>
                          </a:solidFill>
                          <a:latin typeface="Calibri"/>
                        </a:rPr>
                        <a:t>25 min</a:t>
                      </a:r>
                    </a:p>
                  </a:txBody>
                  <a:tcPr marL="73152" marR="73152" marT="36576" marB="36576">
                    <a:solidFill>
                      <a:srgbClr val="FFFFFF"/>
                    </a:solidFill>
                  </a:tcPr>
                </a:tc>
                <a:tc>
                  <a:txBody>
                    <a:bodyPr wrap="square"/>
                    <a:lstStyle/>
                    <a:p>
                      <a:r>
                        <a:rPr sz="1200" b="0">
                          <a:solidFill>
                            <a:srgbClr val="1B1B1B"/>
                          </a:solidFill>
                          <a:latin typeface="Calibri"/>
                        </a:rPr>
                        <a:t>Équipes</a:t>
                      </a:r>
                    </a:p>
                  </a:txBody>
                  <a:tcPr marL="73152" marR="73152" marT="36576" marB="36576">
                    <a:solidFill>
                      <a:srgbClr val="FFFFFF"/>
                    </a:solidFill>
                  </a:tcPr>
                </a:tc>
              </a:tr>
              <a:tr h="365760">
                <a:tc>
                  <a:txBody>
                    <a:bodyPr wrap="square"/>
                    <a:lstStyle/>
                    <a:p>
                      <a:r>
                        <a:rPr sz="1200" b="1">
                          <a:solidFill>
                            <a:srgbClr val="1B1B1B"/>
                          </a:solidFill>
                          <a:latin typeface="Calibri"/>
                        </a:rPr>
                        <a:t>EX20</a:t>
                      </a:r>
                    </a:p>
                  </a:txBody>
                  <a:tcPr marL="73152" marR="73152" marT="36576" marB="36576">
                    <a:solidFill>
                      <a:srgbClr val="F3F5F9"/>
                    </a:solidFill>
                  </a:tcPr>
                </a:tc>
                <a:tc>
                  <a:txBody>
                    <a:bodyPr wrap="square"/>
                    <a:lstStyle/>
                    <a:p>
                      <a:r>
                        <a:rPr sz="1200" b="0">
                          <a:solidFill>
                            <a:srgbClr val="1B1B1B"/>
                          </a:solidFill>
                          <a:latin typeface="Calibri"/>
                        </a:rPr>
                        <a:t>Avocat du diable : l'IA puis l'équipe voisine</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Équipes</a:t>
                      </a:r>
                    </a:p>
                  </a:txBody>
                  <a:tcPr marL="73152" marR="73152" marT="36576" marB="36576">
                    <a:solidFill>
                      <a:srgbClr val="F3F5F9"/>
                    </a:solidFill>
                  </a:tcPr>
                </a:tc>
              </a:tr>
              <a:tr h="365760">
                <a:tc>
                  <a:txBody>
                    <a:bodyPr wrap="square"/>
                    <a:lstStyle/>
                    <a:p>
                      <a:r>
                        <a:rPr sz="1200" b="1">
                          <a:solidFill>
                            <a:srgbClr val="1B1B1B"/>
                          </a:solidFill>
                          <a:latin typeface="Calibri"/>
                        </a:rPr>
                        <a:t>V7</a:t>
                      </a:r>
                    </a:p>
                  </a:txBody>
                  <a:tcPr marL="73152" marR="73152" marT="36576" marB="36576">
                    <a:solidFill>
                      <a:srgbClr val="FFFFFF"/>
                    </a:solidFill>
                  </a:tcPr>
                </a:tc>
                <a:tc>
                  <a:txBody>
                    <a:bodyPr wrap="square"/>
                    <a:lstStyle/>
                    <a:p>
                      <a:r>
                        <a:rPr sz="1200" b="0">
                          <a:solidFill>
                            <a:srgbClr val="1B1B1B"/>
                          </a:solidFill>
                          <a:latin typeface="Calibri"/>
                        </a:rPr>
                        <a:t>Critiquer un classement ou un comparateur</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Binôme, ordinateur</a:t>
                      </a:r>
                    </a:p>
                  </a:txBody>
                  <a:tcPr marL="73152" marR="73152" marT="36576" marB="36576">
                    <a:solidFill>
                      <a:srgbClr val="FFFFFF"/>
                    </a:solidFill>
                  </a:tcPr>
                </a:tc>
              </a:tr>
              <a:tr h="365760">
                <a:tc>
                  <a:txBody>
                    <a:bodyPr wrap="square"/>
                    <a:lstStyle/>
                    <a:p>
                      <a:r>
                        <a:rPr sz="1200" b="1">
                          <a:solidFill>
                            <a:srgbClr val="1B1B1B"/>
                          </a:solidFill>
                          <a:latin typeface="Calibri"/>
                        </a:rPr>
                        <a:t>V8</a:t>
                      </a:r>
                    </a:p>
                  </a:txBody>
                  <a:tcPr marL="73152" marR="73152" marT="36576" marB="36576">
                    <a:solidFill>
                      <a:srgbClr val="F3F5F9"/>
                    </a:solidFill>
                  </a:tcPr>
                </a:tc>
                <a:tc>
                  <a:txBody>
                    <a:bodyPr wrap="square"/>
                    <a:lstStyle/>
                    <a:p>
                      <a:r>
                        <a:rPr sz="1200" b="0">
                          <a:solidFill>
                            <a:srgbClr val="1B1B1B"/>
                          </a:solidFill>
                          <a:latin typeface="Calibri"/>
                        </a:rPr>
                        <a:t>Écart réel ou bruit ? Deux comparaisons de mesures</a:t>
                      </a:r>
                    </a:p>
                  </a:txBody>
                  <a:tcPr marL="73152" marR="73152" marT="36576" marB="36576">
                    <a:solidFill>
                      <a:srgbClr val="F3F5F9"/>
                    </a:solidFill>
                  </a:tcPr>
                </a:tc>
                <a:tc>
                  <a:txBody>
                    <a:bodyPr wrap="square"/>
                    <a:lstStyle/>
                    <a:p>
                      <a:r>
                        <a:rPr sz="1200" b="0">
                          <a:solidFill>
                            <a:srgbClr val="1B1B1B"/>
                          </a:solidFill>
                          <a:latin typeface="Calibri"/>
                        </a:rPr>
                        <a:t>15 min</a:t>
                      </a:r>
                    </a:p>
                  </a:txBody>
                  <a:tcPr marL="73152" marR="73152" marT="36576" marB="36576">
                    <a:solidFill>
                      <a:srgbClr val="F3F5F9"/>
                    </a:solidFill>
                  </a:tcPr>
                </a:tc>
                <a:tc>
                  <a:txBody>
                    <a:bodyPr wrap="square"/>
                    <a:lstStyle/>
                    <a:p>
                      <a:r>
                        <a:rPr sz="1200" b="0">
                          <a:solidFill>
                            <a:srgbClr val="1B1B1B"/>
                          </a:solidFill>
                          <a:latin typeface="Calibri"/>
                        </a:rPr>
                        <a:t>Individuel, tableur</a:t>
                      </a:r>
                    </a:p>
                  </a:txBody>
                  <a:tcPr marL="73152" marR="73152" marT="36576" marB="36576">
                    <a:solidFill>
                      <a:srgbClr val="F3F5F9"/>
                    </a:solidFill>
                  </a:tcPr>
                </a:tc>
              </a:tr>
              <a:tr h="365760">
                <a:tc>
                  <a:txBody>
                    <a:bodyPr wrap="square"/>
                    <a:lstStyle/>
                    <a:p>
                      <a:r>
                        <a:rPr sz="1200" b="1">
                          <a:solidFill>
                            <a:srgbClr val="1B1B1B"/>
                          </a:solidFill>
                          <a:latin typeface="Calibri"/>
                        </a:rPr>
                        <a:t>EX21</a:t>
                      </a:r>
                    </a:p>
                  </a:txBody>
                  <a:tcPr marL="73152" marR="73152" marT="36576" marB="36576">
                    <a:solidFill>
                      <a:srgbClr val="FFFFFF"/>
                    </a:solidFill>
                  </a:tcPr>
                </a:tc>
                <a:tc>
                  <a:txBody>
                    <a:bodyPr wrap="square"/>
                    <a:lstStyle/>
                    <a:p>
                      <a:r>
                        <a:rPr sz="1200" b="0">
                          <a:solidFill>
                            <a:srgbClr val="1B1B1B"/>
                          </a:solidFill>
                          <a:latin typeface="Calibri"/>
                        </a:rPr>
                        <a:t>Comparer trois solutions avec une matrice pondérée</a:t>
                      </a:r>
                    </a:p>
                  </a:txBody>
                  <a:tcPr marL="73152" marR="73152" marT="36576" marB="36576">
                    <a:solidFill>
                      <a:srgbClr val="FFFFFF"/>
                    </a:solidFill>
                  </a:tcPr>
                </a:tc>
                <a:tc>
                  <a:txBody>
                    <a:bodyPr wrap="square"/>
                    <a:lstStyle/>
                    <a:p>
                      <a:r>
                        <a:rPr sz="1200" b="0">
                          <a:solidFill>
                            <a:srgbClr val="1B1B1B"/>
                          </a:solidFill>
                          <a:latin typeface="Calibri"/>
                        </a:rPr>
                        <a:t>30 min</a:t>
                      </a:r>
                    </a:p>
                  </a:txBody>
                  <a:tcPr marL="73152" marR="73152" marT="36576" marB="36576">
                    <a:solidFill>
                      <a:srgbClr val="FFFFFF"/>
                    </a:solidFill>
                  </a:tcPr>
                </a:tc>
                <a:tc>
                  <a:txBody>
                    <a:bodyPr wrap="square"/>
                    <a:lstStyle/>
                    <a:p>
                      <a:r>
                        <a:rPr sz="1200" b="0">
                          <a:solidFill>
                            <a:srgbClr val="1B1B1B"/>
                          </a:solidFill>
                          <a:latin typeface="Calibri"/>
                        </a:rPr>
                        <a:t>Binômes, calculatrice ou tableur</a:t>
                      </a:r>
                    </a:p>
                  </a:txBody>
                  <a:tcPr marL="73152" marR="73152" marT="36576" marB="36576">
                    <a:solidFill>
                      <a:srgbClr val="FFFFFF"/>
                    </a:solidFill>
                  </a:tcPr>
                </a:tc>
              </a:tr>
              <a:tr h="365760">
                <a:tc>
                  <a:txBody>
                    <a:bodyPr wrap="square"/>
                    <a:lstStyle/>
                    <a:p>
                      <a:r>
                        <a:rPr sz="1200" b="1">
                          <a:solidFill>
                            <a:srgbClr val="1B1B1B"/>
                          </a:solidFill>
                          <a:latin typeface="Calibri"/>
                        </a:rPr>
                        <a:t>EX22</a:t>
                      </a:r>
                    </a:p>
                  </a:txBody>
                  <a:tcPr marL="73152" marR="73152" marT="36576" marB="36576">
                    <a:solidFill>
                      <a:srgbClr val="F3F5F9"/>
                    </a:solidFill>
                  </a:tcPr>
                </a:tc>
                <a:tc>
                  <a:txBody>
                    <a:bodyPr wrap="square"/>
                    <a:lstStyle/>
                    <a:p>
                      <a:r>
                        <a:rPr sz="1200" b="0">
                          <a:solidFill>
                            <a:srgbClr val="1B1B1B"/>
                          </a:solidFill>
                          <a:latin typeface="Calibri"/>
                        </a:rPr>
                        <a:t>Votre matrice de comparaison</a:t>
                      </a:r>
                    </a:p>
                  </a:txBody>
                  <a:tcPr marL="73152" marR="73152" marT="36576" marB="36576">
                    <a:solidFill>
                      <a:srgbClr val="F3F5F9"/>
                    </a:solidFill>
                  </a:tcPr>
                </a:tc>
                <a:tc>
                  <a:txBody>
                    <a:bodyPr wrap="square"/>
                    <a:lstStyle/>
                    <a:p>
                      <a:r>
                        <a:rPr sz="1200" b="0">
                          <a:solidFill>
                            <a:srgbClr val="1B1B1B"/>
                          </a:solidFill>
                          <a:latin typeface="Calibri"/>
                        </a:rPr>
                        <a:t>40 min</a:t>
                      </a:r>
                    </a:p>
                  </a:txBody>
                  <a:tcPr marL="73152" marR="73152" marT="36576" marB="36576">
                    <a:solidFill>
                      <a:srgbClr val="F3F5F9"/>
                    </a:solidFill>
                  </a:tcPr>
                </a:tc>
                <a:tc>
                  <a:txBody>
                    <a:bodyPr wrap="square"/>
                    <a:lstStyle/>
                    <a:p>
                      <a:r>
                        <a:rPr sz="1200" b="0">
                          <a:solidFill>
                            <a:srgbClr val="1B1B1B"/>
                          </a:solidFill>
                          <a:latin typeface="Calibri"/>
                        </a:rPr>
                        <a:t>Équipes, tableur</a:t>
                      </a:r>
                    </a:p>
                  </a:txBody>
                  <a:tcPr marL="73152" marR="73152" marT="36576" marB="36576">
                    <a:solidFill>
                      <a:srgbClr val="F3F5F9"/>
                    </a:solidFill>
                  </a:tcPr>
                </a:tc>
              </a:tr>
              <a:tr h="365760">
                <a:tc>
                  <a:txBody>
                    <a:bodyPr wrap="square"/>
                    <a:lstStyle/>
                    <a:p>
                      <a:r>
                        <a:rPr sz="1200" b="1">
                          <a:solidFill>
                            <a:srgbClr val="1B1B1B"/>
                          </a:solidFill>
                          <a:latin typeface="Calibri"/>
                        </a:rPr>
                        <a:t>EX23</a:t>
                      </a:r>
                    </a:p>
                  </a:txBody>
                  <a:tcPr marL="73152" marR="73152" marT="36576" marB="36576">
                    <a:solidFill>
                      <a:srgbClr val="FFFFFF"/>
                    </a:solidFill>
                  </a:tcPr>
                </a:tc>
                <a:tc>
                  <a:txBody>
                    <a:bodyPr wrap="square"/>
                    <a:lstStyle/>
                    <a:p>
                      <a:r>
                        <a:rPr sz="1200" b="0">
                          <a:solidFill>
                            <a:srgbClr val="1B1B1B"/>
                          </a:solidFill>
                          <a:latin typeface="Calibri"/>
                        </a:rPr>
                        <a:t>Plan de l'état de l'art et résumé d'ouverture</a:t>
                      </a:r>
                    </a:p>
                  </a:txBody>
                  <a:tcPr marL="73152" marR="73152" marT="36576" marB="36576">
                    <a:solidFill>
                      <a:srgbClr val="FFFFFF"/>
                    </a:solidFill>
                  </a:tcPr>
                </a:tc>
                <a:tc>
                  <a:txBody>
                    <a:bodyPr wrap="square"/>
                    <a:lstStyle/>
                    <a:p>
                      <a:r>
                        <a:rPr sz="1200" b="0">
                          <a:solidFill>
                            <a:srgbClr val="1B1B1B"/>
                          </a:solidFill>
                          <a:latin typeface="Calibri"/>
                        </a:rPr>
                        <a:t>20 min</a:t>
                      </a:r>
                    </a:p>
                  </a:txBody>
                  <a:tcPr marL="73152" marR="73152" marT="36576" marB="36576">
                    <a:solidFill>
                      <a:srgbClr val="FFFFFF"/>
                    </a:solidFill>
                  </a:tcPr>
                </a:tc>
                <a:tc>
                  <a:txBody>
                    <a:bodyPr wrap="square"/>
                    <a:lstStyle/>
                    <a:p>
                      <a:r>
                        <a:rPr sz="1200" b="0">
                          <a:solidFill>
                            <a:srgbClr val="1B1B1B"/>
                          </a:solidFill>
                          <a:latin typeface="Calibri"/>
                        </a:rPr>
                        <a:t>Équipes</a:t>
                      </a:r>
                    </a:p>
                  </a:txBody>
                  <a:tcPr marL="73152" marR="73152" marT="36576" marB="36576">
                    <a:solidFill>
                      <a:srgbClr val="FFFFFF"/>
                    </a:solidFill>
                  </a:tcPr>
                </a:tc>
              </a:tr>
              <a:tr h="365760">
                <a:tc>
                  <a:txBody>
                    <a:bodyPr wrap="square"/>
                    <a:lstStyle/>
                    <a:p>
                      <a:r>
                        <a:rPr sz="1200" b="1">
                          <a:solidFill>
                            <a:srgbClr val="1B1B1B"/>
                          </a:solidFill>
                          <a:latin typeface="Calibri"/>
                        </a:rPr>
                        <a:t>M3</a:t>
                      </a:r>
                    </a:p>
                  </a:txBody>
                  <a:tcPr marL="73152" marR="73152" marT="36576" marB="36576">
                    <a:solidFill>
                      <a:srgbClr val="F3F5F9"/>
                    </a:solidFill>
                  </a:tcPr>
                </a:tc>
                <a:tc>
                  <a:txBody>
                    <a:bodyPr wrap="square"/>
                    <a:lstStyle/>
                    <a:p>
                      <a:r>
                        <a:rPr sz="1200" b="0">
                          <a:solidFill>
                            <a:srgbClr val="1B1B1B"/>
                          </a:solidFill>
                          <a:latin typeface="Calibri"/>
                        </a:rPr>
                        <a:t>Mission : écrire la phrase honnête (source, chiffre, limite)</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Équipes</a:t>
                      </a:r>
                    </a:p>
                  </a:txBody>
                  <a:tcPr marL="73152" marR="73152" marT="36576" marB="36576">
                    <a:solidFill>
                      <a:srgbClr val="F3F5F9"/>
                    </a:solidFill>
                  </a:tcPr>
                </a:tc>
              </a:tr>
              <a:tr h="365760">
                <a:tc>
                  <a:txBody>
                    <a:bodyPr wrap="square"/>
                    <a:lstStyle/>
                    <a:p>
                      <a:r>
                        <a:rPr sz="1200" b="1">
                          <a:solidFill>
                            <a:srgbClr val="1B1B1B"/>
                          </a:solidFill>
                          <a:latin typeface="Calibri"/>
                        </a:rPr>
                        <a:t>EX24</a:t>
                      </a:r>
                    </a:p>
                  </a:txBody>
                  <a:tcPr marL="73152" marR="73152" marT="36576" marB="36576">
                    <a:solidFill>
                      <a:srgbClr val="FFFFFF"/>
                    </a:solidFill>
                  </a:tcPr>
                </a:tc>
                <a:tc>
                  <a:txBody>
                    <a:bodyPr wrap="square"/>
                    <a:lstStyle/>
                    <a:p>
                      <a:r>
                        <a:rPr sz="1200" b="0">
                          <a:solidFill>
                            <a:srgbClr val="1B1B1B"/>
                          </a:solidFill>
                          <a:latin typeface="Calibri"/>
                        </a:rPr>
                        <a:t>Rédiger l'état de l'art (2 pages)</a:t>
                      </a:r>
                    </a:p>
                  </a:txBody>
                  <a:tcPr marL="73152" marR="73152" marT="36576" marB="36576">
                    <a:solidFill>
                      <a:srgbClr val="FFFFFF"/>
                    </a:solidFill>
                  </a:tcPr>
                </a:tc>
                <a:tc>
                  <a:txBody>
                    <a:bodyPr wrap="square"/>
                    <a:lstStyle/>
                    <a:p>
                      <a:r>
                        <a:rPr sz="1200" b="0">
                          <a:solidFill>
                            <a:srgbClr val="1B1B1B"/>
                          </a:solidFill>
                          <a:latin typeface="Calibri"/>
                        </a:rPr>
                        <a:t>70 min</a:t>
                      </a:r>
                    </a:p>
                  </a:txBody>
                  <a:tcPr marL="73152" marR="73152" marT="36576" marB="36576">
                    <a:solidFill>
                      <a:srgbClr val="FFFFFF"/>
                    </a:solidFill>
                  </a:tcPr>
                </a:tc>
                <a:tc>
                  <a:txBody>
                    <a:bodyPr wrap="square"/>
                    <a:lstStyle/>
                    <a:p>
                      <a:r>
                        <a:rPr sz="1200" b="0">
                          <a:solidFill>
                            <a:srgbClr val="1B1B1B"/>
                          </a:solidFill>
                          <a:latin typeface="Calibri"/>
                        </a:rPr>
                        <a:t>Équipes, document partagé</a:t>
                      </a:r>
                    </a:p>
                  </a:txBody>
                  <a:tcPr marL="73152" marR="73152" marT="36576" marB="36576">
                    <a:solidFill>
                      <a:srgbClr val="FFFFFF"/>
                    </a:solidFill>
                  </a:tcPr>
                </a:tc>
              </a:tr>
              <a:tr h="365760">
                <a:tc>
                  <a:txBody>
                    <a:bodyPr wrap="square"/>
                    <a:lstStyle/>
                    <a:p>
                      <a:r>
                        <a:rPr sz="1200" b="1">
                          <a:solidFill>
                            <a:srgbClr val="1B1B1B"/>
                          </a:solidFill>
                          <a:latin typeface="Calibri"/>
                        </a:rPr>
                        <a:t>EX25</a:t>
                      </a:r>
                    </a:p>
                  </a:txBody>
                  <a:tcPr marL="73152" marR="73152" marT="36576" marB="36576">
                    <a:solidFill>
                      <a:srgbClr val="F3F5F9"/>
                    </a:solidFill>
                  </a:tcPr>
                </a:tc>
                <a:tc>
                  <a:txBody>
                    <a:bodyPr wrap="square"/>
                    <a:lstStyle/>
                    <a:p>
                      <a:r>
                        <a:rPr sz="1200" b="0">
                          <a:solidFill>
                            <a:srgbClr val="1B1B1B"/>
                          </a:solidFill>
                          <a:latin typeface="Calibri"/>
                        </a:rPr>
                        <a:t>Relecture croisée avec la grille</a:t>
                      </a:r>
                    </a:p>
                  </a:txBody>
                  <a:tcPr marL="73152" marR="73152" marT="36576" marB="36576">
                    <a:solidFill>
                      <a:srgbClr val="F3F5F9"/>
                    </a:solidFill>
                  </a:tcPr>
                </a:tc>
                <a:tc>
                  <a:txBody>
                    <a:bodyPr wrap="square"/>
                    <a:lstStyle/>
                    <a:p>
                      <a:r>
                        <a:rPr sz="1200" b="0">
                          <a:solidFill>
                            <a:srgbClr val="1B1B1B"/>
                          </a:solidFill>
                          <a:latin typeface="Calibri"/>
                        </a:rPr>
                        <a:t>20 min</a:t>
                      </a:r>
                    </a:p>
                  </a:txBody>
                  <a:tcPr marL="73152" marR="73152" marT="36576" marB="36576">
                    <a:solidFill>
                      <a:srgbClr val="F3F5F9"/>
                    </a:solidFill>
                  </a:tcPr>
                </a:tc>
                <a:tc>
                  <a:txBody>
                    <a:bodyPr wrap="square"/>
                    <a:lstStyle/>
                    <a:p>
                      <a:r>
                        <a:rPr sz="1200" b="0">
                          <a:solidFill>
                            <a:srgbClr val="1B1B1B"/>
                          </a:solidFill>
                          <a:latin typeface="Calibri"/>
                        </a:rPr>
                        <a:t>Équipes croisées</a:t>
                      </a:r>
                    </a:p>
                  </a:txBody>
                  <a:tcPr marL="73152" marR="73152" marT="36576" marB="36576">
                    <a:solidFill>
                      <a:srgbClr val="F3F5F9"/>
                    </a:solidFill>
                  </a:tcPr>
                </a:tc>
              </a:tr>
              <a:tr h="365760">
                <a:tc>
                  <a:txBody>
                    <a:bodyPr wrap="square"/>
                    <a:lstStyle/>
                    <a:p>
                      <a:r>
                        <a:rPr sz="1200" b="1">
                          <a:solidFill>
                            <a:srgbClr val="1B1B1B"/>
                          </a:solidFill>
                          <a:latin typeface="Calibri"/>
                        </a:rPr>
                        <a:t>EX26</a:t>
                      </a:r>
                    </a:p>
                  </a:txBody>
                  <a:tcPr marL="73152" marR="73152" marT="36576" marB="36576">
                    <a:solidFill>
                      <a:srgbClr val="FFFFFF"/>
                    </a:solidFill>
                  </a:tcPr>
                </a:tc>
                <a:tc>
                  <a:txBody>
                    <a:bodyPr wrap="square"/>
                    <a:lstStyle/>
                    <a:p>
                      <a:r>
                        <a:rPr sz="1200" b="0">
                          <a:solidFill>
                            <a:srgbClr val="1B1B1B"/>
                          </a:solidFill>
                          <a:latin typeface="Calibri"/>
                        </a:rPr>
                        <a:t>Préparer le pitch de 5 minutes</a:t>
                      </a:r>
                    </a:p>
                  </a:txBody>
                  <a:tcPr marL="73152" marR="73152" marT="36576" marB="36576">
                    <a:solidFill>
                      <a:srgbClr val="FFFFFF"/>
                    </a:solidFill>
                  </a:tcPr>
                </a:tc>
                <a:tc>
                  <a:txBody>
                    <a:bodyPr wrap="square"/>
                    <a:lstStyle/>
                    <a:p>
                      <a:r>
                        <a:rPr sz="1200" b="0">
                          <a:solidFill>
                            <a:srgbClr val="1B1B1B"/>
                          </a:solidFill>
                          <a:latin typeface="Calibri"/>
                        </a:rPr>
                        <a:t>20 min</a:t>
                      </a:r>
                    </a:p>
                  </a:txBody>
                  <a:tcPr marL="73152" marR="73152" marT="36576" marB="36576">
                    <a:solidFill>
                      <a:srgbClr val="FFFFFF"/>
                    </a:solidFill>
                  </a:tcPr>
                </a:tc>
                <a:tc>
                  <a:txBody>
                    <a:bodyPr wrap="square"/>
                    <a:lstStyle/>
                    <a:p>
                      <a:r>
                        <a:rPr sz="1200" b="0">
                          <a:solidFill>
                            <a:srgbClr val="1B1B1B"/>
                          </a:solidFill>
                          <a:latin typeface="Calibri"/>
                        </a:rPr>
                        <a:t>Équipes</a:t>
                      </a:r>
                    </a:p>
                  </a:txBody>
                  <a:tcPr marL="73152" marR="73152" marT="36576" marB="36576">
                    <a:solidFill>
                      <a:srgbClr val="FFFFFF"/>
                    </a:solidFill>
                  </a:tcPr>
                </a:tc>
              </a:tr>
              <a:tr h="365760">
                <a:tc>
                  <a:txBody>
                    <a:bodyPr wrap="square"/>
                    <a:lstStyle/>
                    <a:p>
                      <a:r>
                        <a:rPr sz="1200" b="1">
                          <a:solidFill>
                            <a:srgbClr val="1B1B1B"/>
                          </a:solidFill>
                          <a:latin typeface="Calibri"/>
                        </a:rPr>
                        <a:t>EX27</a:t>
                      </a:r>
                    </a:p>
                  </a:txBody>
                  <a:tcPr marL="73152" marR="73152" marT="36576" marB="36576">
                    <a:solidFill>
                      <a:srgbClr val="F3F5F9"/>
                    </a:solidFill>
                  </a:tcPr>
                </a:tc>
                <a:tc>
                  <a:txBody>
                    <a:bodyPr wrap="square"/>
                    <a:lstStyle/>
                    <a:p>
                      <a:r>
                        <a:rPr sz="1200" b="0">
                          <a:solidFill>
                            <a:srgbClr val="1B1B1B"/>
                          </a:solidFill>
                          <a:latin typeface="Calibri"/>
                        </a:rPr>
                        <a:t>Pitch et défense devant le jury</a:t>
                      </a:r>
                    </a:p>
                  </a:txBody>
                  <a:tcPr marL="73152" marR="73152" marT="36576" marB="36576">
                    <a:solidFill>
                      <a:srgbClr val="F3F5F9"/>
                    </a:solidFill>
                  </a:tcPr>
                </a:tc>
                <a:tc>
                  <a:txBody>
                    <a:bodyPr wrap="square"/>
                    <a:lstStyle/>
                    <a:p>
                      <a:r>
                        <a:rPr sz="1200" b="0">
                          <a:solidFill>
                            <a:srgbClr val="1B1B1B"/>
                          </a:solidFill>
                          <a:latin typeface="Calibri"/>
                        </a:rPr>
                        <a:t>65 min</a:t>
                      </a:r>
                    </a:p>
                  </a:txBody>
                  <a:tcPr marL="73152" marR="73152" marT="36576" marB="36576">
                    <a:solidFill>
                      <a:srgbClr val="F3F5F9"/>
                    </a:solidFill>
                  </a:tcPr>
                </a:tc>
                <a:tc>
                  <a:txBody>
                    <a:bodyPr wrap="square"/>
                    <a:lstStyle/>
                    <a:p>
                      <a:r>
                        <a:rPr sz="1200" b="0">
                          <a:solidFill>
                            <a:srgbClr val="1B1B1B"/>
                          </a:solidFill>
                          <a:latin typeface="Calibri"/>
                        </a:rPr>
                        <a:t>Équipes, jury</a:t>
                      </a:r>
                    </a:p>
                  </a:txBody>
                  <a:tcPr marL="73152" marR="73152" marT="36576" marB="36576">
                    <a:solidFill>
                      <a:srgbClr val="F3F5F9"/>
                    </a:solidFill>
                  </a:tcPr>
                </a:tc>
              </a:tr>
              <a:tr h="365760">
                <a:tc>
                  <a:txBody>
                    <a:bodyPr wrap="square"/>
                    <a:lstStyle/>
                    <a:p>
                      <a:r>
                        <a:rPr sz="1200" b="1">
                          <a:solidFill>
                            <a:srgbClr val="1B1B1B"/>
                          </a:solidFill>
                          <a:latin typeface="Calibri"/>
                        </a:rPr>
                        <a:t>EX29</a:t>
                      </a:r>
                    </a:p>
                  </a:txBody>
                  <a:tcPr marL="73152" marR="73152" marT="36576" marB="36576">
                    <a:solidFill>
                      <a:srgbClr val="FFFFFF"/>
                    </a:solidFill>
                  </a:tcPr>
                </a:tc>
                <a:tc>
                  <a:txBody>
                    <a:bodyPr wrap="square"/>
                    <a:lstStyle/>
                    <a:p>
                      <a:r>
                        <a:rPr sz="1200" b="0">
                          <a:solidFill>
                            <a:srgbClr val="1B1B1B"/>
                          </a:solidFill>
                          <a:latin typeface="Calibri"/>
                        </a:rPr>
                        <a:t>Entraînement : questions de type examen</a:t>
                      </a:r>
                    </a:p>
                  </a:txBody>
                  <a:tcPr marL="73152" marR="73152" marT="36576" marB="36576">
                    <a:solidFill>
                      <a:srgbClr val="FFFFFF"/>
                    </a:solidFill>
                  </a:tcPr>
                </a:tc>
                <a:tc>
                  <a:txBody>
                    <a:bodyPr wrap="square"/>
                    <a:lstStyle/>
                    <a:p>
                      <a:r>
                        <a:rPr sz="1200" b="0">
                          <a:solidFill>
                            <a:srgbClr val="1B1B1B"/>
                          </a:solidFill>
                          <a:latin typeface="Calibri"/>
                        </a:rPr>
                        <a:t>15 min</a:t>
                      </a:r>
                    </a:p>
                  </a:txBody>
                  <a:tcPr marL="73152" marR="73152" marT="36576" marB="36576">
                    <a:solidFill>
                      <a:srgbClr val="FFFFFF"/>
                    </a:solidFill>
                  </a:tcPr>
                </a:tc>
                <a:tc>
                  <a:txBody>
                    <a:bodyPr wrap="square"/>
                    <a:lstStyle/>
                    <a:p>
                      <a:r>
                        <a:rPr sz="1200" b="0">
                          <a:solidFill>
                            <a:srgbClr val="1B1B1B"/>
                          </a:solidFill>
                          <a:latin typeface="Calibri"/>
                        </a:rPr>
                        <a:t>Individuel</a:t>
                      </a:r>
                    </a:p>
                  </a:txBody>
                  <a:tcPr marL="73152" marR="73152" marT="36576" marB="36576">
                    <a:solidFill>
                      <a:srgbClr val="FFFFFF"/>
                    </a:solidFill>
                  </a:tcPr>
                </a:tc>
              </a:tr>
              <a:tr h="365760">
                <a:tc>
                  <a:txBody>
                    <a:bodyPr wrap="square"/>
                    <a:lstStyle/>
                    <a:p>
                      <a:r>
                        <a:rPr sz="1200" b="1">
                          <a:solidFill>
                            <a:srgbClr val="1B1B1B"/>
                          </a:solidFill>
                          <a:latin typeface="Calibri"/>
                        </a:rPr>
                        <a:t>F9</a:t>
                      </a:r>
                    </a:p>
                  </a:txBody>
                  <a:tcPr marL="73152" marR="73152" marT="36576" marB="36576">
                    <a:solidFill>
                      <a:srgbClr val="F3F5F9"/>
                    </a:solidFill>
                  </a:tcPr>
                </a:tc>
                <a:tc>
                  <a:txBody>
                    <a:bodyPr wrap="square"/>
                    <a:lstStyle/>
                    <a:p>
                      <a:r>
                        <a:rPr sz="1200" b="0">
                          <a:solidFill>
                            <a:srgbClr val="1B1B1B"/>
                          </a:solidFill>
                          <a:latin typeface="Calibri"/>
                        </a:rPr>
                        <a:t>Exit ticket · fin du cours</a:t>
                      </a:r>
                    </a:p>
                  </a:txBody>
                  <a:tcPr marL="73152" marR="73152" marT="36576" marB="36576">
                    <a:solidFill>
                      <a:srgbClr val="F3F5F9"/>
                    </a:solidFill>
                  </a:tcPr>
                </a:tc>
                <a:tc>
                  <a:txBody>
                    <a:bodyPr wrap="square"/>
                    <a:lstStyle/>
                    <a:p>
                      <a:r>
                        <a:rPr sz="1200" b="0">
                          <a:solidFill>
                            <a:srgbClr val="1B1B1B"/>
                          </a:solidFill>
                          <a:latin typeface="Calibri"/>
                        </a:rPr>
                        <a:t>5 min</a:t>
                      </a:r>
                    </a:p>
                  </a:txBody>
                  <a:tcPr marL="73152" marR="73152" marT="36576" marB="36576">
                    <a:solidFill>
                      <a:srgbClr val="F3F5F9"/>
                    </a:solidFill>
                  </a:tcPr>
                </a:tc>
                <a:tc>
                  <a:txBody>
                    <a:bodyPr wrap="square"/>
                    <a:lstStyle/>
                    <a:p>
                      <a:r>
                        <a:rPr sz="1200" b="0">
                          <a:solidFill>
                            <a:srgbClr val="1B1B1B"/>
                          </a:solidFill>
                          <a:latin typeface="Calibri"/>
                        </a:rPr>
                        <a:t>Individuel</a:t>
                      </a:r>
                    </a:p>
                  </a:txBody>
                  <a:tcPr marL="73152" marR="73152" marT="36576" marB="36576">
                    <a:solidFill>
                      <a:srgbClr val="F3F5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